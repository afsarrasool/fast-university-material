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9144000"/>
  <p:notesSz cx="9144000" cy="6858000"/>
  <p:embeddedFontLst>
    <p:embeddedFont>
      <p:font typeface="Roboto"/>
      <p:regular r:id="rId53"/>
      <p:bold r:id="rId54"/>
      <p:italic r:id="rId55"/>
      <p:boldItalic r:id="rId56"/>
    </p:embeddedFont>
    <p:embeddedFont>
      <p:font typeface="Noto Sans Symbols"/>
      <p:regular r:id="rId57"/>
      <p:bold r:id="rId58"/>
    </p:embeddedFont>
    <p:embeddedFont>
      <p:font typeface="Carlit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j09fDkXh5jqeqBXxaKv4R08VX7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84C692-7111-4A7B-870E-91030245D9A4}">
  <a:tblStyle styleId="{4484C692-7111-4A7B-870E-91030245D9A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Carlito-boldItalic.fntdata"/><Relationship Id="rId61" Type="http://schemas.openxmlformats.org/officeDocument/2006/relationships/font" Target="fonts/Carlito-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Carlit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oboto-italic.fntdata"/><Relationship Id="rId10" Type="http://schemas.openxmlformats.org/officeDocument/2006/relationships/slide" Target="slides/slide4.xml"/><Relationship Id="rId54" Type="http://schemas.openxmlformats.org/officeDocument/2006/relationships/font" Target="fonts/Roboto-bold.fntdata"/><Relationship Id="rId13" Type="http://schemas.openxmlformats.org/officeDocument/2006/relationships/slide" Target="slides/slide7.xml"/><Relationship Id="rId57" Type="http://schemas.openxmlformats.org/officeDocument/2006/relationships/font" Target="fonts/NotoSansSymbols-regular.fntdata"/><Relationship Id="rId12" Type="http://schemas.openxmlformats.org/officeDocument/2006/relationships/slide" Target="slides/slide6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9.xml"/><Relationship Id="rId59" Type="http://schemas.openxmlformats.org/officeDocument/2006/relationships/font" Target="fonts/Carlito-regular.fntdata"/><Relationship Id="rId14" Type="http://schemas.openxmlformats.org/officeDocument/2006/relationships/slide" Target="slides/slide8.xml"/><Relationship Id="rId58" Type="http://schemas.openxmlformats.org/officeDocument/2006/relationships/font" Target="fonts/NotoSansSymbol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1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2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2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9fa92e355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29fa92e355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29fa92e355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9fa92e355_0_6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29fa92e355_0_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29fa92e355_0_6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2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3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3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3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3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3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3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3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62a6f6796_0_22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c62a6f6796_0_22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b0ae35669_1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2b0ae35669_1_0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b0ae35669_1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2b0ae35669_1_6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b0ae35669_1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2b0ae35669_1_11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b0ae35669_1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2b0ae35669_1_24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b0ae35669_1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2b0ae35669_1_29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b0ae35669_1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2b0ae35669_1_41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b0ae35669_1_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2b0ae35669_1_51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2b0ae35669_1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2b0ae35669_1_64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2b0ae35669_1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2b0ae35669_1_72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2b0ae35669_1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2b0ae35669_1_79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2b0ae35669_1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g32b0ae35669_1_92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2b0ae35669_1_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2b0ae35669_1_99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b0ae35669_1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g32b0ae35669_1_118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b0ae35669_1_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2b0ae35669_1_123:notes"/>
          <p:cNvSpPr/>
          <p:nvPr>
            <p:ph idx="2" type="sldImg"/>
          </p:nvPr>
        </p:nvSpPr>
        <p:spPr>
          <a:xfrm>
            <a:off x="2286350" y="514350"/>
            <a:ext cx="4572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2bafdcb059_2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2bafdcb059_2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2bafdcb059_2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d894e4ebe9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2d894e4ebe9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2d894e4ebe9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af68884b96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2af68884b96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2af68884b96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62a6f6796_0_62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c62a6f6796_0_62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g3c62a6f6796_0_62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/>
          <p:nvPr>
            <p:ph type="title"/>
          </p:nvPr>
        </p:nvSpPr>
        <p:spPr>
          <a:xfrm>
            <a:off x="2076704" y="530478"/>
            <a:ext cx="4990591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" type="body"/>
          </p:nvPr>
        </p:nvSpPr>
        <p:spPr>
          <a:xfrm>
            <a:off x="412115" y="1296416"/>
            <a:ext cx="8319769" cy="452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8"/>
          <p:cNvSpPr txBox="1"/>
          <p:nvPr>
            <p:ph type="title"/>
          </p:nvPr>
        </p:nvSpPr>
        <p:spPr>
          <a:xfrm>
            <a:off x="2076704" y="530478"/>
            <a:ext cx="4990591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9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>
            <p:ph type="title"/>
          </p:nvPr>
        </p:nvSpPr>
        <p:spPr>
          <a:xfrm>
            <a:off x="2076704" y="530478"/>
            <a:ext cx="4990591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2076704" y="530478"/>
            <a:ext cx="4990591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412115" y="1296416"/>
            <a:ext cx="8319769" cy="452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gif"/><Relationship Id="rId4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gif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it board&#10;&#10;Description automatically generated"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32"/>
            <a:ext cx="9144000" cy="257876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>
            <p:ph type="title"/>
          </p:nvPr>
        </p:nvSpPr>
        <p:spPr>
          <a:xfrm>
            <a:off x="609600" y="2871693"/>
            <a:ext cx="7010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-1456055" lvl="0" marL="1468120" marR="508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Artificial Intelligence</a:t>
            </a:r>
            <a:endParaRPr sz="4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135475" y="3850400"/>
            <a:ext cx="72567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marR="5080" rtl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Chapter 3: Problem Solving Agent</a:t>
            </a:r>
            <a:endParaRPr b="1" i="0" sz="32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Week 3                 Alina Arshad</a:t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838200" y="457200"/>
            <a:ext cx="52581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2"/>
                </a:solidFill>
              </a:rPr>
              <a:t>Objectives of the Chapter</a:t>
            </a: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95242" y="1307825"/>
            <a:ext cx="7708200" cy="29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Problem Solving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Problem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Search Strategies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Informed &amp; Un-informed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7"/>
          <p:cNvGrpSpPr/>
          <p:nvPr/>
        </p:nvGrpSpPr>
        <p:grpSpPr>
          <a:xfrm>
            <a:off x="990613" y="381011"/>
            <a:ext cx="7183418" cy="2069565"/>
            <a:chOff x="381013" y="152411"/>
            <a:chExt cx="7183418" cy="2069565"/>
          </a:xfrm>
        </p:grpSpPr>
        <p:sp>
          <p:nvSpPr>
            <p:cNvPr id="61" name="Google Shape;61;p17"/>
            <p:cNvSpPr/>
            <p:nvPr/>
          </p:nvSpPr>
          <p:spPr>
            <a:xfrm>
              <a:off x="4010817" y="774180"/>
              <a:ext cx="1828787" cy="82602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46071"/>
                  </a:lnTo>
                  <a:lnTo>
                    <a:pt x="120000" y="46071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2" name="Google Shape;62;p17"/>
            <p:cNvSpPr/>
            <p:nvPr/>
          </p:nvSpPr>
          <p:spPr>
            <a:xfrm>
              <a:off x="2105841" y="774180"/>
              <a:ext cx="1904975" cy="826028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46071"/>
                  </a:lnTo>
                  <a:lnTo>
                    <a:pt x="0" y="46071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3" name="Google Shape;63;p17"/>
            <p:cNvSpPr/>
            <p:nvPr/>
          </p:nvSpPr>
          <p:spPr>
            <a:xfrm>
              <a:off x="2285989" y="152411"/>
              <a:ext cx="3449655" cy="621768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5FF"/>
                </a:gs>
                <a:gs pos="100000">
                  <a:srgbClr val="E4EEFF"/>
                </a:gs>
              </a:gsLst>
              <a:lin ang="16200000" scaled="0"/>
            </a:gra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7"/>
            <p:cNvSpPr txBox="1"/>
            <p:nvPr/>
          </p:nvSpPr>
          <p:spPr>
            <a:xfrm>
              <a:off x="2285989" y="152411"/>
              <a:ext cx="3449655" cy="621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Algorithms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7"/>
            <p:cNvSpPr/>
            <p:nvPr/>
          </p:nvSpPr>
          <p:spPr>
            <a:xfrm>
              <a:off x="381013" y="1600208"/>
              <a:ext cx="3449655" cy="621768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5FF"/>
                </a:gs>
                <a:gs pos="100000">
                  <a:srgbClr val="E4EEFF"/>
                </a:gs>
              </a:gsLst>
              <a:lin ang="16200000" scaled="0"/>
            </a:gra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7"/>
            <p:cNvSpPr txBox="1"/>
            <p:nvPr/>
          </p:nvSpPr>
          <p:spPr>
            <a:xfrm>
              <a:off x="381013" y="1600208"/>
              <a:ext cx="3449655" cy="621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Uninformed 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7"/>
            <p:cNvSpPr/>
            <p:nvPr/>
          </p:nvSpPr>
          <p:spPr>
            <a:xfrm>
              <a:off x="4114776" y="1600208"/>
              <a:ext cx="3449655" cy="621768"/>
            </a:xfrm>
            <a:prstGeom prst="rect">
              <a:avLst/>
            </a:prstGeom>
            <a:gradFill>
              <a:gsLst>
                <a:gs pos="0">
                  <a:srgbClr val="9FC3FF"/>
                </a:gs>
                <a:gs pos="35000">
                  <a:srgbClr val="BDD5FF"/>
                </a:gs>
                <a:gs pos="100000">
                  <a:srgbClr val="E4EEFF"/>
                </a:gs>
              </a:gsLst>
              <a:lin ang="16200000" scaled="0"/>
            </a:gra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7"/>
            <p:cNvSpPr txBox="1"/>
            <p:nvPr/>
          </p:nvSpPr>
          <p:spPr>
            <a:xfrm>
              <a:off x="4114776" y="1600208"/>
              <a:ext cx="3449655" cy="621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Informed 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17"/>
          <p:cNvSpPr txBox="1"/>
          <p:nvPr/>
        </p:nvSpPr>
        <p:spPr>
          <a:xfrm>
            <a:off x="990600" y="3124200"/>
            <a:ext cx="3096900" cy="1976100"/>
          </a:xfrm>
          <a:prstGeom prst="rect">
            <a:avLst/>
          </a:prstGeom>
          <a:solidFill>
            <a:srgbClr val="C5D8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69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Uninformed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breadth-first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uniform-cost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depth-first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depth-limited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deepening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4876800" y="3103418"/>
            <a:ext cx="3096900" cy="1337100"/>
          </a:xfrm>
          <a:prstGeom prst="rect">
            <a:avLst/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69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Informed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best-first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000098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A*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52578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A*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17"/>
          <p:cNvCxnSpPr/>
          <p:nvPr/>
        </p:nvCxnSpPr>
        <p:spPr>
          <a:xfrm>
            <a:off x="2667000" y="2438400"/>
            <a:ext cx="0" cy="6858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3"/>
              </a:srgbClr>
            </a:outerShdw>
          </a:effectLst>
        </p:spPr>
      </p:cxnSp>
      <p:cxnSp>
        <p:nvCxnSpPr>
          <p:cNvPr id="72" name="Google Shape;72;p17"/>
          <p:cNvCxnSpPr/>
          <p:nvPr/>
        </p:nvCxnSpPr>
        <p:spPr>
          <a:xfrm>
            <a:off x="6400800" y="2438400"/>
            <a:ext cx="0" cy="6858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3"/>
              </a:srgbClr>
            </a:outerShdw>
          </a:effectLst>
        </p:spPr>
      </p:cxnSp>
      <p:sp>
        <p:nvSpPr>
          <p:cNvPr id="73" name="Google Shape;73;p17"/>
          <p:cNvSpPr txBox="1"/>
          <p:nvPr/>
        </p:nvSpPr>
        <p:spPr>
          <a:xfrm>
            <a:off x="152400" y="5414575"/>
            <a:ext cx="49836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69900" marR="21520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(blind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11557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98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steps,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11557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98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reaches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4876795" y="5317075"/>
            <a:ext cx="33528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718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(heuristic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3" lvl="1" marL="1158240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000098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143312" y="194568"/>
            <a:ext cx="8637900" cy="6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Uninformed (Blind Search)</a:t>
            </a:r>
            <a:endParaRPr b="0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69900" marR="5080" rtl="0" algn="just">
              <a:lnSpc>
                <a:spcPct val="90000"/>
              </a:lnSpc>
              <a:spcBef>
                <a:spcPts val="264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Uninformed Search does not contain any  </a:t>
            </a:r>
            <a:r>
              <a:rPr b="0" i="0" lang="en-US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 knowledge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as closeness or location of  goal.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650"/>
              <a:buFont typeface="Calibri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69900" marR="635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operates in a brute force way, as it only includes  information about </a:t>
            </a:r>
            <a:r>
              <a:rPr b="0" i="0" lang="en-US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traverse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tree and how  to </a:t>
            </a:r>
            <a:r>
              <a:rPr b="0" i="0" lang="en-US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identify leaf and goal nodes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69900" marR="5080" rtl="0" algn="just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Uninformed Search applies a way in which search  tree is searched without any information, so it is  called </a:t>
            </a:r>
            <a:r>
              <a:rPr b="0" i="0" lang="en-US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blind search.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469900" marR="0" rtl="0" algn="l">
              <a:lnSpc>
                <a:spcPct val="100000"/>
              </a:lnSpc>
              <a:spcBef>
                <a:spcPts val="265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examines each node until it achieves the goal </a:t>
            </a:r>
            <a:r>
              <a:rPr b="0" i="0" lang="en-US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297617" y="240625"/>
            <a:ext cx="82206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1660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Evaluation of Search Strategies</a:t>
            </a:r>
            <a:b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223950" y="861850"/>
            <a:ext cx="8696100" cy="58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06400" lvl="0" marL="457200" marR="0" rtl="0" algn="l">
              <a:lnSpc>
                <a:spcPct val="1166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search strategy is defined by picking the order  of node expansion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Strategies are evaluated along the following  dimensions: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0" marL="11557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Completeness: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there is a solution, will it be found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0" marL="1155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 complexity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long does it takes to find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5570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0" marL="1155700" marR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Space complexity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required for the search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9235" lvl="0" marL="1155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Optimality: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the best solution be found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438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and space complexity are measured in  terms of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branching factor of the search tree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 of the least-cost solution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maximum depth of the state space (may be ∞)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0"/>
          <p:cNvSpPr txBox="1"/>
          <p:nvPr/>
        </p:nvSpPr>
        <p:spPr>
          <a:xfrm>
            <a:off x="1219002" y="2192570"/>
            <a:ext cx="675068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</a:t>
            </a: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(BFS)</a:t>
            </a: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304300" y="175675"/>
            <a:ext cx="8637600" cy="6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</a:t>
            </a:r>
            <a:r>
              <a:rPr b="1" i="0" lang="en-US" sz="29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2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660400" marR="648335" rtl="0" algn="l">
              <a:lnSpc>
                <a:spcPct val="77100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traversing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"/>
              </a:spcBef>
              <a:spcAft>
                <a:spcPts val="0"/>
              </a:spcAft>
              <a:buClr>
                <a:srgbClr val="00008F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6604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searches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breadthwise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graph,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breadth-first</a:t>
            </a:r>
            <a:r>
              <a:rPr b="0" i="0" lang="en-US" sz="2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"/>
              </a:spcBef>
              <a:spcAft>
                <a:spcPts val="0"/>
              </a:spcAft>
              <a:buClr>
                <a:srgbClr val="00008F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660400" marR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searching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further are traversed in </a:t>
            </a:r>
            <a:r>
              <a:rPr b="0" i="1" lang="en-US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level-order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we visit every node on a level before going to a lower level.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17500" marR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660400" marR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starts at the tree root (or some arbitrary node of a graph)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17500" marR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660400" marR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66800"/>
            <a:ext cx="464820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/>
          <p:nvPr/>
        </p:nvSpPr>
        <p:spPr>
          <a:xfrm>
            <a:off x="5160818" y="1981200"/>
            <a:ext cx="38100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proceeds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A,D, I, C, E,H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5160818" y="4114800"/>
            <a:ext cx="3505200" cy="1182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marR="508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F,B,G,A,D,I,C,E,H</a:t>
            </a:r>
            <a:endParaRPr b="0" i="0" sz="24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22"/>
          <p:cNvSpPr txBox="1"/>
          <p:nvPr/>
        </p:nvSpPr>
        <p:spPr>
          <a:xfrm>
            <a:off x="685800" y="304800"/>
            <a:ext cx="2743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Example: BFS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8674607" y="114300"/>
            <a:ext cx="360045" cy="360045"/>
          </a:xfrm>
          <a:custGeom>
            <a:rect b="b" l="l" r="r" t="t"/>
            <a:pathLst>
              <a:path extrusionOk="0" h="360045" w="360045">
                <a:moveTo>
                  <a:pt x="0" y="0"/>
                </a:moveTo>
                <a:lnTo>
                  <a:pt x="359664" y="0"/>
                </a:lnTo>
              </a:path>
              <a:path extrusionOk="0" h="360045" w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noFill/>
          <a:ln cap="flat" cmpd="sng" w="9525">
            <a:solidFill>
              <a:srgbClr val="F9C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102107" y="114300"/>
            <a:ext cx="360045" cy="360045"/>
          </a:xfrm>
          <a:custGeom>
            <a:rect b="b" l="l" r="r" t="t"/>
            <a:pathLst>
              <a:path extrusionOk="0" h="360045" w="360045">
                <a:moveTo>
                  <a:pt x="359613" y="0"/>
                </a:moveTo>
                <a:lnTo>
                  <a:pt x="0" y="0"/>
                </a:lnTo>
              </a:path>
              <a:path extrusionOk="0" h="360045" w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9C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3"/>
          <p:cNvGrpSpPr/>
          <p:nvPr/>
        </p:nvGrpSpPr>
        <p:grpSpPr>
          <a:xfrm>
            <a:off x="102108" y="5997491"/>
            <a:ext cx="8502650" cy="501777"/>
            <a:chOff x="102108" y="6356603"/>
            <a:chExt cx="8502650" cy="501777"/>
          </a:xfrm>
        </p:grpSpPr>
        <p:sp>
          <p:nvSpPr>
            <p:cNvPr id="112" name="Google Shape;112;p23"/>
            <p:cNvSpPr/>
            <p:nvPr/>
          </p:nvSpPr>
          <p:spPr>
            <a:xfrm>
              <a:off x="102108" y="6356603"/>
              <a:ext cx="360045" cy="360045"/>
            </a:xfrm>
            <a:custGeom>
              <a:rect b="b" l="l" r="r" t="t"/>
              <a:pathLst>
                <a:path extrusionOk="0" h="360045" w="360045">
                  <a:moveTo>
                    <a:pt x="359613" y="359664"/>
                  </a:moveTo>
                  <a:lnTo>
                    <a:pt x="0" y="359664"/>
                  </a:lnTo>
                </a:path>
                <a:path extrusionOk="0" h="360045" w="360045">
                  <a:moveTo>
                    <a:pt x="1" y="35961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9C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3"/>
            <p:cNvSpPr/>
            <p:nvPr/>
          </p:nvSpPr>
          <p:spPr>
            <a:xfrm>
              <a:off x="467868" y="6544055"/>
              <a:ext cx="8136890" cy="314325"/>
            </a:xfrm>
            <a:custGeom>
              <a:rect b="b" l="l" r="r" t="t"/>
              <a:pathLst>
                <a:path extrusionOk="0" h="314325" w="8136890">
                  <a:moveTo>
                    <a:pt x="8136635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8136635" y="313943"/>
                  </a:lnTo>
                  <a:lnTo>
                    <a:pt x="8136635" y="0"/>
                  </a:lnTo>
                  <a:close/>
                </a:path>
              </a:pathLst>
            </a:custGeom>
            <a:solidFill>
              <a:srgbClr val="F1F6F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3"/>
          <p:cNvSpPr txBox="1"/>
          <p:nvPr>
            <p:ph type="title"/>
          </p:nvPr>
        </p:nvSpPr>
        <p:spPr>
          <a:xfrm>
            <a:off x="532891" y="285368"/>
            <a:ext cx="31978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Example: Romania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532902" y="1182125"/>
            <a:ext cx="7558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You are in Arad and want to go to Bucharest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681575" y="6137150"/>
            <a:ext cx="8191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8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b="0" i="0" lang="en-US" sz="2000" u="none" cap="none" strike="noStrike">
                <a:solidFill>
                  <a:srgbClr val="0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How to design an intelligent agent to find the way between 2 cities?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1233748" y="1827963"/>
            <a:ext cx="6613049" cy="40455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1050137" y="211073"/>
            <a:ext cx="68757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Properties of Breadth-First Search (BFS)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664565" y="1179068"/>
            <a:ext cx="4852035" cy="1871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43815" marR="508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Completeness: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 (if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finite), a solution  will be found if exists.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1115" lvl="0" marL="12700" marR="22225" rtl="0" algn="l">
              <a:lnSpc>
                <a:spcPct val="174900"/>
              </a:lnSpc>
              <a:spcBef>
                <a:spcPts val="120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 Complexity: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(nodes until the solution)  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Optimality: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645058" y="4079240"/>
            <a:ext cx="8210550" cy="1700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50800" marR="431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the branching factor b=3, and the goal is at depth  d=20: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115" lvl="0" marL="792480" marR="113664" rtl="0" algn="just">
              <a:lnSpc>
                <a:spcPct val="119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Then we need 3</a:t>
            </a:r>
            <a:r>
              <a:rPr b="0" baseline="30000" i="0" lang="en-US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to finish.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115" lvl="0" marL="792480" marR="113664" rtl="0" algn="just">
              <a:lnSpc>
                <a:spcPct val="119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suitable for searching large graphs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4"/>
          <p:cNvGrpSpPr/>
          <p:nvPr/>
        </p:nvGrpSpPr>
        <p:grpSpPr>
          <a:xfrm>
            <a:off x="6065520" y="3278123"/>
            <a:ext cx="2528570" cy="562610"/>
            <a:chOff x="6065520" y="3278123"/>
            <a:chExt cx="2528570" cy="562610"/>
          </a:xfrm>
        </p:grpSpPr>
        <p:sp>
          <p:nvSpPr>
            <p:cNvPr id="126" name="Google Shape;126;p24"/>
            <p:cNvSpPr/>
            <p:nvPr/>
          </p:nvSpPr>
          <p:spPr>
            <a:xfrm>
              <a:off x="6071616" y="3284219"/>
              <a:ext cx="2514600" cy="550545"/>
            </a:xfrm>
            <a:custGeom>
              <a:rect b="b" l="l" r="r" t="t"/>
              <a:pathLst>
                <a:path extrusionOk="0" h="550545" w="2514600">
                  <a:moveTo>
                    <a:pt x="2514600" y="0"/>
                  </a:moveTo>
                  <a:lnTo>
                    <a:pt x="0" y="0"/>
                  </a:lnTo>
                  <a:lnTo>
                    <a:pt x="0" y="550163"/>
                  </a:lnTo>
                  <a:lnTo>
                    <a:pt x="2514600" y="550163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6071870" y="3278123"/>
              <a:ext cx="2515870" cy="562610"/>
            </a:xfrm>
            <a:custGeom>
              <a:rect b="b" l="l" r="r" t="t"/>
              <a:pathLst>
                <a:path extrusionOk="0" h="562610" w="2515870">
                  <a:moveTo>
                    <a:pt x="0" y="0"/>
                  </a:moveTo>
                  <a:lnTo>
                    <a:pt x="0" y="562356"/>
                  </a:lnTo>
                </a:path>
                <a:path extrusionOk="0" h="562610" w="2515870">
                  <a:moveTo>
                    <a:pt x="2515615" y="0"/>
                  </a:moveTo>
                  <a:lnTo>
                    <a:pt x="2515615" y="562356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4"/>
            <p:cNvSpPr/>
            <p:nvPr/>
          </p:nvSpPr>
          <p:spPr>
            <a:xfrm>
              <a:off x="6065520" y="3278377"/>
              <a:ext cx="2528570" cy="12700"/>
            </a:xfrm>
            <a:custGeom>
              <a:rect b="b" l="l" r="r" t="t"/>
              <a:pathLst>
                <a:path extrusionOk="0" h="12700" w="2528570">
                  <a:moveTo>
                    <a:pt x="0" y="12192"/>
                  </a:moveTo>
                  <a:lnTo>
                    <a:pt x="2528315" y="12192"/>
                  </a:lnTo>
                  <a:lnTo>
                    <a:pt x="2528315" y="0"/>
                  </a:lnTo>
                  <a:lnTo>
                    <a:pt x="0" y="0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4"/>
            <p:cNvSpPr/>
            <p:nvPr/>
          </p:nvSpPr>
          <p:spPr>
            <a:xfrm>
              <a:off x="6065520" y="3834129"/>
              <a:ext cx="2528570" cy="0"/>
            </a:xfrm>
            <a:custGeom>
              <a:rect b="b" l="l" r="r" t="t"/>
              <a:pathLst>
                <a:path extrusionOk="0" h="120000" w="2528570">
                  <a:moveTo>
                    <a:pt x="0" y="0"/>
                  </a:moveTo>
                  <a:lnTo>
                    <a:pt x="2528315" y="0"/>
                  </a:lnTo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24"/>
          <p:cNvSpPr txBox="1"/>
          <p:nvPr/>
        </p:nvSpPr>
        <p:spPr>
          <a:xfrm>
            <a:off x="6316979" y="3266313"/>
            <a:ext cx="97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b  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6456573" y="3261225"/>
            <a:ext cx="1852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49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Branching Factor  The depth of the goal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24"/>
          <p:cNvGrpSpPr/>
          <p:nvPr/>
        </p:nvGrpSpPr>
        <p:grpSpPr>
          <a:xfrm>
            <a:off x="6072377" y="1297686"/>
            <a:ext cx="2402205" cy="1905000"/>
            <a:chOff x="6072377" y="1297686"/>
            <a:chExt cx="2402205" cy="1905000"/>
          </a:xfrm>
        </p:grpSpPr>
        <p:sp>
          <p:nvSpPr>
            <p:cNvPr id="133" name="Google Shape;133;p24"/>
            <p:cNvSpPr/>
            <p:nvPr/>
          </p:nvSpPr>
          <p:spPr>
            <a:xfrm>
              <a:off x="6072377" y="1297686"/>
              <a:ext cx="2401824" cy="1905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4"/>
            <p:cNvSpPr/>
            <p:nvPr/>
          </p:nvSpPr>
          <p:spPr>
            <a:xfrm>
              <a:off x="6072377" y="1297686"/>
              <a:ext cx="2402205" cy="1905000"/>
            </a:xfrm>
            <a:custGeom>
              <a:rect b="b" l="l" r="r" t="t"/>
              <a:pathLst>
                <a:path extrusionOk="0" h="1905000" w="2402204">
                  <a:moveTo>
                    <a:pt x="0" y="1905000"/>
                  </a:moveTo>
                  <a:lnTo>
                    <a:pt x="2401824" y="1905000"/>
                  </a:lnTo>
                  <a:lnTo>
                    <a:pt x="2401824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noFill/>
            <a:ln cap="flat" cmpd="sng" w="289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1752345" y="2198370"/>
            <a:ext cx="47434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2- Uniform-Cost -First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380491" y="219583"/>
            <a:ext cx="32797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Uniform-Cost -First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380491" y="914400"/>
            <a:ext cx="7739400" cy="3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-406400" lvl="0" marL="45720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primary goal of the uniform-cost search is to find a path to the goal node which has 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lowest cumulative cost.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Uniform-cost search expands nodes according to their path costs form the root node.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It can be used to solve any graph/tree where the optimal cost is in demand.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Uniform cost search is equivalent 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BFS algorithm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if the 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path cost of all edges is the same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/>
          <p:nvPr/>
        </p:nvSpPr>
        <p:spPr>
          <a:xfrm>
            <a:off x="1400450" y="895670"/>
            <a:ext cx="5900596" cy="566972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29fa92e35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50" y="99775"/>
            <a:ext cx="8881925" cy="66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29fa92e355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95650" cy="64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1050137" y="211073"/>
            <a:ext cx="689673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Properties of Uniform-cost Search (UCS)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798271" y="1095197"/>
            <a:ext cx="7716600" cy="26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rlito"/>
                <a:ea typeface="Carlito"/>
                <a:cs typeface="Carlito"/>
                <a:sym typeface="Carlito"/>
              </a:rPr>
              <a:t>Completeness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 Uniform-cost search is complete, such as if there is a solution, UCS will find it.</a:t>
            </a:r>
            <a:endParaRPr b="0" i="0" sz="2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76200" marR="95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rlito"/>
                <a:ea typeface="Carlito"/>
                <a:cs typeface="Carlito"/>
                <a:sym typeface="Carlito"/>
              </a:rPr>
              <a:t>Time Complexity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	much larger than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b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, and just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b</a:t>
            </a:r>
            <a:r>
              <a:rPr b="1" baseline="3000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if all steps have the same cost.</a:t>
            </a:r>
            <a:endParaRPr b="0" i="0" sz="18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rlito"/>
                <a:ea typeface="Carlito"/>
                <a:cs typeface="Carlito"/>
                <a:sym typeface="Carlito"/>
              </a:rPr>
              <a:t>Space Complexity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: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as above</a:t>
            </a:r>
            <a:endParaRPr b="0" i="0" sz="16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821842" y="3918330"/>
            <a:ext cx="48171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Optimality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Uniform-cost search is always optimal as it only selects a path with the lowest path cost.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28"/>
          <p:cNvGrpSpPr/>
          <p:nvPr/>
        </p:nvGrpSpPr>
        <p:grpSpPr>
          <a:xfrm>
            <a:off x="6110478" y="2840075"/>
            <a:ext cx="2216150" cy="1767839"/>
            <a:chOff x="6026657" y="2318766"/>
            <a:chExt cx="2216150" cy="1767839"/>
          </a:xfrm>
        </p:grpSpPr>
        <p:sp>
          <p:nvSpPr>
            <p:cNvPr id="171" name="Google Shape;171;p28"/>
            <p:cNvSpPr/>
            <p:nvPr/>
          </p:nvSpPr>
          <p:spPr>
            <a:xfrm>
              <a:off x="6041135" y="2333244"/>
              <a:ext cx="2089938" cy="173005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6026657" y="2318766"/>
              <a:ext cx="2216150" cy="1767839"/>
            </a:xfrm>
            <a:custGeom>
              <a:rect b="b" l="l" r="r" t="t"/>
              <a:pathLst>
                <a:path extrusionOk="0" h="1767839" w="2216150">
                  <a:moveTo>
                    <a:pt x="0" y="1767839"/>
                  </a:moveTo>
                  <a:lnTo>
                    <a:pt x="2215895" y="1767839"/>
                  </a:lnTo>
                  <a:lnTo>
                    <a:pt x="2215895" y="0"/>
                  </a:lnTo>
                  <a:lnTo>
                    <a:pt x="0" y="0"/>
                  </a:lnTo>
                  <a:lnTo>
                    <a:pt x="0" y="1767839"/>
                  </a:lnTo>
                  <a:close/>
                </a:path>
              </a:pathLst>
            </a:custGeom>
            <a:noFill/>
            <a:ln cap="flat" cmpd="sng" w="289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660892" y="6452121"/>
            <a:ext cx="37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9"/>
          <p:cNvSpPr txBox="1"/>
          <p:nvPr>
            <p:ph type="title"/>
          </p:nvPr>
        </p:nvSpPr>
        <p:spPr>
          <a:xfrm>
            <a:off x="2801873" y="3162045"/>
            <a:ext cx="36175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3- Depth-First Search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1050137" y="211073"/>
            <a:ext cx="32016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Depth-First Search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601980" y="1746504"/>
            <a:ext cx="3596640" cy="39974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743813" y="5358180"/>
            <a:ext cx="231330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L	M	N	O	P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30"/>
          <p:cNvSpPr txBox="1"/>
          <p:nvPr/>
        </p:nvSpPr>
        <p:spPr>
          <a:xfrm>
            <a:off x="3944873" y="5358180"/>
            <a:ext cx="22606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1277238" y="4519929"/>
            <a:ext cx="2171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2572892" y="4519929"/>
            <a:ext cx="1327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3334892" y="4519929"/>
            <a:ext cx="8121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J	K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2953892" y="3605276"/>
            <a:ext cx="90868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F	G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1963039" y="3605276"/>
            <a:ext cx="18669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1048613" y="3605276"/>
            <a:ext cx="2216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1505838" y="2766822"/>
            <a:ext cx="20002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3258692" y="2766822"/>
            <a:ext cx="2032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2344292" y="1851736"/>
            <a:ext cx="20002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60066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572" y="1019499"/>
            <a:ext cx="4178035" cy="550238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4421975" y="1734438"/>
            <a:ext cx="4670700" cy="40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will start searching from root node S, and traverse A, then B, then D and E, after traversing E, it will backtrack the tree as E has no other successor and still goal node is not found.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After backtracking it will traverse node C and then G, and here it will terminate as it found goal node.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1050137" y="211073"/>
            <a:ext cx="54940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Properties of Depth-First Search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311873" y="1151017"/>
            <a:ext cx="84594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925">
            <a:spAutoFit/>
          </a:bodyPr>
          <a:lstStyle/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No: fails in infinite-depth spaces, spaces with loops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59865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Yes, complete in finite spaces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O(b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terrible if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much larger than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46100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but if solutions are dense, may be much faster than breadth-first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Space: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O(bm)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t/>
            </a:r>
            <a:endParaRPr b="0" i="0" sz="3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Optimal: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1"/>
          <p:cNvGrpSpPr/>
          <p:nvPr/>
        </p:nvGrpSpPr>
        <p:grpSpPr>
          <a:xfrm>
            <a:off x="5272278" y="3785115"/>
            <a:ext cx="2353310" cy="1889760"/>
            <a:chOff x="5014722" y="3382518"/>
            <a:chExt cx="2353310" cy="1889760"/>
          </a:xfrm>
        </p:grpSpPr>
        <p:sp>
          <p:nvSpPr>
            <p:cNvPr id="207" name="Google Shape;207;p31"/>
            <p:cNvSpPr/>
            <p:nvPr/>
          </p:nvSpPr>
          <p:spPr>
            <a:xfrm>
              <a:off x="5029200" y="3396996"/>
              <a:ext cx="2324100" cy="186080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5014722" y="3382518"/>
              <a:ext cx="2353310" cy="1889760"/>
            </a:xfrm>
            <a:custGeom>
              <a:rect b="b" l="l" r="r" t="t"/>
              <a:pathLst>
                <a:path extrusionOk="0" h="1889760" w="2353309">
                  <a:moveTo>
                    <a:pt x="0" y="1889760"/>
                  </a:moveTo>
                  <a:lnTo>
                    <a:pt x="2353055" y="1889760"/>
                  </a:lnTo>
                  <a:lnTo>
                    <a:pt x="2353055" y="0"/>
                  </a:lnTo>
                  <a:lnTo>
                    <a:pt x="0" y="0"/>
                  </a:lnTo>
                  <a:lnTo>
                    <a:pt x="0" y="1889760"/>
                  </a:lnTo>
                  <a:close/>
                </a:path>
              </a:pathLst>
            </a:custGeom>
            <a:noFill/>
            <a:ln cap="flat" cmpd="sng" w="289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31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2209801" y="2819400"/>
            <a:ext cx="57912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chemeClr val="dk2"/>
                </a:solidFill>
              </a:rPr>
              <a:t>4- Depth-Limited Search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533400" y="228601"/>
            <a:ext cx="6934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2"/>
                </a:solidFill>
              </a:rPr>
              <a:t>4- Depth-Limited Search</a:t>
            </a:r>
            <a:br>
              <a:rPr lang="en-US">
                <a:solidFill>
                  <a:schemeClr val="dk2"/>
                </a:solidFill>
              </a:rPr>
            </a:br>
            <a:endParaRPr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412115" y="1296416"/>
            <a:ext cx="83199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 depth-limited search algorithm is similar to depth-first search with </a:t>
            </a:r>
            <a:r>
              <a:rPr lang="en-US">
                <a:solidFill>
                  <a:schemeClr val="dk2"/>
                </a:solidFill>
              </a:rPr>
              <a:t>a predetermined limit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Depth-limited search can solve the drawback of the </a:t>
            </a:r>
            <a:r>
              <a:rPr lang="en-US">
                <a:solidFill>
                  <a:schemeClr val="dk2"/>
                </a:solidFill>
              </a:rPr>
              <a:t>infinite path</a:t>
            </a:r>
            <a:r>
              <a:rPr lang="en-US">
                <a:solidFill>
                  <a:schemeClr val="dk1"/>
                </a:solidFill>
              </a:rPr>
              <a:t> in the Depth-first search.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 In this algorithm, the node at the depth limit will treat as it has </a:t>
            </a:r>
            <a:r>
              <a:rPr lang="en-US">
                <a:solidFill>
                  <a:schemeClr val="dk2"/>
                </a:solidFill>
              </a:rPr>
              <a:t>no successor nodes further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Depth-limited search can be terminated with two Conditions of failure: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Standard failure value: </a:t>
            </a:r>
            <a:r>
              <a:rPr lang="en-US">
                <a:solidFill>
                  <a:schemeClr val="dk1"/>
                </a:solidFill>
              </a:rPr>
              <a:t>It indicates that problem does not have any solution.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Cutoff failure value: </a:t>
            </a:r>
            <a:r>
              <a:rPr lang="en-US">
                <a:solidFill>
                  <a:schemeClr val="dk1"/>
                </a:solidFill>
              </a:rPr>
              <a:t>It defines no solution for the problem within a given depth limit.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762000" y="609600"/>
            <a:ext cx="4990591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Example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26" name="Google Shape;2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00200"/>
            <a:ext cx="5638800" cy="45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1050137" y="211073"/>
            <a:ext cx="41097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4- Depth-Limited Search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8660892" y="6430467"/>
            <a:ext cx="3473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 83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387706" y="968492"/>
            <a:ext cx="7943748" cy="2124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050">
            <a:spAutoFit/>
          </a:bodyPr>
          <a:lstStyle/>
          <a:p>
            <a:pPr indent="-343535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(if goal beyond l (l&lt;d), or infinite branch length)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810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l)</a:t>
            </a:r>
            <a:endParaRPr b="0" baseline="30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8100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Space: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810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Optimal: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(if l &lt; d)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35"/>
          <p:cNvGrpSpPr/>
          <p:nvPr/>
        </p:nvGrpSpPr>
        <p:grpSpPr>
          <a:xfrm>
            <a:off x="5174335" y="2154769"/>
            <a:ext cx="2458720" cy="1876425"/>
            <a:chOff x="5872733" y="4732781"/>
            <a:chExt cx="2458720" cy="1876425"/>
          </a:xfrm>
        </p:grpSpPr>
        <p:sp>
          <p:nvSpPr>
            <p:cNvPr id="235" name="Google Shape;235;p35"/>
            <p:cNvSpPr/>
            <p:nvPr/>
          </p:nvSpPr>
          <p:spPr>
            <a:xfrm>
              <a:off x="5887211" y="4747259"/>
              <a:ext cx="2429256" cy="184708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35"/>
            <p:cNvSpPr/>
            <p:nvPr/>
          </p:nvSpPr>
          <p:spPr>
            <a:xfrm>
              <a:off x="5872733" y="4732781"/>
              <a:ext cx="2458720" cy="1876425"/>
            </a:xfrm>
            <a:custGeom>
              <a:rect b="b" l="l" r="r" t="t"/>
              <a:pathLst>
                <a:path extrusionOk="0" h="1876425" w="2458720">
                  <a:moveTo>
                    <a:pt x="0" y="1876044"/>
                  </a:moveTo>
                  <a:lnTo>
                    <a:pt x="2458212" y="1876044"/>
                  </a:lnTo>
                  <a:lnTo>
                    <a:pt x="2458212" y="0"/>
                  </a:lnTo>
                  <a:lnTo>
                    <a:pt x="0" y="0"/>
                  </a:lnTo>
                  <a:lnTo>
                    <a:pt x="0" y="1876044"/>
                  </a:lnTo>
                  <a:close/>
                </a:path>
              </a:pathLst>
            </a:custGeom>
            <a:noFill/>
            <a:ln cap="flat" cmpd="sng" w="289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idx="12" type="sldNum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36"/>
          <p:cNvSpPr txBox="1"/>
          <p:nvPr>
            <p:ph type="title"/>
          </p:nvPr>
        </p:nvSpPr>
        <p:spPr>
          <a:xfrm>
            <a:off x="1066800" y="2743200"/>
            <a:ext cx="70008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5- Iterative Deepening Depth-First Search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699655" y="263604"/>
            <a:ext cx="737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5- Iterative Deepening Depth-First Search</a:t>
            </a:r>
            <a:endParaRPr/>
          </a:p>
        </p:txBody>
      </p:sp>
      <p:sp>
        <p:nvSpPr>
          <p:cNvPr id="248" name="Google Shape;248;p37"/>
          <p:cNvSpPr/>
          <p:nvPr/>
        </p:nvSpPr>
        <p:spPr>
          <a:xfrm>
            <a:off x="394849" y="1447800"/>
            <a:ext cx="8547000" cy="4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iterative deepening algorithm is a combination of </a:t>
            </a:r>
            <a:r>
              <a:rPr b="0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DFS and BFS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algorithms.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search algorithm finds out the </a:t>
            </a:r>
            <a:r>
              <a:rPr b="0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best depth limit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does it by gradually increasing the limit until a </a:t>
            </a:r>
            <a:r>
              <a:rPr b="0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goal is found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algorithm performs depth-first search up to a certain "</a:t>
            </a:r>
            <a:r>
              <a:rPr b="0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depth limit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", and it keeps increasing the depth limit after each iteration until the goal node is found.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Search algorithm combines the benefits of </a:t>
            </a:r>
            <a:r>
              <a:rPr b="0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Breadth-first search fast search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depth-first search memory efficiency.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iterative search algorithm is useful uninformed search when search space is large, and depth of goal node is unknown.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457200" y="304800"/>
            <a:ext cx="82296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5- Iterative Deepening Depth-First Search</a:t>
            </a:r>
            <a:endParaRPr/>
          </a:p>
        </p:txBody>
      </p:sp>
      <p:sp>
        <p:nvSpPr>
          <p:cNvPr id="254" name="Google Shape;254;p38"/>
          <p:cNvSpPr/>
          <p:nvPr/>
        </p:nvSpPr>
        <p:spPr>
          <a:xfrm>
            <a:off x="5356550" y="1363148"/>
            <a:ext cx="35052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1'st Iteration-----&gt;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2'nd Iteration----&gt; A, B,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3'rd Iteration------&gt;A, B, D, E, C, F,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4'th Iteration------&gt;A, B, D, H, I, E, C, F, K, 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In the fourth iteration, the algorithm will find the goal node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491" y="1600200"/>
            <a:ext cx="4763165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1050137" y="211073"/>
            <a:ext cx="68795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Properties of Iterative Deepening Search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914400" y="1371600"/>
            <a:ext cx="6409055" cy="311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 (if the b is finite)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Arial"/>
              <a:buNone/>
            </a:pPr>
            <a:r>
              <a:t/>
            </a:r>
            <a:endParaRPr b="0" i="0" sz="3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O(b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Space: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O(bd)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Optimal: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Yes, if step cost = 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8660892" y="6430467"/>
            <a:ext cx="3473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 93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39"/>
          <p:cNvGrpSpPr/>
          <p:nvPr/>
        </p:nvGrpSpPr>
        <p:grpSpPr>
          <a:xfrm>
            <a:off x="5929122" y="3704081"/>
            <a:ext cx="2296795" cy="1866900"/>
            <a:chOff x="5929122" y="3704081"/>
            <a:chExt cx="2296795" cy="1866900"/>
          </a:xfrm>
        </p:grpSpPr>
        <p:sp>
          <p:nvSpPr>
            <p:cNvPr id="264" name="Google Shape;264;p39"/>
            <p:cNvSpPr/>
            <p:nvPr/>
          </p:nvSpPr>
          <p:spPr>
            <a:xfrm>
              <a:off x="5943600" y="3718559"/>
              <a:ext cx="2267711" cy="183794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9"/>
            <p:cNvSpPr/>
            <p:nvPr/>
          </p:nvSpPr>
          <p:spPr>
            <a:xfrm>
              <a:off x="5929122" y="3704081"/>
              <a:ext cx="2296795" cy="1866900"/>
            </a:xfrm>
            <a:custGeom>
              <a:rect b="b" l="l" r="r" t="t"/>
              <a:pathLst>
                <a:path extrusionOk="0" h="1866900" w="2296795">
                  <a:moveTo>
                    <a:pt x="0" y="1866900"/>
                  </a:moveTo>
                  <a:lnTo>
                    <a:pt x="2296668" y="1866900"/>
                  </a:lnTo>
                  <a:lnTo>
                    <a:pt x="2296668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noFill/>
            <a:ln cap="flat" cmpd="sng" w="289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62a6f6796_0_22"/>
          <p:cNvSpPr txBox="1"/>
          <p:nvPr>
            <p:ph type="title"/>
          </p:nvPr>
        </p:nvSpPr>
        <p:spPr>
          <a:xfrm>
            <a:off x="1050137" y="211073"/>
            <a:ext cx="164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c62a6f6796_0_22"/>
          <p:cNvSpPr txBox="1"/>
          <p:nvPr/>
        </p:nvSpPr>
        <p:spPr>
          <a:xfrm>
            <a:off x="807821" y="1106170"/>
            <a:ext cx="76728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-342900" lvl="0" marL="355600" marR="50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1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Variety of uninformed search strategies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c62a6f6796_0_22"/>
          <p:cNvSpPr/>
          <p:nvPr/>
        </p:nvSpPr>
        <p:spPr>
          <a:xfrm>
            <a:off x="1329473" y="2788974"/>
            <a:ext cx="6629400" cy="190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b0ae35669_1_0"/>
          <p:cNvSpPr/>
          <p:nvPr/>
        </p:nvSpPr>
        <p:spPr>
          <a:xfrm>
            <a:off x="1689750" y="2596425"/>
            <a:ext cx="5764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Informed Search Strategies</a:t>
            </a:r>
            <a:endParaRPr b="1" i="0" sz="32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b0ae35669_1_6"/>
          <p:cNvSpPr txBox="1"/>
          <p:nvPr>
            <p:ph type="title"/>
          </p:nvPr>
        </p:nvSpPr>
        <p:spPr>
          <a:xfrm>
            <a:off x="394100" y="320550"/>
            <a:ext cx="68664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2700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Informed Search Strategies</a:t>
            </a:r>
            <a:endParaRPr b="1" sz="4800">
              <a:solidFill>
                <a:srgbClr val="0070C0"/>
              </a:solidFill>
            </a:endParaRPr>
          </a:p>
        </p:txBody>
      </p:sp>
      <p:sp>
        <p:nvSpPr>
          <p:cNvPr id="283" name="Google Shape;283;g32b0ae35669_1_6"/>
          <p:cNvSpPr txBox="1"/>
          <p:nvPr>
            <p:ph idx="1" type="body"/>
          </p:nvPr>
        </p:nvSpPr>
        <p:spPr>
          <a:xfrm>
            <a:off x="309086" y="1296416"/>
            <a:ext cx="62400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/>
              <a:t>Heuristics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/>
              <a:t>Greedy Best first Search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/>
              <a:t>A*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/>
              <a:t>weighted A*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b0ae35669_1_11"/>
          <p:cNvSpPr txBox="1"/>
          <p:nvPr>
            <p:ph type="title"/>
          </p:nvPr>
        </p:nvSpPr>
        <p:spPr>
          <a:xfrm>
            <a:off x="759778" y="170528"/>
            <a:ext cx="374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364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Heuristics Search</a:t>
            </a:r>
            <a:endParaRPr b="1" sz="364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2b0ae35669_1_11"/>
          <p:cNvSpPr txBox="1"/>
          <p:nvPr>
            <p:ph idx="1" type="body"/>
          </p:nvPr>
        </p:nvSpPr>
        <p:spPr>
          <a:xfrm>
            <a:off x="475175" y="889000"/>
            <a:ext cx="8466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algorithms have additional information along with the goal state, which helps in more efficient searching. This information is obtained by something called a 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▪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heuristic is: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0965" lvl="1" marL="800021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Calibri"/>
              <a:buChar char="▪"/>
            </a:pPr>
            <a:r>
              <a:rPr lang="en-US" sz="2600"/>
              <a:t>A function that </a:t>
            </a:r>
            <a:r>
              <a:rPr i="1" lang="en-US" sz="2600"/>
              <a:t>estimates</a:t>
            </a:r>
            <a:r>
              <a:rPr lang="en-US" sz="2600"/>
              <a:t> how close a state is to a goal</a:t>
            </a:r>
            <a:endParaRPr sz="2400"/>
          </a:p>
          <a:p>
            <a:pPr indent="-380965" lvl="1" marL="800021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Calibri"/>
              <a:buChar char="▪"/>
            </a:pPr>
            <a:r>
              <a:rPr lang="en-US" sz="2600"/>
              <a:t>Designed for a particular search problem</a:t>
            </a:r>
            <a:endParaRPr sz="2400"/>
          </a:p>
          <a:p>
            <a:pPr indent="-380965" lvl="1" marL="800021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Calibri"/>
              <a:buChar char="▪"/>
            </a:pPr>
            <a:r>
              <a:rPr lang="en-US" sz="2600"/>
              <a:t>Examples: Manhattan distance, Euclidean distance for pathing</a:t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Z:\Shared with PC\smallMaze.png" id="290" name="Google Shape;290;g32b0ae35669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9135" y="4774842"/>
            <a:ext cx="3888615" cy="19704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g32b0ae35669_1_11"/>
          <p:cNvGrpSpPr/>
          <p:nvPr/>
        </p:nvGrpSpPr>
        <p:grpSpPr>
          <a:xfrm>
            <a:off x="5155800" y="5553713"/>
            <a:ext cx="1538641" cy="1076052"/>
            <a:chOff x="1653923" y="4572529"/>
            <a:chExt cx="2978400" cy="1667781"/>
          </a:xfrm>
        </p:grpSpPr>
        <p:cxnSp>
          <p:nvCxnSpPr>
            <p:cNvPr id="292" name="Google Shape;292;g32b0ae35669_1_11"/>
            <p:cNvCxnSpPr/>
            <p:nvPr/>
          </p:nvCxnSpPr>
          <p:spPr>
            <a:xfrm flipH="1">
              <a:off x="1653923" y="4572529"/>
              <a:ext cx="2978400" cy="1505400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293" name="Google Shape;293;g32b0ae35669_1_11"/>
            <p:cNvSpPr txBox="1"/>
            <p:nvPr/>
          </p:nvSpPr>
          <p:spPr>
            <a:xfrm>
              <a:off x="3164134" y="5238310"/>
              <a:ext cx="1053900" cy="10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11.2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g32b0ae35669_1_11"/>
          <p:cNvGrpSpPr/>
          <p:nvPr/>
        </p:nvGrpSpPr>
        <p:grpSpPr>
          <a:xfrm>
            <a:off x="5088253" y="4804712"/>
            <a:ext cx="1607355" cy="1642974"/>
            <a:chOff x="1573306" y="3717525"/>
            <a:chExt cx="3027605" cy="2358899"/>
          </a:xfrm>
        </p:grpSpPr>
        <p:sp>
          <p:nvSpPr>
            <p:cNvPr id="295" name="Google Shape;295;g32b0ae35669_1_11"/>
            <p:cNvSpPr/>
            <p:nvPr/>
          </p:nvSpPr>
          <p:spPr>
            <a:xfrm>
              <a:off x="1573306" y="4578757"/>
              <a:ext cx="3027605" cy="1497667"/>
            </a:xfrm>
            <a:custGeom>
              <a:rect b="b" l="l" r="r" t="t"/>
              <a:pathLst>
                <a:path extrusionOk="0" h="1479177" w="3065929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noFill/>
            <a:ln cap="flat" cmpd="sng" w="57150">
              <a:solidFill>
                <a:srgbClr val="C00000"/>
              </a:solidFill>
              <a:prstDash val="solid"/>
              <a:miter lim="8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2b0ae35669_1_11"/>
            <p:cNvSpPr txBox="1"/>
            <p:nvPr/>
          </p:nvSpPr>
          <p:spPr>
            <a:xfrm>
              <a:off x="2164976" y="3717525"/>
              <a:ext cx="441000" cy="9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2b0ae35669_1_11"/>
            <p:cNvSpPr txBox="1"/>
            <p:nvPr/>
          </p:nvSpPr>
          <p:spPr>
            <a:xfrm>
              <a:off x="1591236" y="4953001"/>
              <a:ext cx="3129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b0ae35669_1_24"/>
          <p:cNvSpPr txBox="1"/>
          <p:nvPr>
            <p:ph type="title"/>
          </p:nvPr>
        </p:nvSpPr>
        <p:spPr>
          <a:xfrm>
            <a:off x="288225" y="227350"/>
            <a:ext cx="57741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3740">
                <a:solidFill>
                  <a:schemeClr val="dk2"/>
                </a:solidFill>
              </a:rPr>
              <a:t>Greedy Best First Search</a:t>
            </a:r>
            <a:endParaRPr b="1" sz="3740">
              <a:solidFill>
                <a:schemeClr val="dk2"/>
              </a:solidFill>
            </a:endParaRPr>
          </a:p>
        </p:txBody>
      </p:sp>
      <p:sp>
        <p:nvSpPr>
          <p:cNvPr id="303" name="Google Shape;303;g32b0ae35669_1_24"/>
          <p:cNvSpPr txBox="1"/>
          <p:nvPr>
            <p:ph idx="1" type="body"/>
          </p:nvPr>
        </p:nvSpPr>
        <p:spPr>
          <a:xfrm>
            <a:off x="174100" y="927650"/>
            <a:ext cx="8843700" cy="57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greedy search, we expand the node closest to the goal node. The “closeness” is estimated by a heuristic h(x).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en-US" sz="31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r>
              <a:rPr b="1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heuristic h is defined as</a:t>
            </a: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h(x) = Estimate of distance of node x from the goal node.</a:t>
            </a:r>
            <a:endParaRPr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b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the value of h(x), closer is the node from the goal.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en-US" sz="31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r>
              <a:rPr b="1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the node closest to the goal state, </a:t>
            </a:r>
            <a:r>
              <a:rPr i="1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</a:t>
            </a:r>
            <a:r>
              <a:rPr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expand the node with lower h value.</a:t>
            </a:r>
            <a:endParaRPr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b0ae35669_1_29"/>
          <p:cNvSpPr txBox="1"/>
          <p:nvPr>
            <p:ph type="title"/>
          </p:nvPr>
        </p:nvSpPr>
        <p:spPr>
          <a:xfrm>
            <a:off x="401300" y="45300"/>
            <a:ext cx="395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en-US" sz="38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1" sz="3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2b0ae35669_1_29"/>
          <p:cNvSpPr txBox="1"/>
          <p:nvPr>
            <p:ph idx="1" type="body"/>
          </p:nvPr>
        </p:nvSpPr>
        <p:spPr>
          <a:xfrm>
            <a:off x="248900" y="811175"/>
            <a:ext cx="59271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path from S to G using greedy search. </a:t>
            </a:r>
            <a:endParaRPr/>
          </a:p>
        </p:txBody>
      </p:sp>
      <p:pic>
        <p:nvPicPr>
          <p:cNvPr id="310" name="Google Shape;310;g32b0ae35669_1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918" y="45299"/>
            <a:ext cx="3121429" cy="636270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2b0ae35669_1_29"/>
          <p:cNvSpPr/>
          <p:nvPr/>
        </p:nvSpPr>
        <p:spPr>
          <a:xfrm>
            <a:off x="213149" y="4950075"/>
            <a:ext cx="16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2b0ae35669_1_29"/>
          <p:cNvSpPr/>
          <p:nvPr/>
        </p:nvSpPr>
        <p:spPr>
          <a:xfrm>
            <a:off x="213150" y="5319400"/>
            <a:ext cx="6303900" cy="12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from </a:t>
            </a:r>
            <a:r>
              <a:rPr b="0" i="0" lang="en-US" sz="21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 can traverse to A(h=9) or D(h=5). We choose D, as it has the lower heuristic cost. Now from D, we can move to B(h=4) or E(h=3). We choose E with lower heuristic cost. Finally, from E, we go to G(h=0).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g32b0ae35669_1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284" y="1321469"/>
            <a:ext cx="4191921" cy="36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2b0ae35669_1_29"/>
          <p:cNvSpPr/>
          <p:nvPr/>
        </p:nvSpPr>
        <p:spPr>
          <a:xfrm>
            <a:off x="4472189" y="3335628"/>
            <a:ext cx="415500" cy="4380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12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2b0ae35669_1_29"/>
          <p:cNvSpPr/>
          <p:nvPr/>
        </p:nvSpPr>
        <p:spPr>
          <a:xfrm>
            <a:off x="6638281" y="6432100"/>
            <a:ext cx="24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 -&gt; D -&gt; E -&gt; G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2b0ae35669_1_29"/>
          <p:cNvSpPr/>
          <p:nvPr/>
        </p:nvSpPr>
        <p:spPr>
          <a:xfrm>
            <a:off x="5853927" y="6432100"/>
            <a:ext cx="10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b0ae35669_1_41"/>
          <p:cNvSpPr txBox="1"/>
          <p:nvPr>
            <p:ph type="title"/>
          </p:nvPr>
        </p:nvSpPr>
        <p:spPr>
          <a:xfrm>
            <a:off x="401325" y="255675"/>
            <a:ext cx="8218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en-US" sz="3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Travel Salesman Problem using Greedy Search</a:t>
            </a:r>
            <a:endParaRPr b="1" sz="3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g32b0ae35669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23" y="1799876"/>
            <a:ext cx="7902742" cy="388133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2b0ae35669_1_41"/>
          <p:cNvSpPr/>
          <p:nvPr/>
        </p:nvSpPr>
        <p:spPr>
          <a:xfrm>
            <a:off x="6558378" y="1684763"/>
            <a:ext cx="1745700" cy="427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2b0ae35669_1_41"/>
          <p:cNvSpPr/>
          <p:nvPr/>
        </p:nvSpPr>
        <p:spPr>
          <a:xfrm>
            <a:off x="7298778" y="6067075"/>
            <a:ext cx="10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h(x)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2b0ae35669_1_41"/>
          <p:cNvSpPr/>
          <p:nvPr/>
        </p:nvSpPr>
        <p:spPr>
          <a:xfrm>
            <a:off x="1398968" y="2998631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2b0ae35669_1_41"/>
          <p:cNvSpPr/>
          <p:nvPr/>
        </p:nvSpPr>
        <p:spPr>
          <a:xfrm>
            <a:off x="4189658" y="4958365"/>
            <a:ext cx="118500" cy="1674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g32b0ae35669_1_41"/>
          <p:cNvCxnSpPr/>
          <p:nvPr/>
        </p:nvCxnSpPr>
        <p:spPr>
          <a:xfrm>
            <a:off x="1524537" y="3019378"/>
            <a:ext cx="2683500" cy="2022600"/>
          </a:xfrm>
          <a:prstGeom prst="curvedConnector4">
            <a:avLst>
              <a:gd fmla="val 0" name="adj1"/>
              <a:gd fmla="val 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2b0ae35669_1_51"/>
          <p:cNvSpPr txBox="1"/>
          <p:nvPr>
            <p:ph type="title"/>
          </p:nvPr>
        </p:nvSpPr>
        <p:spPr>
          <a:xfrm>
            <a:off x="759353" y="246303"/>
            <a:ext cx="374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364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Greedy Search……</a:t>
            </a:r>
            <a:endParaRPr b="1" sz="364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g32b0ae35669_1_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916" y="1400437"/>
            <a:ext cx="5447700" cy="43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2b0ae35669_1_51"/>
          <p:cNvPicPr preferRelativeResize="0"/>
          <p:nvPr/>
        </p:nvPicPr>
        <p:blipFill rotWithShape="1">
          <a:blip r:embed="rId4">
            <a:alphaModFix/>
          </a:blip>
          <a:srcRect b="0" l="0" r="21801" t="0"/>
          <a:stretch/>
        </p:blipFill>
        <p:spPr>
          <a:xfrm>
            <a:off x="4743773" y="579850"/>
            <a:ext cx="4267634" cy="23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2b0ae35669_1_51"/>
          <p:cNvSpPr/>
          <p:nvPr/>
        </p:nvSpPr>
        <p:spPr>
          <a:xfrm>
            <a:off x="1138171" y="2586507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2b0ae35669_1_51"/>
          <p:cNvSpPr/>
          <p:nvPr/>
        </p:nvSpPr>
        <p:spPr>
          <a:xfrm>
            <a:off x="2219996" y="4003183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2b0ae35669_1_51"/>
          <p:cNvSpPr/>
          <p:nvPr/>
        </p:nvSpPr>
        <p:spPr>
          <a:xfrm>
            <a:off x="4335350" y="4505460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2b0ae35669_1_51"/>
          <p:cNvSpPr/>
          <p:nvPr/>
        </p:nvSpPr>
        <p:spPr>
          <a:xfrm>
            <a:off x="3891030" y="4994857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2b0ae35669_1_51"/>
          <p:cNvSpPr/>
          <p:nvPr/>
        </p:nvSpPr>
        <p:spPr>
          <a:xfrm>
            <a:off x="4509215" y="5548648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2b0ae35669_1_51"/>
          <p:cNvSpPr/>
          <p:nvPr/>
        </p:nvSpPr>
        <p:spPr>
          <a:xfrm>
            <a:off x="759346" y="5907100"/>
            <a:ext cx="291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can go wrong?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b0ae35669_1_51"/>
          <p:cNvSpPr txBox="1"/>
          <p:nvPr/>
        </p:nvSpPr>
        <p:spPr>
          <a:xfrm>
            <a:off x="3891025" y="5934848"/>
            <a:ext cx="19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optimal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2b0ae35669_1_64"/>
          <p:cNvSpPr txBox="1"/>
          <p:nvPr>
            <p:ph type="title"/>
          </p:nvPr>
        </p:nvSpPr>
        <p:spPr>
          <a:xfrm>
            <a:off x="3807900" y="5215725"/>
            <a:ext cx="49059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Greedy search leads to a minimal cost search because no node off the solution path is expanded. However, it does not find the optimal path: the path it found via Sibiu and Fagaras to Bucharest is 13 miles longer than the path through Rimnicu Vilcea and Pitesti.</a:t>
            </a:r>
            <a:endParaRPr sz="3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g32b0ae35669_1_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563500"/>
            <a:ext cx="80400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2b0ae35669_1_64"/>
          <p:cNvSpPr txBox="1"/>
          <p:nvPr/>
        </p:nvSpPr>
        <p:spPr>
          <a:xfrm>
            <a:off x="724422" y="5254575"/>
            <a:ext cx="34245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Path (GBF)=431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3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Green Path (UCS)= 418</a:t>
            </a:r>
            <a:endParaRPr b="1" i="0" sz="23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g32b0ae35669_1_64"/>
          <p:cNvCxnSpPr/>
          <p:nvPr/>
        </p:nvCxnSpPr>
        <p:spPr>
          <a:xfrm>
            <a:off x="1033529" y="1790163"/>
            <a:ext cx="3511500" cy="2150700"/>
          </a:xfrm>
          <a:prstGeom prst="curvedConnector3">
            <a:avLst>
              <a:gd fmla="val 7915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50" name="Google Shape;350;g32b0ae35669_1_64"/>
          <p:cNvCxnSpPr/>
          <p:nvPr/>
        </p:nvCxnSpPr>
        <p:spPr>
          <a:xfrm>
            <a:off x="1120462" y="1841679"/>
            <a:ext cx="3424500" cy="2167500"/>
          </a:xfrm>
          <a:prstGeom prst="curvedConnector3">
            <a:avLst>
              <a:gd fmla="val 45488" name="adj1"/>
            </a:avLst>
          </a:prstGeom>
          <a:noFill/>
          <a:ln cap="flat" cmpd="sng" w="28575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2b0ae35669_1_72"/>
          <p:cNvSpPr txBox="1"/>
          <p:nvPr>
            <p:ph type="title"/>
          </p:nvPr>
        </p:nvSpPr>
        <p:spPr>
          <a:xfrm>
            <a:off x="477678" y="189453"/>
            <a:ext cx="374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4040">
                <a:solidFill>
                  <a:schemeClr val="dk2"/>
                </a:solidFill>
              </a:rPr>
              <a:t>A* Search</a:t>
            </a:r>
            <a:endParaRPr sz="4040">
              <a:solidFill>
                <a:schemeClr val="dk2"/>
              </a:solidFill>
            </a:endParaRPr>
          </a:p>
        </p:txBody>
      </p:sp>
      <p:sp>
        <p:nvSpPr>
          <p:cNvPr id="356" name="Google Shape;356;g32b0ae35669_1_72"/>
          <p:cNvSpPr/>
          <p:nvPr/>
        </p:nvSpPr>
        <p:spPr>
          <a:xfrm>
            <a:off x="303125" y="1288250"/>
            <a:ext cx="84303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 Search, combines the strengths of </a:t>
            </a: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uniform-cost search</a:t>
            </a:r>
            <a:r>
              <a:rPr b="0" i="0" lang="en-US" sz="25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greedy search.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this search, the </a:t>
            </a:r>
            <a:r>
              <a:rPr b="0" i="1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 is the summation of the cost in UCS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 </a:t>
            </a: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g(x)</a:t>
            </a:r>
            <a:r>
              <a:rPr b="0" i="0" lang="en-US" sz="25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in greedy search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 </a:t>
            </a: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h(x).</a:t>
            </a:r>
            <a:r>
              <a:rPr b="0" i="0" lang="en-US" sz="25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summed cost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denoted by </a:t>
            </a: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r>
              <a:rPr b="0" i="0" lang="en-US" sz="25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Heuristic:</a:t>
            </a: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points should be noted w.r.t heuristics in A* search.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Noto Sans Symbols"/>
              <a:buChar char="▪"/>
            </a:pP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r>
              <a:rPr b="0" i="0" lang="en-US" sz="25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orders by the sum: </a:t>
            </a:r>
            <a:r>
              <a:rPr b="1" i="0" lang="en-US" sz="25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F(N) = G(N) + H(N)</a:t>
            </a:r>
            <a:endParaRPr b="1" i="1" sz="2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Uniform-cost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orders by path cost,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0" i="1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backward cost  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5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goal proximity,  or </a:t>
            </a:r>
            <a:r>
              <a:rPr b="0" i="1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cost  </a:t>
            </a:r>
            <a:endParaRPr b="0" i="1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</a:t>
            </a:r>
            <a:endParaRPr b="0" i="1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 f(x) = g(x) + h(x) " id="357" name="Google Shape;357;g32b0ae35669_1_72"/>
          <p:cNvSpPr/>
          <p:nvPr/>
        </p:nvSpPr>
        <p:spPr>
          <a:xfrm>
            <a:off x="3947762" y="1431925"/>
            <a:ext cx="1351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g32b0ae35669_1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2225" y="4470950"/>
            <a:ext cx="3844450" cy="22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2b0ae35669_1_79"/>
          <p:cNvSpPr txBox="1"/>
          <p:nvPr>
            <p:ph type="title"/>
          </p:nvPr>
        </p:nvSpPr>
        <p:spPr>
          <a:xfrm>
            <a:off x="628653" y="227378"/>
            <a:ext cx="374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3640">
                <a:solidFill>
                  <a:schemeClr val="dk2"/>
                </a:solidFill>
              </a:rPr>
              <a:t>A* Search</a:t>
            </a:r>
            <a:endParaRPr sz="3640">
              <a:solidFill>
                <a:schemeClr val="dk2"/>
              </a:solidFill>
            </a:endParaRPr>
          </a:p>
        </p:txBody>
      </p:sp>
      <p:pic>
        <p:nvPicPr>
          <p:cNvPr id="364" name="Google Shape;364;g32b0ae35669_1_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258952"/>
            <a:ext cx="8055000" cy="54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2b0ae35669_1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9692" y="0"/>
            <a:ext cx="4034310" cy="202842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2b0ae35669_1_79"/>
          <p:cNvSpPr/>
          <p:nvPr/>
        </p:nvSpPr>
        <p:spPr>
          <a:xfrm>
            <a:off x="1205785" y="2290293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2b0ae35669_1_79"/>
          <p:cNvSpPr/>
          <p:nvPr/>
        </p:nvSpPr>
        <p:spPr>
          <a:xfrm>
            <a:off x="3726824" y="3284111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2b0ae35669_1_79"/>
          <p:cNvSpPr/>
          <p:nvPr/>
        </p:nvSpPr>
        <p:spPr>
          <a:xfrm>
            <a:off x="5091984" y="3932907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2b0ae35669_1_79"/>
          <p:cNvSpPr/>
          <p:nvPr/>
        </p:nvSpPr>
        <p:spPr>
          <a:xfrm>
            <a:off x="5549185" y="4784501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2b0ae35669_1_79"/>
          <p:cNvSpPr/>
          <p:nvPr/>
        </p:nvSpPr>
        <p:spPr>
          <a:xfrm>
            <a:off x="6895027" y="5432738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2b0ae35669_1_79"/>
          <p:cNvSpPr/>
          <p:nvPr/>
        </p:nvSpPr>
        <p:spPr>
          <a:xfrm>
            <a:off x="7242757" y="6115318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2b0ae35669_1_79"/>
          <p:cNvSpPr/>
          <p:nvPr/>
        </p:nvSpPr>
        <p:spPr>
          <a:xfrm>
            <a:off x="6507052" y="4007108"/>
            <a:ext cx="125700" cy="141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2b0ae35669_1_92"/>
          <p:cNvSpPr txBox="1"/>
          <p:nvPr>
            <p:ph type="title"/>
          </p:nvPr>
        </p:nvSpPr>
        <p:spPr>
          <a:xfrm>
            <a:off x="486124" y="303125"/>
            <a:ext cx="46752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54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Admissible Heuristics</a:t>
            </a:r>
            <a:endParaRPr b="1" sz="354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2b0ae35669_1_92"/>
          <p:cNvSpPr txBox="1"/>
          <p:nvPr>
            <p:ph idx="1" type="body"/>
          </p:nvPr>
        </p:nvSpPr>
        <p:spPr>
          <a:xfrm>
            <a:off x="309075" y="1296425"/>
            <a:ext cx="8386500" cy="5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heuristic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b="1"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admissible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(optimistic) if: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where               is the true cost to a nearest goal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Completeness: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Time Complexity: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O(b^d)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Space Complexity: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O(b^d)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Optimal: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379" name="Google Shape;379;g32b0ae35669_1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298" y="1918625"/>
            <a:ext cx="3598000" cy="46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80" name="Google Shape;380;g32b0ae35669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6075" y="2611875"/>
            <a:ext cx="841175" cy="4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2b0ae35669_1_99"/>
          <p:cNvSpPr txBox="1"/>
          <p:nvPr>
            <p:ph type="title"/>
          </p:nvPr>
        </p:nvSpPr>
        <p:spPr>
          <a:xfrm>
            <a:off x="176103" y="225953"/>
            <a:ext cx="374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3640">
                <a:solidFill>
                  <a:schemeClr val="dk2"/>
                </a:solidFill>
              </a:rPr>
              <a:t>A* Search</a:t>
            </a:r>
            <a:endParaRPr b="1" sz="3640">
              <a:solidFill>
                <a:schemeClr val="dk2"/>
              </a:solidFill>
            </a:endParaRPr>
          </a:p>
        </p:txBody>
      </p:sp>
      <p:pic>
        <p:nvPicPr>
          <p:cNvPr id="386" name="Google Shape;386;g32b0ae35669_1_9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01" y="891527"/>
            <a:ext cx="4395900" cy="39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2b0ae35669_1_99"/>
          <p:cNvSpPr/>
          <p:nvPr/>
        </p:nvSpPr>
        <p:spPr>
          <a:xfrm>
            <a:off x="378898" y="5926900"/>
            <a:ext cx="4193100" cy="61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Path:</a:t>
            </a: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 -&gt; D -&gt; B -&gt; E -&gt;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Cost: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8" name="Google Shape;388;g32b0ae35669_1_99"/>
          <p:cNvGraphicFramePr/>
          <p:nvPr/>
        </p:nvGraphicFramePr>
        <p:xfrm>
          <a:off x="4699146" y="512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{4484C692-7111-4A7B-870E-91030245D9A4}</a:tableStyleId>
              </a:tblPr>
              <a:tblGrid>
                <a:gridCol w="1068725"/>
                <a:gridCol w="1068725"/>
                <a:gridCol w="1068725"/>
                <a:gridCol w="1068725"/>
              </a:tblGrid>
              <a:tr h="37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PATH</a:t>
                      </a:r>
                      <a:endParaRPr sz="1400" u="none" cap="none" strike="noStrike"/>
                    </a:p>
                  </a:txBody>
                  <a:tcPr marT="48600" marB="48600" marR="48600" marL="4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H(X)</a:t>
                      </a:r>
                      <a:endParaRPr sz="1400" u="none" cap="none" strike="noStrike"/>
                    </a:p>
                  </a:txBody>
                  <a:tcPr marT="48600" marB="48600" marR="48600" marL="4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G(X)</a:t>
                      </a:r>
                      <a:endParaRPr sz="1400" u="none" cap="none" strike="noStrike"/>
                    </a:p>
                  </a:txBody>
                  <a:tcPr marT="48600" marB="48600" marR="48600" marL="4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F(X)</a:t>
                      </a:r>
                      <a:endParaRPr sz="1400" u="none" cap="none" strike="noStrike"/>
                    </a:p>
                  </a:txBody>
                  <a:tcPr marT="48600" marB="48600" marR="48600" marL="4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9D58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A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D  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D -&gt; B  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2 + 1 = 3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D -&gt; E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2 + 4 = 6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D -&gt; B -&gt; C  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3 + 2 = 5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D -&gt; B -&gt; E  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3 + 1 = 4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S -&gt; D -&gt; B -&gt; C -&gt; G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5 + 4 = 9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S -&gt; D -&gt; B -&gt; E -&gt; G   </a:t>
                      </a:r>
                      <a:endParaRPr b="0" sz="11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4 + 3 = 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2525" marB="42525" marR="85025" marL="850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descr="✔" id="389" name="Google Shape;389;g32b0ae35669_1_99"/>
          <p:cNvSpPr/>
          <p:nvPr/>
        </p:nvSpPr>
        <p:spPr>
          <a:xfrm>
            <a:off x="5015263" y="512069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✔" id="390" name="Google Shape;390;g32b0ae35669_1_99"/>
          <p:cNvSpPr/>
          <p:nvPr/>
        </p:nvSpPr>
        <p:spPr>
          <a:xfrm>
            <a:off x="5015263" y="512069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✔" id="391" name="Google Shape;391;g32b0ae35669_1_99"/>
          <p:cNvSpPr/>
          <p:nvPr/>
        </p:nvSpPr>
        <p:spPr>
          <a:xfrm>
            <a:off x="5015263" y="512069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✔" id="392" name="Google Shape;392;g32b0ae35669_1_99"/>
          <p:cNvSpPr/>
          <p:nvPr/>
        </p:nvSpPr>
        <p:spPr>
          <a:xfrm>
            <a:off x="5015263" y="512069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✔" id="393" name="Google Shape;393;g32b0ae35669_1_99"/>
          <p:cNvSpPr/>
          <p:nvPr/>
        </p:nvSpPr>
        <p:spPr>
          <a:xfrm>
            <a:off x="5015263" y="512069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2b0ae35669_1_99"/>
          <p:cNvSpPr/>
          <p:nvPr/>
        </p:nvSpPr>
        <p:spPr>
          <a:xfrm>
            <a:off x="5986788" y="5718461"/>
            <a:ext cx="0" cy="27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g32b0ae35669_1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8468" y="1983205"/>
            <a:ext cx="286308" cy="26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2b0ae35669_1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6430" y="2707639"/>
            <a:ext cx="286308" cy="26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2b0ae35669_1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6430" y="3948905"/>
            <a:ext cx="286308" cy="26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2b0ae35669_1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6430" y="4562760"/>
            <a:ext cx="286308" cy="265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2b0ae35669_1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0730" y="6011629"/>
            <a:ext cx="286308" cy="26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00" name="Google Shape;400;g32b0ae35669_1_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6310" y="5243833"/>
            <a:ext cx="2348088" cy="30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2b0ae35669_1_118"/>
          <p:cNvSpPr txBox="1"/>
          <p:nvPr>
            <p:ph type="title"/>
          </p:nvPr>
        </p:nvSpPr>
        <p:spPr>
          <a:xfrm>
            <a:off x="397825" y="359975"/>
            <a:ext cx="57591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54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Consistency of Heuristics</a:t>
            </a:r>
            <a:endParaRPr b="1" sz="354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2b0ae35669_1_118"/>
          <p:cNvSpPr txBox="1"/>
          <p:nvPr>
            <p:ph idx="1" type="body"/>
          </p:nvPr>
        </p:nvSpPr>
        <p:spPr>
          <a:xfrm>
            <a:off x="309071" y="1296425"/>
            <a:ext cx="85191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Char char="•"/>
            </a:pPr>
            <a:r>
              <a:rPr lang="en-US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Main idea: estimated heuristic costs ≤ actual costs</a:t>
            </a:r>
            <a:endParaRPr sz="3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/>
              <a:t>Admissibility: heuristic cost ≤ actual cost to goal</a:t>
            </a:r>
            <a:endParaRPr sz="2400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		</a:t>
            </a:r>
            <a:r>
              <a:rPr lang="en-US" sz="2600">
                <a:solidFill>
                  <a:srgbClr val="C00000"/>
                </a:solidFill>
              </a:rPr>
              <a:t>h(A) </a:t>
            </a:r>
            <a:r>
              <a:rPr lang="en-US" sz="2600"/>
              <a:t>≤</a:t>
            </a:r>
            <a:r>
              <a:rPr lang="en-US" sz="2600">
                <a:solidFill>
                  <a:srgbClr val="C00000"/>
                </a:solidFill>
              </a:rPr>
              <a:t> </a:t>
            </a:r>
            <a:r>
              <a:rPr lang="en-US" sz="2600">
                <a:solidFill>
                  <a:srgbClr val="008000"/>
                </a:solidFill>
              </a:rPr>
              <a:t>actual cost from A to G</a:t>
            </a:r>
            <a:endParaRPr sz="2400"/>
          </a:p>
          <a:p>
            <a:pPr indent="-2667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/>
              <a:t>Consistency: heuristic “arc” cost ≤ actual cost for each arc</a:t>
            </a:r>
            <a:endParaRPr sz="2400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600">
                <a:solidFill>
                  <a:srgbClr val="C00000"/>
                </a:solidFill>
              </a:rPr>
              <a:t>		h(A) – h(C)</a:t>
            </a:r>
            <a:r>
              <a:rPr lang="en-US" sz="2600">
                <a:solidFill>
                  <a:srgbClr val="008000"/>
                </a:solidFill>
              </a:rPr>
              <a:t> </a:t>
            </a:r>
            <a:r>
              <a:rPr lang="en-US" sz="2600"/>
              <a:t>≤ </a:t>
            </a:r>
            <a:r>
              <a:rPr lang="en-US" sz="2600">
                <a:solidFill>
                  <a:srgbClr val="008000"/>
                </a:solidFill>
              </a:rPr>
              <a:t>cost(A to C)</a:t>
            </a:r>
            <a:endParaRPr sz="1650">
              <a:solidFill>
                <a:srgbClr val="C0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b0ae35669_1_123"/>
          <p:cNvSpPr txBox="1"/>
          <p:nvPr>
            <p:ph type="title"/>
          </p:nvPr>
        </p:nvSpPr>
        <p:spPr>
          <a:xfrm>
            <a:off x="439803" y="227378"/>
            <a:ext cx="3742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b="1" lang="en-US" sz="3640">
                <a:solidFill>
                  <a:schemeClr val="dk2"/>
                </a:solidFill>
              </a:rPr>
              <a:t>A* Search</a:t>
            </a:r>
            <a:endParaRPr sz="3640">
              <a:solidFill>
                <a:schemeClr val="dk2"/>
              </a:solidFill>
            </a:endParaRPr>
          </a:p>
        </p:txBody>
      </p:sp>
      <p:pic>
        <p:nvPicPr>
          <p:cNvPr id="412" name="Google Shape;412;g32b0ae35669_1_1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094" y="1130076"/>
            <a:ext cx="3249900" cy="37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2b0ae35669_1_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000" y="421050"/>
            <a:ext cx="5743274" cy="545182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2b0ae35669_1_123"/>
          <p:cNvSpPr/>
          <p:nvPr/>
        </p:nvSpPr>
        <p:spPr>
          <a:xfrm>
            <a:off x="94725" y="5425075"/>
            <a:ext cx="4830900" cy="61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Path:</a:t>
            </a: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  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 -&gt; D -&gt; B -&gt; C -&gt; E -&gt; G</a:t>
            </a:r>
            <a:b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Cost:</a:t>
            </a: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  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2bafdcb059_2_0"/>
          <p:cNvSpPr txBox="1"/>
          <p:nvPr>
            <p:ph type="title"/>
          </p:nvPr>
        </p:nvSpPr>
        <p:spPr>
          <a:xfrm>
            <a:off x="412124" y="322075"/>
            <a:ext cx="3642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300">
                <a:solidFill>
                  <a:schemeClr val="dk2"/>
                </a:solidFill>
              </a:rPr>
              <a:t>Weighed A*</a:t>
            </a:r>
            <a:endParaRPr b="1" sz="4300">
              <a:solidFill>
                <a:schemeClr val="dk2"/>
              </a:solidFill>
            </a:endParaRPr>
          </a:p>
        </p:txBody>
      </p:sp>
      <p:sp>
        <p:nvSpPr>
          <p:cNvPr id="421" name="Google Shape;421;g32bafdcb059_2_0"/>
          <p:cNvSpPr txBox="1"/>
          <p:nvPr>
            <p:ph idx="1" type="body"/>
          </p:nvPr>
        </p:nvSpPr>
        <p:spPr>
          <a:xfrm>
            <a:off x="412125" y="1296427"/>
            <a:ext cx="83784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A*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It considers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possible routes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carefully and picks the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shortest distance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this takes longer to compute.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Weighted A*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If we set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= 2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prioritizes getting to the destination quickly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even if the route is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slightly longer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                    f(n)=g(n)+W⋅h(n)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actual cost to reach the current state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estimated cost to reach the goal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weight (greater than 1)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g2d894e4ebe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713751" cy="65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g2af68884b9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150" y="524675"/>
            <a:ext cx="8656350" cy="52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c62a6f6796_0_62"/>
          <p:cNvPicPr preferRelativeResize="0"/>
          <p:nvPr/>
        </p:nvPicPr>
        <p:blipFill rotWithShape="1">
          <a:blip r:embed="rId3">
            <a:alphaModFix/>
          </a:blip>
          <a:srcRect b="0" l="29053" r="0" t="0"/>
          <a:stretch/>
        </p:blipFill>
        <p:spPr>
          <a:xfrm>
            <a:off x="80482" y="125181"/>
            <a:ext cx="8983025" cy="65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7C1B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