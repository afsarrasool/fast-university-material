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y="6858000" cx="9144000"/>
  <p:notesSz cx="9144000" cy="6858000"/>
  <p:embeddedFontLst>
    <p:embeddedFont>
      <p:font typeface="Roboto"/>
      <p:regular r:id="rId67"/>
      <p:bold r:id="rId68"/>
      <p:italic r:id="rId69"/>
      <p:boldItalic r:id="rId70"/>
    </p:embeddedFont>
    <p:embeddedFont>
      <p:font typeface="Noto Sans Symbols"/>
      <p:regular r:id="rId71"/>
      <p:bold r:id="rId72"/>
    </p:embeddedFont>
    <p:embeddedFont>
      <p:font typeface="Caladea"/>
      <p:regular r:id="rId73"/>
      <p:bold r:id="rId74"/>
      <p:italic r:id="rId75"/>
      <p:boldItalic r:id="rId76"/>
    </p:embeddedFont>
    <p:embeddedFont>
      <p:font typeface="Carlito"/>
      <p:regular r:id="rId77"/>
      <p:bold r:id="rId78"/>
      <p:italic r:id="rId79"/>
      <p:boldItalic r:id="rId80"/>
    </p:embeddedFont>
    <p:embeddedFont>
      <p:font typeface="Century Gothic"/>
      <p:regular r:id="rId81"/>
      <p:bold r:id="rId82"/>
      <p:italic r:id="rId83"/>
      <p:boldItalic r:id="rId8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85" roundtripDataSignature="AMtx7mh/51bXYPFgNw0TMIUnNXnM8l2s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7D2407-8FA4-4480-9037-8C2A86CC474D}">
  <a:tblStyle styleId="{0A7D2407-8FA4-4480-9037-8C2A86CC47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3957418-5E41-4D4D-8603-C0F52423EE9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CenturyGothic-boldItalic.fntdata"/><Relationship Id="rId83" Type="http://schemas.openxmlformats.org/officeDocument/2006/relationships/font" Target="fonts/CenturyGothic-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customschemas.google.com/relationships/presentationmetadata" Target="meta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Carlito-boldItalic.fntdata"/><Relationship Id="rId82" Type="http://schemas.openxmlformats.org/officeDocument/2006/relationships/font" Target="fonts/CenturyGothic-bold.fntdata"/><Relationship Id="rId81" Type="http://schemas.openxmlformats.org/officeDocument/2006/relationships/font" Target="fonts/CenturyGothi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Caladea-regular.fntdata"/><Relationship Id="rId72" Type="http://schemas.openxmlformats.org/officeDocument/2006/relationships/font" Target="fonts/NotoSansSymbols-bold.fntdata"/><Relationship Id="rId31" Type="http://schemas.openxmlformats.org/officeDocument/2006/relationships/slide" Target="slides/slide25.xml"/><Relationship Id="rId75" Type="http://schemas.openxmlformats.org/officeDocument/2006/relationships/font" Target="fonts/Caladea-italic.fntdata"/><Relationship Id="rId30" Type="http://schemas.openxmlformats.org/officeDocument/2006/relationships/slide" Target="slides/slide24.xml"/><Relationship Id="rId74" Type="http://schemas.openxmlformats.org/officeDocument/2006/relationships/font" Target="fonts/Caladea-bold.fntdata"/><Relationship Id="rId33" Type="http://schemas.openxmlformats.org/officeDocument/2006/relationships/slide" Target="slides/slide27.xml"/><Relationship Id="rId77" Type="http://schemas.openxmlformats.org/officeDocument/2006/relationships/font" Target="fonts/Carlito-regular.fntdata"/><Relationship Id="rId32" Type="http://schemas.openxmlformats.org/officeDocument/2006/relationships/slide" Target="slides/slide26.xml"/><Relationship Id="rId76" Type="http://schemas.openxmlformats.org/officeDocument/2006/relationships/font" Target="fonts/Caladea-boldItalic.fntdata"/><Relationship Id="rId35" Type="http://schemas.openxmlformats.org/officeDocument/2006/relationships/slide" Target="slides/slide29.xml"/><Relationship Id="rId79" Type="http://schemas.openxmlformats.org/officeDocument/2006/relationships/font" Target="fonts/Carlito-italic.fntdata"/><Relationship Id="rId34" Type="http://schemas.openxmlformats.org/officeDocument/2006/relationships/slide" Target="slides/slide28.xml"/><Relationship Id="rId78" Type="http://schemas.openxmlformats.org/officeDocument/2006/relationships/font" Target="fonts/Carlito-bold.fntdata"/><Relationship Id="rId71" Type="http://schemas.openxmlformats.org/officeDocument/2006/relationships/font" Target="fonts/NotoSansSymbols-regular.fntdata"/><Relationship Id="rId70" Type="http://schemas.openxmlformats.org/officeDocument/2006/relationships/font" Target="fonts/Roboto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Roboto-bold.fntdata"/><Relationship Id="rId23" Type="http://schemas.openxmlformats.org/officeDocument/2006/relationships/slide" Target="slides/slide17.xml"/><Relationship Id="rId67" Type="http://schemas.openxmlformats.org/officeDocument/2006/relationships/font" Target="fonts/Roboto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Roboto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028950" y="857250"/>
            <a:ext cx="30861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af4ef74b56_0_187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g2af4ef74b56_0_187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af4ef74b56_0_5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g2af4ef74b56_0_5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af4ef74b56_0_11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g2af4ef74b56_0_11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af4ef74b56_0_17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g2af4ef74b56_0_17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af4ef74b56_0_49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g2af4ef74b56_0_49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af4ef74b56_0_131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9" name="Google Shape;449;g2af4ef74b56_0_131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af4ef74b56_0_54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g2af4ef74b56_0_54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af4ef74b56_0_59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g2af4ef74b56_0_59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af4ef74b56_0_65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g2af4ef74b56_0_65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29920801d4_0_5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29920801d4_0_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af4ef74b56_0_7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4" name="Google Shape;494;g2af4ef74b56_0_7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af4ef74b56_0_80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g2af4ef74b56_0_80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af4ef74b56_0_96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g2af4ef74b56_0_96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af4ef74b56_0_101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g2af4ef74b56_0_101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af4ef74b56_0_113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0" name="Google Shape;540;g2af4ef74b56_0_113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29a232bb0c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29a232bb0c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af4ef74b56_0_136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4" name="Google Shape;564;g2af4ef74b56_0_136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af4ef74b56_1_32:notes"/>
          <p:cNvSpPr txBox="1"/>
          <p:nvPr>
            <p:ph idx="1" type="body"/>
          </p:nvPr>
        </p:nvSpPr>
        <p:spPr>
          <a:xfrm>
            <a:off x="914400" y="3300413"/>
            <a:ext cx="73152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2af4ef74b56_1_32:notes"/>
          <p:cNvSpPr/>
          <p:nvPr>
            <p:ph idx="2" type="sldImg"/>
          </p:nvPr>
        </p:nvSpPr>
        <p:spPr>
          <a:xfrm>
            <a:off x="1828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29a232bb0c_0_6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29a232bb0c_0_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29a232bb0c_0_1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29a232bb0c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af4ef74b56_0_148:notes"/>
          <p:cNvSpPr txBox="1"/>
          <p:nvPr>
            <p:ph idx="1" type="body"/>
          </p:nvPr>
        </p:nvSpPr>
        <p:spPr>
          <a:xfrm>
            <a:off x="914400" y="3300413"/>
            <a:ext cx="73152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4" name="Google Shape;594;g2af4ef74b56_0_148:notes"/>
          <p:cNvSpPr/>
          <p:nvPr>
            <p:ph idx="2" type="sldImg"/>
          </p:nvPr>
        </p:nvSpPr>
        <p:spPr>
          <a:xfrm>
            <a:off x="3028950" y="857250"/>
            <a:ext cx="30861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af4ef74b56_1_2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af4ef74b56_1_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af4ef74b56_1_11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af4ef74b56_1_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af4ef74b56_1_199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af4ef74b56_1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af4ef74b56_1_205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af4ef74b56_1_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9"/>
          <p:cNvSpPr txBox="1"/>
          <p:nvPr>
            <p:ph idx="1" type="body"/>
          </p:nvPr>
        </p:nvSpPr>
        <p:spPr>
          <a:xfrm>
            <a:off x="894713" y="1874110"/>
            <a:ext cx="7354572" cy="439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9"/>
          <p:cNvSpPr txBox="1"/>
          <p:nvPr>
            <p:ph idx="11" type="ftr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/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" type="subTitle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2" type="body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1" type="ftr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2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1" type="ftr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3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6858000" w="9144000">
                <a:moveTo>
                  <a:pt x="0" y="6857999"/>
                </a:moveTo>
                <a:lnTo>
                  <a:pt x="9143999" y="6857999"/>
                </a:ln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3"/>
          <p:cNvSpPr/>
          <p:nvPr/>
        </p:nvSpPr>
        <p:spPr>
          <a:xfrm>
            <a:off x="0" y="0"/>
            <a:ext cx="9143999" cy="685799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3"/>
          <p:cNvSpPr/>
          <p:nvPr/>
        </p:nvSpPr>
        <p:spPr>
          <a:xfrm>
            <a:off x="656081" y="0"/>
            <a:ext cx="7748270" cy="6858000"/>
          </a:xfrm>
          <a:custGeom>
            <a:rect b="b" l="l" r="r" t="t"/>
            <a:pathLst>
              <a:path extrusionOk="0" h="6858000" w="7748270">
                <a:moveTo>
                  <a:pt x="2197912" y="0"/>
                </a:moveTo>
                <a:lnTo>
                  <a:pt x="2002741" y="98884"/>
                </a:lnTo>
                <a:lnTo>
                  <a:pt x="1817462" y="206241"/>
                </a:lnTo>
                <a:lnTo>
                  <a:pt x="1638959" y="323232"/>
                </a:lnTo>
                <a:lnTo>
                  <a:pt x="1467604" y="449493"/>
                </a:lnTo>
                <a:lnTo>
                  <a:pt x="1303766" y="584660"/>
                </a:lnTo>
                <a:lnTo>
                  <a:pt x="1147816" y="728370"/>
                </a:lnTo>
                <a:lnTo>
                  <a:pt x="1000124" y="880258"/>
                </a:lnTo>
                <a:lnTo>
                  <a:pt x="861060" y="1039961"/>
                </a:lnTo>
                <a:lnTo>
                  <a:pt x="730994" y="1207115"/>
                </a:lnTo>
                <a:lnTo>
                  <a:pt x="610296" y="1381357"/>
                </a:lnTo>
                <a:lnTo>
                  <a:pt x="499336" y="1562323"/>
                </a:lnTo>
                <a:lnTo>
                  <a:pt x="398485" y="1749649"/>
                </a:lnTo>
                <a:lnTo>
                  <a:pt x="308113" y="1942971"/>
                </a:lnTo>
                <a:lnTo>
                  <a:pt x="228589" y="2141926"/>
                </a:lnTo>
                <a:lnTo>
                  <a:pt x="160285" y="2346150"/>
                </a:lnTo>
                <a:lnTo>
                  <a:pt x="103569" y="2555279"/>
                </a:lnTo>
                <a:lnTo>
                  <a:pt x="58813" y="2768949"/>
                </a:lnTo>
                <a:lnTo>
                  <a:pt x="26385" y="2986797"/>
                </a:lnTo>
                <a:lnTo>
                  <a:pt x="6658" y="3208460"/>
                </a:lnTo>
                <a:lnTo>
                  <a:pt x="0" y="3433572"/>
                </a:lnTo>
                <a:lnTo>
                  <a:pt x="6658" y="3658682"/>
                </a:lnTo>
                <a:lnTo>
                  <a:pt x="26385" y="3880342"/>
                </a:lnTo>
                <a:lnTo>
                  <a:pt x="58813" y="4098187"/>
                </a:lnTo>
                <a:lnTo>
                  <a:pt x="103569" y="4311855"/>
                </a:lnTo>
                <a:lnTo>
                  <a:pt x="160285" y="4520982"/>
                </a:lnTo>
                <a:lnTo>
                  <a:pt x="228589" y="4725203"/>
                </a:lnTo>
                <a:lnTo>
                  <a:pt x="308113" y="4924155"/>
                </a:lnTo>
                <a:lnTo>
                  <a:pt x="398485" y="5117474"/>
                </a:lnTo>
                <a:lnTo>
                  <a:pt x="499336" y="5304797"/>
                </a:lnTo>
                <a:lnTo>
                  <a:pt x="610296" y="5485760"/>
                </a:lnTo>
                <a:lnTo>
                  <a:pt x="730994" y="5659999"/>
                </a:lnTo>
                <a:lnTo>
                  <a:pt x="861060" y="5827150"/>
                </a:lnTo>
                <a:lnTo>
                  <a:pt x="1000124" y="5986850"/>
                </a:lnTo>
                <a:lnTo>
                  <a:pt x="1147816" y="6138735"/>
                </a:lnTo>
                <a:lnTo>
                  <a:pt x="1303766" y="6282441"/>
                </a:lnTo>
                <a:lnTo>
                  <a:pt x="1467604" y="6417605"/>
                </a:lnTo>
                <a:lnTo>
                  <a:pt x="1638959" y="6543862"/>
                </a:lnTo>
                <a:lnTo>
                  <a:pt x="1817462" y="6660850"/>
                </a:lnTo>
                <a:lnTo>
                  <a:pt x="2002741" y="6768204"/>
                </a:lnTo>
                <a:lnTo>
                  <a:pt x="2179542" y="6858000"/>
                </a:lnTo>
                <a:lnTo>
                  <a:pt x="5568463" y="6858000"/>
                </a:lnTo>
                <a:lnTo>
                  <a:pt x="5745264" y="6768204"/>
                </a:lnTo>
                <a:lnTo>
                  <a:pt x="5930544" y="6660850"/>
                </a:lnTo>
                <a:lnTo>
                  <a:pt x="6109047" y="6543862"/>
                </a:lnTo>
                <a:lnTo>
                  <a:pt x="6280403" y="6417605"/>
                </a:lnTo>
                <a:lnTo>
                  <a:pt x="6444241" y="6282441"/>
                </a:lnTo>
                <a:lnTo>
                  <a:pt x="6600191" y="6138735"/>
                </a:lnTo>
                <a:lnTo>
                  <a:pt x="6747884" y="5986850"/>
                </a:lnTo>
                <a:lnTo>
                  <a:pt x="6886949" y="5827150"/>
                </a:lnTo>
                <a:lnTo>
                  <a:pt x="7017016" y="5659999"/>
                </a:lnTo>
                <a:lnTo>
                  <a:pt x="7137714" y="5485760"/>
                </a:lnTo>
                <a:lnTo>
                  <a:pt x="7248674" y="5304797"/>
                </a:lnTo>
                <a:lnTo>
                  <a:pt x="7349526" y="5117474"/>
                </a:lnTo>
                <a:lnTo>
                  <a:pt x="7439899" y="4924155"/>
                </a:lnTo>
                <a:lnTo>
                  <a:pt x="7519423" y="4725203"/>
                </a:lnTo>
                <a:lnTo>
                  <a:pt x="7587729" y="4520982"/>
                </a:lnTo>
                <a:lnTo>
                  <a:pt x="7644445" y="4311855"/>
                </a:lnTo>
                <a:lnTo>
                  <a:pt x="7689202" y="4098187"/>
                </a:lnTo>
                <a:lnTo>
                  <a:pt x="7721629" y="3880342"/>
                </a:lnTo>
                <a:lnTo>
                  <a:pt x="7741357" y="3658682"/>
                </a:lnTo>
                <a:lnTo>
                  <a:pt x="7748015" y="3433572"/>
                </a:lnTo>
                <a:lnTo>
                  <a:pt x="7741357" y="3208460"/>
                </a:lnTo>
                <a:lnTo>
                  <a:pt x="7721629" y="2986797"/>
                </a:lnTo>
                <a:lnTo>
                  <a:pt x="7689202" y="2768949"/>
                </a:lnTo>
                <a:lnTo>
                  <a:pt x="7644445" y="2555279"/>
                </a:lnTo>
                <a:lnTo>
                  <a:pt x="7587729" y="2346150"/>
                </a:lnTo>
                <a:lnTo>
                  <a:pt x="7519423" y="2141926"/>
                </a:lnTo>
                <a:lnTo>
                  <a:pt x="7439899" y="1942971"/>
                </a:lnTo>
                <a:lnTo>
                  <a:pt x="7349526" y="1749649"/>
                </a:lnTo>
                <a:lnTo>
                  <a:pt x="7248674" y="1562323"/>
                </a:lnTo>
                <a:lnTo>
                  <a:pt x="7137714" y="1381357"/>
                </a:lnTo>
                <a:lnTo>
                  <a:pt x="7017016" y="1207115"/>
                </a:lnTo>
                <a:lnTo>
                  <a:pt x="6886949" y="1039961"/>
                </a:lnTo>
                <a:lnTo>
                  <a:pt x="6747884" y="880258"/>
                </a:lnTo>
                <a:lnTo>
                  <a:pt x="6600191" y="728370"/>
                </a:lnTo>
                <a:lnTo>
                  <a:pt x="6444241" y="584660"/>
                </a:lnTo>
                <a:lnTo>
                  <a:pt x="6280403" y="449493"/>
                </a:lnTo>
                <a:lnTo>
                  <a:pt x="6109047" y="323232"/>
                </a:lnTo>
                <a:lnTo>
                  <a:pt x="5930544" y="206241"/>
                </a:lnTo>
                <a:lnTo>
                  <a:pt x="5745264" y="98884"/>
                </a:lnTo>
                <a:lnTo>
                  <a:pt x="5553577" y="1524"/>
                </a:lnTo>
                <a:lnTo>
                  <a:pt x="5550094" y="0"/>
                </a:lnTo>
                <a:lnTo>
                  <a:pt x="2197912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3"/>
          <p:cNvSpPr/>
          <p:nvPr/>
        </p:nvSpPr>
        <p:spPr>
          <a:xfrm>
            <a:off x="643127" y="0"/>
            <a:ext cx="7774305" cy="6858000"/>
          </a:xfrm>
          <a:custGeom>
            <a:rect b="b" l="l" r="r" t="t"/>
            <a:pathLst>
              <a:path extrusionOk="0" h="6858000" w="7774305">
                <a:moveTo>
                  <a:pt x="5592386" y="0"/>
                </a:moveTo>
                <a:lnTo>
                  <a:pt x="2181396" y="0"/>
                </a:lnTo>
                <a:lnTo>
                  <a:pt x="2080772" y="60959"/>
                </a:lnTo>
                <a:lnTo>
                  <a:pt x="1962281" y="121919"/>
                </a:lnTo>
                <a:lnTo>
                  <a:pt x="1846325" y="182879"/>
                </a:lnTo>
                <a:lnTo>
                  <a:pt x="1733037" y="274319"/>
                </a:lnTo>
                <a:lnTo>
                  <a:pt x="1622547" y="335279"/>
                </a:lnTo>
                <a:lnTo>
                  <a:pt x="1514724" y="426719"/>
                </a:lnTo>
                <a:lnTo>
                  <a:pt x="1409949" y="518159"/>
                </a:lnTo>
                <a:lnTo>
                  <a:pt x="1308104" y="579119"/>
                </a:lnTo>
                <a:lnTo>
                  <a:pt x="1209293" y="670559"/>
                </a:lnTo>
                <a:lnTo>
                  <a:pt x="1113794" y="761999"/>
                </a:lnTo>
                <a:lnTo>
                  <a:pt x="1021592" y="853439"/>
                </a:lnTo>
                <a:lnTo>
                  <a:pt x="932556" y="975359"/>
                </a:lnTo>
                <a:lnTo>
                  <a:pt x="847094" y="1066799"/>
                </a:lnTo>
                <a:lnTo>
                  <a:pt x="765179" y="1158239"/>
                </a:lnTo>
                <a:lnTo>
                  <a:pt x="686942" y="1280159"/>
                </a:lnTo>
                <a:lnTo>
                  <a:pt x="612337" y="1402079"/>
                </a:lnTo>
                <a:lnTo>
                  <a:pt x="541626" y="1493519"/>
                </a:lnTo>
                <a:lnTo>
                  <a:pt x="474725" y="1615439"/>
                </a:lnTo>
                <a:lnTo>
                  <a:pt x="411848" y="1737359"/>
                </a:lnTo>
                <a:lnTo>
                  <a:pt x="353174" y="1859279"/>
                </a:lnTo>
                <a:lnTo>
                  <a:pt x="298502" y="1981199"/>
                </a:lnTo>
                <a:lnTo>
                  <a:pt x="248232" y="2103119"/>
                </a:lnTo>
                <a:lnTo>
                  <a:pt x="202274" y="2225039"/>
                </a:lnTo>
                <a:lnTo>
                  <a:pt x="160794" y="2346959"/>
                </a:lnTo>
                <a:lnTo>
                  <a:pt x="123812" y="2499359"/>
                </a:lnTo>
                <a:lnTo>
                  <a:pt x="91510" y="2621279"/>
                </a:lnTo>
                <a:lnTo>
                  <a:pt x="63901" y="2743199"/>
                </a:lnTo>
                <a:lnTo>
                  <a:pt x="41160" y="2895599"/>
                </a:lnTo>
                <a:lnTo>
                  <a:pt x="23289" y="3017519"/>
                </a:lnTo>
                <a:lnTo>
                  <a:pt x="10405" y="3169919"/>
                </a:lnTo>
                <a:lnTo>
                  <a:pt x="2584" y="3322319"/>
                </a:lnTo>
                <a:lnTo>
                  <a:pt x="0" y="3444239"/>
                </a:lnTo>
                <a:lnTo>
                  <a:pt x="2596" y="3596639"/>
                </a:lnTo>
                <a:lnTo>
                  <a:pt x="10442" y="3718559"/>
                </a:lnTo>
                <a:lnTo>
                  <a:pt x="23359" y="3870959"/>
                </a:lnTo>
                <a:lnTo>
                  <a:pt x="41230" y="3992879"/>
                </a:lnTo>
                <a:lnTo>
                  <a:pt x="63983" y="4145279"/>
                </a:lnTo>
                <a:lnTo>
                  <a:pt x="91619" y="4267199"/>
                </a:lnTo>
                <a:lnTo>
                  <a:pt x="123943" y="4419599"/>
                </a:lnTo>
                <a:lnTo>
                  <a:pt x="160937" y="4541519"/>
                </a:lnTo>
                <a:lnTo>
                  <a:pt x="202429" y="4663439"/>
                </a:lnTo>
                <a:lnTo>
                  <a:pt x="248399" y="4785359"/>
                </a:lnTo>
                <a:lnTo>
                  <a:pt x="298691" y="4907279"/>
                </a:lnTo>
                <a:lnTo>
                  <a:pt x="353366" y="5029199"/>
                </a:lnTo>
                <a:lnTo>
                  <a:pt x="412053" y="5151119"/>
                </a:lnTo>
                <a:lnTo>
                  <a:pt x="474951" y="5273039"/>
                </a:lnTo>
                <a:lnTo>
                  <a:pt x="541852" y="5394959"/>
                </a:lnTo>
                <a:lnTo>
                  <a:pt x="612599" y="5516879"/>
                </a:lnTo>
                <a:lnTo>
                  <a:pt x="687192" y="5608319"/>
                </a:lnTo>
                <a:lnTo>
                  <a:pt x="765428" y="5730239"/>
                </a:lnTo>
                <a:lnTo>
                  <a:pt x="847475" y="5821679"/>
                </a:lnTo>
                <a:lnTo>
                  <a:pt x="932937" y="5943599"/>
                </a:lnTo>
                <a:lnTo>
                  <a:pt x="1021841" y="6035039"/>
                </a:lnTo>
                <a:lnTo>
                  <a:pt x="1114043" y="6126479"/>
                </a:lnTo>
                <a:lnTo>
                  <a:pt x="1209674" y="6217919"/>
                </a:lnTo>
                <a:lnTo>
                  <a:pt x="1308485" y="6309359"/>
                </a:lnTo>
                <a:lnTo>
                  <a:pt x="1410212" y="6400799"/>
                </a:lnTo>
                <a:lnTo>
                  <a:pt x="1515105" y="6461759"/>
                </a:lnTo>
                <a:lnTo>
                  <a:pt x="1622928" y="6553199"/>
                </a:lnTo>
                <a:lnTo>
                  <a:pt x="1733418" y="6644639"/>
                </a:lnTo>
                <a:lnTo>
                  <a:pt x="1846706" y="6705599"/>
                </a:lnTo>
                <a:lnTo>
                  <a:pt x="1962662" y="6766559"/>
                </a:lnTo>
                <a:lnTo>
                  <a:pt x="2081153" y="6827519"/>
                </a:lnTo>
                <a:lnTo>
                  <a:pt x="2162792" y="6857999"/>
                </a:lnTo>
                <a:lnTo>
                  <a:pt x="2212598" y="6857999"/>
                </a:lnTo>
                <a:lnTo>
                  <a:pt x="1974972" y="6736079"/>
                </a:lnTo>
                <a:lnTo>
                  <a:pt x="1859792" y="6675119"/>
                </a:lnTo>
                <a:lnTo>
                  <a:pt x="1747265" y="6614159"/>
                </a:lnTo>
                <a:lnTo>
                  <a:pt x="1637537" y="6522719"/>
                </a:lnTo>
                <a:lnTo>
                  <a:pt x="1530345" y="6461759"/>
                </a:lnTo>
                <a:lnTo>
                  <a:pt x="1426332" y="6370319"/>
                </a:lnTo>
                <a:lnTo>
                  <a:pt x="1325117" y="6278879"/>
                </a:lnTo>
                <a:lnTo>
                  <a:pt x="1227069" y="6187439"/>
                </a:lnTo>
                <a:lnTo>
                  <a:pt x="1132082" y="6095999"/>
                </a:lnTo>
                <a:lnTo>
                  <a:pt x="1040510" y="6004559"/>
                </a:lnTo>
                <a:lnTo>
                  <a:pt x="952118" y="5913119"/>
                </a:lnTo>
                <a:lnTo>
                  <a:pt x="867287" y="5821679"/>
                </a:lnTo>
                <a:lnTo>
                  <a:pt x="785871" y="5699759"/>
                </a:lnTo>
                <a:lnTo>
                  <a:pt x="708029" y="5608319"/>
                </a:lnTo>
                <a:lnTo>
                  <a:pt x="633983" y="5486399"/>
                </a:lnTo>
                <a:lnTo>
                  <a:pt x="563809" y="5394959"/>
                </a:lnTo>
                <a:lnTo>
                  <a:pt x="497360" y="5273039"/>
                </a:lnTo>
                <a:lnTo>
                  <a:pt x="434913" y="5151119"/>
                </a:lnTo>
                <a:lnTo>
                  <a:pt x="376629" y="5029199"/>
                </a:lnTo>
                <a:lnTo>
                  <a:pt x="322338" y="4907279"/>
                </a:lnTo>
                <a:lnTo>
                  <a:pt x="272427" y="4785359"/>
                </a:lnTo>
                <a:lnTo>
                  <a:pt x="226765" y="4663439"/>
                </a:lnTo>
                <a:lnTo>
                  <a:pt x="185583" y="4541519"/>
                </a:lnTo>
                <a:lnTo>
                  <a:pt x="148852" y="4389119"/>
                </a:lnTo>
                <a:lnTo>
                  <a:pt x="116787" y="4267199"/>
                </a:lnTo>
                <a:lnTo>
                  <a:pt x="89367" y="4145279"/>
                </a:lnTo>
                <a:lnTo>
                  <a:pt x="66781" y="3992879"/>
                </a:lnTo>
                <a:lnTo>
                  <a:pt x="49030" y="3870959"/>
                </a:lnTo>
                <a:lnTo>
                  <a:pt x="36231" y="3718559"/>
                </a:lnTo>
                <a:lnTo>
                  <a:pt x="28456" y="3596639"/>
                </a:lnTo>
                <a:lnTo>
                  <a:pt x="25907" y="3444239"/>
                </a:lnTo>
                <a:lnTo>
                  <a:pt x="28468" y="3322319"/>
                </a:lnTo>
                <a:lnTo>
                  <a:pt x="36265" y="3169919"/>
                </a:lnTo>
                <a:lnTo>
                  <a:pt x="49100" y="3017519"/>
                </a:lnTo>
                <a:lnTo>
                  <a:pt x="66854" y="2895599"/>
                </a:lnTo>
                <a:lnTo>
                  <a:pt x="89452" y="2773679"/>
                </a:lnTo>
                <a:lnTo>
                  <a:pt x="116896" y="2621279"/>
                </a:lnTo>
                <a:lnTo>
                  <a:pt x="148983" y="2499359"/>
                </a:lnTo>
                <a:lnTo>
                  <a:pt x="185726" y="2377439"/>
                </a:lnTo>
                <a:lnTo>
                  <a:pt x="226920" y="2225039"/>
                </a:lnTo>
                <a:lnTo>
                  <a:pt x="272594" y="2103119"/>
                </a:lnTo>
                <a:lnTo>
                  <a:pt x="322527" y="1981199"/>
                </a:lnTo>
                <a:lnTo>
                  <a:pt x="376821" y="1859279"/>
                </a:lnTo>
                <a:lnTo>
                  <a:pt x="435114" y="1737359"/>
                </a:lnTo>
                <a:lnTo>
                  <a:pt x="497585" y="1615439"/>
                </a:lnTo>
                <a:lnTo>
                  <a:pt x="564035" y="1523999"/>
                </a:lnTo>
                <a:lnTo>
                  <a:pt x="634233" y="1402079"/>
                </a:lnTo>
                <a:lnTo>
                  <a:pt x="708278" y="1280159"/>
                </a:lnTo>
                <a:lnTo>
                  <a:pt x="786134" y="1188719"/>
                </a:lnTo>
                <a:lnTo>
                  <a:pt x="867536" y="1097279"/>
                </a:lnTo>
                <a:lnTo>
                  <a:pt x="952368" y="975359"/>
                </a:lnTo>
                <a:lnTo>
                  <a:pt x="1040760" y="883919"/>
                </a:lnTo>
                <a:lnTo>
                  <a:pt x="1132463" y="792479"/>
                </a:lnTo>
                <a:lnTo>
                  <a:pt x="1227332" y="701039"/>
                </a:lnTo>
                <a:lnTo>
                  <a:pt x="1325498" y="609599"/>
                </a:lnTo>
                <a:lnTo>
                  <a:pt x="1426595" y="518159"/>
                </a:lnTo>
                <a:lnTo>
                  <a:pt x="1530726" y="457199"/>
                </a:lnTo>
                <a:lnTo>
                  <a:pt x="1637787" y="365759"/>
                </a:lnTo>
                <a:lnTo>
                  <a:pt x="1747646" y="274319"/>
                </a:lnTo>
                <a:lnTo>
                  <a:pt x="1860173" y="213359"/>
                </a:lnTo>
                <a:lnTo>
                  <a:pt x="1975353" y="152399"/>
                </a:lnTo>
                <a:lnTo>
                  <a:pt x="2213097" y="30479"/>
                </a:lnTo>
                <a:lnTo>
                  <a:pt x="5642583" y="30479"/>
                </a:lnTo>
                <a:lnTo>
                  <a:pt x="5592386" y="0"/>
                </a:lnTo>
                <a:close/>
              </a:path>
              <a:path extrusionOk="0" h="6858000" w="7774305">
                <a:moveTo>
                  <a:pt x="5642583" y="30479"/>
                </a:moveTo>
                <a:lnTo>
                  <a:pt x="5561197" y="30479"/>
                </a:lnTo>
                <a:lnTo>
                  <a:pt x="5798941" y="152399"/>
                </a:lnTo>
                <a:lnTo>
                  <a:pt x="5914125" y="213359"/>
                </a:lnTo>
                <a:lnTo>
                  <a:pt x="6026657" y="304799"/>
                </a:lnTo>
                <a:lnTo>
                  <a:pt x="6136507" y="365759"/>
                </a:lnTo>
                <a:lnTo>
                  <a:pt x="6243462" y="457199"/>
                </a:lnTo>
                <a:lnTo>
                  <a:pt x="6347703" y="518159"/>
                </a:lnTo>
                <a:lnTo>
                  <a:pt x="6448805" y="609599"/>
                </a:lnTo>
                <a:lnTo>
                  <a:pt x="6546860" y="701039"/>
                </a:lnTo>
                <a:lnTo>
                  <a:pt x="6641835" y="792479"/>
                </a:lnTo>
                <a:lnTo>
                  <a:pt x="6733550" y="883919"/>
                </a:lnTo>
                <a:lnTo>
                  <a:pt x="6821820" y="975359"/>
                </a:lnTo>
                <a:lnTo>
                  <a:pt x="6906767" y="1097279"/>
                </a:lnTo>
                <a:lnTo>
                  <a:pt x="6988058" y="1188719"/>
                </a:lnTo>
                <a:lnTo>
                  <a:pt x="7065903" y="1280159"/>
                </a:lnTo>
                <a:lnTo>
                  <a:pt x="7139939" y="1402079"/>
                </a:lnTo>
                <a:lnTo>
                  <a:pt x="7210165" y="1523999"/>
                </a:lnTo>
                <a:lnTo>
                  <a:pt x="7276581" y="1615439"/>
                </a:lnTo>
                <a:lnTo>
                  <a:pt x="7339065" y="1737359"/>
                </a:lnTo>
                <a:lnTo>
                  <a:pt x="7397373" y="1859279"/>
                </a:lnTo>
                <a:lnTo>
                  <a:pt x="7451597" y="1981199"/>
                </a:lnTo>
                <a:lnTo>
                  <a:pt x="7501524" y="2103119"/>
                </a:lnTo>
                <a:lnTo>
                  <a:pt x="7547091" y="2225039"/>
                </a:lnTo>
                <a:lnTo>
                  <a:pt x="7588392" y="2377439"/>
                </a:lnTo>
                <a:lnTo>
                  <a:pt x="7625089" y="2499359"/>
                </a:lnTo>
                <a:lnTo>
                  <a:pt x="7657093" y="2621279"/>
                </a:lnTo>
                <a:lnTo>
                  <a:pt x="7684525" y="2773679"/>
                </a:lnTo>
                <a:lnTo>
                  <a:pt x="7707111" y="2895599"/>
                </a:lnTo>
                <a:lnTo>
                  <a:pt x="7724911" y="3017519"/>
                </a:lnTo>
                <a:lnTo>
                  <a:pt x="7737744" y="3169919"/>
                </a:lnTo>
                <a:lnTo>
                  <a:pt x="7745485" y="3322319"/>
                </a:lnTo>
                <a:lnTo>
                  <a:pt x="7748015" y="3444239"/>
                </a:lnTo>
                <a:lnTo>
                  <a:pt x="7745485" y="3596639"/>
                </a:lnTo>
                <a:lnTo>
                  <a:pt x="7737591" y="3718559"/>
                </a:lnTo>
                <a:lnTo>
                  <a:pt x="7724790" y="3870959"/>
                </a:lnTo>
                <a:lnTo>
                  <a:pt x="7707111" y="3992879"/>
                </a:lnTo>
                <a:lnTo>
                  <a:pt x="7684525" y="4145279"/>
                </a:lnTo>
                <a:lnTo>
                  <a:pt x="7657093" y="4267199"/>
                </a:lnTo>
                <a:lnTo>
                  <a:pt x="7624968" y="4389119"/>
                </a:lnTo>
                <a:lnTo>
                  <a:pt x="7588239" y="4541519"/>
                </a:lnTo>
                <a:lnTo>
                  <a:pt x="7546969" y="4663439"/>
                </a:lnTo>
                <a:lnTo>
                  <a:pt x="7501371" y="4785359"/>
                </a:lnTo>
                <a:lnTo>
                  <a:pt x="7451353" y="4907279"/>
                </a:lnTo>
                <a:lnTo>
                  <a:pt x="7397251" y="5029199"/>
                </a:lnTo>
                <a:lnTo>
                  <a:pt x="7338821" y="5151119"/>
                </a:lnTo>
                <a:lnTo>
                  <a:pt x="7276337" y="5273039"/>
                </a:lnTo>
                <a:lnTo>
                  <a:pt x="7209921" y="5394959"/>
                </a:lnTo>
                <a:lnTo>
                  <a:pt x="7139696" y="5486399"/>
                </a:lnTo>
                <a:lnTo>
                  <a:pt x="7065660" y="5608319"/>
                </a:lnTo>
                <a:lnTo>
                  <a:pt x="6987783" y="5699759"/>
                </a:lnTo>
                <a:lnTo>
                  <a:pt x="6906524" y="5821679"/>
                </a:lnTo>
                <a:lnTo>
                  <a:pt x="6821545" y="5913119"/>
                </a:lnTo>
                <a:lnTo>
                  <a:pt x="6733153" y="6004559"/>
                </a:lnTo>
                <a:lnTo>
                  <a:pt x="6641469" y="6095999"/>
                </a:lnTo>
                <a:lnTo>
                  <a:pt x="6546585" y="6187439"/>
                </a:lnTo>
                <a:lnTo>
                  <a:pt x="6448562" y="6278879"/>
                </a:lnTo>
                <a:lnTo>
                  <a:pt x="6347337" y="6370319"/>
                </a:lnTo>
                <a:lnTo>
                  <a:pt x="6243187" y="6461759"/>
                </a:lnTo>
                <a:lnTo>
                  <a:pt x="6136142" y="6522719"/>
                </a:lnTo>
                <a:lnTo>
                  <a:pt x="6026292" y="6614159"/>
                </a:lnTo>
                <a:lnTo>
                  <a:pt x="5913759" y="6675119"/>
                </a:lnTo>
                <a:lnTo>
                  <a:pt x="5798576" y="6736079"/>
                </a:lnTo>
                <a:lnTo>
                  <a:pt x="5560832" y="6857999"/>
                </a:lnTo>
                <a:lnTo>
                  <a:pt x="5611113" y="6857999"/>
                </a:lnTo>
                <a:lnTo>
                  <a:pt x="5693145" y="6827519"/>
                </a:lnTo>
                <a:lnTo>
                  <a:pt x="5811651" y="6766559"/>
                </a:lnTo>
                <a:lnTo>
                  <a:pt x="5927597" y="6705599"/>
                </a:lnTo>
                <a:lnTo>
                  <a:pt x="6040892" y="6644639"/>
                </a:lnTo>
                <a:lnTo>
                  <a:pt x="6151503" y="6553199"/>
                </a:lnTo>
                <a:lnTo>
                  <a:pt x="6259189" y="6461759"/>
                </a:lnTo>
                <a:lnTo>
                  <a:pt x="6363980" y="6400799"/>
                </a:lnTo>
                <a:lnTo>
                  <a:pt x="6465813" y="6309359"/>
                </a:lnTo>
                <a:lnTo>
                  <a:pt x="6564629" y="6217919"/>
                </a:lnTo>
                <a:lnTo>
                  <a:pt x="6660123" y="6126479"/>
                </a:lnTo>
                <a:lnTo>
                  <a:pt x="6752478" y="6035039"/>
                </a:lnTo>
                <a:lnTo>
                  <a:pt x="6841357" y="5943599"/>
                </a:lnTo>
                <a:lnTo>
                  <a:pt x="6926823" y="5821679"/>
                </a:lnTo>
                <a:lnTo>
                  <a:pt x="7008753" y="5730239"/>
                </a:lnTo>
                <a:lnTo>
                  <a:pt x="7086996" y="5608319"/>
                </a:lnTo>
                <a:lnTo>
                  <a:pt x="7161672" y="5516879"/>
                </a:lnTo>
                <a:lnTo>
                  <a:pt x="7232385" y="5394959"/>
                </a:lnTo>
                <a:lnTo>
                  <a:pt x="7299197" y="5273039"/>
                </a:lnTo>
                <a:lnTo>
                  <a:pt x="7362078" y="5151119"/>
                </a:lnTo>
                <a:lnTo>
                  <a:pt x="7420873" y="5029199"/>
                </a:lnTo>
                <a:lnTo>
                  <a:pt x="7475463" y="4907279"/>
                </a:lnTo>
                <a:lnTo>
                  <a:pt x="7525633" y="4785359"/>
                </a:lnTo>
                <a:lnTo>
                  <a:pt x="7571628" y="4663439"/>
                </a:lnTo>
                <a:lnTo>
                  <a:pt x="7613141" y="4541519"/>
                </a:lnTo>
                <a:lnTo>
                  <a:pt x="7650114" y="4419599"/>
                </a:lnTo>
                <a:lnTo>
                  <a:pt x="7682361" y="4267199"/>
                </a:lnTo>
                <a:lnTo>
                  <a:pt x="7710037" y="4145279"/>
                </a:lnTo>
                <a:lnTo>
                  <a:pt x="7732775" y="3992879"/>
                </a:lnTo>
                <a:lnTo>
                  <a:pt x="7750698" y="3870959"/>
                </a:lnTo>
                <a:lnTo>
                  <a:pt x="7763499" y="3718559"/>
                </a:lnTo>
                <a:lnTo>
                  <a:pt x="7771393" y="3596639"/>
                </a:lnTo>
                <a:lnTo>
                  <a:pt x="7773923" y="3444239"/>
                </a:lnTo>
                <a:lnTo>
                  <a:pt x="7771393" y="3291839"/>
                </a:lnTo>
                <a:lnTo>
                  <a:pt x="7763499" y="3169919"/>
                </a:lnTo>
                <a:lnTo>
                  <a:pt x="7750545" y="3017519"/>
                </a:lnTo>
                <a:lnTo>
                  <a:pt x="7732653" y="2895599"/>
                </a:lnTo>
                <a:lnTo>
                  <a:pt x="7709915" y="2743199"/>
                </a:lnTo>
                <a:lnTo>
                  <a:pt x="7682361" y="2621279"/>
                </a:lnTo>
                <a:lnTo>
                  <a:pt x="7649961" y="2499359"/>
                </a:lnTo>
                <a:lnTo>
                  <a:pt x="7613019" y="2346959"/>
                </a:lnTo>
                <a:lnTo>
                  <a:pt x="7571475" y="2225039"/>
                </a:lnTo>
                <a:lnTo>
                  <a:pt x="7525511" y="2103119"/>
                </a:lnTo>
                <a:lnTo>
                  <a:pt x="7475219" y="1981199"/>
                </a:lnTo>
                <a:lnTo>
                  <a:pt x="7420599" y="1859279"/>
                </a:lnTo>
                <a:lnTo>
                  <a:pt x="7361803" y="1737359"/>
                </a:lnTo>
                <a:lnTo>
                  <a:pt x="7298953" y="1615439"/>
                </a:lnTo>
                <a:lnTo>
                  <a:pt x="7232141" y="1493519"/>
                </a:lnTo>
                <a:lnTo>
                  <a:pt x="7161397" y="1402079"/>
                </a:lnTo>
                <a:lnTo>
                  <a:pt x="7086721" y="1280159"/>
                </a:lnTo>
                <a:lnTo>
                  <a:pt x="7008510" y="1158239"/>
                </a:lnTo>
                <a:lnTo>
                  <a:pt x="6926579" y="1066799"/>
                </a:lnTo>
                <a:lnTo>
                  <a:pt x="6841113" y="975359"/>
                </a:lnTo>
                <a:lnTo>
                  <a:pt x="6752203" y="853439"/>
                </a:lnTo>
                <a:lnTo>
                  <a:pt x="6659879" y="761999"/>
                </a:lnTo>
                <a:lnTo>
                  <a:pt x="6564264" y="670559"/>
                </a:lnTo>
                <a:lnTo>
                  <a:pt x="6465569" y="579119"/>
                </a:lnTo>
                <a:lnTo>
                  <a:pt x="6363583" y="518159"/>
                </a:lnTo>
                <a:lnTo>
                  <a:pt x="6258824" y="426719"/>
                </a:lnTo>
                <a:lnTo>
                  <a:pt x="6151107" y="335279"/>
                </a:lnTo>
                <a:lnTo>
                  <a:pt x="6040495" y="274319"/>
                </a:lnTo>
                <a:lnTo>
                  <a:pt x="5927232" y="182879"/>
                </a:lnTo>
                <a:lnTo>
                  <a:pt x="5811255" y="121919"/>
                </a:lnTo>
                <a:lnTo>
                  <a:pt x="5692779" y="60959"/>
                </a:lnTo>
                <a:lnTo>
                  <a:pt x="5642583" y="30479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3"/>
          <p:cNvSpPr/>
          <p:nvPr/>
        </p:nvSpPr>
        <p:spPr>
          <a:xfrm>
            <a:off x="1818132" y="1903476"/>
            <a:ext cx="5422392" cy="30510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3"/>
          <p:cNvSpPr txBox="1"/>
          <p:nvPr>
            <p:ph idx="11" type="ftr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3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894713" y="1874110"/>
            <a:ext cx="7354572" cy="4399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1" type="ftr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8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8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5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1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gif"/><Relationship Id="rId4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20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26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9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35.png"/><Relationship Id="rId8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jpg"/><Relationship Id="rId4" Type="http://schemas.openxmlformats.org/officeDocument/2006/relationships/image" Target="../media/image3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Relationship Id="rId4" Type="http://schemas.openxmlformats.org/officeDocument/2006/relationships/image" Target="../media/image3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8.jpg"/><Relationship Id="rId4" Type="http://schemas.openxmlformats.org/officeDocument/2006/relationships/image" Target="../media/image3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jpg"/><Relationship Id="rId4" Type="http://schemas.openxmlformats.org/officeDocument/2006/relationships/image" Target="../media/image3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1.jpg"/><Relationship Id="rId4" Type="http://schemas.openxmlformats.org/officeDocument/2006/relationships/image" Target="../media/image3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5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4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1.png"/><Relationship Id="rId4" Type="http://schemas.openxmlformats.org/officeDocument/2006/relationships/image" Target="../media/image56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16699"/>
            <a:ext cx="9144000" cy="171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600200"/>
            <a:ext cx="4572000" cy="524977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"/>
          <p:cNvSpPr txBox="1"/>
          <p:nvPr/>
        </p:nvSpPr>
        <p:spPr>
          <a:xfrm>
            <a:off x="4800600" y="3849639"/>
            <a:ext cx="3321050" cy="872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725170" lvl="0" marL="12700" marR="5080" rtl="0" algn="l">
              <a:lnSpc>
                <a:spcPct val="1080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</a:t>
            </a:r>
            <a:r>
              <a:rPr b="1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1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2:</a:t>
            </a:r>
            <a:r>
              <a:rPr b="1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1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Intelligent</a:t>
            </a:r>
            <a:r>
              <a:rPr b="1" i="0" lang="en-US" sz="3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1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Agents</a:t>
            </a:r>
            <a:endParaRPr b="0" i="0" sz="31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1790699" y="1694857"/>
            <a:ext cx="5334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Artificial Intelligence (CS-2001)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5327869" y="6137625"/>
            <a:ext cx="268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Instructor: Alina Arshad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idx="1" type="body"/>
          </p:nvPr>
        </p:nvSpPr>
        <p:spPr>
          <a:xfrm>
            <a:off x="1135338" y="1509310"/>
            <a:ext cx="7354500" cy="47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❑"/>
            </a:pPr>
            <a:r>
              <a:rPr b="1"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Agents and environments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Clr>
                <a:srgbClr val="1A1AFF"/>
              </a:buClr>
              <a:buSzPts val="2700"/>
              <a:buFont typeface="Noto Sans Symbols"/>
              <a:buNone/>
            </a:pPr>
            <a:r>
              <a:t/>
            </a:r>
            <a:endParaRPr sz="2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❑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Rationality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14"/>
              </a:spcBef>
              <a:spcAft>
                <a:spcPts val="0"/>
              </a:spcAft>
              <a:buClr>
                <a:srgbClr val="1A1AFF"/>
              </a:buClr>
              <a:buSzPts val="2650"/>
              <a:buFont typeface="Noto Sans Symbols"/>
              <a:buNone/>
            </a:pPr>
            <a:r>
              <a:t/>
            </a:r>
            <a:endParaRPr sz="26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14375" lvl="0" marL="131318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❑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PEAS (Performance measure,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1318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Environment, Actuators, Sensors)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31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❑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Environment types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86105" rtl="0" algn="l">
              <a:lnSpc>
                <a:spcPct val="100000"/>
              </a:lnSpc>
              <a:spcBef>
                <a:spcPts val="13"/>
              </a:spcBef>
              <a:spcAft>
                <a:spcPts val="0"/>
              </a:spcAft>
              <a:buClr>
                <a:srgbClr val="1A1AFF"/>
              </a:buClr>
              <a:buSzPts val="2600"/>
              <a:buFont typeface="Noto Sans Symbols"/>
              <a:buNone/>
            </a:pPr>
            <a:r>
              <a:t/>
            </a:r>
            <a:endParaRPr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❑"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Agent types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  <p:sp>
        <p:nvSpPr>
          <p:cNvPr id="59" name="Google Shape;59;p2"/>
          <p:cNvSpPr/>
          <p:nvPr/>
        </p:nvSpPr>
        <p:spPr>
          <a:xfrm>
            <a:off x="1654850" y="132746"/>
            <a:ext cx="5286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953734"/>
                </a:solidFill>
                <a:latin typeface="Calibri"/>
                <a:ea typeface="Calibri"/>
                <a:cs typeface="Calibri"/>
                <a:sym typeface="Calibri"/>
              </a:rPr>
              <a:t>Lesson 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0" y="1313788"/>
            <a:ext cx="2063400" cy="966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  <p:sp>
        <p:nvSpPr>
          <p:cNvPr id="66" name="Google Shape;66;p3"/>
          <p:cNvSpPr txBox="1"/>
          <p:nvPr/>
        </p:nvSpPr>
        <p:spPr>
          <a:xfrm>
            <a:off x="532892" y="223433"/>
            <a:ext cx="122936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8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503625" y="899701"/>
            <a:ext cx="8114100" cy="52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4765" marR="31877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anything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perceiving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acting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actuators.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4765" marR="0" rtl="0" algn="l">
              <a:lnSpc>
                <a:spcPct val="1143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agent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Eyes,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sensors;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4765" marR="0" rtl="0" algn="l">
              <a:lnSpc>
                <a:spcPct val="1143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hands,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mouth,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actuators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4765" marR="0" rtl="0" algn="l">
              <a:lnSpc>
                <a:spcPct val="1143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Robotic agent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Cameras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infrared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finders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4765" marR="0" rtl="0" algn="l">
              <a:lnSpc>
                <a:spcPct val="11437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various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actuators</a:t>
            </a:r>
            <a:r>
              <a:rPr b="0" i="0" lang="en-US" sz="24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6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agent: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computer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acts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r>
              <a:rPr b="0" i="0" lang="en-US" sz="24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agreement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one's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behalf.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/>
        </p:nvSpPr>
        <p:spPr>
          <a:xfrm>
            <a:off x="721261" y="224449"/>
            <a:ext cx="442722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r>
              <a:rPr b="1" i="0" lang="en-US" sz="28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1" i="0" lang="en-US" sz="28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Environments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653575" y="3717075"/>
            <a:ext cx="8114400" cy="26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87044" marR="0" rtl="0" algn="ctr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P*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t/>
            </a:r>
            <a:endParaRPr b="0" i="0" sz="3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436244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447800" y="914400"/>
            <a:ext cx="5943600" cy="25557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  <p:pic>
        <p:nvPicPr>
          <p:cNvPr id="76" name="Google Shape;7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1094456"/>
            <a:ext cx="2209800" cy="218214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 txBox="1"/>
          <p:nvPr/>
        </p:nvSpPr>
        <p:spPr>
          <a:xfrm>
            <a:off x="1600200" y="882176"/>
            <a:ext cx="1600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95600"/>
            <a:ext cx="8229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158" y="1066800"/>
            <a:ext cx="82296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 txBox="1"/>
          <p:nvPr/>
        </p:nvSpPr>
        <p:spPr>
          <a:xfrm>
            <a:off x="457200" y="304800"/>
            <a:ext cx="2743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Robotic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239070" y="295195"/>
            <a:ext cx="866585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Agent</a:t>
            </a:r>
            <a:endParaRPr/>
          </a:p>
        </p:txBody>
      </p:sp>
      <p:pic>
        <p:nvPicPr>
          <p:cNvPr descr="A screenshot of a cell phone&#10;&#10;Description automatically generated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3" y="914400"/>
            <a:ext cx="2990850" cy="51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9177" y="762000"/>
            <a:ext cx="350520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94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Vacuum-cleaner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world</a:t>
            </a: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721261" y="3814996"/>
            <a:ext cx="73305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Percepts: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contents,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[A,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Dirt]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Actions: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Suck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Nothing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524000" y="876300"/>
            <a:ext cx="5181600" cy="2743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  <p:pic>
        <p:nvPicPr>
          <p:cNvPr id="100" name="Google Shape;10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8062" y="981075"/>
            <a:ext cx="5181599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"/>
          <p:cNvSpPr txBox="1"/>
          <p:nvPr/>
        </p:nvSpPr>
        <p:spPr>
          <a:xfrm>
            <a:off x="456692" y="14137"/>
            <a:ext cx="413639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US" sz="28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vacuum-cleaner</a:t>
            </a:r>
            <a:r>
              <a:rPr b="1" i="0" lang="en-US" sz="28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752658" y="2837087"/>
            <a:ext cx="7277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Tabulation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vacuum-cleaner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1353311" y="3233927"/>
            <a:ext cx="6284976" cy="21000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1324355" y="5410200"/>
            <a:ext cx="6284976" cy="1447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400" y="776798"/>
            <a:ext cx="4447413" cy="1890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/>
          <p:nvPr>
            <p:ph idx="1" type="body"/>
          </p:nvPr>
        </p:nvSpPr>
        <p:spPr>
          <a:xfrm>
            <a:off x="894750" y="1265010"/>
            <a:ext cx="7354500" cy="53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Agents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and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environments</a:t>
            </a:r>
            <a:endParaRPr>
              <a:solidFill>
                <a:schemeClr val="dk1"/>
              </a:solidFill>
            </a:endParaRPr>
          </a:p>
          <a:p>
            <a:pPr indent="0" lvl="0" marL="586105" rtl="0" algn="l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Clr>
                <a:srgbClr val="00008F"/>
              </a:buClr>
              <a:buSzPts val="2700"/>
              <a:buFont typeface="Noto Sans Symbols"/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1" lang="en-US">
                <a:solidFill>
                  <a:schemeClr val="dk1"/>
                </a:solidFill>
              </a:rPr>
              <a:t>Rationality</a:t>
            </a:r>
            <a:endParaRPr b="1">
              <a:solidFill>
                <a:schemeClr val="dk1"/>
              </a:solidFill>
            </a:endParaRPr>
          </a:p>
          <a:p>
            <a:pPr indent="0" lvl="0" marL="586105" rtl="0" algn="l">
              <a:lnSpc>
                <a:spcPct val="100000"/>
              </a:lnSpc>
              <a:spcBef>
                <a:spcPts val="14"/>
              </a:spcBef>
              <a:spcAft>
                <a:spcPts val="0"/>
              </a:spcAft>
              <a:buClr>
                <a:srgbClr val="00008F"/>
              </a:buClr>
              <a:buSzPts val="2650"/>
              <a:buFont typeface="Noto Sans Symbols"/>
              <a:buNone/>
            </a:pPr>
            <a:r>
              <a:t/>
            </a:r>
            <a:endParaRPr sz="2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4375" lvl="0" marL="131318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PEAS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(Performance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measure,</a:t>
            </a:r>
            <a:endParaRPr>
              <a:solidFill>
                <a:schemeClr val="dk1"/>
              </a:solidFill>
            </a:endParaRPr>
          </a:p>
          <a:p>
            <a:pPr indent="0" lvl="0" marL="131318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</a:rPr>
              <a:t>Environment,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Actuators,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Sensors)</a:t>
            </a:r>
            <a:endParaRPr>
              <a:solidFill>
                <a:schemeClr val="dk1"/>
              </a:solidFill>
            </a:endParaRPr>
          </a:p>
          <a:p>
            <a:pPr indent="0" lvl="0" marL="586105" rtl="0" algn="l">
              <a:lnSpc>
                <a:spcPct val="100000"/>
              </a:lnSpc>
              <a:spcBef>
                <a:spcPts val="31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Environment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types</a:t>
            </a:r>
            <a:endParaRPr>
              <a:solidFill>
                <a:schemeClr val="dk1"/>
              </a:solidFill>
            </a:endParaRPr>
          </a:p>
          <a:p>
            <a:pPr indent="0" lvl="0" marL="586105" rtl="0" algn="l">
              <a:lnSpc>
                <a:spcPct val="100000"/>
              </a:lnSpc>
              <a:spcBef>
                <a:spcPts val="13"/>
              </a:spcBef>
              <a:spcAft>
                <a:spcPts val="0"/>
              </a:spcAft>
              <a:buClr>
                <a:srgbClr val="00008F"/>
              </a:buClr>
              <a:buSzPts val="2600"/>
              <a:buFont typeface="Noto Sans Symbols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Agent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types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-6525" y="1946338"/>
            <a:ext cx="2063400" cy="966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2380488" y="124968"/>
            <a:ext cx="4416600" cy="1008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 txBox="1"/>
          <p:nvPr/>
        </p:nvSpPr>
        <p:spPr>
          <a:xfrm>
            <a:off x="2649475" y="321150"/>
            <a:ext cx="429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Intelligent</a:t>
            </a:r>
            <a:r>
              <a:rPr b="1" i="0" lang="en-US" sz="36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6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8660901" y="6473823"/>
            <a:ext cx="206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/>
        </p:nvSpPr>
        <p:spPr>
          <a:xfrm>
            <a:off x="8660901" y="6473823"/>
            <a:ext cx="206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0"/>
          <p:cNvSpPr txBox="1"/>
          <p:nvPr>
            <p:ph type="title"/>
          </p:nvPr>
        </p:nvSpPr>
        <p:spPr>
          <a:xfrm>
            <a:off x="492575" y="371400"/>
            <a:ext cx="841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Rational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Agents</a:t>
            </a:r>
            <a:endParaRPr/>
          </a:p>
        </p:txBody>
      </p:sp>
      <p:sp>
        <p:nvSpPr>
          <p:cNvPr id="126" name="Google Shape;126;p10"/>
          <p:cNvSpPr txBox="1"/>
          <p:nvPr/>
        </p:nvSpPr>
        <p:spPr>
          <a:xfrm>
            <a:off x="409891" y="1066800"/>
            <a:ext cx="8324100" cy="54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90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strive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"do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thing",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perceive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perform.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will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cause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successful.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90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Agent Goals:</a:t>
            </a:r>
            <a:endParaRPr b="1" i="0" sz="2400" u="none" cap="none" strike="noStrike">
              <a:solidFill>
                <a:srgbClr val="00008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High Performance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measure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criterion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agent's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behavior) e.g. </a:t>
            </a:r>
            <a:r>
              <a:rPr lang="en-US" sz="2400">
                <a:solidFill>
                  <a:schemeClr val="dk1"/>
                </a:solidFill>
              </a:rPr>
              <a:t> A self-driving car's performance could be judged by how safely it drives, avoiding accidents.</a:t>
            </a:r>
            <a:endParaRPr sz="2400">
              <a:solidFill>
                <a:schemeClr val="dk1"/>
              </a:solidFill>
            </a:endParaRPr>
          </a:p>
          <a:p>
            <a:pPr indent="0" lvl="0" marL="127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27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Optimized Result</a:t>
            </a:r>
            <a:r>
              <a:rPr b="0" i="0" lang="en-US" sz="24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(Decision)e.g. amount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taken(shortest route, less traffic 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Rational Action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Right Action) e.g. Speed</a:t>
            </a:r>
            <a:r>
              <a:rPr lang="en-US" sz="2400">
                <a:solidFill>
                  <a:schemeClr val="dk1"/>
                </a:solidFill>
              </a:rPr>
              <a:t>.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41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8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  <p:sp>
        <p:nvSpPr>
          <p:cNvPr id="132" name="Google Shape;132;p11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194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Rational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Agents</a:t>
            </a:r>
            <a:endParaRPr/>
          </a:p>
        </p:txBody>
      </p:sp>
      <p:sp>
        <p:nvSpPr>
          <p:cNvPr id="133" name="Google Shape;133;p11"/>
          <p:cNvSpPr txBox="1"/>
          <p:nvPr/>
        </p:nvSpPr>
        <p:spPr>
          <a:xfrm>
            <a:off x="323214" y="1295400"/>
            <a:ext cx="8497500" cy="3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283210" rtl="0" algn="l">
              <a:lnSpc>
                <a:spcPct val="1092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modify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percepts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obtain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(information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gathering,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exploration,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learn).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4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Arial"/>
              <a:buNone/>
            </a:pPr>
            <a:r>
              <a:t/>
            </a:r>
            <a:endParaRPr b="0" i="0" sz="3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155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autonomous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determined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155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own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(with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ability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adapt).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575" y="1295200"/>
            <a:ext cx="7883250" cy="518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2"/>
          <p:cNvSpPr/>
          <p:nvPr/>
        </p:nvSpPr>
        <p:spPr>
          <a:xfrm>
            <a:off x="762000" y="566100"/>
            <a:ext cx="747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4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Autonomous Agent Example: Reinforcement Learning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077" y="1981199"/>
            <a:ext cx="2390775" cy="2524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13"/>
          <p:cNvCxnSpPr/>
          <p:nvPr/>
        </p:nvCxnSpPr>
        <p:spPr>
          <a:xfrm>
            <a:off x="2547937" y="3243262"/>
            <a:ext cx="538800" cy="12600"/>
          </a:xfrm>
          <a:prstGeom prst="curvedConnector3">
            <a:avLst>
              <a:gd fmla="val 49989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pic>
        <p:nvPicPr>
          <p:cNvPr id="146" name="Google Shape;14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9706" y="1981200"/>
            <a:ext cx="1390650" cy="252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400" y="5105400"/>
            <a:ext cx="4210050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4498" y="1781175"/>
            <a:ext cx="3810000" cy="3095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3"/>
          <p:cNvCxnSpPr/>
          <p:nvPr/>
        </p:nvCxnSpPr>
        <p:spPr>
          <a:xfrm>
            <a:off x="4525814" y="3261879"/>
            <a:ext cx="538800" cy="12600"/>
          </a:xfrm>
          <a:prstGeom prst="curvedConnector3">
            <a:avLst>
              <a:gd fmla="val 49989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50" name="Google Shape;150;p13"/>
          <p:cNvSpPr txBox="1"/>
          <p:nvPr/>
        </p:nvSpPr>
        <p:spPr>
          <a:xfrm>
            <a:off x="381000" y="571225"/>
            <a:ext cx="83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Autonomous Agent Example: Reinforcement Learning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1911" y="72302"/>
            <a:ext cx="3733800" cy="2293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03" y="2180016"/>
            <a:ext cx="3305175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4"/>
          <p:cNvSpPr txBox="1"/>
          <p:nvPr/>
        </p:nvSpPr>
        <p:spPr>
          <a:xfrm>
            <a:off x="285986" y="2120722"/>
            <a:ext cx="60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26" y="828824"/>
            <a:ext cx="3238027" cy="1000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14"/>
          <p:cNvCxnSpPr/>
          <p:nvPr/>
        </p:nvCxnSpPr>
        <p:spPr>
          <a:xfrm flipH="1" rot="10800000">
            <a:off x="2141391" y="276232"/>
            <a:ext cx="1524000" cy="5589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pic>
        <p:nvPicPr>
          <p:cNvPr id="160" name="Google Shape;16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68863" y="2362286"/>
            <a:ext cx="3300412" cy="219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0472" y="890217"/>
            <a:ext cx="3276601" cy="809625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62" name="Google Shape;162;p14"/>
          <p:cNvCxnSpPr/>
          <p:nvPr/>
        </p:nvCxnSpPr>
        <p:spPr>
          <a:xfrm flipH="1" rot="-5400000">
            <a:off x="6920700" y="1560607"/>
            <a:ext cx="817800" cy="7566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sp>
        <p:nvSpPr>
          <p:cNvPr id="163" name="Google Shape;163;p14"/>
          <p:cNvSpPr txBox="1"/>
          <p:nvPr/>
        </p:nvSpPr>
        <p:spPr>
          <a:xfrm>
            <a:off x="5715000" y="4126146"/>
            <a:ext cx="1236516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4"/>
          <p:cNvPicPr preferRelativeResize="0"/>
          <p:nvPr/>
        </p:nvPicPr>
        <p:blipFill rotWithShape="1">
          <a:blip r:embed="rId8">
            <a:alphaModFix/>
          </a:blip>
          <a:srcRect b="5680" l="4842" r="1950" t="8384"/>
          <a:stretch/>
        </p:blipFill>
        <p:spPr>
          <a:xfrm>
            <a:off x="2833687" y="3886200"/>
            <a:ext cx="3669507" cy="28626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" name="Google Shape;165;p14"/>
          <p:cNvCxnSpPr/>
          <p:nvPr/>
        </p:nvCxnSpPr>
        <p:spPr>
          <a:xfrm flipH="1">
            <a:off x="6705456" y="4655442"/>
            <a:ext cx="755700" cy="710400"/>
          </a:xfrm>
          <a:prstGeom prst="curvedConnector3">
            <a:avLst>
              <a:gd fmla="val 4999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cxnSp>
        <p:nvCxnSpPr>
          <p:cNvPr id="166" name="Google Shape;166;p14"/>
          <p:cNvCxnSpPr/>
          <p:nvPr/>
        </p:nvCxnSpPr>
        <p:spPr>
          <a:xfrm flipH="1" rot="5400000">
            <a:off x="1597686" y="5899279"/>
            <a:ext cx="682200" cy="659400"/>
          </a:xfrm>
          <a:prstGeom prst="curvedConnector3">
            <a:avLst>
              <a:gd fmla="val 21563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  <p:pic>
        <p:nvPicPr>
          <p:cNvPr id="167" name="Google Shape;16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386" y="3429000"/>
            <a:ext cx="2990614" cy="2349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14"/>
          <p:cNvCxnSpPr/>
          <p:nvPr/>
        </p:nvCxnSpPr>
        <p:spPr>
          <a:xfrm rot="-5400000">
            <a:off x="1140767" y="1697020"/>
            <a:ext cx="638400" cy="595800"/>
          </a:xfrm>
          <a:prstGeom prst="curvedConnector3">
            <a:avLst>
              <a:gd fmla="val 49988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894713" y="1112110"/>
            <a:ext cx="7354500" cy="53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Agents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and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environments</a:t>
            </a:r>
            <a:endParaRPr>
              <a:solidFill>
                <a:schemeClr val="dk1"/>
              </a:solidFill>
            </a:endParaRPr>
          </a:p>
          <a:p>
            <a:pPr indent="0" lvl="0" marL="586105" rtl="0" algn="l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Clr>
                <a:srgbClr val="00008F"/>
              </a:buClr>
              <a:buSzPts val="2700"/>
              <a:buFont typeface="Noto Sans Symbols"/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Rationality</a:t>
            </a:r>
            <a:endParaRPr>
              <a:solidFill>
                <a:schemeClr val="dk1"/>
              </a:solidFill>
            </a:endParaRPr>
          </a:p>
          <a:p>
            <a:pPr indent="0" lvl="0" marL="586105" rtl="0" algn="l">
              <a:lnSpc>
                <a:spcPct val="100000"/>
              </a:lnSpc>
              <a:spcBef>
                <a:spcPts val="14"/>
              </a:spcBef>
              <a:spcAft>
                <a:spcPts val="0"/>
              </a:spcAft>
              <a:buClr>
                <a:srgbClr val="00008F"/>
              </a:buClr>
              <a:buSzPts val="2650"/>
              <a:buFont typeface="Noto Sans Symbols"/>
              <a:buNone/>
            </a:pPr>
            <a:r>
              <a:t/>
            </a:r>
            <a:endParaRPr sz="2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4375" lvl="0" marL="131318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1" lang="en-US">
                <a:solidFill>
                  <a:schemeClr val="dk1"/>
                </a:solidFill>
              </a:rPr>
              <a:t>PEAS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solidFill>
                  <a:schemeClr val="dk1"/>
                </a:solidFill>
              </a:rPr>
              <a:t>(Performance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solidFill>
                  <a:schemeClr val="dk1"/>
                </a:solidFill>
              </a:rPr>
              <a:t>measure,</a:t>
            </a:r>
            <a:endParaRPr b="1">
              <a:solidFill>
                <a:schemeClr val="dk1"/>
              </a:solidFill>
            </a:endParaRPr>
          </a:p>
          <a:p>
            <a:pPr indent="0" lvl="0" marL="131318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dk1"/>
                </a:solidFill>
              </a:rPr>
              <a:t>Environment,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solidFill>
                  <a:schemeClr val="dk1"/>
                </a:solidFill>
              </a:rPr>
              <a:t>Actuators,</a:t>
            </a: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>
                <a:solidFill>
                  <a:schemeClr val="dk1"/>
                </a:solidFill>
              </a:rPr>
              <a:t>Sensors)</a:t>
            </a:r>
            <a:endParaRPr b="1">
              <a:solidFill>
                <a:schemeClr val="dk1"/>
              </a:solidFill>
            </a:endParaRPr>
          </a:p>
          <a:p>
            <a:pPr indent="0" lvl="0" marL="586105" rtl="0" algn="l">
              <a:lnSpc>
                <a:spcPct val="100000"/>
              </a:lnSpc>
              <a:spcBef>
                <a:spcPts val="31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Environment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types</a:t>
            </a:r>
            <a:endParaRPr>
              <a:solidFill>
                <a:schemeClr val="dk1"/>
              </a:solidFill>
            </a:endParaRPr>
          </a:p>
          <a:p>
            <a:pPr indent="0" lvl="0" marL="586105" rtl="0" algn="l">
              <a:lnSpc>
                <a:spcPct val="100000"/>
              </a:lnSpc>
              <a:spcBef>
                <a:spcPts val="13"/>
              </a:spcBef>
              <a:spcAft>
                <a:spcPts val="0"/>
              </a:spcAft>
              <a:buClr>
                <a:srgbClr val="00008F"/>
              </a:buClr>
              <a:buSzPts val="2600"/>
              <a:buFont typeface="Noto Sans Symbols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4375" lvl="0" marL="131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</a:rPr>
              <a:t>Agent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1"/>
                </a:solidFill>
              </a:rPr>
              <a:t>types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0" y="2721864"/>
            <a:ext cx="2063400" cy="966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2380488" y="124968"/>
            <a:ext cx="4416552" cy="10088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2674901" y="313625"/>
            <a:ext cx="405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Intelligent</a:t>
            </a:r>
            <a:r>
              <a:rPr b="1" i="0" lang="en-US" sz="36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6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  <p:sp>
        <p:nvSpPr>
          <p:cNvPr id="183" name="Google Shape;183;p16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94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PEAS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721258" y="1319817"/>
            <a:ext cx="82728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1437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rational/intelligent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mind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PEAS: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erformance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nvironment,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ctuators,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ensors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taxi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driver: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756285" marR="0" rtl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756285" marR="0" rtl="0" algn="l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Actuators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0" marL="75628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  <p:sp>
        <p:nvSpPr>
          <p:cNvPr id="190" name="Google Shape;190;p17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089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PEAS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435356" y="1252565"/>
            <a:ext cx="8541900" cy="3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Agent:</a:t>
            </a: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automated</a:t>
            </a: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taxi</a:t>
            </a: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driver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159385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measure</a:t>
            </a:r>
            <a:r>
              <a:rPr lang="en-US" sz="2400">
                <a:solidFill>
                  <a:srgbClr val="0000FF"/>
                </a:solidFill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Safe,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legal,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comfortable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trip,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maximize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24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Roads,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traffic,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people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r>
              <a:rPr lang="en-US" sz="2400">
                <a:solidFill>
                  <a:schemeClr val="dk1"/>
                </a:solidFill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in/around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street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Actuators</a:t>
            </a:r>
            <a:r>
              <a:rPr b="0" i="0" lang="en-US" sz="24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Steering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wheel,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accelerator,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brake,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signal,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150495" rtl="0" algn="l">
              <a:lnSpc>
                <a:spcPct val="9625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r>
              <a:rPr b="0" i="0" lang="en-US" sz="24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Cameras,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sonar,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speedometer,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GPS,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odometer,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sensors,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keyboard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  <p:sp>
        <p:nvSpPr>
          <p:cNvPr id="197" name="Google Shape;197;p18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94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PEAS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721261" y="1270853"/>
            <a:ext cx="8226300" cy="3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Agent:</a:t>
            </a: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Medical</a:t>
            </a: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diagnosis</a:t>
            </a: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5080" rtl="0" algn="l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b="0" i="0" lang="en-US" sz="24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measure</a:t>
            </a:r>
            <a:r>
              <a:rPr b="0" i="0" lang="en-US" sz="24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Healthy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minimize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1"/>
                </a:solidFill>
              </a:rPr>
              <a:t>accurate diagnoses</a:t>
            </a:r>
            <a:endParaRPr i="0" sz="3700" u="none" cap="none" strike="noStrike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24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hospital,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staff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83185" rtl="0" algn="l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Actuators</a:t>
            </a:r>
            <a:r>
              <a:rPr b="0" i="0" lang="en-US" sz="24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Screen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(questions,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diagnoses,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treatments,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referrals)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913130" rtl="0" algn="l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r>
              <a:rPr b="0" i="0" lang="en-US" sz="24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Keyboard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(entry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symptoms,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patient's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answers)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/>
        </p:nvSpPr>
        <p:spPr>
          <a:xfrm>
            <a:off x="1482101" y="1353150"/>
            <a:ext cx="7225800" cy="47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15010" lvl="0" marL="7277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Clr>
                <a:srgbClr val="00008F"/>
              </a:buClr>
              <a:buSzPts val="2700"/>
              <a:buFont typeface="Noto Sans Symbols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5010" lvl="0" marL="7277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Rationality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00008F"/>
              </a:buClr>
              <a:buSzPts val="2650"/>
              <a:buFont typeface="Noto Sans Symbols"/>
              <a:buNone/>
            </a:pPr>
            <a:r>
              <a:t/>
            </a:r>
            <a:endParaRPr b="0" i="0" sz="26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5010" lvl="0" marL="727710" marR="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PEAS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(Performance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measure,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27075" marR="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Environment,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Actuators,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1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5010" lvl="0" marL="7277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8F"/>
              </a:buClr>
              <a:buSzPts val="260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5010" lvl="0" marL="7277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0" y="4483608"/>
            <a:ext cx="2063400" cy="966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380488" y="124968"/>
            <a:ext cx="4416552" cy="10088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2649475" y="321150"/>
            <a:ext cx="414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Intelligent</a:t>
            </a:r>
            <a:r>
              <a:rPr b="1" i="0" lang="en-US" sz="36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6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/>
        </p:nvSpPr>
        <p:spPr>
          <a:xfrm>
            <a:off x="505503" y="119550"/>
            <a:ext cx="451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2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1" i="0" lang="en-US" sz="32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2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Types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04300" y="739438"/>
            <a:ext cx="8331600" cy="57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observable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vs.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Partially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observable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61277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capture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relevant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from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Clr>
                <a:srgbClr val="FF0000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Deterministic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vs.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Stochastic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(non-</a:t>
            </a:r>
            <a:r>
              <a:rPr lang="en-US" sz="2600">
                <a:solidFill>
                  <a:schemeClr val="dk1"/>
                </a:solidFill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deterministic)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612775" marR="0" rtl="0" algn="l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Changes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are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predictable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Clr>
                <a:srgbClr val="FF0000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Episodic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vs.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(non-episodic)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61277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Independent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perceiving-acting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episodes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Clr>
                <a:srgbClr val="FF0000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vs.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61277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changes while the agent is “thinking”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Clr>
                <a:srgbClr val="FF0000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Discrete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vs.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612775" marR="0" rtl="0" algn="l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Limited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number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distinct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percepts/actions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44"/>
              </a:spcBef>
              <a:spcAft>
                <a:spcPts val="0"/>
              </a:spcAft>
              <a:buClr>
                <a:srgbClr val="FF0000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ingle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vs.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61277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Interaction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collaboration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among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6385" lvl="1" marL="61277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Competitive,</a:t>
            </a:r>
            <a:r>
              <a:rPr b="0" i="0" lang="en-US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cooperative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8614409" y="6544436"/>
            <a:ext cx="218440" cy="167640"/>
          </a:xfrm>
          <a:custGeom>
            <a:rect b="b" l="l" r="r" t="t"/>
            <a:pathLst>
              <a:path extrusionOk="0" h="167640" w="218440">
                <a:moveTo>
                  <a:pt x="60607" y="36004"/>
                </a:moveTo>
                <a:lnTo>
                  <a:pt x="40507" y="36004"/>
                </a:lnTo>
                <a:lnTo>
                  <a:pt x="38740" y="164020"/>
                </a:lnTo>
                <a:lnTo>
                  <a:pt x="58917" y="164282"/>
                </a:lnTo>
                <a:lnTo>
                  <a:pt x="60607" y="36004"/>
                </a:lnTo>
                <a:close/>
              </a:path>
              <a:path extrusionOk="0" h="167640" w="218440">
                <a:moveTo>
                  <a:pt x="61081" y="0"/>
                </a:moveTo>
                <a:lnTo>
                  <a:pt x="43631" y="6917"/>
                </a:lnTo>
                <a:lnTo>
                  <a:pt x="35620" y="15741"/>
                </a:lnTo>
                <a:lnTo>
                  <a:pt x="22552" y="27372"/>
                </a:lnTo>
                <a:lnTo>
                  <a:pt x="11947" y="34263"/>
                </a:lnTo>
                <a:lnTo>
                  <a:pt x="243" y="40266"/>
                </a:lnTo>
                <a:lnTo>
                  <a:pt x="0" y="59685"/>
                </a:lnTo>
                <a:lnTo>
                  <a:pt x="35570" y="40552"/>
                </a:lnTo>
                <a:lnTo>
                  <a:pt x="40507" y="36004"/>
                </a:lnTo>
                <a:lnTo>
                  <a:pt x="60607" y="36004"/>
                </a:lnTo>
                <a:lnTo>
                  <a:pt x="61081" y="0"/>
                </a:lnTo>
                <a:close/>
              </a:path>
              <a:path extrusionOk="0" h="167640" w="218440">
                <a:moveTo>
                  <a:pt x="132587" y="125646"/>
                </a:moveTo>
                <a:lnTo>
                  <a:pt x="113172" y="127182"/>
                </a:lnTo>
                <a:lnTo>
                  <a:pt x="115623" y="138498"/>
                </a:lnTo>
                <a:lnTo>
                  <a:pt x="121165" y="149590"/>
                </a:lnTo>
                <a:lnTo>
                  <a:pt x="130441" y="159826"/>
                </a:lnTo>
                <a:lnTo>
                  <a:pt x="139340" y="164439"/>
                </a:lnTo>
                <a:lnTo>
                  <a:pt x="151733" y="167071"/>
                </a:lnTo>
                <a:lnTo>
                  <a:pt x="169223" y="167606"/>
                </a:lnTo>
                <a:lnTo>
                  <a:pt x="181036" y="163998"/>
                </a:lnTo>
                <a:lnTo>
                  <a:pt x="193080" y="156994"/>
                </a:lnTo>
                <a:lnTo>
                  <a:pt x="197934" y="151983"/>
                </a:lnTo>
                <a:lnTo>
                  <a:pt x="165475" y="151983"/>
                </a:lnTo>
                <a:lnTo>
                  <a:pt x="152156" y="151804"/>
                </a:lnTo>
                <a:lnTo>
                  <a:pt x="146182" y="149685"/>
                </a:lnTo>
                <a:lnTo>
                  <a:pt x="137038" y="141374"/>
                </a:lnTo>
                <a:lnTo>
                  <a:pt x="133990" y="134742"/>
                </a:lnTo>
                <a:lnTo>
                  <a:pt x="132587" y="125646"/>
                </a:lnTo>
                <a:close/>
              </a:path>
              <a:path extrusionOk="0" h="167640" w="218440">
                <a:moveTo>
                  <a:pt x="217768" y="89130"/>
                </a:moveTo>
                <a:lnTo>
                  <a:pt x="198241" y="89130"/>
                </a:lnTo>
                <a:lnTo>
                  <a:pt x="198241" y="93142"/>
                </a:lnTo>
                <a:lnTo>
                  <a:pt x="198119" y="101477"/>
                </a:lnTo>
                <a:lnTo>
                  <a:pt x="184160" y="141386"/>
                </a:lnTo>
                <a:lnTo>
                  <a:pt x="165475" y="151983"/>
                </a:lnTo>
                <a:lnTo>
                  <a:pt x="197934" y="151983"/>
                </a:lnTo>
                <a:lnTo>
                  <a:pt x="215483" y="113691"/>
                </a:lnTo>
                <a:lnTo>
                  <a:pt x="216981" y="101744"/>
                </a:lnTo>
                <a:lnTo>
                  <a:pt x="217768" y="89130"/>
                </a:lnTo>
                <a:close/>
              </a:path>
              <a:path extrusionOk="0" h="167640" w="218440">
                <a:moveTo>
                  <a:pt x="156518" y="1662"/>
                </a:moveTo>
                <a:lnTo>
                  <a:pt x="122491" y="20444"/>
                </a:lnTo>
                <a:lnTo>
                  <a:pt x="111122" y="57647"/>
                </a:lnTo>
                <a:lnTo>
                  <a:pt x="112234" y="68741"/>
                </a:lnTo>
                <a:lnTo>
                  <a:pt x="134278" y="103019"/>
                </a:lnTo>
                <a:lnTo>
                  <a:pt x="166999" y="110251"/>
                </a:lnTo>
                <a:lnTo>
                  <a:pt x="174497" y="108358"/>
                </a:lnTo>
                <a:lnTo>
                  <a:pt x="181477" y="104465"/>
                </a:lnTo>
                <a:lnTo>
                  <a:pt x="188610" y="100583"/>
                </a:lnTo>
                <a:lnTo>
                  <a:pt x="194066" y="95464"/>
                </a:lnTo>
                <a:lnTo>
                  <a:pt x="196349" y="92000"/>
                </a:lnTo>
                <a:lnTo>
                  <a:pt x="158833" y="92000"/>
                </a:lnTo>
                <a:lnTo>
                  <a:pt x="148258" y="87626"/>
                </a:lnTo>
                <a:lnTo>
                  <a:pt x="136713" y="76836"/>
                </a:lnTo>
                <a:lnTo>
                  <a:pt x="133049" y="65951"/>
                </a:lnTo>
                <a:lnTo>
                  <a:pt x="132366" y="49775"/>
                </a:lnTo>
                <a:lnTo>
                  <a:pt x="136072" y="37814"/>
                </a:lnTo>
                <a:lnTo>
                  <a:pt x="143798" y="26952"/>
                </a:lnTo>
                <a:lnTo>
                  <a:pt x="154278" y="20191"/>
                </a:lnTo>
                <a:lnTo>
                  <a:pt x="167538" y="18109"/>
                </a:lnTo>
                <a:lnTo>
                  <a:pt x="200188" y="18109"/>
                </a:lnTo>
                <a:lnTo>
                  <a:pt x="197062" y="14942"/>
                </a:lnTo>
                <a:lnTo>
                  <a:pt x="183681" y="5694"/>
                </a:lnTo>
                <a:lnTo>
                  <a:pt x="172016" y="2599"/>
                </a:lnTo>
                <a:lnTo>
                  <a:pt x="156518" y="1662"/>
                </a:lnTo>
                <a:close/>
              </a:path>
              <a:path extrusionOk="0" h="167640" w="218440">
                <a:moveTo>
                  <a:pt x="200188" y="18109"/>
                </a:moveTo>
                <a:lnTo>
                  <a:pt x="167538" y="18109"/>
                </a:lnTo>
                <a:lnTo>
                  <a:pt x="178704" y="21555"/>
                </a:lnTo>
                <a:lnTo>
                  <a:pt x="189727" y="31172"/>
                </a:lnTo>
                <a:lnTo>
                  <a:pt x="194877" y="42277"/>
                </a:lnTo>
                <a:lnTo>
                  <a:pt x="196474" y="56054"/>
                </a:lnTo>
                <a:lnTo>
                  <a:pt x="195920" y="63004"/>
                </a:lnTo>
                <a:lnTo>
                  <a:pt x="192247" y="74791"/>
                </a:lnTo>
                <a:lnTo>
                  <a:pt x="184142" y="85740"/>
                </a:lnTo>
                <a:lnTo>
                  <a:pt x="173976" y="90769"/>
                </a:lnTo>
                <a:lnTo>
                  <a:pt x="158833" y="92000"/>
                </a:lnTo>
                <a:lnTo>
                  <a:pt x="196349" y="92000"/>
                </a:lnTo>
                <a:lnTo>
                  <a:pt x="198241" y="89130"/>
                </a:lnTo>
                <a:lnTo>
                  <a:pt x="217768" y="89130"/>
                </a:lnTo>
                <a:lnTo>
                  <a:pt x="217907" y="86902"/>
                </a:lnTo>
                <a:lnTo>
                  <a:pt x="214744" y="43454"/>
                </a:lnTo>
                <a:lnTo>
                  <a:pt x="205735" y="23729"/>
                </a:lnTo>
                <a:lnTo>
                  <a:pt x="200188" y="18109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8587617" y="6742038"/>
            <a:ext cx="253365" cy="0"/>
          </a:xfrm>
          <a:custGeom>
            <a:rect b="b" l="l" r="r" t="t"/>
            <a:pathLst>
              <a:path extrusionOk="0" h="120000" w="253365">
                <a:moveTo>
                  <a:pt x="0" y="0"/>
                </a:moveTo>
                <a:lnTo>
                  <a:pt x="253105" y="0"/>
                </a:lnTo>
              </a:path>
            </a:pathLst>
          </a:custGeom>
          <a:noFill/>
          <a:ln cap="flat" cmpd="sng" w="214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type="title"/>
          </p:nvPr>
        </p:nvSpPr>
        <p:spPr>
          <a:xfrm>
            <a:off x="454925" y="377625"/>
            <a:ext cx="74790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889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100"/>
              <a:t>Environment</a:t>
            </a: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100"/>
              <a:t>Types</a:t>
            </a:r>
            <a:endParaRPr sz="3100"/>
          </a:p>
        </p:txBody>
      </p:sp>
      <p:sp>
        <p:nvSpPr>
          <p:cNvPr id="221" name="Google Shape;221;p22"/>
          <p:cNvSpPr txBox="1"/>
          <p:nvPr/>
        </p:nvSpPr>
        <p:spPr>
          <a:xfrm>
            <a:off x="414020" y="960273"/>
            <a:ext cx="85788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❖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Fully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observable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(vs.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partially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observable)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agent's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relevant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aspects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914400" y="2520695"/>
            <a:ext cx="3200400" cy="2857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4707635" y="2767583"/>
            <a:ext cx="3867912" cy="2362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379275" y="5714408"/>
            <a:ext cx="857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Tic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Tac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Toe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Fully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Observable.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Cards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are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Partially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Observable.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2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23594" rtl="0" algn="l">
              <a:lnSpc>
                <a:spcPct val="11889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Environment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Types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414020" y="975513"/>
            <a:ext cx="8185200" cy="1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5080" rtl="0" algn="l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Deterministic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(vs.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stochastic)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completely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executed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agent. (Stochastic: next state cannot be predicted with </a:t>
            </a:r>
            <a:r>
              <a:rPr lang="en-US" sz="2400"/>
              <a:t>certainty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257800" y="2971800"/>
            <a:ext cx="3140963" cy="17586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1425068" y="5418739"/>
            <a:ext cx="64573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Chess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deterministic.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Taxi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driver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stochastic.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3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  <p:sp>
        <p:nvSpPr>
          <p:cNvPr id="235" name="Google Shape;235;p23"/>
          <p:cNvSpPr/>
          <p:nvPr/>
        </p:nvSpPr>
        <p:spPr>
          <a:xfrm>
            <a:off x="895541" y="2603754"/>
            <a:ext cx="3758184" cy="24947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>
            <p:ph type="title"/>
          </p:nvPr>
        </p:nvSpPr>
        <p:spPr>
          <a:xfrm>
            <a:off x="556474" y="268975"/>
            <a:ext cx="757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889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/>
              <a:t>Environment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/>
              <a:t>Types</a:t>
            </a:r>
            <a:endParaRPr sz="3200"/>
          </a:p>
        </p:txBody>
      </p:sp>
      <p:sp>
        <p:nvSpPr>
          <p:cNvPr id="241" name="Google Shape;241;p24"/>
          <p:cNvSpPr txBox="1"/>
          <p:nvPr/>
        </p:nvSpPr>
        <p:spPr>
          <a:xfrm>
            <a:off x="414020" y="960273"/>
            <a:ext cx="8502000" cy="1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❖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Episodic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(vs.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sequential)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agent's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atomic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"episodes"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(each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episode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perceiving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action),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choice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episode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episode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itself.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4648200" y="3240023"/>
            <a:ext cx="3140963" cy="17586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1172224" y="5571150"/>
            <a:ext cx="633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Robot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Episodic.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Taxi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driver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sequential.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838200" y="2900172"/>
            <a:ext cx="3048000" cy="21899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/>
        </p:nvSpPr>
        <p:spPr>
          <a:xfrm>
            <a:off x="529778" y="259150"/>
            <a:ext cx="421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0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1" i="0" lang="en-US" sz="30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0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Types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473761" y="941858"/>
            <a:ext cx="8205600" cy="14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❖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(vs.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dynamic):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unchanged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thinking.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semidynamic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itself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passage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agent's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4648200" y="2651760"/>
            <a:ext cx="3758184" cy="24947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1831601" y="5723550"/>
            <a:ext cx="597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Taxi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driver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dynamic.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Chess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static.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1066800" y="2971800"/>
            <a:ext cx="3140964" cy="17586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/>
              <a:t> </a:t>
            </a:r>
            <a:fld id="{00000000-1234-1234-1234-123412341234}" type="slidenum">
              <a:rPr lang="en-US" u="sng"/>
              <a:t>‹#›</a:t>
            </a:fld>
            <a:endParaRPr u="sng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/>
          <p:nvPr/>
        </p:nvSpPr>
        <p:spPr>
          <a:xfrm>
            <a:off x="473777" y="363125"/>
            <a:ext cx="410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0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1" i="0" lang="en-US" sz="30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0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Types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380492" y="1017811"/>
            <a:ext cx="85902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❖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Discrete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(vs.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continuous):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distinct,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clearly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Defined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Rules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685800" y="2667000"/>
            <a:ext cx="3758184" cy="24963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4876800" y="2819400"/>
            <a:ext cx="3537204" cy="1981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559110" y="5702810"/>
            <a:ext cx="815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Chess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has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finite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states.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thus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discrete; </a:t>
            </a:r>
            <a:r>
              <a:rPr lang="en-US" sz="2400">
                <a:solidFill>
                  <a:srgbClr val="FF0000"/>
                </a:solidFill>
              </a:rPr>
              <a:t>however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</a:rPr>
              <a:t>the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</a:rPr>
              <a:t>Taxi-driving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</a:rPr>
              <a:t>is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FF0000"/>
                </a:solidFill>
              </a:rPr>
              <a:t>not.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/>
        </p:nvSpPr>
        <p:spPr>
          <a:xfrm>
            <a:off x="473766" y="134533"/>
            <a:ext cx="329057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1" i="0" lang="en-US" sz="28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Types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7"/>
          <p:cNvSpPr txBox="1"/>
          <p:nvPr/>
        </p:nvSpPr>
        <p:spPr>
          <a:xfrm>
            <a:off x="370966" y="879541"/>
            <a:ext cx="8289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❖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Single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(vs.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multiagent):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itself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5410200" y="2124455"/>
            <a:ext cx="2689800" cy="2715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914400" y="2267711"/>
            <a:ext cx="3758100" cy="24963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7"/>
          <p:cNvSpPr txBox="1"/>
          <p:nvPr/>
        </p:nvSpPr>
        <p:spPr>
          <a:xfrm>
            <a:off x="758300" y="5519050"/>
            <a:ext cx="790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Crossword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Single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agent,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Chess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multi-agent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environment.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7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94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Environment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Types</a:t>
            </a:r>
            <a:endParaRPr/>
          </a:p>
        </p:txBody>
      </p:sp>
      <p:sp>
        <p:nvSpPr>
          <p:cNvPr id="281" name="Google Shape;281;p28"/>
          <p:cNvSpPr txBox="1"/>
          <p:nvPr/>
        </p:nvSpPr>
        <p:spPr>
          <a:xfrm>
            <a:off x="567641" y="4072251"/>
            <a:ext cx="8214300" cy="19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largely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250190" rtl="0" algn="l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world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course)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partially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observable,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stochastic,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multi-agent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251459" y="1143000"/>
            <a:ext cx="8645652" cy="2438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"/>
          <p:cNvSpPr txBox="1"/>
          <p:nvPr/>
        </p:nvSpPr>
        <p:spPr>
          <a:xfrm>
            <a:off x="1482091" y="1353149"/>
            <a:ext cx="6744900" cy="53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715010" lvl="0" marL="7277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Clr>
                <a:srgbClr val="00008F"/>
              </a:buClr>
              <a:buSzPts val="2700"/>
              <a:buFont typeface="Noto Sans Symbols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5010" lvl="0" marL="7277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Rationality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"/>
              </a:spcBef>
              <a:spcAft>
                <a:spcPts val="0"/>
              </a:spcAft>
              <a:buClr>
                <a:srgbClr val="00008F"/>
              </a:buClr>
              <a:buSzPts val="2650"/>
              <a:buFont typeface="Noto Sans Symbols"/>
              <a:buNone/>
            </a:pPr>
            <a:r>
              <a:t/>
            </a:r>
            <a:endParaRPr b="0" i="0" sz="26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5010" lvl="0" marL="727710" marR="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PEAS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(Performance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measure,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27075" marR="0" rtl="0" algn="l">
              <a:lnSpc>
                <a:spcPct val="1192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Environment,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Actuators,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Sensors)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1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5010" lvl="0" marL="7277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8F"/>
              </a:buClr>
              <a:buSzPts val="2600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15010" lvl="0" marL="7277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9"/>
          <p:cNvSpPr/>
          <p:nvPr/>
        </p:nvSpPr>
        <p:spPr>
          <a:xfrm>
            <a:off x="0" y="5888735"/>
            <a:ext cx="2063400" cy="966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2380488" y="124968"/>
            <a:ext cx="4416552" cy="100888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9"/>
          <p:cNvSpPr txBox="1"/>
          <p:nvPr/>
        </p:nvSpPr>
        <p:spPr>
          <a:xfrm>
            <a:off x="2649475" y="321150"/>
            <a:ext cx="456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Intelligent</a:t>
            </a:r>
            <a:r>
              <a:rPr b="1" i="0" lang="en-US" sz="36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6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9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2755" rtl="0" algn="l">
              <a:lnSpc>
                <a:spcPct val="118892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Types</a:t>
            </a:r>
            <a:endParaRPr/>
          </a:p>
        </p:txBody>
      </p:sp>
      <p:sp>
        <p:nvSpPr>
          <p:cNvPr id="298" name="Google Shape;298;p30"/>
          <p:cNvSpPr txBox="1"/>
          <p:nvPr/>
        </p:nvSpPr>
        <p:spPr>
          <a:xfrm>
            <a:off x="304292" y="909487"/>
            <a:ext cx="7688700" cy="5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divided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five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(05)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basic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according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degree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perceived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8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capacity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change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environment</a:t>
            </a:r>
            <a:r>
              <a:rPr b="0" i="0" lang="en-US" sz="28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"/>
              </a:spcBef>
              <a:spcAft>
                <a:spcPts val="0"/>
              </a:spcAft>
              <a:buClr>
                <a:srgbClr val="000000"/>
              </a:buClr>
              <a:buSzPts val="2350"/>
              <a:buFont typeface="Arial"/>
              <a:buNone/>
            </a:pPr>
            <a:r>
              <a:t/>
            </a:r>
            <a:endParaRPr b="0" i="0" sz="23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0" marL="946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reflex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4"/>
              </a:spcBef>
              <a:spcAft>
                <a:spcPts val="0"/>
              </a:spcAft>
              <a:buClr>
                <a:srgbClr val="00008F"/>
              </a:buClr>
              <a:buSzPts val="3050"/>
              <a:buFont typeface="Arial"/>
              <a:buNone/>
            </a:pPr>
            <a:r>
              <a:t/>
            </a:r>
            <a:endParaRPr b="0" i="0" sz="3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0" marL="946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Model-based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reflex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"/>
              </a:spcBef>
              <a:spcAft>
                <a:spcPts val="0"/>
              </a:spcAft>
              <a:buClr>
                <a:srgbClr val="00008F"/>
              </a:buClr>
              <a:buSzPts val="3050"/>
              <a:buFont typeface="Arial"/>
              <a:buNone/>
            </a:pPr>
            <a:r>
              <a:t/>
            </a:r>
            <a:endParaRPr b="0" i="0" sz="30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0" marL="946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Goal-based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8"/>
              </a:spcBef>
              <a:spcAft>
                <a:spcPts val="0"/>
              </a:spcAft>
              <a:buClr>
                <a:srgbClr val="00008F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0" marL="946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Utility-based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"/>
              </a:spcBef>
              <a:spcAft>
                <a:spcPts val="0"/>
              </a:spcAft>
              <a:buClr>
                <a:srgbClr val="00008F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6385" lvl="0" marL="946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4922520" y="2514600"/>
            <a:ext cx="3927347" cy="37871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/>
          <p:nvPr/>
        </p:nvSpPr>
        <p:spPr>
          <a:xfrm>
            <a:off x="86746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9034271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1"/>
          <p:cNvSpPr/>
          <p:nvPr/>
        </p:nvSpPr>
        <p:spPr>
          <a:xfrm>
            <a:off x="1021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102107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102107" y="6716268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102107" y="6356603"/>
            <a:ext cx="0" cy="360045"/>
          </a:xfrm>
          <a:custGeom>
            <a:rect b="b" l="l" r="r" t="t"/>
            <a:pathLst>
              <a:path extrusionOk="0" h="360045" w="120000">
                <a:moveTo>
                  <a:pt x="0" y="359616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1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406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Simple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Reflex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Agents</a:t>
            </a:r>
            <a:endParaRPr/>
          </a:p>
        </p:txBody>
      </p:sp>
      <p:sp>
        <p:nvSpPr>
          <p:cNvPr id="312" name="Google Shape;312;p31"/>
          <p:cNvSpPr txBox="1"/>
          <p:nvPr/>
        </p:nvSpPr>
        <p:spPr>
          <a:xfrm>
            <a:off x="248821" y="1102909"/>
            <a:ext cx="86379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5080" rtl="0" algn="l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action(s)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8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precept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conditions</a:t>
            </a:r>
            <a:r>
              <a:rPr b="0" i="0" lang="en-US" sz="28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28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ignoring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precept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previous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8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282950" lvl="0" marL="12700" marR="0" rtl="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happens,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6676390" rtl="0" algn="l">
              <a:lnSpc>
                <a:spcPct val="100000"/>
              </a:lnSpc>
              <a:spcBef>
                <a:spcPts val="193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Poker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2877311" y="2916935"/>
            <a:ext cx="5714999" cy="3619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/>
          <p:nvPr/>
        </p:nvSpPr>
        <p:spPr>
          <a:xfrm>
            <a:off x="86746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9034271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2"/>
          <p:cNvSpPr/>
          <p:nvPr/>
        </p:nvSpPr>
        <p:spPr>
          <a:xfrm>
            <a:off x="1021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102107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2"/>
          <p:cNvSpPr/>
          <p:nvPr/>
        </p:nvSpPr>
        <p:spPr>
          <a:xfrm>
            <a:off x="102107" y="6716268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2"/>
          <p:cNvSpPr/>
          <p:nvPr/>
        </p:nvSpPr>
        <p:spPr>
          <a:xfrm>
            <a:off x="102107" y="6356603"/>
            <a:ext cx="0" cy="360045"/>
          </a:xfrm>
          <a:custGeom>
            <a:rect b="b" l="l" r="r" t="t"/>
            <a:pathLst>
              <a:path extrusionOk="0" h="360045" w="120000">
                <a:moveTo>
                  <a:pt x="0" y="359616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2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343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Simple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Reflex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Agents</a:t>
            </a:r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8657091" y="6561001"/>
            <a:ext cx="34734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30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2"/>
          <p:cNvSpPr txBox="1"/>
          <p:nvPr/>
        </p:nvSpPr>
        <p:spPr>
          <a:xfrm>
            <a:off x="180525" y="1324775"/>
            <a:ext cx="8724300" cy="3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7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Very</a:t>
            </a:r>
            <a:r>
              <a:rPr b="0" i="0" lang="en-US" sz="28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limited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marR="5080" rtl="0" algn="l">
              <a:lnSpc>
                <a:spcPct val="180000"/>
              </a:lnSpc>
              <a:spcBef>
                <a:spcPts val="135"/>
              </a:spcBef>
              <a:spcAft>
                <a:spcPts val="0"/>
              </a:spcAft>
              <a:buClr>
                <a:srgbClr val="00007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Knowledge/Perception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previous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69900" marR="0" rtl="0" algn="l">
              <a:lnSpc>
                <a:spcPct val="100000"/>
              </a:lnSpc>
              <a:spcBef>
                <a:spcPts val="1330"/>
              </a:spcBef>
              <a:spcAft>
                <a:spcPts val="0"/>
              </a:spcAft>
              <a:buClr>
                <a:srgbClr val="00007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28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Partially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Observable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Environments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8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Infinite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loops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unavoidable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/>
          <p:nvPr/>
        </p:nvSpPr>
        <p:spPr>
          <a:xfrm>
            <a:off x="86746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3"/>
          <p:cNvSpPr/>
          <p:nvPr/>
        </p:nvSpPr>
        <p:spPr>
          <a:xfrm>
            <a:off x="9034271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3"/>
          <p:cNvSpPr/>
          <p:nvPr/>
        </p:nvSpPr>
        <p:spPr>
          <a:xfrm>
            <a:off x="1021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102107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3"/>
          <p:cNvSpPr/>
          <p:nvPr/>
        </p:nvSpPr>
        <p:spPr>
          <a:xfrm>
            <a:off x="102107" y="6716268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3"/>
          <p:cNvSpPr/>
          <p:nvPr/>
        </p:nvSpPr>
        <p:spPr>
          <a:xfrm>
            <a:off x="102107" y="6356603"/>
            <a:ext cx="0" cy="360045"/>
          </a:xfrm>
          <a:custGeom>
            <a:rect b="b" l="l" r="r" t="t"/>
            <a:pathLst>
              <a:path extrusionOk="0" h="360045" w="120000">
                <a:moveTo>
                  <a:pt x="0" y="359616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3"/>
          <p:cNvSpPr txBox="1"/>
          <p:nvPr/>
        </p:nvSpPr>
        <p:spPr>
          <a:xfrm>
            <a:off x="460954" y="172633"/>
            <a:ext cx="464756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Model-based</a:t>
            </a:r>
            <a:r>
              <a:rPr b="1" i="0" lang="en-US" sz="28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Reflex</a:t>
            </a:r>
            <a:r>
              <a:rPr b="1" i="0" lang="en-US" sz="28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3"/>
          <p:cNvSpPr/>
          <p:nvPr/>
        </p:nvSpPr>
        <p:spPr>
          <a:xfrm>
            <a:off x="8673601" y="6702135"/>
            <a:ext cx="320040" cy="0"/>
          </a:xfrm>
          <a:custGeom>
            <a:rect b="b" l="l" r="r" t="t"/>
            <a:pathLst>
              <a:path extrusionOk="0" h="120000" w="320040">
                <a:moveTo>
                  <a:pt x="0" y="0"/>
                </a:moveTo>
                <a:lnTo>
                  <a:pt x="320039" y="0"/>
                </a:lnTo>
              </a:path>
            </a:pathLst>
          </a:custGeom>
          <a:noFill/>
          <a:ln cap="flat" cmpd="sng" w="16500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3"/>
          <p:cNvSpPr txBox="1"/>
          <p:nvPr/>
        </p:nvSpPr>
        <p:spPr>
          <a:xfrm>
            <a:off x="8714365" y="6473823"/>
            <a:ext cx="29400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3"/>
          <p:cNvSpPr txBox="1"/>
          <p:nvPr/>
        </p:nvSpPr>
        <p:spPr>
          <a:xfrm>
            <a:off x="385755" y="792687"/>
            <a:ext cx="8515500" cy="26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6400" lvl="0" marL="457200" marR="5080" rtl="0" algn="l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agent decides its action(s) based on a predefined set of condition-action rules.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Depending on the state of the world, different actions are appropriate.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marR="10160" rtl="0" algn="l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is evaluated in terms of how it changed from the</a:t>
            </a:r>
            <a:r>
              <a:rPr b="0" i="0" lang="en-US" sz="2800" u="none" cap="none" strike="noStrike">
                <a:solidFill>
                  <a:srgbClr val="0000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previous state</a:t>
            </a:r>
            <a:r>
              <a:rPr b="0" i="0" lang="en-US" sz="2800" u="none" cap="none" strike="noStrike">
                <a:solidFill>
                  <a:srgbClr val="00007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3"/>
          <p:cNvSpPr txBox="1"/>
          <p:nvPr/>
        </p:nvSpPr>
        <p:spPr>
          <a:xfrm>
            <a:off x="333367" y="4308426"/>
            <a:ext cx="2632800" cy="18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e.g:A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Roomba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Robot,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telephone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operator/answering </a:t>
            </a:r>
            <a:r>
              <a:rPr lang="en-US" sz="2400">
                <a:solidFill>
                  <a:schemeClr val="dk1"/>
                </a:solidFill>
              </a:rPr>
              <a:t>machine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3451859" y="3262884"/>
            <a:ext cx="5209032" cy="34137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"/>
          <p:cNvSpPr/>
          <p:nvPr/>
        </p:nvSpPr>
        <p:spPr>
          <a:xfrm>
            <a:off x="86746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4"/>
          <p:cNvSpPr/>
          <p:nvPr/>
        </p:nvSpPr>
        <p:spPr>
          <a:xfrm>
            <a:off x="9034271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4"/>
          <p:cNvSpPr/>
          <p:nvPr/>
        </p:nvSpPr>
        <p:spPr>
          <a:xfrm>
            <a:off x="1021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4"/>
          <p:cNvSpPr/>
          <p:nvPr/>
        </p:nvSpPr>
        <p:spPr>
          <a:xfrm>
            <a:off x="102107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4"/>
          <p:cNvSpPr/>
          <p:nvPr/>
        </p:nvSpPr>
        <p:spPr>
          <a:xfrm>
            <a:off x="102107" y="6716268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4"/>
          <p:cNvSpPr/>
          <p:nvPr/>
        </p:nvSpPr>
        <p:spPr>
          <a:xfrm>
            <a:off x="102107" y="6356603"/>
            <a:ext cx="0" cy="360045"/>
          </a:xfrm>
          <a:custGeom>
            <a:rect b="b" l="l" r="r" t="t"/>
            <a:pathLst>
              <a:path extrusionOk="0" h="360045" w="120000">
                <a:moveTo>
                  <a:pt x="0" y="359616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4"/>
          <p:cNvSpPr txBox="1"/>
          <p:nvPr>
            <p:ph type="title"/>
          </p:nvPr>
        </p:nvSpPr>
        <p:spPr>
          <a:xfrm>
            <a:off x="239070" y="295195"/>
            <a:ext cx="866585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Goal-based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/>
              <a:t>Agents</a:t>
            </a:r>
            <a:endParaRPr/>
          </a:p>
        </p:txBody>
      </p:sp>
      <p:sp>
        <p:nvSpPr>
          <p:cNvPr id="355" name="Google Shape;355;p34"/>
          <p:cNvSpPr txBox="1"/>
          <p:nvPr/>
        </p:nvSpPr>
        <p:spPr>
          <a:xfrm>
            <a:off x="102100" y="857100"/>
            <a:ext cx="8969100" cy="2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decides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its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action(s)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7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known</a:t>
            </a:r>
            <a:r>
              <a:rPr b="0" i="0" lang="en-US" sz="27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27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1053465" rtl="0" algn="l">
              <a:lnSpc>
                <a:spcPct val="1517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above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7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lang="en-US" sz="2700">
                <a:solidFill>
                  <a:srgbClr val="00007F"/>
                </a:solidFill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Involves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consideration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7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previous</a:t>
            </a:r>
            <a:r>
              <a:rPr b="0" i="0" lang="en-US" sz="27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r>
              <a:rPr lang="en-US" sz="2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states</a:t>
            </a:r>
            <a:r>
              <a:rPr b="0" i="0" lang="en-US" sz="27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4"/>
          <p:cNvSpPr txBox="1"/>
          <p:nvPr/>
        </p:nvSpPr>
        <p:spPr>
          <a:xfrm>
            <a:off x="100992" y="5320172"/>
            <a:ext cx="219329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e.g.a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certain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destination.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2895600" y="2766060"/>
            <a:ext cx="5638800" cy="3706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4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/>
          <p:nvPr/>
        </p:nvSpPr>
        <p:spPr>
          <a:xfrm>
            <a:off x="86746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5"/>
          <p:cNvSpPr/>
          <p:nvPr/>
        </p:nvSpPr>
        <p:spPr>
          <a:xfrm>
            <a:off x="9034271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5"/>
          <p:cNvSpPr/>
          <p:nvPr/>
        </p:nvSpPr>
        <p:spPr>
          <a:xfrm>
            <a:off x="1021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5"/>
          <p:cNvSpPr/>
          <p:nvPr/>
        </p:nvSpPr>
        <p:spPr>
          <a:xfrm>
            <a:off x="102107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5"/>
          <p:cNvSpPr/>
          <p:nvPr/>
        </p:nvSpPr>
        <p:spPr>
          <a:xfrm>
            <a:off x="102107" y="6716268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5"/>
          <p:cNvSpPr/>
          <p:nvPr/>
        </p:nvSpPr>
        <p:spPr>
          <a:xfrm>
            <a:off x="102107" y="6356603"/>
            <a:ext cx="0" cy="360045"/>
          </a:xfrm>
          <a:custGeom>
            <a:rect b="b" l="l" r="r" t="t"/>
            <a:pathLst>
              <a:path extrusionOk="0" h="360045" w="120000">
                <a:moveTo>
                  <a:pt x="0" y="359616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5"/>
          <p:cNvSpPr txBox="1"/>
          <p:nvPr/>
        </p:nvSpPr>
        <p:spPr>
          <a:xfrm>
            <a:off x="685292" y="237791"/>
            <a:ext cx="3442335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8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Utility-based</a:t>
            </a:r>
            <a:r>
              <a:rPr b="1" i="0" lang="en-US" sz="28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5"/>
          <p:cNvSpPr txBox="1"/>
          <p:nvPr/>
        </p:nvSpPr>
        <p:spPr>
          <a:xfrm>
            <a:off x="295399" y="825800"/>
            <a:ext cx="8365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000" lvl="0" marL="457200" marR="10096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action(s)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utilities/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preferences.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Utility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(Optimality)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better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5"/>
          <p:cNvSpPr txBox="1"/>
          <p:nvPr/>
        </p:nvSpPr>
        <p:spPr>
          <a:xfrm>
            <a:off x="238450" y="4308875"/>
            <a:ext cx="2730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A shopping app that finds the best product within your budget and preferences.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5"/>
          <p:cNvSpPr/>
          <p:nvPr/>
        </p:nvSpPr>
        <p:spPr>
          <a:xfrm>
            <a:off x="3197351" y="2830067"/>
            <a:ext cx="5715000" cy="3695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5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"/>
          <p:cNvSpPr/>
          <p:nvPr/>
        </p:nvSpPr>
        <p:spPr>
          <a:xfrm>
            <a:off x="86746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6"/>
          <p:cNvSpPr/>
          <p:nvPr/>
        </p:nvSpPr>
        <p:spPr>
          <a:xfrm>
            <a:off x="9034271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1021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6"/>
          <p:cNvSpPr/>
          <p:nvPr/>
        </p:nvSpPr>
        <p:spPr>
          <a:xfrm>
            <a:off x="102107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6"/>
          <p:cNvSpPr/>
          <p:nvPr/>
        </p:nvSpPr>
        <p:spPr>
          <a:xfrm>
            <a:off x="102107" y="6716268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6"/>
          <p:cNvSpPr/>
          <p:nvPr/>
        </p:nvSpPr>
        <p:spPr>
          <a:xfrm>
            <a:off x="102107" y="6356603"/>
            <a:ext cx="0" cy="360045"/>
          </a:xfrm>
          <a:custGeom>
            <a:rect b="b" l="l" r="r" t="t"/>
            <a:pathLst>
              <a:path extrusionOk="0" h="360045" w="120000">
                <a:moveTo>
                  <a:pt x="0" y="359616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6"/>
          <p:cNvSpPr txBox="1"/>
          <p:nvPr/>
        </p:nvSpPr>
        <p:spPr>
          <a:xfrm>
            <a:off x="334451" y="132625"/>
            <a:ext cx="4319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3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r>
              <a:rPr b="1" i="0" lang="en-US" sz="3300" u="none" cap="none" strike="noStrike">
                <a:solidFill>
                  <a:srgbClr val="6500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300" u="none" cap="none" strike="noStrike">
                <a:solidFill>
                  <a:srgbClr val="650065"/>
                </a:solidFill>
                <a:latin typeface="Arial"/>
                <a:ea typeface="Arial"/>
                <a:cs typeface="Arial"/>
                <a:sym typeface="Arial"/>
              </a:rPr>
              <a:t>Agents</a:t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3657600" y="3201923"/>
            <a:ext cx="5016900" cy="3514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6"/>
          <p:cNvSpPr txBox="1"/>
          <p:nvPr/>
        </p:nvSpPr>
        <p:spPr>
          <a:xfrm>
            <a:off x="281125" y="734450"/>
            <a:ext cx="8753400" cy="5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action(s)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0" lang="en-US" sz="20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(not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sensors).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212725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responsible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20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making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past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events</a:t>
            </a:r>
            <a:r>
              <a:rPr b="0" i="0" lang="en-US" sz="20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508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considered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entire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agent.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percepts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6985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Critic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20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modified.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97663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generator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0" i="0" lang="en-US" sz="20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suggests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informative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experiences.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t/>
            </a:r>
            <a:endParaRPr b="0" i="0" sz="24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recommendation system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(like Netflix) that learns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preferences and gives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better suggestions over time.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6"/>
          <p:cNvSpPr txBox="1"/>
          <p:nvPr>
            <p:ph idx="12" type="sldNum"/>
          </p:nvPr>
        </p:nvSpPr>
        <p:spPr>
          <a:xfrm>
            <a:off x="8660901" y="6473823"/>
            <a:ext cx="360045" cy="341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af4ef74b56_0_187"/>
          <p:cNvSpPr/>
          <p:nvPr/>
        </p:nvSpPr>
        <p:spPr>
          <a:xfrm>
            <a:off x="1021750" y="2934000"/>
            <a:ext cx="72567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" marR="5080" rtl="0" algn="l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 Rounded"/>
                <a:ea typeface="Arial Rounded"/>
                <a:cs typeface="Arial Rounded"/>
                <a:sym typeface="Arial Rounded"/>
              </a:rPr>
              <a:t>Chapter 3: Problem Solving Agent</a:t>
            </a:r>
            <a:endParaRPr b="1" i="0" sz="3200" u="none" cap="none" strike="noStrike">
              <a:solidFill>
                <a:schemeClr val="dk2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12700" marR="5080" rtl="0" algn="ctr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af4ef74b56_0_5"/>
          <p:cNvSpPr txBox="1"/>
          <p:nvPr/>
        </p:nvSpPr>
        <p:spPr>
          <a:xfrm>
            <a:off x="8660892" y="6453645"/>
            <a:ext cx="298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fld id="{00000000-1234-1234-1234-123412341234}" type="slidenum">
              <a:rPr b="0" i="0" lang="en-US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2af4ef74b56_0_5"/>
          <p:cNvSpPr txBox="1"/>
          <p:nvPr>
            <p:ph type="title"/>
          </p:nvPr>
        </p:nvSpPr>
        <p:spPr>
          <a:xfrm>
            <a:off x="838200" y="457200"/>
            <a:ext cx="52581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chemeClr val="dk2"/>
                </a:solidFill>
              </a:rPr>
              <a:t>Objectives of the Chapter</a:t>
            </a:r>
            <a:endParaRPr b="1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2af4ef74b56_0_5"/>
          <p:cNvSpPr txBox="1"/>
          <p:nvPr/>
        </p:nvSpPr>
        <p:spPr>
          <a:xfrm>
            <a:off x="1654474" y="1544025"/>
            <a:ext cx="6910200" cy="29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Problem Solving Agents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Problem Formulation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Search Strategies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89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• Informed &amp; Un-informed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2af4ef74b56_0_5"/>
          <p:cNvSpPr/>
          <p:nvPr/>
        </p:nvSpPr>
        <p:spPr>
          <a:xfrm>
            <a:off x="-76200" y="1613938"/>
            <a:ext cx="2063400" cy="966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2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af4ef74b56_0_11"/>
          <p:cNvSpPr txBox="1"/>
          <p:nvPr/>
        </p:nvSpPr>
        <p:spPr>
          <a:xfrm>
            <a:off x="8660892" y="6453645"/>
            <a:ext cx="298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61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fld id="{00000000-1234-1234-1234-123412341234}" type="slidenum">
              <a:rPr b="0" i="0" lang="en-US" sz="1800" u="sng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2af4ef74b56_0_11"/>
          <p:cNvSpPr txBox="1"/>
          <p:nvPr>
            <p:ph type="title"/>
          </p:nvPr>
        </p:nvSpPr>
        <p:spPr>
          <a:xfrm>
            <a:off x="368300" y="130251"/>
            <a:ext cx="4203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Problem Solving Agent</a:t>
            </a:r>
            <a:endParaRPr sz="2900"/>
          </a:p>
        </p:txBody>
      </p:sp>
      <p:sp>
        <p:nvSpPr>
          <p:cNvPr id="407" name="Google Shape;407;g2af4ef74b56_0_11"/>
          <p:cNvSpPr txBox="1"/>
          <p:nvPr/>
        </p:nvSpPr>
        <p:spPr>
          <a:xfrm>
            <a:off x="303450" y="649526"/>
            <a:ext cx="8537100" cy="60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Searching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is one of the classic areas of AI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Solving agents are one kind of </a:t>
            </a: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goal-based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agent that acts Rationally.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Problem Solving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agent that tries to come up with a sequence of actions by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performing some kind of search algorithm in the background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will bring the environment into a desired state/goal.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b="1" i="0" sz="2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use of search requires  an abstract formulation of the problem and the  available steps to construct solutions</a:t>
            </a:r>
            <a:r>
              <a:rPr b="0" i="0" lang="en-US" sz="2800" u="none" cap="none" strike="noStrike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need to first formulate the problem.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af4ef74b56_0_17"/>
          <p:cNvSpPr txBox="1"/>
          <p:nvPr>
            <p:ph type="title"/>
          </p:nvPr>
        </p:nvSpPr>
        <p:spPr>
          <a:xfrm>
            <a:off x="533400" y="152400"/>
            <a:ext cx="499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Problem Formulation</a:t>
            </a:r>
            <a:endParaRPr sz="3200">
              <a:solidFill>
                <a:schemeClr val="dk2"/>
              </a:solidFill>
            </a:endParaRPr>
          </a:p>
        </p:txBody>
      </p:sp>
      <p:grpSp>
        <p:nvGrpSpPr>
          <p:cNvPr id="413" name="Google Shape;413;g2af4ef74b56_0_17"/>
          <p:cNvGrpSpPr/>
          <p:nvPr/>
        </p:nvGrpSpPr>
        <p:grpSpPr>
          <a:xfrm>
            <a:off x="1468938" y="1143000"/>
            <a:ext cx="2276380" cy="5405446"/>
            <a:chOff x="867359" y="0"/>
            <a:chExt cx="2276380" cy="5405446"/>
          </a:xfrm>
        </p:grpSpPr>
        <p:sp>
          <p:nvSpPr>
            <p:cNvPr id="414" name="Google Shape;414;g2af4ef74b56_0_17"/>
            <p:cNvSpPr/>
            <p:nvPr/>
          </p:nvSpPr>
          <p:spPr>
            <a:xfrm>
              <a:off x="908139" y="0"/>
              <a:ext cx="2235600" cy="63540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2af4ef74b56_0_17"/>
            <p:cNvSpPr txBox="1"/>
            <p:nvPr/>
          </p:nvSpPr>
          <p:spPr>
            <a:xfrm>
              <a:off x="926748" y="18609"/>
              <a:ext cx="2198400" cy="5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1.State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2af4ef74b56_0_17"/>
            <p:cNvSpPr/>
            <p:nvPr/>
          </p:nvSpPr>
          <p:spPr>
            <a:xfrm rot="5544931">
              <a:off x="1884668" y="653575"/>
              <a:ext cx="242015" cy="285865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1C0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2af4ef74b56_0_17"/>
            <p:cNvSpPr txBox="1"/>
            <p:nvPr/>
          </p:nvSpPr>
          <p:spPr>
            <a:xfrm rot="144409">
              <a:off x="1921376" y="675551"/>
              <a:ext cx="171451" cy="169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g2af4ef74b56_0_17"/>
            <p:cNvSpPr/>
            <p:nvPr/>
          </p:nvSpPr>
          <p:spPr>
            <a:xfrm>
              <a:off x="867359" y="957837"/>
              <a:ext cx="2235600" cy="63540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2af4ef74b56_0_17"/>
            <p:cNvSpPr txBox="1"/>
            <p:nvPr/>
          </p:nvSpPr>
          <p:spPr>
            <a:xfrm>
              <a:off x="885968" y="976446"/>
              <a:ext cx="2198400" cy="5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2.Initial State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2af4ef74b56_0_17"/>
            <p:cNvSpPr/>
            <p:nvPr/>
          </p:nvSpPr>
          <p:spPr>
            <a:xfrm rot="5400000">
              <a:off x="1866117" y="1609066"/>
              <a:ext cx="238200" cy="2859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1C0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2af4ef74b56_0_17"/>
            <p:cNvSpPr txBox="1"/>
            <p:nvPr/>
          </p:nvSpPr>
          <p:spPr>
            <a:xfrm>
              <a:off x="1899436" y="1632916"/>
              <a:ext cx="1716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g2af4ef74b56_0_17"/>
            <p:cNvSpPr/>
            <p:nvPr/>
          </p:nvSpPr>
          <p:spPr>
            <a:xfrm>
              <a:off x="867359" y="1910889"/>
              <a:ext cx="2235600" cy="63540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2af4ef74b56_0_17"/>
            <p:cNvSpPr txBox="1"/>
            <p:nvPr/>
          </p:nvSpPr>
          <p:spPr>
            <a:xfrm>
              <a:off x="885968" y="1929498"/>
              <a:ext cx="2198400" cy="5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3.Actions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2af4ef74b56_0_17"/>
            <p:cNvSpPr/>
            <p:nvPr/>
          </p:nvSpPr>
          <p:spPr>
            <a:xfrm rot="5400000">
              <a:off x="1866117" y="2562118"/>
              <a:ext cx="238200" cy="2859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1C0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2af4ef74b56_0_17"/>
            <p:cNvSpPr txBox="1"/>
            <p:nvPr/>
          </p:nvSpPr>
          <p:spPr>
            <a:xfrm>
              <a:off x="1899436" y="2585968"/>
              <a:ext cx="1716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g2af4ef74b56_0_17"/>
            <p:cNvSpPr/>
            <p:nvPr/>
          </p:nvSpPr>
          <p:spPr>
            <a:xfrm>
              <a:off x="867359" y="2863942"/>
              <a:ext cx="2235600" cy="63540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2af4ef74b56_0_17"/>
            <p:cNvSpPr txBox="1"/>
            <p:nvPr/>
          </p:nvSpPr>
          <p:spPr>
            <a:xfrm>
              <a:off x="885968" y="2882551"/>
              <a:ext cx="2198400" cy="5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4.Goal Test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2af4ef74b56_0_17"/>
            <p:cNvSpPr/>
            <p:nvPr/>
          </p:nvSpPr>
          <p:spPr>
            <a:xfrm rot="5400000">
              <a:off x="1866117" y="3515170"/>
              <a:ext cx="238200" cy="2859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1C0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2af4ef74b56_0_17"/>
            <p:cNvSpPr txBox="1"/>
            <p:nvPr/>
          </p:nvSpPr>
          <p:spPr>
            <a:xfrm>
              <a:off x="1899436" y="3539020"/>
              <a:ext cx="1716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g2af4ef74b56_0_17"/>
            <p:cNvSpPr/>
            <p:nvPr/>
          </p:nvSpPr>
          <p:spPr>
            <a:xfrm>
              <a:off x="867359" y="3816994"/>
              <a:ext cx="2235600" cy="63540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2af4ef74b56_0_17"/>
            <p:cNvSpPr txBox="1"/>
            <p:nvPr/>
          </p:nvSpPr>
          <p:spPr>
            <a:xfrm>
              <a:off x="885968" y="3835603"/>
              <a:ext cx="2198400" cy="5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5.Path Cost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g2af4ef74b56_0_17"/>
            <p:cNvSpPr/>
            <p:nvPr/>
          </p:nvSpPr>
          <p:spPr>
            <a:xfrm rot="5400000">
              <a:off x="1866117" y="4468222"/>
              <a:ext cx="238200" cy="285900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B1C0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g2af4ef74b56_0_17"/>
            <p:cNvSpPr txBox="1"/>
            <p:nvPr/>
          </p:nvSpPr>
          <p:spPr>
            <a:xfrm>
              <a:off x="1899436" y="4492072"/>
              <a:ext cx="1716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g2af4ef74b56_0_17"/>
            <p:cNvSpPr/>
            <p:nvPr/>
          </p:nvSpPr>
          <p:spPr>
            <a:xfrm>
              <a:off x="867359" y="4770046"/>
              <a:ext cx="2235600" cy="635400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g2af4ef74b56_0_17"/>
            <p:cNvSpPr txBox="1"/>
            <p:nvPr/>
          </p:nvSpPr>
          <p:spPr>
            <a:xfrm>
              <a:off x="885968" y="4788655"/>
              <a:ext cx="2198400" cy="5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6.Solution</a:t>
              </a:r>
              <a:endParaRPr b="1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g2af4ef74b56_0_17"/>
          <p:cNvSpPr/>
          <p:nvPr/>
        </p:nvSpPr>
        <p:spPr>
          <a:xfrm>
            <a:off x="4068170" y="1167063"/>
            <a:ext cx="4847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 State Space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of all possible states where you can be.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2af4ef74b56_0_17"/>
          <p:cNvSpPr/>
          <p:nvPr/>
        </p:nvSpPr>
        <p:spPr>
          <a:xfrm>
            <a:off x="4068170" y="2114456"/>
            <a:ext cx="4572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Start State</a:t>
            </a: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state from where the search begins.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2af4ef74b56_0_17"/>
          <p:cNvSpPr/>
          <p:nvPr/>
        </p:nvSpPr>
        <p:spPr>
          <a:xfrm>
            <a:off x="4052128" y="3386435"/>
            <a:ext cx="45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Goal Test.</a:t>
            </a: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function that looks at the current state returns whether or not it is the goal state.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2af4ef74b56_0_17"/>
          <p:cNvSpPr/>
          <p:nvPr/>
        </p:nvSpPr>
        <p:spPr>
          <a:xfrm>
            <a:off x="4068170" y="4935413"/>
            <a:ext cx="45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a search problem is a sequence of actions, called the </a:t>
            </a:r>
            <a:r>
              <a:rPr b="1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 </a:t>
            </a:r>
            <a:r>
              <a:rPr b="0"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that transforms the start state to the goal state.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2af4ef74b56_0_17"/>
          <p:cNvSpPr/>
          <p:nvPr/>
        </p:nvSpPr>
        <p:spPr>
          <a:xfrm>
            <a:off x="4068170" y="6057400"/>
            <a:ext cx="4572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PLAN IS ACHIEVED THROUGH SEARCH ALGORITHMS</a:t>
            </a:r>
            <a:endParaRPr b="1" i="0" sz="1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af4ef74b56_0_49"/>
          <p:cNvSpPr txBox="1"/>
          <p:nvPr>
            <p:ph idx="1" type="body"/>
          </p:nvPr>
        </p:nvSpPr>
        <p:spPr>
          <a:xfrm>
            <a:off x="533400" y="1501801"/>
            <a:ext cx="76398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1F487C"/>
                </a:solidFill>
                <a:latin typeface="Carlito"/>
                <a:ea typeface="Carlito"/>
                <a:cs typeface="Carlito"/>
                <a:sym typeface="Carlito"/>
              </a:rPr>
              <a:t>Solution Quality </a:t>
            </a:r>
            <a:r>
              <a:rPr lang="en-US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is measured by the </a:t>
            </a:r>
            <a:r>
              <a:rPr lang="en-US">
                <a:solidFill>
                  <a:srgbClr val="00AF50"/>
                </a:solidFill>
                <a:latin typeface="Carlito"/>
                <a:ea typeface="Carlito"/>
                <a:cs typeface="Carlito"/>
                <a:sym typeface="Carlito"/>
              </a:rPr>
              <a:t>Path cost  function</a:t>
            </a:r>
            <a:r>
              <a:rPr lang="en-US">
                <a:latin typeface="Carlito"/>
                <a:ea typeface="Carlito"/>
                <a:cs typeface="Carlito"/>
                <a:sym typeface="Carlito"/>
              </a:rPr>
              <a:t>, </a:t>
            </a:r>
            <a:r>
              <a:rPr lang="en-US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and an </a:t>
            </a:r>
            <a:r>
              <a:rPr lang="en-US">
                <a:solidFill>
                  <a:srgbClr val="244060"/>
                </a:solidFill>
                <a:latin typeface="Carlito"/>
                <a:ea typeface="Carlito"/>
                <a:cs typeface="Carlito"/>
                <a:sym typeface="Carlito"/>
              </a:rPr>
              <a:t>Optimal solution </a:t>
            </a:r>
            <a:r>
              <a:rPr lang="en-US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has the </a:t>
            </a:r>
            <a:r>
              <a:rPr lang="en-US">
                <a:solidFill>
                  <a:srgbClr val="00AF50"/>
                </a:solidFill>
                <a:latin typeface="Carlito"/>
                <a:ea typeface="Carlito"/>
                <a:cs typeface="Carlito"/>
                <a:sym typeface="Carlito"/>
              </a:rPr>
              <a:t>lowest  path cost </a:t>
            </a:r>
            <a:r>
              <a:rPr lang="en-US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among all solutions</a:t>
            </a:r>
            <a:endParaRPr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6" name="Google Shape;446;g2af4ef74b56_0_49"/>
          <p:cNvSpPr txBox="1"/>
          <p:nvPr>
            <p:ph type="title"/>
          </p:nvPr>
        </p:nvSpPr>
        <p:spPr>
          <a:xfrm>
            <a:off x="380493" y="381000"/>
            <a:ext cx="87636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600">
                <a:solidFill>
                  <a:srgbClr val="1F487C"/>
                </a:solidFill>
                <a:latin typeface="Caladea"/>
                <a:ea typeface="Caladea"/>
                <a:cs typeface="Caladea"/>
                <a:sym typeface="Caladea"/>
              </a:rPr>
              <a:t>NOTE</a:t>
            </a:r>
            <a:endParaRPr sz="4600">
              <a:latin typeface="Caladea"/>
              <a:ea typeface="Caladea"/>
              <a:cs typeface="Caladea"/>
              <a:sym typeface="Calad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af4ef74b56_0_131"/>
          <p:cNvSpPr txBox="1"/>
          <p:nvPr>
            <p:ph type="title"/>
          </p:nvPr>
        </p:nvSpPr>
        <p:spPr>
          <a:xfrm>
            <a:off x="186021" y="304800"/>
            <a:ext cx="899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2"/>
                </a:solidFill>
              </a:rPr>
              <a:t>Problems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2" name="Google Shape;452;g2af4ef74b56_0_131"/>
          <p:cNvSpPr txBox="1"/>
          <p:nvPr>
            <p:ph idx="1" type="body"/>
          </p:nvPr>
        </p:nvSpPr>
        <p:spPr>
          <a:xfrm>
            <a:off x="609600" y="1295400"/>
            <a:ext cx="7202100" cy="27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41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C"/>
              </a:buClr>
              <a:buSzPts val="2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Vacuum Cleaner</a:t>
            </a:r>
            <a:endParaRPr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4F81BC"/>
              </a:buClr>
              <a:buSzPts val="2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8-Puzzle</a:t>
            </a:r>
            <a:endParaRPr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4F81BC"/>
              </a:buClr>
              <a:buSzPts val="2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8-Queens Problem</a:t>
            </a:r>
            <a:endParaRPr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4F81BC"/>
              </a:buClr>
              <a:buSzPts val="2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Robotic Assembly</a:t>
            </a:r>
            <a:endParaRPr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8600" lvl="0" marL="241300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4F81BC"/>
              </a:buClr>
              <a:buSzPts val="2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rPr>
              <a:t>VLSI Layout</a:t>
            </a:r>
            <a:endParaRPr>
              <a:solidFill>
                <a:schemeClr val="dk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af4ef74b56_0_54"/>
          <p:cNvSpPr txBox="1"/>
          <p:nvPr>
            <p:ph type="title"/>
          </p:nvPr>
        </p:nvSpPr>
        <p:spPr>
          <a:xfrm>
            <a:off x="412115" y="228600"/>
            <a:ext cx="591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2"/>
                </a:solidFill>
              </a:rPr>
              <a:t>4 Queens Problem Example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8" name="Google Shape;458;g2af4ef74b56_0_54"/>
          <p:cNvSpPr/>
          <p:nvPr/>
        </p:nvSpPr>
        <p:spPr>
          <a:xfrm>
            <a:off x="914400" y="1219200"/>
            <a:ext cx="6915300" cy="4865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af4ef74b56_0_59"/>
          <p:cNvSpPr txBox="1"/>
          <p:nvPr>
            <p:ph idx="1" type="body"/>
          </p:nvPr>
        </p:nvSpPr>
        <p:spPr>
          <a:xfrm>
            <a:off x="894713" y="1874110"/>
            <a:ext cx="735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g2af4ef74b56_0_59"/>
          <p:cNvSpPr/>
          <p:nvPr/>
        </p:nvSpPr>
        <p:spPr>
          <a:xfrm>
            <a:off x="425970" y="1296416"/>
            <a:ext cx="7956000" cy="452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2af4ef74b56_0_59"/>
          <p:cNvSpPr/>
          <p:nvPr/>
        </p:nvSpPr>
        <p:spPr>
          <a:xfrm>
            <a:off x="533400" y="381000"/>
            <a:ext cx="43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 Queens Problem Example………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af4ef74b56_0_65"/>
          <p:cNvSpPr/>
          <p:nvPr/>
        </p:nvSpPr>
        <p:spPr>
          <a:xfrm>
            <a:off x="457200" y="1219200"/>
            <a:ext cx="7982100" cy="5280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2af4ef74b56_0_65"/>
          <p:cNvSpPr/>
          <p:nvPr/>
        </p:nvSpPr>
        <p:spPr>
          <a:xfrm>
            <a:off x="762000" y="457200"/>
            <a:ext cx="434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 Queens Problem Example………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6" name="Google Shape;476;g329920801d4_0_5"/>
          <p:cNvGraphicFramePr/>
          <p:nvPr/>
        </p:nvGraphicFramePr>
        <p:xfrm>
          <a:off x="765675" y="135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{0A7D2407-8FA4-4480-9037-8C2A86CC474D}</a:tableStyleId>
              </a:tblPr>
              <a:tblGrid>
                <a:gridCol w="611375"/>
                <a:gridCol w="611375"/>
                <a:gridCol w="611375"/>
                <a:gridCol w="611375"/>
              </a:tblGrid>
              <a:tr h="40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Q1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0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0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77" name="Google Shape;477;g329920801d4_0_5"/>
          <p:cNvGraphicFramePr/>
          <p:nvPr/>
        </p:nvGraphicFramePr>
        <p:xfrm>
          <a:off x="3630550" y="1315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{0A7D2407-8FA4-4480-9037-8C2A86CC474D}</a:tableStyleId>
              </a:tblPr>
              <a:tblGrid>
                <a:gridCol w="628850"/>
                <a:gridCol w="628850"/>
                <a:gridCol w="628850"/>
                <a:gridCol w="6288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Q1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0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Q2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0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0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78" name="Google Shape;478;g329920801d4_0_5"/>
          <p:cNvGraphicFramePr/>
          <p:nvPr/>
        </p:nvGraphicFramePr>
        <p:xfrm>
          <a:off x="6700725" y="127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{0A7D2407-8FA4-4480-9037-8C2A86CC474D}</a:tableStyleId>
              </a:tblPr>
              <a:tblGrid>
                <a:gridCol w="624200"/>
                <a:gridCol w="558900"/>
                <a:gridCol w="558900"/>
                <a:gridCol w="558900"/>
              </a:tblGrid>
              <a:tr h="4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Q1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Q2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79" name="Google Shape;479;g329920801d4_0_5"/>
          <p:cNvGraphicFramePr/>
          <p:nvPr/>
        </p:nvGraphicFramePr>
        <p:xfrm>
          <a:off x="6822225" y="380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{0A7D2407-8FA4-4480-9037-8C2A86CC474D}</a:tableStyleId>
              </a:tblPr>
              <a:tblGrid>
                <a:gridCol w="558900"/>
                <a:gridCol w="558900"/>
                <a:gridCol w="558900"/>
                <a:gridCol w="558900"/>
              </a:tblGrid>
              <a:tr h="4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Q1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Q2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80" name="Google Shape;480;g329920801d4_0_5"/>
          <p:cNvGraphicFramePr/>
          <p:nvPr/>
        </p:nvGraphicFramePr>
        <p:xfrm>
          <a:off x="3850425" y="388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{0A7D2407-8FA4-4480-9037-8C2A86CC474D}</a:tableStyleId>
              </a:tblPr>
              <a:tblGrid>
                <a:gridCol w="558900"/>
                <a:gridCol w="558900"/>
                <a:gridCol w="558900"/>
                <a:gridCol w="558900"/>
              </a:tblGrid>
              <a:tr h="4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Q1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Q2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Q3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81" name="Google Shape;481;g329920801d4_0_5"/>
          <p:cNvGraphicFramePr/>
          <p:nvPr/>
        </p:nvGraphicFramePr>
        <p:xfrm>
          <a:off x="914975" y="388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{0A7D2407-8FA4-4480-9037-8C2A86CC474D}</a:tableStyleId>
              </a:tblPr>
              <a:tblGrid>
                <a:gridCol w="558900"/>
                <a:gridCol w="558900"/>
                <a:gridCol w="558900"/>
                <a:gridCol w="558900"/>
              </a:tblGrid>
              <a:tr h="41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Q1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Q2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Q3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1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Q4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482" name="Google Shape;482;g329920801d4_0_5"/>
          <p:cNvCxnSpPr/>
          <p:nvPr/>
        </p:nvCxnSpPr>
        <p:spPr>
          <a:xfrm>
            <a:off x="3227875" y="2353975"/>
            <a:ext cx="349800" cy="8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3" name="Google Shape;483;g329920801d4_0_5"/>
          <p:cNvSpPr txBox="1"/>
          <p:nvPr/>
        </p:nvSpPr>
        <p:spPr>
          <a:xfrm>
            <a:off x="297475" y="2170325"/>
            <a:ext cx="35100" cy="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8F"/>
              </a:solidFill>
            </a:endParaRPr>
          </a:p>
        </p:txBody>
      </p:sp>
      <p:cxnSp>
        <p:nvCxnSpPr>
          <p:cNvPr id="484" name="Google Shape;484;g329920801d4_0_5"/>
          <p:cNvCxnSpPr/>
          <p:nvPr/>
        </p:nvCxnSpPr>
        <p:spPr>
          <a:xfrm>
            <a:off x="6243825" y="2353975"/>
            <a:ext cx="456900" cy="87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g329920801d4_0_5"/>
          <p:cNvCxnSpPr/>
          <p:nvPr/>
        </p:nvCxnSpPr>
        <p:spPr>
          <a:xfrm>
            <a:off x="7785300" y="3097525"/>
            <a:ext cx="17400" cy="7434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" name="Google Shape;486;g329920801d4_0_5"/>
          <p:cNvCxnSpPr/>
          <p:nvPr/>
        </p:nvCxnSpPr>
        <p:spPr>
          <a:xfrm rot="10800000">
            <a:off x="6097125" y="4742025"/>
            <a:ext cx="734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7" name="Google Shape;487;g329920801d4_0_5"/>
          <p:cNvCxnSpPr/>
          <p:nvPr/>
        </p:nvCxnSpPr>
        <p:spPr>
          <a:xfrm rot="10800000">
            <a:off x="3111625" y="4795150"/>
            <a:ext cx="734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8" name="Google Shape;488;g329920801d4_0_5"/>
          <p:cNvSpPr txBox="1"/>
          <p:nvPr/>
        </p:nvSpPr>
        <p:spPr>
          <a:xfrm>
            <a:off x="624525" y="437400"/>
            <a:ext cx="62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2"/>
                </a:solidFill>
              </a:rPr>
              <a:t>4 Queens Problem Example</a:t>
            </a:r>
            <a:endParaRPr b="1" sz="2800">
              <a:solidFill>
                <a:schemeClr val="dk2"/>
              </a:solidFill>
            </a:endParaRPr>
          </a:p>
        </p:txBody>
      </p:sp>
      <p:sp>
        <p:nvSpPr>
          <p:cNvPr id="489" name="Google Shape;489;g329920801d4_0_5"/>
          <p:cNvSpPr txBox="1"/>
          <p:nvPr/>
        </p:nvSpPr>
        <p:spPr>
          <a:xfrm flipH="1" rot="10800000">
            <a:off x="765475" y="1252575"/>
            <a:ext cx="349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8F"/>
              </a:solidFill>
            </a:endParaRPr>
          </a:p>
        </p:txBody>
      </p:sp>
      <p:sp>
        <p:nvSpPr>
          <p:cNvPr id="490" name="Google Shape;490;g329920801d4_0_5"/>
          <p:cNvSpPr txBox="1"/>
          <p:nvPr/>
        </p:nvSpPr>
        <p:spPr>
          <a:xfrm flipH="1" rot="10800000">
            <a:off x="765475" y="797725"/>
            <a:ext cx="349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8F"/>
              </a:solidFill>
            </a:endParaRPr>
          </a:p>
        </p:txBody>
      </p:sp>
      <p:sp>
        <p:nvSpPr>
          <p:cNvPr id="491" name="Google Shape;491;g329920801d4_0_5"/>
          <p:cNvSpPr txBox="1"/>
          <p:nvPr/>
        </p:nvSpPr>
        <p:spPr>
          <a:xfrm>
            <a:off x="1863275" y="6023250"/>
            <a:ext cx="5572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8F"/>
                </a:solidFill>
              </a:rPr>
              <a:t>Solution???</a:t>
            </a:r>
            <a:endParaRPr sz="3200">
              <a:solidFill>
                <a:srgbClr val="00008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af4ef74b56_0_70"/>
          <p:cNvSpPr txBox="1"/>
          <p:nvPr>
            <p:ph type="title"/>
          </p:nvPr>
        </p:nvSpPr>
        <p:spPr>
          <a:xfrm>
            <a:off x="304300" y="8700"/>
            <a:ext cx="458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325">
            <a:spAutoFit/>
          </a:bodyPr>
          <a:lstStyle/>
          <a:p>
            <a:pPr indent="0" lvl="0" marL="0" rtl="0" algn="l">
              <a:lnSpc>
                <a:spcPct val="118958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2"/>
                </a:solidFill>
              </a:rPr>
              <a:t>The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2"/>
                </a:solidFill>
              </a:rPr>
              <a:t>8-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2"/>
                </a:solidFill>
              </a:rPr>
              <a:t>Puzzle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2"/>
                </a:solidFill>
              </a:rPr>
              <a:t>Example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g2af4ef74b56_0_70"/>
          <p:cNvSpPr txBox="1"/>
          <p:nvPr/>
        </p:nvSpPr>
        <p:spPr>
          <a:xfrm>
            <a:off x="457200" y="686425"/>
            <a:ext cx="8272800" cy="57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State:</a:t>
            </a:r>
            <a:r>
              <a:rPr b="0" i="0" lang="en-US" sz="2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eight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tiles,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blank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r>
              <a:rPr b="0" i="0" lang="en-US" sz="2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State:</a:t>
            </a:r>
            <a:r>
              <a:rPr b="0" i="0" lang="en-US" sz="2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{(2,0),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(8,1),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(3,2),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(1,3),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(6,4),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(4,5),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(7,6),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(-,7),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(5,8)}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93700" marR="5080" rtl="0" algn="l">
              <a:lnSpc>
                <a:spcPct val="789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Successor</a:t>
            </a:r>
            <a:r>
              <a:rPr b="0" i="0" lang="en-US" sz="2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Function:</a:t>
            </a:r>
            <a:r>
              <a:rPr b="0" i="0" lang="en-US" sz="2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four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(blank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moves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Left,</a:t>
            </a:r>
            <a:r>
              <a:rPr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Right,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Up,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Down).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91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2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Test:</a:t>
            </a:r>
            <a:r>
              <a:rPr b="0" i="0" lang="en-US" sz="2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determine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r>
              <a:rPr b="0" i="0" lang="en-US" sz="2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Cost:</a:t>
            </a:r>
            <a:r>
              <a:rPr b="0" i="0" lang="en-US" sz="2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ach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costs</a:t>
            </a:r>
            <a:r>
              <a:rPr b="0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b="0" i="0" lang="en-US" sz="2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{(1,0),(2,1),(3,2)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,(8,3)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,(-,4)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,(4,5)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,(7,6)</a:t>
            </a: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,(6,7)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,(5,8)}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2af4ef74b56_0_70"/>
          <p:cNvSpPr txBox="1"/>
          <p:nvPr/>
        </p:nvSpPr>
        <p:spPr>
          <a:xfrm>
            <a:off x="8660901" y="6473823"/>
            <a:ext cx="36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12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9" name="Google Shape;499;g2af4ef74b56_0_70"/>
          <p:cNvGraphicFramePr/>
          <p:nvPr/>
        </p:nvGraphicFramePr>
        <p:xfrm>
          <a:off x="7097121" y="12621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{73957418-5E41-4D4D-8603-C0F52423EE93}</a:tableStyleId>
              </a:tblPr>
              <a:tblGrid>
                <a:gridCol w="508000"/>
                <a:gridCol w="508000"/>
                <a:gridCol w="508000"/>
              </a:tblGrid>
              <a:tr h="408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1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11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graphicFrame>
        <p:nvGraphicFramePr>
          <p:cNvPr id="500" name="Google Shape;500;g2af4ef74b56_0_70"/>
          <p:cNvGraphicFramePr/>
          <p:nvPr/>
        </p:nvGraphicFramePr>
        <p:xfrm>
          <a:off x="5277793" y="12462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{73957418-5E41-4D4D-8603-C0F52423EE93}</a:tableStyleId>
              </a:tblPr>
              <a:tblGrid>
                <a:gridCol w="508000"/>
                <a:gridCol w="508000"/>
                <a:gridCol w="508000"/>
              </a:tblGrid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501" name="Google Shape;501;g2af4ef74b56_0_70"/>
          <p:cNvSpPr txBox="1"/>
          <p:nvPr/>
        </p:nvSpPr>
        <p:spPr>
          <a:xfrm>
            <a:off x="5402089" y="2661813"/>
            <a:ext cx="127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State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2af4ef74b56_0_70"/>
          <p:cNvSpPr txBox="1"/>
          <p:nvPr/>
        </p:nvSpPr>
        <p:spPr>
          <a:xfrm>
            <a:off x="7217274" y="2661813"/>
            <a:ext cx="127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State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" name="Google Shape;507;g2af4ef74b56_0_80"/>
          <p:cNvGraphicFramePr/>
          <p:nvPr/>
        </p:nvGraphicFramePr>
        <p:xfrm>
          <a:off x="838200" y="228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{73957418-5E41-4D4D-8603-C0F52423EE93}</a:tableStyleId>
              </a:tblPr>
              <a:tblGrid>
                <a:gridCol w="609600"/>
                <a:gridCol w="609600"/>
                <a:gridCol w="60960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graphicFrame>
        <p:nvGraphicFramePr>
          <p:cNvPr id="508" name="Google Shape;508;g2af4ef74b56_0_80"/>
          <p:cNvGraphicFramePr/>
          <p:nvPr/>
        </p:nvGraphicFramePr>
        <p:xfrm>
          <a:off x="3694692" y="228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{73957418-5E41-4D4D-8603-C0F52423EE93}</a:tableStyleId>
              </a:tblPr>
              <a:tblGrid>
                <a:gridCol w="606450"/>
                <a:gridCol w="606450"/>
                <a:gridCol w="6064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graphicFrame>
        <p:nvGraphicFramePr>
          <p:cNvPr id="509" name="Google Shape;509;g2af4ef74b56_0_80"/>
          <p:cNvGraphicFramePr/>
          <p:nvPr/>
        </p:nvGraphicFramePr>
        <p:xfrm>
          <a:off x="820387" y="220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{73957418-5E41-4D4D-8603-C0F52423EE93}</a:tableStyleId>
              </a:tblPr>
              <a:tblGrid>
                <a:gridCol w="609600"/>
                <a:gridCol w="609600"/>
                <a:gridCol w="60960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graphicFrame>
        <p:nvGraphicFramePr>
          <p:cNvPr id="510" name="Google Shape;510;g2af4ef74b56_0_80"/>
          <p:cNvGraphicFramePr/>
          <p:nvPr/>
        </p:nvGraphicFramePr>
        <p:xfrm>
          <a:off x="3721645" y="21989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{73957418-5E41-4D4D-8603-C0F52423EE93}</a:tableStyleId>
              </a:tblPr>
              <a:tblGrid>
                <a:gridCol w="599050"/>
                <a:gridCol w="599050"/>
                <a:gridCol w="5990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graphicFrame>
        <p:nvGraphicFramePr>
          <p:cNvPr id="511" name="Google Shape;511;g2af4ef74b56_0_80"/>
          <p:cNvGraphicFramePr/>
          <p:nvPr/>
        </p:nvGraphicFramePr>
        <p:xfrm>
          <a:off x="838200" y="4343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{73957418-5E41-4D4D-8603-C0F52423EE93}</a:tableStyleId>
              </a:tblPr>
              <a:tblGrid>
                <a:gridCol w="609600"/>
                <a:gridCol w="609600"/>
                <a:gridCol w="60960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graphicFrame>
        <p:nvGraphicFramePr>
          <p:cNvPr id="512" name="Google Shape;512;g2af4ef74b56_0_80"/>
          <p:cNvGraphicFramePr/>
          <p:nvPr/>
        </p:nvGraphicFramePr>
        <p:xfrm>
          <a:off x="3694692" y="43493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{73957418-5E41-4D4D-8603-C0F52423EE93}</a:tableStyleId>
              </a:tblPr>
              <a:tblGrid>
                <a:gridCol w="606450"/>
                <a:gridCol w="606450"/>
                <a:gridCol w="6064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513" name="Google Shape;513;g2af4ef74b56_0_80"/>
          <p:cNvSpPr/>
          <p:nvPr/>
        </p:nvSpPr>
        <p:spPr>
          <a:xfrm>
            <a:off x="2777322" y="943525"/>
            <a:ext cx="4572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2af4ef74b56_0_80"/>
          <p:cNvSpPr/>
          <p:nvPr/>
        </p:nvSpPr>
        <p:spPr>
          <a:xfrm flipH="1" rot="-2615162">
            <a:off x="2686537" y="4118711"/>
            <a:ext cx="988624" cy="23277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2af4ef74b56_0_80"/>
          <p:cNvSpPr/>
          <p:nvPr/>
        </p:nvSpPr>
        <p:spPr>
          <a:xfrm>
            <a:off x="2903043" y="2869306"/>
            <a:ext cx="4572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2af4ef74b56_0_80"/>
          <p:cNvSpPr/>
          <p:nvPr/>
        </p:nvSpPr>
        <p:spPr>
          <a:xfrm flipH="1" rot="-2615645">
            <a:off x="2665906" y="1946708"/>
            <a:ext cx="881886" cy="24509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2af4ef74b56_0_80"/>
          <p:cNvSpPr/>
          <p:nvPr/>
        </p:nvSpPr>
        <p:spPr>
          <a:xfrm>
            <a:off x="2903043" y="5079105"/>
            <a:ext cx="4572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8" name="Google Shape;518;g2af4ef74b56_0_80"/>
          <p:cNvGraphicFramePr/>
          <p:nvPr/>
        </p:nvGraphicFramePr>
        <p:xfrm>
          <a:off x="6618944" y="198120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{73957418-5E41-4D4D-8603-C0F52423EE93}</a:tableStyleId>
              </a:tblPr>
              <a:tblGrid>
                <a:gridCol w="613075"/>
                <a:gridCol w="613075"/>
                <a:gridCol w="613075"/>
              </a:tblGrid>
              <a:tr h="49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62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  <a:tr h="62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noFill/>
                  </a:tcPr>
                </a:tc>
              </a:tr>
            </a:tbl>
          </a:graphicData>
        </a:graphic>
      </p:graphicFrame>
      <p:sp>
        <p:nvSpPr>
          <p:cNvPr id="519" name="Google Shape;519;g2af4ef74b56_0_80"/>
          <p:cNvSpPr txBox="1"/>
          <p:nvPr/>
        </p:nvSpPr>
        <p:spPr>
          <a:xfrm>
            <a:off x="7239000" y="3865671"/>
            <a:ext cx="83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af4ef74b56_0_96"/>
          <p:cNvSpPr txBox="1"/>
          <p:nvPr>
            <p:ph type="title"/>
          </p:nvPr>
        </p:nvSpPr>
        <p:spPr>
          <a:xfrm>
            <a:off x="239070" y="295195"/>
            <a:ext cx="86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g2af4ef74b56_0_9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af4ef74b56_0_101"/>
          <p:cNvSpPr txBox="1"/>
          <p:nvPr>
            <p:ph type="title"/>
          </p:nvPr>
        </p:nvSpPr>
        <p:spPr>
          <a:xfrm>
            <a:off x="381000" y="314325"/>
            <a:ext cx="899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2"/>
                </a:solidFill>
              </a:rPr>
              <a:t>A Touring Agent Problem</a:t>
            </a:r>
            <a:br>
              <a:rPr lang="en-U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</p:txBody>
      </p:sp>
      <p:grpSp>
        <p:nvGrpSpPr>
          <p:cNvPr id="531" name="Google Shape;531;g2af4ef74b56_0_101"/>
          <p:cNvGrpSpPr/>
          <p:nvPr/>
        </p:nvGrpSpPr>
        <p:grpSpPr>
          <a:xfrm>
            <a:off x="550162" y="1392555"/>
            <a:ext cx="7982456" cy="3699510"/>
            <a:chOff x="381762" y="1711451"/>
            <a:chExt cx="7982456" cy="3699510"/>
          </a:xfrm>
        </p:grpSpPr>
        <p:sp>
          <p:nvSpPr>
            <p:cNvPr id="532" name="Google Shape;532;g2af4ef74b56_0_101"/>
            <p:cNvSpPr/>
            <p:nvPr/>
          </p:nvSpPr>
          <p:spPr>
            <a:xfrm>
              <a:off x="5639561" y="2591561"/>
              <a:ext cx="914400" cy="533400"/>
            </a:xfrm>
            <a:custGeom>
              <a:rect b="b" l="l" r="r" t="t"/>
              <a:pathLst>
                <a:path extrusionOk="0" h="533400" w="914400">
                  <a:moveTo>
                    <a:pt x="457200" y="0"/>
                  </a:moveTo>
                  <a:lnTo>
                    <a:pt x="399855" y="2077"/>
                  </a:lnTo>
                  <a:lnTo>
                    <a:pt x="344634" y="8143"/>
                  </a:lnTo>
                  <a:lnTo>
                    <a:pt x="291967" y="17948"/>
                  </a:lnTo>
                  <a:lnTo>
                    <a:pt x="242280" y="31243"/>
                  </a:lnTo>
                  <a:lnTo>
                    <a:pt x="196004" y="47776"/>
                  </a:lnTo>
                  <a:lnTo>
                    <a:pt x="153566" y="67300"/>
                  </a:lnTo>
                  <a:lnTo>
                    <a:pt x="115396" y="89563"/>
                  </a:lnTo>
                  <a:lnTo>
                    <a:pt x="81922" y="114317"/>
                  </a:lnTo>
                  <a:lnTo>
                    <a:pt x="53573" y="141311"/>
                  </a:lnTo>
                  <a:lnTo>
                    <a:pt x="13965" y="201023"/>
                  </a:lnTo>
                  <a:lnTo>
                    <a:pt x="0" y="266700"/>
                  </a:lnTo>
                  <a:lnTo>
                    <a:pt x="3562" y="300159"/>
                  </a:lnTo>
                  <a:lnTo>
                    <a:pt x="30778" y="363103"/>
                  </a:lnTo>
                  <a:lnTo>
                    <a:pt x="81922" y="419082"/>
                  </a:lnTo>
                  <a:lnTo>
                    <a:pt x="115396" y="443836"/>
                  </a:lnTo>
                  <a:lnTo>
                    <a:pt x="153566" y="466099"/>
                  </a:lnTo>
                  <a:lnTo>
                    <a:pt x="196004" y="485623"/>
                  </a:lnTo>
                  <a:lnTo>
                    <a:pt x="242280" y="502156"/>
                  </a:lnTo>
                  <a:lnTo>
                    <a:pt x="291967" y="515451"/>
                  </a:lnTo>
                  <a:lnTo>
                    <a:pt x="344634" y="525256"/>
                  </a:lnTo>
                  <a:lnTo>
                    <a:pt x="399855" y="531322"/>
                  </a:lnTo>
                  <a:lnTo>
                    <a:pt x="457200" y="533400"/>
                  </a:lnTo>
                  <a:lnTo>
                    <a:pt x="514544" y="531322"/>
                  </a:lnTo>
                  <a:lnTo>
                    <a:pt x="569765" y="525256"/>
                  </a:lnTo>
                  <a:lnTo>
                    <a:pt x="622432" y="515451"/>
                  </a:lnTo>
                  <a:lnTo>
                    <a:pt x="672119" y="502156"/>
                  </a:lnTo>
                  <a:lnTo>
                    <a:pt x="718395" y="485623"/>
                  </a:lnTo>
                  <a:lnTo>
                    <a:pt x="760833" y="466099"/>
                  </a:lnTo>
                  <a:lnTo>
                    <a:pt x="799003" y="443836"/>
                  </a:lnTo>
                  <a:lnTo>
                    <a:pt x="832477" y="419082"/>
                  </a:lnTo>
                  <a:lnTo>
                    <a:pt x="860826" y="392088"/>
                  </a:lnTo>
                  <a:lnTo>
                    <a:pt x="900434" y="332376"/>
                  </a:lnTo>
                  <a:lnTo>
                    <a:pt x="914399" y="266700"/>
                  </a:lnTo>
                  <a:lnTo>
                    <a:pt x="910837" y="233240"/>
                  </a:lnTo>
                  <a:lnTo>
                    <a:pt x="883621" y="170296"/>
                  </a:lnTo>
                  <a:lnTo>
                    <a:pt x="832477" y="114317"/>
                  </a:lnTo>
                  <a:lnTo>
                    <a:pt x="799003" y="89563"/>
                  </a:lnTo>
                  <a:lnTo>
                    <a:pt x="760833" y="67300"/>
                  </a:lnTo>
                  <a:lnTo>
                    <a:pt x="718395" y="47776"/>
                  </a:lnTo>
                  <a:lnTo>
                    <a:pt x="672119" y="31243"/>
                  </a:lnTo>
                  <a:lnTo>
                    <a:pt x="622432" y="17948"/>
                  </a:lnTo>
                  <a:lnTo>
                    <a:pt x="569765" y="8143"/>
                  </a:lnTo>
                  <a:lnTo>
                    <a:pt x="514544" y="207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g2af4ef74b56_0_101"/>
            <p:cNvSpPr/>
            <p:nvPr/>
          </p:nvSpPr>
          <p:spPr>
            <a:xfrm>
              <a:off x="5639561" y="2591561"/>
              <a:ext cx="914400" cy="533400"/>
            </a:xfrm>
            <a:custGeom>
              <a:rect b="b" l="l" r="r" t="t"/>
              <a:pathLst>
                <a:path extrusionOk="0" h="533400" w="914400">
                  <a:moveTo>
                    <a:pt x="0" y="266700"/>
                  </a:moveTo>
                  <a:lnTo>
                    <a:pt x="13965" y="201023"/>
                  </a:lnTo>
                  <a:lnTo>
                    <a:pt x="53573" y="141311"/>
                  </a:lnTo>
                  <a:lnTo>
                    <a:pt x="81922" y="114317"/>
                  </a:lnTo>
                  <a:lnTo>
                    <a:pt x="115396" y="89563"/>
                  </a:lnTo>
                  <a:lnTo>
                    <a:pt x="153566" y="67300"/>
                  </a:lnTo>
                  <a:lnTo>
                    <a:pt x="196004" y="47776"/>
                  </a:lnTo>
                  <a:lnTo>
                    <a:pt x="242280" y="31243"/>
                  </a:lnTo>
                  <a:lnTo>
                    <a:pt x="291967" y="17948"/>
                  </a:lnTo>
                  <a:lnTo>
                    <a:pt x="344634" y="8143"/>
                  </a:lnTo>
                  <a:lnTo>
                    <a:pt x="399855" y="2077"/>
                  </a:lnTo>
                  <a:lnTo>
                    <a:pt x="457200" y="0"/>
                  </a:lnTo>
                  <a:lnTo>
                    <a:pt x="514544" y="2077"/>
                  </a:lnTo>
                  <a:lnTo>
                    <a:pt x="569765" y="8143"/>
                  </a:lnTo>
                  <a:lnTo>
                    <a:pt x="622432" y="17948"/>
                  </a:lnTo>
                  <a:lnTo>
                    <a:pt x="672119" y="31243"/>
                  </a:lnTo>
                  <a:lnTo>
                    <a:pt x="718395" y="47776"/>
                  </a:lnTo>
                  <a:lnTo>
                    <a:pt x="760833" y="67300"/>
                  </a:lnTo>
                  <a:lnTo>
                    <a:pt x="799003" y="89563"/>
                  </a:lnTo>
                  <a:lnTo>
                    <a:pt x="832477" y="114317"/>
                  </a:lnTo>
                  <a:lnTo>
                    <a:pt x="860826" y="141311"/>
                  </a:lnTo>
                  <a:lnTo>
                    <a:pt x="900434" y="201023"/>
                  </a:lnTo>
                  <a:lnTo>
                    <a:pt x="914399" y="266700"/>
                  </a:lnTo>
                  <a:lnTo>
                    <a:pt x="910837" y="300159"/>
                  </a:lnTo>
                  <a:lnTo>
                    <a:pt x="883621" y="363103"/>
                  </a:lnTo>
                  <a:lnTo>
                    <a:pt x="832477" y="419082"/>
                  </a:lnTo>
                  <a:lnTo>
                    <a:pt x="799003" y="443836"/>
                  </a:lnTo>
                  <a:lnTo>
                    <a:pt x="760833" y="466099"/>
                  </a:lnTo>
                  <a:lnTo>
                    <a:pt x="718395" y="485623"/>
                  </a:lnTo>
                  <a:lnTo>
                    <a:pt x="672119" y="502156"/>
                  </a:lnTo>
                  <a:lnTo>
                    <a:pt x="622432" y="515451"/>
                  </a:lnTo>
                  <a:lnTo>
                    <a:pt x="569765" y="525256"/>
                  </a:lnTo>
                  <a:lnTo>
                    <a:pt x="514544" y="531322"/>
                  </a:lnTo>
                  <a:lnTo>
                    <a:pt x="457200" y="533400"/>
                  </a:lnTo>
                  <a:lnTo>
                    <a:pt x="399855" y="531322"/>
                  </a:lnTo>
                  <a:lnTo>
                    <a:pt x="344634" y="525256"/>
                  </a:lnTo>
                  <a:lnTo>
                    <a:pt x="291967" y="515451"/>
                  </a:lnTo>
                  <a:lnTo>
                    <a:pt x="242280" y="502156"/>
                  </a:lnTo>
                  <a:lnTo>
                    <a:pt x="196004" y="485623"/>
                  </a:lnTo>
                  <a:lnTo>
                    <a:pt x="153566" y="466099"/>
                  </a:lnTo>
                  <a:lnTo>
                    <a:pt x="115396" y="443836"/>
                  </a:lnTo>
                  <a:lnTo>
                    <a:pt x="81922" y="419082"/>
                  </a:lnTo>
                  <a:lnTo>
                    <a:pt x="53573" y="392088"/>
                  </a:lnTo>
                  <a:lnTo>
                    <a:pt x="13965" y="332376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59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g2af4ef74b56_0_101"/>
            <p:cNvSpPr/>
            <p:nvPr/>
          </p:nvSpPr>
          <p:spPr>
            <a:xfrm>
              <a:off x="381762" y="4725161"/>
              <a:ext cx="1905000" cy="685800"/>
            </a:xfrm>
            <a:custGeom>
              <a:rect b="b" l="l" r="r" t="t"/>
              <a:pathLst>
                <a:path extrusionOk="0" h="685800" w="1905000">
                  <a:moveTo>
                    <a:pt x="952500" y="0"/>
                  </a:moveTo>
                  <a:lnTo>
                    <a:pt x="884476" y="861"/>
                  </a:lnTo>
                  <a:lnTo>
                    <a:pt x="817744" y="3405"/>
                  </a:lnTo>
                  <a:lnTo>
                    <a:pt x="752464" y="7575"/>
                  </a:lnTo>
                  <a:lnTo>
                    <a:pt x="688797" y="13312"/>
                  </a:lnTo>
                  <a:lnTo>
                    <a:pt x="626904" y="20559"/>
                  </a:lnTo>
                  <a:lnTo>
                    <a:pt x="566946" y="29257"/>
                  </a:lnTo>
                  <a:lnTo>
                    <a:pt x="509086" y="39348"/>
                  </a:lnTo>
                  <a:lnTo>
                    <a:pt x="453483" y="50774"/>
                  </a:lnTo>
                  <a:lnTo>
                    <a:pt x="400300" y="63477"/>
                  </a:lnTo>
                  <a:lnTo>
                    <a:pt x="349696" y="77399"/>
                  </a:lnTo>
                  <a:lnTo>
                    <a:pt x="301834" y="92482"/>
                  </a:lnTo>
                  <a:lnTo>
                    <a:pt x="256875" y="108668"/>
                  </a:lnTo>
                  <a:lnTo>
                    <a:pt x="214980" y="125899"/>
                  </a:lnTo>
                  <a:lnTo>
                    <a:pt x="176310" y="144116"/>
                  </a:lnTo>
                  <a:lnTo>
                    <a:pt x="141026" y="163262"/>
                  </a:lnTo>
                  <a:lnTo>
                    <a:pt x="81261" y="204109"/>
                  </a:lnTo>
                  <a:lnTo>
                    <a:pt x="36975" y="247973"/>
                  </a:lnTo>
                  <a:lnTo>
                    <a:pt x="9458" y="294392"/>
                  </a:lnTo>
                  <a:lnTo>
                    <a:pt x="0" y="342900"/>
                  </a:lnTo>
                  <a:lnTo>
                    <a:pt x="2391" y="367385"/>
                  </a:lnTo>
                  <a:lnTo>
                    <a:pt x="21040" y="414907"/>
                  </a:lnTo>
                  <a:lnTo>
                    <a:pt x="57103" y="460106"/>
                  </a:lnTo>
                  <a:lnTo>
                    <a:pt x="109289" y="502520"/>
                  </a:lnTo>
                  <a:lnTo>
                    <a:pt x="176310" y="541683"/>
                  </a:lnTo>
                  <a:lnTo>
                    <a:pt x="214980" y="559900"/>
                  </a:lnTo>
                  <a:lnTo>
                    <a:pt x="256875" y="577131"/>
                  </a:lnTo>
                  <a:lnTo>
                    <a:pt x="301834" y="593317"/>
                  </a:lnTo>
                  <a:lnTo>
                    <a:pt x="349696" y="608400"/>
                  </a:lnTo>
                  <a:lnTo>
                    <a:pt x="400300" y="622322"/>
                  </a:lnTo>
                  <a:lnTo>
                    <a:pt x="453483" y="635025"/>
                  </a:lnTo>
                  <a:lnTo>
                    <a:pt x="509086" y="646451"/>
                  </a:lnTo>
                  <a:lnTo>
                    <a:pt x="566946" y="656542"/>
                  </a:lnTo>
                  <a:lnTo>
                    <a:pt x="626904" y="665240"/>
                  </a:lnTo>
                  <a:lnTo>
                    <a:pt x="688797" y="672487"/>
                  </a:lnTo>
                  <a:lnTo>
                    <a:pt x="752464" y="678224"/>
                  </a:lnTo>
                  <a:lnTo>
                    <a:pt x="817744" y="682394"/>
                  </a:lnTo>
                  <a:lnTo>
                    <a:pt x="884476" y="684938"/>
                  </a:lnTo>
                  <a:lnTo>
                    <a:pt x="952500" y="685800"/>
                  </a:lnTo>
                  <a:lnTo>
                    <a:pt x="1020521" y="684938"/>
                  </a:lnTo>
                  <a:lnTo>
                    <a:pt x="1087252" y="682394"/>
                  </a:lnTo>
                  <a:lnTo>
                    <a:pt x="1152532" y="678224"/>
                  </a:lnTo>
                  <a:lnTo>
                    <a:pt x="1216198" y="672487"/>
                  </a:lnTo>
                  <a:lnTo>
                    <a:pt x="1278090" y="665240"/>
                  </a:lnTo>
                  <a:lnTo>
                    <a:pt x="1338047" y="656542"/>
                  </a:lnTo>
                  <a:lnTo>
                    <a:pt x="1395908" y="646451"/>
                  </a:lnTo>
                  <a:lnTo>
                    <a:pt x="1451510" y="635025"/>
                  </a:lnTo>
                  <a:lnTo>
                    <a:pt x="1504694" y="622322"/>
                  </a:lnTo>
                  <a:lnTo>
                    <a:pt x="1555297" y="608400"/>
                  </a:lnTo>
                  <a:lnTo>
                    <a:pt x="1603160" y="593317"/>
                  </a:lnTo>
                  <a:lnTo>
                    <a:pt x="1648119" y="577131"/>
                  </a:lnTo>
                  <a:lnTo>
                    <a:pt x="1690015" y="559900"/>
                  </a:lnTo>
                  <a:lnTo>
                    <a:pt x="1728686" y="541683"/>
                  </a:lnTo>
                  <a:lnTo>
                    <a:pt x="1763970" y="522537"/>
                  </a:lnTo>
                  <a:lnTo>
                    <a:pt x="1823736" y="481690"/>
                  </a:lnTo>
                  <a:lnTo>
                    <a:pt x="1868023" y="437826"/>
                  </a:lnTo>
                  <a:lnTo>
                    <a:pt x="1895540" y="391407"/>
                  </a:lnTo>
                  <a:lnTo>
                    <a:pt x="1905000" y="342900"/>
                  </a:lnTo>
                  <a:lnTo>
                    <a:pt x="1902608" y="318414"/>
                  </a:lnTo>
                  <a:lnTo>
                    <a:pt x="1883958" y="270892"/>
                  </a:lnTo>
                  <a:lnTo>
                    <a:pt x="1847895" y="225693"/>
                  </a:lnTo>
                  <a:lnTo>
                    <a:pt x="1795708" y="183279"/>
                  </a:lnTo>
                  <a:lnTo>
                    <a:pt x="1728686" y="144116"/>
                  </a:lnTo>
                  <a:lnTo>
                    <a:pt x="1690015" y="125899"/>
                  </a:lnTo>
                  <a:lnTo>
                    <a:pt x="1648119" y="108668"/>
                  </a:lnTo>
                  <a:lnTo>
                    <a:pt x="1603160" y="92482"/>
                  </a:lnTo>
                  <a:lnTo>
                    <a:pt x="1555297" y="77399"/>
                  </a:lnTo>
                  <a:lnTo>
                    <a:pt x="1504694" y="63477"/>
                  </a:lnTo>
                  <a:lnTo>
                    <a:pt x="1451510" y="50774"/>
                  </a:lnTo>
                  <a:lnTo>
                    <a:pt x="1395908" y="39348"/>
                  </a:lnTo>
                  <a:lnTo>
                    <a:pt x="1338047" y="29257"/>
                  </a:lnTo>
                  <a:lnTo>
                    <a:pt x="1278090" y="20559"/>
                  </a:lnTo>
                  <a:lnTo>
                    <a:pt x="1216198" y="13312"/>
                  </a:lnTo>
                  <a:lnTo>
                    <a:pt x="1152532" y="7575"/>
                  </a:lnTo>
                  <a:lnTo>
                    <a:pt x="1087252" y="3405"/>
                  </a:lnTo>
                  <a:lnTo>
                    <a:pt x="1020521" y="861"/>
                  </a:lnTo>
                  <a:lnTo>
                    <a:pt x="9525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g2af4ef74b56_0_101"/>
            <p:cNvSpPr/>
            <p:nvPr/>
          </p:nvSpPr>
          <p:spPr>
            <a:xfrm>
              <a:off x="381762" y="4725161"/>
              <a:ext cx="1905000" cy="685800"/>
            </a:xfrm>
            <a:custGeom>
              <a:rect b="b" l="l" r="r" t="t"/>
              <a:pathLst>
                <a:path extrusionOk="0" h="685800" w="1905000">
                  <a:moveTo>
                    <a:pt x="0" y="342900"/>
                  </a:moveTo>
                  <a:lnTo>
                    <a:pt x="9458" y="294392"/>
                  </a:lnTo>
                  <a:lnTo>
                    <a:pt x="36975" y="247973"/>
                  </a:lnTo>
                  <a:lnTo>
                    <a:pt x="81261" y="204109"/>
                  </a:lnTo>
                  <a:lnTo>
                    <a:pt x="141026" y="163262"/>
                  </a:lnTo>
                  <a:lnTo>
                    <a:pt x="176310" y="144116"/>
                  </a:lnTo>
                  <a:lnTo>
                    <a:pt x="214980" y="125899"/>
                  </a:lnTo>
                  <a:lnTo>
                    <a:pt x="256875" y="108668"/>
                  </a:lnTo>
                  <a:lnTo>
                    <a:pt x="301834" y="92482"/>
                  </a:lnTo>
                  <a:lnTo>
                    <a:pt x="349696" y="77399"/>
                  </a:lnTo>
                  <a:lnTo>
                    <a:pt x="400300" y="63477"/>
                  </a:lnTo>
                  <a:lnTo>
                    <a:pt x="453483" y="50774"/>
                  </a:lnTo>
                  <a:lnTo>
                    <a:pt x="509086" y="39348"/>
                  </a:lnTo>
                  <a:lnTo>
                    <a:pt x="566946" y="29257"/>
                  </a:lnTo>
                  <a:lnTo>
                    <a:pt x="626904" y="20559"/>
                  </a:lnTo>
                  <a:lnTo>
                    <a:pt x="688797" y="13312"/>
                  </a:lnTo>
                  <a:lnTo>
                    <a:pt x="752464" y="7575"/>
                  </a:lnTo>
                  <a:lnTo>
                    <a:pt x="817744" y="3405"/>
                  </a:lnTo>
                  <a:lnTo>
                    <a:pt x="884476" y="861"/>
                  </a:lnTo>
                  <a:lnTo>
                    <a:pt x="952500" y="0"/>
                  </a:lnTo>
                  <a:lnTo>
                    <a:pt x="1020521" y="861"/>
                  </a:lnTo>
                  <a:lnTo>
                    <a:pt x="1087252" y="3405"/>
                  </a:lnTo>
                  <a:lnTo>
                    <a:pt x="1152532" y="7575"/>
                  </a:lnTo>
                  <a:lnTo>
                    <a:pt x="1216198" y="13312"/>
                  </a:lnTo>
                  <a:lnTo>
                    <a:pt x="1278090" y="20559"/>
                  </a:lnTo>
                  <a:lnTo>
                    <a:pt x="1338047" y="29257"/>
                  </a:lnTo>
                  <a:lnTo>
                    <a:pt x="1395908" y="39348"/>
                  </a:lnTo>
                  <a:lnTo>
                    <a:pt x="1451510" y="50774"/>
                  </a:lnTo>
                  <a:lnTo>
                    <a:pt x="1504694" y="63477"/>
                  </a:lnTo>
                  <a:lnTo>
                    <a:pt x="1555297" y="77399"/>
                  </a:lnTo>
                  <a:lnTo>
                    <a:pt x="1603160" y="92482"/>
                  </a:lnTo>
                  <a:lnTo>
                    <a:pt x="1648119" y="108668"/>
                  </a:lnTo>
                  <a:lnTo>
                    <a:pt x="1690015" y="125899"/>
                  </a:lnTo>
                  <a:lnTo>
                    <a:pt x="1728686" y="144116"/>
                  </a:lnTo>
                  <a:lnTo>
                    <a:pt x="1763970" y="163262"/>
                  </a:lnTo>
                  <a:lnTo>
                    <a:pt x="1823736" y="204109"/>
                  </a:lnTo>
                  <a:lnTo>
                    <a:pt x="1868023" y="247973"/>
                  </a:lnTo>
                  <a:lnTo>
                    <a:pt x="1895540" y="294392"/>
                  </a:lnTo>
                  <a:lnTo>
                    <a:pt x="1905000" y="342900"/>
                  </a:lnTo>
                  <a:lnTo>
                    <a:pt x="1902608" y="367385"/>
                  </a:lnTo>
                  <a:lnTo>
                    <a:pt x="1883958" y="414907"/>
                  </a:lnTo>
                  <a:lnTo>
                    <a:pt x="1847895" y="460106"/>
                  </a:lnTo>
                  <a:lnTo>
                    <a:pt x="1795708" y="502520"/>
                  </a:lnTo>
                  <a:lnTo>
                    <a:pt x="1728686" y="541683"/>
                  </a:lnTo>
                  <a:lnTo>
                    <a:pt x="1690015" y="559900"/>
                  </a:lnTo>
                  <a:lnTo>
                    <a:pt x="1648119" y="577131"/>
                  </a:lnTo>
                  <a:lnTo>
                    <a:pt x="1603160" y="593317"/>
                  </a:lnTo>
                  <a:lnTo>
                    <a:pt x="1555297" y="608400"/>
                  </a:lnTo>
                  <a:lnTo>
                    <a:pt x="1504694" y="622322"/>
                  </a:lnTo>
                  <a:lnTo>
                    <a:pt x="1451510" y="635025"/>
                  </a:lnTo>
                  <a:lnTo>
                    <a:pt x="1395908" y="646451"/>
                  </a:lnTo>
                  <a:lnTo>
                    <a:pt x="1338047" y="656542"/>
                  </a:lnTo>
                  <a:lnTo>
                    <a:pt x="1278090" y="665240"/>
                  </a:lnTo>
                  <a:lnTo>
                    <a:pt x="1216198" y="672487"/>
                  </a:lnTo>
                  <a:lnTo>
                    <a:pt x="1152532" y="678224"/>
                  </a:lnTo>
                  <a:lnTo>
                    <a:pt x="1087252" y="682394"/>
                  </a:lnTo>
                  <a:lnTo>
                    <a:pt x="1020521" y="684938"/>
                  </a:lnTo>
                  <a:lnTo>
                    <a:pt x="952500" y="685800"/>
                  </a:lnTo>
                  <a:lnTo>
                    <a:pt x="884476" y="684938"/>
                  </a:lnTo>
                  <a:lnTo>
                    <a:pt x="817744" y="682394"/>
                  </a:lnTo>
                  <a:lnTo>
                    <a:pt x="752464" y="678224"/>
                  </a:lnTo>
                  <a:lnTo>
                    <a:pt x="688797" y="672487"/>
                  </a:lnTo>
                  <a:lnTo>
                    <a:pt x="626904" y="665240"/>
                  </a:lnTo>
                  <a:lnTo>
                    <a:pt x="566946" y="656542"/>
                  </a:lnTo>
                  <a:lnTo>
                    <a:pt x="509086" y="646451"/>
                  </a:lnTo>
                  <a:lnTo>
                    <a:pt x="453483" y="635025"/>
                  </a:lnTo>
                  <a:lnTo>
                    <a:pt x="400300" y="622322"/>
                  </a:lnTo>
                  <a:lnTo>
                    <a:pt x="349696" y="608400"/>
                  </a:lnTo>
                  <a:lnTo>
                    <a:pt x="301834" y="593317"/>
                  </a:lnTo>
                  <a:lnTo>
                    <a:pt x="256875" y="577131"/>
                  </a:lnTo>
                  <a:lnTo>
                    <a:pt x="214980" y="559900"/>
                  </a:lnTo>
                  <a:lnTo>
                    <a:pt x="176310" y="541683"/>
                  </a:lnTo>
                  <a:lnTo>
                    <a:pt x="141026" y="522537"/>
                  </a:lnTo>
                  <a:lnTo>
                    <a:pt x="81261" y="481690"/>
                  </a:lnTo>
                  <a:lnTo>
                    <a:pt x="36975" y="437826"/>
                  </a:lnTo>
                  <a:lnTo>
                    <a:pt x="9458" y="391407"/>
                  </a:lnTo>
                  <a:lnTo>
                    <a:pt x="0" y="342900"/>
                  </a:lnTo>
                  <a:close/>
                </a:path>
              </a:pathLst>
            </a:custGeom>
            <a:noFill/>
            <a:ln cap="flat" cmpd="sng" w="25900">
              <a:solidFill>
                <a:srgbClr val="C0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g2af4ef74b56_0_101"/>
            <p:cNvSpPr/>
            <p:nvPr/>
          </p:nvSpPr>
          <p:spPr>
            <a:xfrm>
              <a:off x="2286634" y="2724911"/>
              <a:ext cx="6077584" cy="2428240"/>
            </a:xfrm>
            <a:custGeom>
              <a:rect b="b" l="l" r="r" t="t"/>
              <a:pathLst>
                <a:path extrusionOk="0" h="2428240" w="6077584">
                  <a:moveTo>
                    <a:pt x="149181" y="2256663"/>
                  </a:moveTo>
                  <a:lnTo>
                    <a:pt x="141985" y="2259203"/>
                  </a:lnTo>
                  <a:lnTo>
                    <a:pt x="0" y="2343150"/>
                  </a:lnTo>
                  <a:lnTo>
                    <a:pt x="143001" y="2425446"/>
                  </a:lnTo>
                  <a:lnTo>
                    <a:pt x="150195" y="2427819"/>
                  </a:lnTo>
                  <a:lnTo>
                    <a:pt x="157495" y="2427287"/>
                  </a:lnTo>
                  <a:lnTo>
                    <a:pt x="164058" y="2424088"/>
                  </a:lnTo>
                  <a:lnTo>
                    <a:pt x="169037" y="2418461"/>
                  </a:lnTo>
                  <a:lnTo>
                    <a:pt x="171428" y="2411267"/>
                  </a:lnTo>
                  <a:lnTo>
                    <a:pt x="170926" y="2403967"/>
                  </a:lnTo>
                  <a:lnTo>
                    <a:pt x="167733" y="2397404"/>
                  </a:lnTo>
                  <a:lnTo>
                    <a:pt x="162051" y="2392426"/>
                  </a:lnTo>
                  <a:lnTo>
                    <a:pt x="109122" y="2361946"/>
                  </a:lnTo>
                  <a:lnTo>
                    <a:pt x="37972" y="2361946"/>
                  </a:lnTo>
                  <a:lnTo>
                    <a:pt x="37718" y="2323846"/>
                  </a:lnTo>
                  <a:lnTo>
                    <a:pt x="108143" y="2323445"/>
                  </a:lnTo>
                  <a:lnTo>
                    <a:pt x="161416" y="2291969"/>
                  </a:lnTo>
                  <a:lnTo>
                    <a:pt x="170614" y="2273002"/>
                  </a:lnTo>
                  <a:lnTo>
                    <a:pt x="168147" y="2265807"/>
                  </a:lnTo>
                  <a:lnTo>
                    <a:pt x="163095" y="2260203"/>
                  </a:lnTo>
                  <a:lnTo>
                    <a:pt x="156495" y="2257075"/>
                  </a:lnTo>
                  <a:lnTo>
                    <a:pt x="149181" y="2256663"/>
                  </a:lnTo>
                  <a:close/>
                </a:path>
                <a:path extrusionOk="0" h="2428240" w="6077584">
                  <a:moveTo>
                    <a:pt x="108143" y="2323445"/>
                  </a:moveTo>
                  <a:lnTo>
                    <a:pt x="37718" y="2323846"/>
                  </a:lnTo>
                  <a:lnTo>
                    <a:pt x="37972" y="2361946"/>
                  </a:lnTo>
                  <a:lnTo>
                    <a:pt x="108366" y="2361510"/>
                  </a:lnTo>
                  <a:lnTo>
                    <a:pt x="104490" y="2359279"/>
                  </a:lnTo>
                  <a:lnTo>
                    <a:pt x="47497" y="2359279"/>
                  </a:lnTo>
                  <a:lnTo>
                    <a:pt x="47370" y="2326386"/>
                  </a:lnTo>
                  <a:lnTo>
                    <a:pt x="103167" y="2326386"/>
                  </a:lnTo>
                  <a:lnTo>
                    <a:pt x="108143" y="2323445"/>
                  </a:lnTo>
                  <a:close/>
                </a:path>
                <a:path extrusionOk="0" h="2428240" w="6077584">
                  <a:moveTo>
                    <a:pt x="108366" y="2361510"/>
                  </a:moveTo>
                  <a:lnTo>
                    <a:pt x="37972" y="2361946"/>
                  </a:lnTo>
                  <a:lnTo>
                    <a:pt x="109122" y="2361946"/>
                  </a:lnTo>
                  <a:lnTo>
                    <a:pt x="108366" y="2361510"/>
                  </a:lnTo>
                  <a:close/>
                </a:path>
                <a:path extrusionOk="0" h="2428240" w="6077584">
                  <a:moveTo>
                    <a:pt x="6030998" y="1229995"/>
                  </a:moveTo>
                  <a:lnTo>
                    <a:pt x="6006592" y="1280540"/>
                  </a:lnTo>
                  <a:lnTo>
                    <a:pt x="5966206" y="1331595"/>
                  </a:lnTo>
                  <a:lnTo>
                    <a:pt x="5909564" y="1383411"/>
                  </a:lnTo>
                  <a:lnTo>
                    <a:pt x="5875273" y="1409445"/>
                  </a:lnTo>
                  <a:lnTo>
                    <a:pt x="5836920" y="1435481"/>
                  </a:lnTo>
                  <a:lnTo>
                    <a:pt x="5794883" y="1461515"/>
                  </a:lnTo>
                  <a:lnTo>
                    <a:pt x="5749163" y="1487551"/>
                  </a:lnTo>
                  <a:lnTo>
                    <a:pt x="5699633" y="1513458"/>
                  </a:lnTo>
                  <a:lnTo>
                    <a:pt x="5646546" y="1539113"/>
                  </a:lnTo>
                  <a:lnTo>
                    <a:pt x="5590032" y="1564894"/>
                  </a:lnTo>
                  <a:lnTo>
                    <a:pt x="5529961" y="1590294"/>
                  </a:lnTo>
                  <a:lnTo>
                    <a:pt x="5466588" y="1615567"/>
                  </a:lnTo>
                  <a:lnTo>
                    <a:pt x="5399913" y="1640586"/>
                  </a:lnTo>
                  <a:lnTo>
                    <a:pt x="5330063" y="1665351"/>
                  </a:lnTo>
                  <a:lnTo>
                    <a:pt x="5257038" y="1690115"/>
                  </a:lnTo>
                  <a:lnTo>
                    <a:pt x="5180838" y="1714373"/>
                  </a:lnTo>
                  <a:lnTo>
                    <a:pt x="5101844" y="1738502"/>
                  </a:lnTo>
                  <a:lnTo>
                    <a:pt x="5019801" y="1762252"/>
                  </a:lnTo>
                  <a:lnTo>
                    <a:pt x="4934839" y="1785746"/>
                  </a:lnTo>
                  <a:lnTo>
                    <a:pt x="4847209" y="1808988"/>
                  </a:lnTo>
                  <a:lnTo>
                    <a:pt x="4663694" y="1854327"/>
                  </a:lnTo>
                  <a:lnTo>
                    <a:pt x="4470019" y="1898269"/>
                  </a:lnTo>
                  <a:lnTo>
                    <a:pt x="4266438" y="1940687"/>
                  </a:lnTo>
                  <a:lnTo>
                    <a:pt x="4053840" y="1981581"/>
                  </a:lnTo>
                  <a:lnTo>
                    <a:pt x="3832605" y="2020570"/>
                  </a:lnTo>
                  <a:lnTo>
                    <a:pt x="3603243" y="2057781"/>
                  </a:lnTo>
                  <a:lnTo>
                    <a:pt x="3245357" y="2109724"/>
                  </a:lnTo>
                  <a:lnTo>
                    <a:pt x="2872486" y="2157095"/>
                  </a:lnTo>
                  <a:lnTo>
                    <a:pt x="2486405" y="2199259"/>
                  </a:lnTo>
                  <a:lnTo>
                    <a:pt x="2222754" y="2224405"/>
                  </a:lnTo>
                  <a:lnTo>
                    <a:pt x="1954529" y="2246884"/>
                  </a:lnTo>
                  <a:lnTo>
                    <a:pt x="1682623" y="2266696"/>
                  </a:lnTo>
                  <a:lnTo>
                    <a:pt x="1407160" y="2283714"/>
                  </a:lnTo>
                  <a:lnTo>
                    <a:pt x="1129156" y="2298065"/>
                  </a:lnTo>
                  <a:lnTo>
                    <a:pt x="848867" y="2309241"/>
                  </a:lnTo>
                  <a:lnTo>
                    <a:pt x="566801" y="2317496"/>
                  </a:lnTo>
                  <a:lnTo>
                    <a:pt x="283590" y="2322449"/>
                  </a:lnTo>
                  <a:lnTo>
                    <a:pt x="108143" y="2323445"/>
                  </a:lnTo>
                  <a:lnTo>
                    <a:pt x="75628" y="2342658"/>
                  </a:lnTo>
                  <a:lnTo>
                    <a:pt x="108366" y="2361510"/>
                  </a:lnTo>
                  <a:lnTo>
                    <a:pt x="284352" y="2360422"/>
                  </a:lnTo>
                  <a:lnTo>
                    <a:pt x="567944" y="2355469"/>
                  </a:lnTo>
                  <a:lnTo>
                    <a:pt x="850391" y="2347341"/>
                  </a:lnTo>
                  <a:lnTo>
                    <a:pt x="1131062" y="2336038"/>
                  </a:lnTo>
                  <a:lnTo>
                    <a:pt x="1409573" y="2321814"/>
                  </a:lnTo>
                  <a:lnTo>
                    <a:pt x="1685289" y="2304669"/>
                  </a:lnTo>
                  <a:lnTo>
                    <a:pt x="1957831" y="2284730"/>
                  </a:lnTo>
                  <a:lnTo>
                    <a:pt x="2226310" y="2262251"/>
                  </a:lnTo>
                  <a:lnTo>
                    <a:pt x="2490469" y="2237105"/>
                  </a:lnTo>
                  <a:lnTo>
                    <a:pt x="2877057" y="2194941"/>
                  </a:lnTo>
                  <a:lnTo>
                    <a:pt x="3250565" y="2147570"/>
                  </a:lnTo>
                  <a:lnTo>
                    <a:pt x="3609213" y="2095373"/>
                  </a:lnTo>
                  <a:lnTo>
                    <a:pt x="3839082" y="2058035"/>
                  </a:lnTo>
                  <a:lnTo>
                    <a:pt x="4060952" y="2018919"/>
                  </a:lnTo>
                  <a:lnTo>
                    <a:pt x="4274058" y="1978025"/>
                  </a:lnTo>
                  <a:lnTo>
                    <a:pt x="4478273" y="1935480"/>
                  </a:lnTo>
                  <a:lnTo>
                    <a:pt x="4672711" y="1891283"/>
                  </a:lnTo>
                  <a:lnTo>
                    <a:pt x="4856988" y="1845818"/>
                  </a:lnTo>
                  <a:lnTo>
                    <a:pt x="4944998" y="1822450"/>
                  </a:lnTo>
                  <a:lnTo>
                    <a:pt x="5030343" y="1798827"/>
                  </a:lnTo>
                  <a:lnTo>
                    <a:pt x="5112893" y="1774952"/>
                  </a:lnTo>
                  <a:lnTo>
                    <a:pt x="5192521" y="1750695"/>
                  </a:lnTo>
                  <a:lnTo>
                    <a:pt x="5269103" y="1726183"/>
                  </a:lnTo>
                  <a:lnTo>
                    <a:pt x="5342763" y="1701292"/>
                  </a:lnTo>
                  <a:lnTo>
                    <a:pt x="5413247" y="1676273"/>
                  </a:lnTo>
                  <a:lnTo>
                    <a:pt x="5480685" y="1651000"/>
                  </a:lnTo>
                  <a:lnTo>
                    <a:pt x="5544820" y="1625345"/>
                  </a:lnTo>
                  <a:lnTo>
                    <a:pt x="5605780" y="1599564"/>
                  </a:lnTo>
                  <a:lnTo>
                    <a:pt x="5663311" y="1573402"/>
                  </a:lnTo>
                  <a:lnTo>
                    <a:pt x="5717286" y="1547114"/>
                  </a:lnTo>
                  <a:lnTo>
                    <a:pt x="5767959" y="1520698"/>
                  </a:lnTo>
                  <a:lnTo>
                    <a:pt x="5814948" y="1493901"/>
                  </a:lnTo>
                  <a:lnTo>
                    <a:pt x="5858510" y="1466977"/>
                  </a:lnTo>
                  <a:lnTo>
                    <a:pt x="5898261" y="1439671"/>
                  </a:lnTo>
                  <a:lnTo>
                    <a:pt x="5934329" y="1412367"/>
                  </a:lnTo>
                  <a:lnTo>
                    <a:pt x="5966587" y="1384554"/>
                  </a:lnTo>
                  <a:lnTo>
                    <a:pt x="5995162" y="1356487"/>
                  </a:lnTo>
                  <a:lnTo>
                    <a:pt x="6039866" y="1299210"/>
                  </a:lnTo>
                  <a:lnTo>
                    <a:pt x="6066917" y="1242695"/>
                  </a:lnTo>
                  <a:lnTo>
                    <a:pt x="6067297" y="1241806"/>
                  </a:lnTo>
                  <a:lnTo>
                    <a:pt x="6067806" y="1240027"/>
                  </a:lnTo>
                  <a:lnTo>
                    <a:pt x="6069966" y="1231138"/>
                  </a:lnTo>
                  <a:lnTo>
                    <a:pt x="6030721" y="1231138"/>
                  </a:lnTo>
                  <a:lnTo>
                    <a:pt x="6030998" y="1229995"/>
                  </a:lnTo>
                  <a:close/>
                </a:path>
                <a:path extrusionOk="0" h="2428240" w="6077584">
                  <a:moveTo>
                    <a:pt x="47370" y="2326386"/>
                  </a:moveTo>
                  <a:lnTo>
                    <a:pt x="47497" y="2359279"/>
                  </a:lnTo>
                  <a:lnTo>
                    <a:pt x="75628" y="2342658"/>
                  </a:lnTo>
                  <a:lnTo>
                    <a:pt x="47370" y="2326386"/>
                  </a:lnTo>
                  <a:close/>
                </a:path>
                <a:path extrusionOk="0" h="2428240" w="6077584">
                  <a:moveTo>
                    <a:pt x="75628" y="2342658"/>
                  </a:moveTo>
                  <a:lnTo>
                    <a:pt x="47497" y="2359279"/>
                  </a:lnTo>
                  <a:lnTo>
                    <a:pt x="104490" y="2359279"/>
                  </a:lnTo>
                  <a:lnTo>
                    <a:pt x="75628" y="2342658"/>
                  </a:lnTo>
                  <a:close/>
                </a:path>
                <a:path extrusionOk="0" h="2428240" w="6077584">
                  <a:moveTo>
                    <a:pt x="103167" y="2326386"/>
                  </a:moveTo>
                  <a:lnTo>
                    <a:pt x="47370" y="2326386"/>
                  </a:lnTo>
                  <a:lnTo>
                    <a:pt x="75628" y="2342658"/>
                  </a:lnTo>
                  <a:lnTo>
                    <a:pt x="103167" y="2326386"/>
                  </a:lnTo>
                  <a:close/>
                </a:path>
                <a:path extrusionOk="0" h="2428240" w="6077584">
                  <a:moveTo>
                    <a:pt x="6031611" y="1228470"/>
                  </a:moveTo>
                  <a:lnTo>
                    <a:pt x="6030998" y="1229995"/>
                  </a:lnTo>
                  <a:lnTo>
                    <a:pt x="6030721" y="1231138"/>
                  </a:lnTo>
                  <a:lnTo>
                    <a:pt x="6031611" y="1228470"/>
                  </a:lnTo>
                  <a:close/>
                </a:path>
                <a:path extrusionOk="0" h="2428240" w="6077584">
                  <a:moveTo>
                    <a:pt x="6070614" y="1228470"/>
                  </a:moveTo>
                  <a:lnTo>
                    <a:pt x="6031611" y="1228470"/>
                  </a:lnTo>
                  <a:lnTo>
                    <a:pt x="6030721" y="1231138"/>
                  </a:lnTo>
                  <a:lnTo>
                    <a:pt x="6069966" y="1231138"/>
                  </a:lnTo>
                  <a:lnTo>
                    <a:pt x="6070614" y="1228470"/>
                  </a:lnTo>
                  <a:close/>
                </a:path>
                <a:path extrusionOk="0" h="2428240" w="6077584">
                  <a:moveTo>
                    <a:pt x="6036929" y="1205470"/>
                  </a:moveTo>
                  <a:lnTo>
                    <a:pt x="6030998" y="1229995"/>
                  </a:lnTo>
                  <a:lnTo>
                    <a:pt x="6031611" y="1228470"/>
                  </a:lnTo>
                  <a:lnTo>
                    <a:pt x="6070614" y="1228470"/>
                  </a:lnTo>
                  <a:lnTo>
                    <a:pt x="6074410" y="1212850"/>
                  </a:lnTo>
                  <a:lnTo>
                    <a:pt x="6074537" y="1211833"/>
                  </a:lnTo>
                  <a:lnTo>
                    <a:pt x="6074791" y="1210818"/>
                  </a:lnTo>
                  <a:lnTo>
                    <a:pt x="6074791" y="1209929"/>
                  </a:lnTo>
                  <a:lnTo>
                    <a:pt x="6075035" y="1206754"/>
                  </a:lnTo>
                  <a:lnTo>
                    <a:pt x="6036818" y="1206754"/>
                  </a:lnTo>
                  <a:lnTo>
                    <a:pt x="6036929" y="1205470"/>
                  </a:lnTo>
                  <a:close/>
                </a:path>
                <a:path extrusionOk="0" h="2428240" w="6077584">
                  <a:moveTo>
                    <a:pt x="6037325" y="1203833"/>
                  </a:moveTo>
                  <a:lnTo>
                    <a:pt x="6036929" y="1205470"/>
                  </a:lnTo>
                  <a:lnTo>
                    <a:pt x="6036818" y="1206754"/>
                  </a:lnTo>
                  <a:lnTo>
                    <a:pt x="6037325" y="1203833"/>
                  </a:lnTo>
                  <a:close/>
                </a:path>
                <a:path extrusionOk="0" h="2428240" w="6077584">
                  <a:moveTo>
                    <a:pt x="6075259" y="1203833"/>
                  </a:moveTo>
                  <a:lnTo>
                    <a:pt x="6037325" y="1203833"/>
                  </a:lnTo>
                  <a:lnTo>
                    <a:pt x="6036818" y="1206754"/>
                  </a:lnTo>
                  <a:lnTo>
                    <a:pt x="6075035" y="1206754"/>
                  </a:lnTo>
                  <a:lnTo>
                    <a:pt x="6075259" y="1203833"/>
                  </a:lnTo>
                  <a:close/>
                </a:path>
                <a:path extrusionOk="0" h="2428240" w="6077584">
                  <a:moveTo>
                    <a:pt x="4247007" y="0"/>
                  </a:moveTo>
                  <a:lnTo>
                    <a:pt x="4246118" y="38100"/>
                  </a:lnTo>
                  <a:lnTo>
                    <a:pt x="4331081" y="39750"/>
                  </a:lnTo>
                  <a:lnTo>
                    <a:pt x="4415155" y="44703"/>
                  </a:lnTo>
                  <a:lnTo>
                    <a:pt x="4498720" y="52832"/>
                  </a:lnTo>
                  <a:lnTo>
                    <a:pt x="4581906" y="64008"/>
                  </a:lnTo>
                  <a:lnTo>
                    <a:pt x="4664456" y="78232"/>
                  </a:lnTo>
                  <a:lnTo>
                    <a:pt x="4746244" y="95123"/>
                  </a:lnTo>
                  <a:lnTo>
                    <a:pt x="4827016" y="114935"/>
                  </a:lnTo>
                  <a:lnTo>
                    <a:pt x="4906518" y="137160"/>
                  </a:lnTo>
                  <a:lnTo>
                    <a:pt x="4984876" y="162178"/>
                  </a:lnTo>
                  <a:lnTo>
                    <a:pt x="5061585" y="189484"/>
                  </a:lnTo>
                  <a:lnTo>
                    <a:pt x="5136769" y="219201"/>
                  </a:lnTo>
                  <a:lnTo>
                    <a:pt x="5210174" y="251078"/>
                  </a:lnTo>
                  <a:lnTo>
                    <a:pt x="5281548" y="284988"/>
                  </a:lnTo>
                  <a:lnTo>
                    <a:pt x="5350637" y="320928"/>
                  </a:lnTo>
                  <a:lnTo>
                    <a:pt x="5417566" y="358775"/>
                  </a:lnTo>
                  <a:lnTo>
                    <a:pt x="5481955" y="398399"/>
                  </a:lnTo>
                  <a:lnTo>
                    <a:pt x="5543676" y="439674"/>
                  </a:lnTo>
                  <a:lnTo>
                    <a:pt x="5602605" y="482600"/>
                  </a:lnTo>
                  <a:lnTo>
                    <a:pt x="5658485" y="526923"/>
                  </a:lnTo>
                  <a:lnTo>
                    <a:pt x="5711317" y="572515"/>
                  </a:lnTo>
                  <a:lnTo>
                    <a:pt x="5760593" y="619378"/>
                  </a:lnTo>
                  <a:lnTo>
                    <a:pt x="5806567" y="667258"/>
                  </a:lnTo>
                  <a:lnTo>
                    <a:pt x="5848858" y="716279"/>
                  </a:lnTo>
                  <a:lnTo>
                    <a:pt x="5887339" y="766063"/>
                  </a:lnTo>
                  <a:lnTo>
                    <a:pt x="5921629" y="816610"/>
                  </a:lnTo>
                  <a:lnTo>
                    <a:pt x="5952109" y="867790"/>
                  </a:lnTo>
                  <a:lnTo>
                    <a:pt x="5978144" y="919607"/>
                  </a:lnTo>
                  <a:lnTo>
                    <a:pt x="5999734" y="971676"/>
                  </a:lnTo>
                  <a:lnTo>
                    <a:pt x="6016751" y="1024001"/>
                  </a:lnTo>
                  <a:lnTo>
                    <a:pt x="6029070" y="1076706"/>
                  </a:lnTo>
                  <a:lnTo>
                    <a:pt x="6036437" y="1129283"/>
                  </a:lnTo>
                  <a:lnTo>
                    <a:pt x="6038976" y="1181989"/>
                  </a:lnTo>
                  <a:lnTo>
                    <a:pt x="6036929" y="1205470"/>
                  </a:lnTo>
                  <a:lnTo>
                    <a:pt x="6037325" y="1203833"/>
                  </a:lnTo>
                  <a:lnTo>
                    <a:pt x="6075259" y="1203833"/>
                  </a:lnTo>
                  <a:lnTo>
                    <a:pt x="6077076" y="1180211"/>
                  </a:lnTo>
                  <a:lnTo>
                    <a:pt x="6074283" y="1123950"/>
                  </a:lnTo>
                  <a:lnTo>
                    <a:pt x="6066155" y="1067943"/>
                  </a:lnTo>
                  <a:lnTo>
                    <a:pt x="6052946" y="1012189"/>
                  </a:lnTo>
                  <a:lnTo>
                    <a:pt x="6034913" y="956944"/>
                  </a:lnTo>
                  <a:lnTo>
                    <a:pt x="6012180" y="902335"/>
                  </a:lnTo>
                  <a:lnTo>
                    <a:pt x="5984874" y="848360"/>
                  </a:lnTo>
                  <a:lnTo>
                    <a:pt x="5953251" y="795147"/>
                  </a:lnTo>
                  <a:lnTo>
                    <a:pt x="5917438" y="742696"/>
                  </a:lnTo>
                  <a:lnTo>
                    <a:pt x="5877687" y="691388"/>
                  </a:lnTo>
                  <a:lnTo>
                    <a:pt x="5833998" y="640841"/>
                  </a:lnTo>
                  <a:lnTo>
                    <a:pt x="5786755" y="591692"/>
                  </a:lnTo>
                  <a:lnTo>
                    <a:pt x="5736082" y="543687"/>
                  </a:lnTo>
                  <a:lnTo>
                    <a:pt x="5682107" y="497077"/>
                  </a:lnTo>
                  <a:lnTo>
                    <a:pt x="5624957" y="451738"/>
                  </a:lnTo>
                  <a:lnTo>
                    <a:pt x="5564886" y="408050"/>
                  </a:lnTo>
                  <a:lnTo>
                    <a:pt x="5501894" y="366013"/>
                  </a:lnTo>
                  <a:lnTo>
                    <a:pt x="5436362" y="325627"/>
                  </a:lnTo>
                  <a:lnTo>
                    <a:pt x="5368290" y="287147"/>
                  </a:lnTo>
                  <a:lnTo>
                    <a:pt x="5297932" y="250571"/>
                  </a:lnTo>
                  <a:lnTo>
                    <a:pt x="5225288" y="216026"/>
                  </a:lnTo>
                  <a:lnTo>
                    <a:pt x="5150866" y="183768"/>
                  </a:lnTo>
                  <a:lnTo>
                    <a:pt x="5074412" y="153542"/>
                  </a:lnTo>
                  <a:lnTo>
                    <a:pt x="4996434" y="125857"/>
                  </a:lnTo>
                  <a:lnTo>
                    <a:pt x="4916805" y="100584"/>
                  </a:lnTo>
                  <a:lnTo>
                    <a:pt x="4836033" y="77850"/>
                  </a:lnTo>
                  <a:lnTo>
                    <a:pt x="4753864" y="57785"/>
                  </a:lnTo>
                  <a:lnTo>
                    <a:pt x="4670933" y="40639"/>
                  </a:lnTo>
                  <a:lnTo>
                    <a:pt x="4586986" y="26288"/>
                  </a:lnTo>
                  <a:lnTo>
                    <a:pt x="4502404" y="14986"/>
                  </a:lnTo>
                  <a:lnTo>
                    <a:pt x="4417314" y="6730"/>
                  </a:lnTo>
                  <a:lnTo>
                    <a:pt x="4331843" y="1777"/>
                  </a:lnTo>
                  <a:lnTo>
                    <a:pt x="4247007" y="0"/>
                  </a:lnTo>
                  <a:close/>
                </a:path>
              </a:pathLst>
            </a:custGeom>
            <a:solidFill>
              <a:srgbClr val="F7954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g2af4ef74b56_0_101"/>
            <p:cNvSpPr/>
            <p:nvPr/>
          </p:nvSpPr>
          <p:spPr>
            <a:xfrm>
              <a:off x="661416" y="1711451"/>
              <a:ext cx="7322100" cy="3372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af4ef74b56_0_113"/>
          <p:cNvSpPr/>
          <p:nvPr/>
        </p:nvSpPr>
        <p:spPr>
          <a:xfrm>
            <a:off x="8673601" y="6701790"/>
            <a:ext cx="254634" cy="0"/>
          </a:xfrm>
          <a:custGeom>
            <a:rect b="b" l="l" r="r" t="t"/>
            <a:pathLst>
              <a:path extrusionOk="0" h="120000" w="254634">
                <a:moveTo>
                  <a:pt x="0" y="0"/>
                </a:moveTo>
                <a:lnTo>
                  <a:pt x="254507" y="0"/>
                </a:lnTo>
              </a:path>
            </a:pathLst>
          </a:custGeom>
          <a:noFill/>
          <a:ln cap="flat" cmpd="sng" w="1497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g2af4ef74b56_0_113"/>
          <p:cNvSpPr/>
          <p:nvPr/>
        </p:nvSpPr>
        <p:spPr>
          <a:xfrm>
            <a:off x="9034271" y="6356603"/>
            <a:ext cx="0" cy="360045"/>
          </a:xfrm>
          <a:custGeom>
            <a:rect b="b" l="l" r="r" t="t"/>
            <a:pathLst>
              <a:path extrusionOk="0" h="360045" w="120000">
                <a:moveTo>
                  <a:pt x="0" y="359616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g2af4ef74b56_0_113"/>
          <p:cNvSpPr/>
          <p:nvPr/>
        </p:nvSpPr>
        <p:spPr>
          <a:xfrm>
            <a:off x="8674607" y="6449567"/>
            <a:ext cx="360045" cy="266700"/>
          </a:xfrm>
          <a:custGeom>
            <a:rect b="b" l="l" r="r" t="t"/>
            <a:pathLst>
              <a:path extrusionOk="0" h="266700" w="360045">
                <a:moveTo>
                  <a:pt x="0" y="133349"/>
                </a:moveTo>
                <a:lnTo>
                  <a:pt x="6736" y="91202"/>
                </a:lnTo>
                <a:lnTo>
                  <a:pt x="25664" y="54601"/>
                </a:lnTo>
                <a:lnTo>
                  <a:pt x="54498" y="25728"/>
                </a:lnTo>
                <a:lnTo>
                  <a:pt x="91074" y="6797"/>
                </a:lnTo>
                <a:lnTo>
                  <a:pt x="133228" y="0"/>
                </a:lnTo>
                <a:lnTo>
                  <a:pt x="226435" y="0"/>
                </a:lnTo>
                <a:lnTo>
                  <a:pt x="268467" y="6797"/>
                </a:lnTo>
                <a:lnTo>
                  <a:pt x="305043" y="25728"/>
                </a:lnTo>
                <a:lnTo>
                  <a:pt x="333877" y="54601"/>
                </a:lnTo>
                <a:lnTo>
                  <a:pt x="352805" y="91202"/>
                </a:lnTo>
                <a:lnTo>
                  <a:pt x="359663" y="133349"/>
                </a:lnTo>
                <a:lnTo>
                  <a:pt x="352805" y="175498"/>
                </a:lnTo>
                <a:lnTo>
                  <a:pt x="333877" y="212097"/>
                </a:lnTo>
                <a:lnTo>
                  <a:pt x="305043" y="240970"/>
                </a:lnTo>
                <a:lnTo>
                  <a:pt x="268467" y="259901"/>
                </a:lnTo>
                <a:lnTo>
                  <a:pt x="226435" y="266699"/>
                </a:lnTo>
                <a:lnTo>
                  <a:pt x="133228" y="266699"/>
                </a:lnTo>
                <a:lnTo>
                  <a:pt x="91074" y="259901"/>
                </a:lnTo>
                <a:lnTo>
                  <a:pt x="54498" y="240970"/>
                </a:lnTo>
                <a:lnTo>
                  <a:pt x="25664" y="212097"/>
                </a:lnTo>
                <a:lnTo>
                  <a:pt x="6736" y="175498"/>
                </a:lnTo>
                <a:lnTo>
                  <a:pt x="0" y="133349"/>
                </a:lnTo>
                <a:close/>
              </a:path>
            </a:pathLst>
          </a:cu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2af4ef74b56_0_113"/>
          <p:cNvSpPr/>
          <p:nvPr/>
        </p:nvSpPr>
        <p:spPr>
          <a:xfrm>
            <a:off x="86746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2af4ef74b56_0_113"/>
          <p:cNvSpPr/>
          <p:nvPr/>
        </p:nvSpPr>
        <p:spPr>
          <a:xfrm>
            <a:off x="9034271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2af4ef74b56_0_113"/>
          <p:cNvSpPr/>
          <p:nvPr/>
        </p:nvSpPr>
        <p:spPr>
          <a:xfrm>
            <a:off x="102107" y="114300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g2af4ef74b56_0_113"/>
          <p:cNvSpPr/>
          <p:nvPr/>
        </p:nvSpPr>
        <p:spPr>
          <a:xfrm>
            <a:off x="102107" y="114300"/>
            <a:ext cx="0" cy="360045"/>
          </a:xfrm>
          <a:custGeom>
            <a:rect b="b" l="l" r="r" t="t"/>
            <a:pathLst>
              <a:path extrusionOk="0" h="360045" w="120000">
                <a:moveTo>
                  <a:pt x="0" y="0"/>
                </a:moveTo>
                <a:lnTo>
                  <a:pt x="0" y="359663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2af4ef74b56_0_113"/>
          <p:cNvSpPr/>
          <p:nvPr/>
        </p:nvSpPr>
        <p:spPr>
          <a:xfrm>
            <a:off x="102107" y="6716268"/>
            <a:ext cx="360045" cy="0"/>
          </a:xfrm>
          <a:custGeom>
            <a:rect b="b" l="l" r="r" t="t"/>
            <a:pathLst>
              <a:path extrusionOk="0" h="120000"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2af4ef74b56_0_113"/>
          <p:cNvSpPr/>
          <p:nvPr/>
        </p:nvSpPr>
        <p:spPr>
          <a:xfrm>
            <a:off x="102107" y="6356603"/>
            <a:ext cx="0" cy="360045"/>
          </a:xfrm>
          <a:custGeom>
            <a:rect b="b" l="l" r="r" t="t"/>
            <a:pathLst>
              <a:path extrusionOk="0" h="360045" w="120000">
                <a:moveTo>
                  <a:pt x="0" y="359616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AC0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2af4ef74b56_0_113"/>
          <p:cNvSpPr txBox="1"/>
          <p:nvPr>
            <p:ph type="title"/>
          </p:nvPr>
        </p:nvSpPr>
        <p:spPr>
          <a:xfrm>
            <a:off x="75692" y="59737"/>
            <a:ext cx="89925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9625">
            <a:spAutoFit/>
          </a:bodyPr>
          <a:lstStyle/>
          <a:p>
            <a:pPr indent="0" lvl="0" marL="9867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>
                <a:solidFill>
                  <a:schemeClr val="dk2"/>
                </a:solidFill>
                <a:latin typeface="Aharoni"/>
                <a:ea typeface="Aharoni"/>
                <a:cs typeface="Aharoni"/>
                <a:sym typeface="Aharoni"/>
              </a:rPr>
              <a:t>Problem Formulation (The Romania Example)</a:t>
            </a:r>
            <a:endParaRPr/>
          </a:p>
        </p:txBody>
      </p:sp>
      <p:sp>
        <p:nvSpPr>
          <p:cNvPr id="552" name="Google Shape;552;g2af4ef74b56_0_113"/>
          <p:cNvSpPr txBox="1"/>
          <p:nvPr/>
        </p:nvSpPr>
        <p:spPr>
          <a:xfrm>
            <a:off x="198120" y="832103"/>
            <a:ext cx="8639700" cy="50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838835" lvl="0" marL="1176655" marR="423799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State: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We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regard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space,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38455" marR="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State: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608455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0" lang="en-US" sz="1800" u="none" cap="none" strike="noStrike">
                <a:solidFill>
                  <a:srgbClr val="FF1A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(Arad)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8455" marR="0" rtl="0" algn="l">
              <a:lnSpc>
                <a:spcPct val="109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Successor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Function: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possible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actions,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give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x,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S(X)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569720" rtl="0" algn="ctr">
              <a:lnSpc>
                <a:spcPct val="108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returns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&lt;action,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successor&gt;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ordered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pairs.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795655" marR="0" rtl="0" algn="l">
              <a:lnSpc>
                <a:spcPct val="116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S(x)=</a:t>
            </a:r>
            <a:r>
              <a:rPr b="0" i="0" lang="en-US" sz="1800" u="none" cap="none" strike="noStrike">
                <a:solidFill>
                  <a:srgbClr val="FF1A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1800" u="none" cap="none" strike="noStrike">
                <a:solidFill>
                  <a:srgbClr val="FF1A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&lt;Go(Sibiu),</a:t>
            </a:r>
            <a:r>
              <a:rPr b="0" i="0" lang="en-US" sz="1800" u="none" cap="none" strike="noStrike">
                <a:solidFill>
                  <a:srgbClr val="FF1A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In(Sibiu)&gt;,</a:t>
            </a:r>
            <a:r>
              <a:rPr b="0" i="0" lang="en-US" sz="1800" u="none" cap="none" strike="noStrike">
                <a:solidFill>
                  <a:srgbClr val="FF1A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&lt;Go(Timisoara),</a:t>
            </a:r>
            <a:r>
              <a:rPr b="0" i="0" lang="en-US" sz="1800" u="none" cap="none" strike="noStrike">
                <a:solidFill>
                  <a:srgbClr val="FF1A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In(Timisoara)&gt;,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4559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&lt;Go(Zerind),In(Zerind)&gt;</a:t>
            </a:r>
            <a:r>
              <a:rPr b="0" i="0" lang="en-US" sz="1800" u="none" cap="none" strike="noStrike">
                <a:solidFill>
                  <a:srgbClr val="FF1A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7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8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determine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given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state.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74088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In(Sibiu)</a:t>
            </a:r>
            <a:r>
              <a:rPr b="0" i="0" lang="en-US" sz="1800" u="none" cap="none" strike="noStrike">
                <a:solidFill>
                  <a:srgbClr val="FF1A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FF1A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No.</a:t>
            </a:r>
            <a:r>
              <a:rPr b="0" i="0" lang="en-US" sz="1800" u="none" cap="none" strike="noStrike">
                <a:solidFill>
                  <a:srgbClr val="FF1A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In(Zerind)</a:t>
            </a:r>
            <a:r>
              <a:rPr b="0" i="0" lang="en-US" sz="1800" u="none" cap="none" strike="noStrike">
                <a:solidFill>
                  <a:srgbClr val="FF1A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FF1A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No.…. In(Bucharest)</a:t>
            </a:r>
            <a:r>
              <a:rPr b="0" i="0" lang="en-US" sz="1800" u="none" cap="none" strike="noStrike">
                <a:solidFill>
                  <a:srgbClr val="FF1A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0" i="0" lang="en-US" sz="1800" u="none" cap="none" strike="noStrike">
                <a:solidFill>
                  <a:srgbClr val="FF1AFF"/>
                </a:solidFill>
                <a:latin typeface="Arial"/>
                <a:ea typeface="Arial"/>
                <a:cs typeface="Arial"/>
                <a:sym typeface="Arial"/>
              </a:rPr>
              <a:t>Yes!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9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8455" marR="0" rtl="0" algn="l">
              <a:lnSpc>
                <a:spcPct val="1197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Cost: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assigns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numeric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each</a:t>
            </a:r>
            <a:r>
              <a:rPr b="0" i="0" lang="en-US" sz="20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path.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138555" marR="0" rtl="0" algn="l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Clr>
                <a:srgbClr val="00008F"/>
              </a:buClr>
              <a:buSzPts val="1600"/>
              <a:buFont typeface="Arial"/>
              <a:buChar char="–"/>
            </a:pP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e.g.,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distances,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executed,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etc.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1138555" marR="0" rtl="0" algn="l">
              <a:lnSpc>
                <a:spcPct val="119625"/>
              </a:lnSpc>
              <a:spcBef>
                <a:spcPts val="0"/>
              </a:spcBef>
              <a:spcAft>
                <a:spcPts val="0"/>
              </a:spcAft>
              <a:buClr>
                <a:srgbClr val="00008F"/>
              </a:buClr>
              <a:buSzPts val="1600"/>
              <a:buFont typeface="Arial"/>
              <a:buChar char="–"/>
            </a:pPr>
            <a:r>
              <a:rPr b="0" i="1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c(x,a,y)</a:t>
            </a:r>
            <a:r>
              <a:rPr b="0" i="1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7F007F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r>
              <a:rPr b="0" i="0" lang="en-US" sz="1600" u="none" cap="none" strike="noStrike">
                <a:solidFill>
                  <a:srgbClr val="7F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7F007F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assumed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r>
              <a:rPr b="0" i="0" lang="en-US" sz="1600" u="none" cap="none" strike="noStrike">
                <a:solidFill>
                  <a:srgbClr val="0000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8F"/>
                </a:solidFill>
                <a:latin typeface="Arial"/>
                <a:ea typeface="Arial"/>
                <a:cs typeface="Arial"/>
                <a:sym typeface="Arial"/>
              </a:rPr>
              <a:t>≥ 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g2af4ef74b56_0_113"/>
          <p:cNvSpPr txBox="1"/>
          <p:nvPr/>
        </p:nvSpPr>
        <p:spPr>
          <a:xfrm>
            <a:off x="524355" y="6110846"/>
            <a:ext cx="834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leading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g2af4ef74b56_0_113"/>
          <p:cNvSpPr/>
          <p:nvPr/>
        </p:nvSpPr>
        <p:spPr>
          <a:xfrm>
            <a:off x="198120" y="832103"/>
            <a:ext cx="8639700" cy="524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2af4ef74b56_0_113"/>
          <p:cNvSpPr txBox="1"/>
          <p:nvPr/>
        </p:nvSpPr>
        <p:spPr>
          <a:xfrm>
            <a:off x="1608002" y="6445144"/>
            <a:ext cx="616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{Arad</a:t>
            </a:r>
            <a:r>
              <a:rPr b="1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none" cap="none" strike="noStrik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Sibiu</a:t>
            </a:r>
            <a:r>
              <a:rPr b="1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none" cap="none" strike="noStrik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1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Rimnicu</a:t>
            </a:r>
            <a:r>
              <a:rPr b="1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Vilcea</a:t>
            </a:r>
            <a:r>
              <a:rPr b="1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none" cap="none" strike="noStrik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1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Pitesti</a:t>
            </a:r>
            <a:r>
              <a:rPr b="1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none" cap="none" strike="noStrike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b="1" i="0" lang="en-US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Bucharest}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g2af4ef74b56_0_113"/>
          <p:cNvSpPr txBox="1"/>
          <p:nvPr/>
        </p:nvSpPr>
        <p:spPr>
          <a:xfrm>
            <a:off x="8782946" y="6473886"/>
            <a:ext cx="15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g329a232bb0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75" y="242050"/>
            <a:ext cx="8807450" cy="641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af4ef74b56_0_136"/>
          <p:cNvSpPr txBox="1"/>
          <p:nvPr>
            <p:ph type="title"/>
          </p:nvPr>
        </p:nvSpPr>
        <p:spPr>
          <a:xfrm>
            <a:off x="75692" y="59737"/>
            <a:ext cx="89925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2050">
            <a:spAutoFit/>
          </a:bodyPr>
          <a:lstStyle/>
          <a:p>
            <a:pPr indent="0" lvl="0" marL="43941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2"/>
                </a:solidFill>
              </a:rPr>
              <a:t>Problem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2"/>
                </a:solidFill>
              </a:rPr>
              <a:t>Formulation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2"/>
                </a:solidFill>
              </a:rPr>
              <a:t>(Real-life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chemeClr val="dk2"/>
                </a:solidFill>
              </a:rPr>
              <a:t>Applications)</a:t>
            </a:r>
            <a:endParaRPr/>
          </a:p>
        </p:txBody>
      </p:sp>
      <p:sp>
        <p:nvSpPr>
          <p:cNvPr id="567" name="Google Shape;567;g2af4ef74b56_0_136"/>
          <p:cNvSpPr txBox="1"/>
          <p:nvPr/>
        </p:nvSpPr>
        <p:spPr>
          <a:xfrm>
            <a:off x="894080" y="3818774"/>
            <a:ext cx="289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r>
              <a:rPr b="0" i="0" lang="en-US" sz="16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Finding</a:t>
            </a:r>
            <a:r>
              <a:rPr b="0" i="0" lang="en-US" sz="1600" u="none" cap="none" strike="noStrike">
                <a:solidFill>
                  <a:srgbClr val="0000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6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g2af4ef74b56_0_136"/>
          <p:cNvSpPr txBox="1"/>
          <p:nvPr/>
        </p:nvSpPr>
        <p:spPr>
          <a:xfrm>
            <a:off x="292707" y="4383292"/>
            <a:ext cx="45993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States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7F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Initial</a:t>
            </a:r>
            <a:r>
              <a:rPr b="0" i="0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7F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Successor</a:t>
            </a:r>
            <a:r>
              <a:rPr b="0" i="0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b="0" i="0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(operators)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>
                <a:srgbClr val="00007F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2af4ef74b56_0_136"/>
          <p:cNvSpPr txBox="1"/>
          <p:nvPr/>
        </p:nvSpPr>
        <p:spPr>
          <a:xfrm>
            <a:off x="8660901" y="6473823"/>
            <a:ext cx="34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12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2af4ef74b56_0_136"/>
          <p:cNvSpPr txBox="1"/>
          <p:nvPr/>
        </p:nvSpPr>
        <p:spPr>
          <a:xfrm>
            <a:off x="5079622" y="4383292"/>
            <a:ext cx="3954000" cy="2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7F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arrive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certain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Path</a:t>
            </a:r>
            <a:r>
              <a:rPr b="0" i="0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00007F"/>
              </a:buClr>
              <a:buSzPts val="2000"/>
              <a:buFont typeface="Arial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quite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55700" marR="5080" rtl="0" algn="l">
              <a:lnSpc>
                <a:spcPct val="102800"/>
              </a:lnSpc>
              <a:spcBef>
                <a:spcPts val="340"/>
              </a:spcBef>
              <a:spcAft>
                <a:spcPts val="0"/>
              </a:spcAft>
              <a:buClr>
                <a:srgbClr val="00007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money,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time,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travel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comfort,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scenery,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2af4ef74b56_0_136"/>
          <p:cNvSpPr txBox="1"/>
          <p:nvPr/>
        </p:nvSpPr>
        <p:spPr>
          <a:xfrm>
            <a:off x="1012479" y="1207753"/>
            <a:ext cx="157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Car Navigation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2" name="Google Shape;572;g2af4ef74b56_0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594601"/>
            <a:ext cx="2895600" cy="2128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g2af4ef74b56_0_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12" y="1477057"/>
            <a:ext cx="3010262" cy="2259703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g2af4ef74b56_0_136"/>
          <p:cNvSpPr txBox="1"/>
          <p:nvPr/>
        </p:nvSpPr>
        <p:spPr>
          <a:xfrm>
            <a:off x="5638800" y="3818774"/>
            <a:ext cx="1554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7F"/>
                </a:solidFill>
                <a:latin typeface="Arial"/>
                <a:ea typeface="Arial"/>
                <a:cs typeface="Arial"/>
                <a:sym typeface="Arial"/>
              </a:rPr>
              <a:t>Nearby Captain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af4ef74b56_1_32"/>
          <p:cNvSpPr txBox="1"/>
          <p:nvPr>
            <p:ph type="title"/>
          </p:nvPr>
        </p:nvSpPr>
        <p:spPr>
          <a:xfrm>
            <a:off x="179303" y="142795"/>
            <a:ext cx="6499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4285"/>
              <a:buFont typeface="Erica One"/>
              <a:buNone/>
            </a:pPr>
            <a:r>
              <a:rPr lang="en-US"/>
              <a:t>Vacuum World</a:t>
            </a:r>
            <a:endParaRPr/>
          </a:p>
        </p:txBody>
      </p:sp>
      <p:sp>
        <p:nvSpPr>
          <p:cNvPr id="580" name="Google Shape;580;g2af4ef74b56_1_32"/>
          <p:cNvSpPr txBox="1"/>
          <p:nvPr>
            <p:ph idx="1" type="body"/>
          </p:nvPr>
        </p:nvSpPr>
        <p:spPr>
          <a:xfrm>
            <a:off x="290025" y="654900"/>
            <a:ext cx="8484300" cy="5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88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0"/>
              <a:buNone/>
            </a:pPr>
            <a:r>
              <a:rPr lang="en-US" sz="2580"/>
              <a:t>Search Problem?</a:t>
            </a:r>
            <a:endParaRPr sz="2580"/>
          </a:p>
          <a:p>
            <a:pPr indent="-958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60"/>
              <a:buNone/>
            </a:pPr>
            <a:r>
              <a:rPr lang="en-US" sz="2580"/>
              <a:t>Actions: </a:t>
            </a:r>
            <a:r>
              <a:rPr i="1" lang="en-US" sz="2220">
                <a:solidFill>
                  <a:schemeClr val="dk1"/>
                </a:solidFill>
              </a:rPr>
              <a:t>Move left , right</a:t>
            </a:r>
            <a:endParaRPr i="1" sz="222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2220">
                <a:solidFill>
                  <a:schemeClr val="dk1"/>
                </a:solidFill>
              </a:rPr>
              <a:t>Suck dirt/ vacuum on</a:t>
            </a:r>
            <a:endParaRPr i="1" sz="222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i="1" lang="en-US" sz="2220">
                <a:solidFill>
                  <a:schemeClr val="dk1"/>
                </a:solidFill>
              </a:rPr>
              <a:t>Check dirt</a:t>
            </a:r>
            <a:endParaRPr i="1" sz="2220">
              <a:solidFill>
                <a:schemeClr val="dk1"/>
              </a:solidFill>
            </a:endParaRPr>
          </a:p>
          <a:p>
            <a:pPr indent="-958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60"/>
              <a:buNone/>
            </a:pPr>
            <a:r>
              <a:rPr lang="en-US" sz="2580"/>
              <a:t>Initial State : </a:t>
            </a:r>
            <a:r>
              <a:rPr i="1" lang="en-US" sz="2220">
                <a:solidFill>
                  <a:schemeClr val="dk1"/>
                </a:solidFill>
              </a:rPr>
              <a:t>Any of these state</a:t>
            </a:r>
            <a:endParaRPr i="1" sz="2220">
              <a:solidFill>
                <a:schemeClr val="dk1"/>
              </a:solidFill>
            </a:endParaRPr>
          </a:p>
          <a:p>
            <a:pPr indent="-958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60"/>
              <a:buNone/>
            </a:pPr>
            <a:r>
              <a:rPr lang="en-US" sz="2580"/>
              <a:t>Goal State:</a:t>
            </a:r>
            <a:r>
              <a:rPr i="1" lang="en-US" sz="2120">
                <a:solidFill>
                  <a:schemeClr val="dk1"/>
                </a:solidFill>
              </a:rPr>
              <a:t>Either state 7 or 8</a:t>
            </a:r>
            <a:endParaRPr i="1" sz="2120">
              <a:solidFill>
                <a:schemeClr val="dk1"/>
              </a:solidFill>
            </a:endParaRPr>
          </a:p>
          <a:p>
            <a:pPr indent="-958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60"/>
              <a:buNone/>
            </a:pPr>
            <a:r>
              <a:rPr i="1" lang="en-US" sz="2120">
                <a:solidFill>
                  <a:schemeClr val="dk1"/>
                </a:solidFill>
              </a:rPr>
              <a:t>                    Both squares are clean</a:t>
            </a:r>
            <a:endParaRPr i="1" sz="2120">
              <a:solidFill>
                <a:schemeClr val="dk1"/>
              </a:solidFill>
            </a:endParaRPr>
          </a:p>
          <a:p>
            <a:pPr indent="-9588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060"/>
              <a:buNone/>
            </a:pPr>
            <a:r>
              <a:rPr lang="en-US" sz="2580"/>
              <a:t>Result</a:t>
            </a:r>
            <a:endParaRPr sz="2580"/>
          </a:p>
          <a:p>
            <a:pPr indent="-1079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900"/>
              <a:buNone/>
            </a:pPr>
            <a:r>
              <a:rPr lang="en-US" sz="2020">
                <a:latin typeface="Arial"/>
                <a:ea typeface="Arial"/>
                <a:cs typeface="Arial"/>
                <a:sym typeface="Arial"/>
              </a:rPr>
              <a:t>Result(left, S) =  vacuum will move to left, or remain in left. {1, 3, 5, 7}</a:t>
            </a:r>
            <a:endParaRPr sz="2020">
              <a:latin typeface="Arial"/>
              <a:ea typeface="Arial"/>
              <a:cs typeface="Arial"/>
              <a:sym typeface="Arial"/>
            </a:endParaRPr>
          </a:p>
          <a:p>
            <a:pPr indent="-1079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900"/>
              <a:buNone/>
            </a:pPr>
            <a:r>
              <a:rPr lang="en-US" sz="2020">
                <a:latin typeface="Arial"/>
                <a:ea typeface="Arial"/>
                <a:cs typeface="Arial"/>
                <a:sym typeface="Arial"/>
              </a:rPr>
              <a:t>Result(Right, S) = vacuum will move to right or remain on the right square. {2, 4, 6, 8}</a:t>
            </a:r>
            <a:endParaRPr sz="2020">
              <a:latin typeface="Arial"/>
              <a:ea typeface="Arial"/>
              <a:cs typeface="Arial"/>
              <a:sym typeface="Arial"/>
            </a:endParaRPr>
          </a:p>
          <a:p>
            <a:pPr indent="-1079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900"/>
              <a:buNone/>
            </a:pPr>
            <a:r>
              <a:rPr lang="en-US" sz="2020">
                <a:latin typeface="Arial"/>
                <a:ea typeface="Arial"/>
                <a:cs typeface="Arial"/>
                <a:sym typeface="Arial"/>
              </a:rPr>
              <a:t>Result(Vacuum, S) = the square of the robot will be clean. </a:t>
            </a:r>
            <a:endParaRPr sz="202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acuum2-space" id="581" name="Google Shape;581;g2af4ef74b56_1_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7928" y="623707"/>
            <a:ext cx="3668148" cy="318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g329a232bb0c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75875" cy="65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g329a232bb0c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83074" cy="64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af4ef74b56_0_148"/>
          <p:cNvSpPr txBox="1"/>
          <p:nvPr>
            <p:ph type="title"/>
          </p:nvPr>
        </p:nvSpPr>
        <p:spPr>
          <a:xfrm>
            <a:off x="457200" y="457200"/>
            <a:ext cx="899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2"/>
                </a:solidFill>
              </a:rPr>
              <a:t>Examples:</a:t>
            </a:r>
            <a:endParaRPr/>
          </a:p>
        </p:txBody>
      </p:sp>
      <p:sp>
        <p:nvSpPr>
          <p:cNvPr id="597" name="Google Shape;597;g2af4ef74b56_0_148"/>
          <p:cNvSpPr txBox="1"/>
          <p:nvPr>
            <p:ph idx="1" type="body"/>
          </p:nvPr>
        </p:nvSpPr>
        <p:spPr>
          <a:xfrm>
            <a:off x="457200" y="1371600"/>
            <a:ext cx="72021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lang="en-US" sz="2800">
                <a:solidFill>
                  <a:schemeClr val="dk1"/>
                </a:solidFill>
              </a:rPr>
              <a:t>Military Operation Planning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lang="en-US" sz="2800">
                <a:solidFill>
                  <a:schemeClr val="dk1"/>
                </a:solidFill>
              </a:rPr>
              <a:t>Train Travel Planning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lang="en-US" sz="2800">
                <a:solidFill>
                  <a:schemeClr val="dk1"/>
                </a:solidFill>
              </a:rPr>
              <a:t>Airline Travel Planning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lang="en-US" sz="2800">
                <a:solidFill>
                  <a:schemeClr val="dk1"/>
                </a:solidFill>
              </a:rPr>
              <a:t>Routing in Computer Networks</a:t>
            </a:r>
            <a:endParaRPr/>
          </a:p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2af4ef74b56_1_2"/>
          <p:cNvSpPr txBox="1"/>
          <p:nvPr/>
        </p:nvSpPr>
        <p:spPr>
          <a:xfrm>
            <a:off x="489850" y="443600"/>
            <a:ext cx="8161500" cy="58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2"/>
                </a:solidFill>
              </a:rPr>
              <a:t>Searching for Solutions</a:t>
            </a:r>
            <a:endParaRPr b="1" sz="3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Traversal of the search space</a:t>
            </a:r>
            <a:endParaRPr b="1" sz="2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2100"/>
              <a:t>From the initial state to a goal state.</a:t>
            </a:r>
            <a:endParaRPr sz="21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2100"/>
              <a:t>Legal sequence of actions as defined by successor function.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General procedure</a:t>
            </a:r>
            <a:endParaRPr b="1" sz="2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Check for goal state</a:t>
            </a:r>
            <a:endParaRPr sz="2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Expand the current state</a:t>
            </a:r>
            <a:endParaRPr sz="2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Determine the set of reachable states</a:t>
            </a:r>
            <a:endParaRPr sz="2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Return “failure” if the set is empty</a:t>
            </a:r>
            <a:endParaRPr sz="2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Select one from the set of reachable states</a:t>
            </a:r>
            <a:endParaRPr sz="2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200"/>
              <a:t>Move to the selected state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A search tree is generated</a:t>
            </a:r>
            <a:endParaRPr b="1" sz="22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2200"/>
              <a:t>Nodes are added as more states are visited</a:t>
            </a:r>
            <a:endParaRPr sz="2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af4ef74b56_1_11"/>
          <p:cNvSpPr txBox="1"/>
          <p:nvPr/>
        </p:nvSpPr>
        <p:spPr>
          <a:xfrm>
            <a:off x="176400" y="430300"/>
            <a:ext cx="8791200" cy="6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2"/>
                </a:solidFill>
              </a:rPr>
              <a:t>Search Terminology</a:t>
            </a:r>
            <a:endParaRPr b="1" sz="3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/>
              <a:t>Search Tree</a:t>
            </a:r>
            <a:endParaRPr b="1" sz="26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/>
              <a:t>Generated as the search space is traversed</a:t>
            </a:r>
            <a:endParaRPr b="1"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search space itself is not necessarily a tree, frequently it is a graph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tree specifies possible paths through the search space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/>
              <a:t>Expansion of nodes</a:t>
            </a:r>
            <a:endParaRPr b="1"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 As states are explored, the corresponding nodes are expanded by applying the successor function </a:t>
            </a:r>
            <a:r>
              <a:rPr lang="en-US" sz="2100"/>
              <a:t>this generates a new set of (child) nodes.</a:t>
            </a:r>
            <a:endParaRPr sz="2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The fringe (frontier/queue) is the set of nodes not yet visited newly generated nodes are added to the fringe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/>
              <a:t>Search strategy</a:t>
            </a:r>
            <a:endParaRPr b="1" sz="2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Determines the selection of the next node to be expanded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Can be achieved by ordering the nodes in the fringe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e.g. queue (FIFO), stack (LIFO), “best” node w.r.t. some measure (cost)</a:t>
            </a:r>
            <a:endParaRPr sz="2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g2af4ef74b56_1_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313" y="76200"/>
            <a:ext cx="8661380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g2af4ef74b56_1_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476" y="127963"/>
            <a:ext cx="8850525" cy="660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7C1B9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2020-01-24T10:39:57Z</dcterms:created>
  <dc:creator>Online2PDF.com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2020-01-24T00:00:00Z</vt:filetime>
  </property>
  <property fmtid="{D5CDD505-2E9C-101B-9397-08002B2CF9AE}" pid="3" name="LastSaved">
    <vt:filetime>2020-01-24T00:00:00Z</vt:filetime>
  </property>
</Properties>
</file>