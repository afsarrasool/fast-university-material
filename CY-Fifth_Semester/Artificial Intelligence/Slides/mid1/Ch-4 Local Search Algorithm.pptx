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embeddedFontLst>
    <p:embeddedFont>
      <p:font typeface="Tahoma"/>
      <p:regular r:id="rId51"/>
      <p:bold r:id="rId52"/>
    </p:embeddedFont>
    <p:embeddedFont>
      <p:font typeface="Arial Black"/>
      <p:regular r:id="rId53"/>
    </p:embeddedFont>
    <p:embeddedFont>
      <p:font typeface="Merriweather"/>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ieOCVDGOkewRJxQjaOo9VEs875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Tahoma-regular.fntdata"/><Relationship Id="rId50" Type="http://schemas.openxmlformats.org/officeDocument/2006/relationships/slide" Target="slides/slide46.xml"/><Relationship Id="rId53" Type="http://schemas.openxmlformats.org/officeDocument/2006/relationships/font" Target="fonts/ArialBlack-regular.fntdata"/><Relationship Id="rId52" Type="http://schemas.openxmlformats.org/officeDocument/2006/relationships/font" Target="fonts/Tahoma-bold.fntdata"/><Relationship Id="rId11" Type="http://schemas.openxmlformats.org/officeDocument/2006/relationships/slide" Target="slides/slide7.xml"/><Relationship Id="rId55" Type="http://schemas.openxmlformats.org/officeDocument/2006/relationships/font" Target="fonts/Merriweather-bold.fntdata"/><Relationship Id="rId10" Type="http://schemas.openxmlformats.org/officeDocument/2006/relationships/slide" Target="slides/slide6.xml"/><Relationship Id="rId54" Type="http://schemas.openxmlformats.org/officeDocument/2006/relationships/font" Target="fonts/Merriweather-regular.fntdata"/><Relationship Id="rId13" Type="http://schemas.openxmlformats.org/officeDocument/2006/relationships/slide" Target="slides/slide9.xml"/><Relationship Id="rId57" Type="http://schemas.openxmlformats.org/officeDocument/2006/relationships/font" Target="fonts/Merriweather-boldItalic.fntdata"/><Relationship Id="rId12" Type="http://schemas.openxmlformats.org/officeDocument/2006/relationships/slide" Target="slides/slide8.xml"/><Relationship Id="rId56" Type="http://schemas.openxmlformats.org/officeDocument/2006/relationships/font" Target="fonts/Merriweather-italic.fntdata"/><Relationship Id="rId15" Type="http://schemas.openxmlformats.org/officeDocument/2006/relationships/slide" Target="slides/slide11.xml"/><Relationship Id="rId14" Type="http://schemas.openxmlformats.org/officeDocument/2006/relationships/slide" Target="slides/slide10.xml"/><Relationship Id="rId58"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340b1a1f5b_0_21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g3340b1a1f5b_0_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340b1a1f5b_0_22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340b1a1f5b_0_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c73369c4b1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c73369c4b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c73369c4b1_0_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c73369c4b1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340b1a1f5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97" name="Google Shape;197;g3340b1a1f5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g3340b1a1f5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340b1a1f5b_0_2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g3340b1a1f5b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340b1a1f5b_0_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3340b1a1f5b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340b1a1f5b_0_3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g3340b1a1f5b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c73369c4b1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g3c73369c4b1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g3c73369c4b1_0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c73369c4b1_0_9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3c73369c4b1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c73369c4b1_0_9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c73369c4b1_0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c73369c4b1_0_10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3c73369c4b1_0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c73369c4b1_0_11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3c73369c4b1_0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c73369c4b1_0_116:notes"/>
          <p:cNvSpPr txBox="1"/>
          <p:nvPr>
            <p:ph idx="12" type="sldNum"/>
          </p:nvPr>
        </p:nvSpPr>
        <p:spPr>
          <a:xfrm>
            <a:off x="3884613" y="8685213"/>
            <a:ext cx="2971800" cy="457200"/>
          </a:xfrm>
          <a:prstGeom prst="rect">
            <a:avLst/>
          </a:prstGeom>
          <a:noFill/>
          <a:ln>
            <a:noFill/>
          </a:ln>
        </p:spPr>
        <p:txBody>
          <a:bodyPr anchorCtr="0" anchor="b" bIns="43225" lIns="86475" spcFirstLastPara="1" rIns="86475" wrap="square" tIns="43225">
            <a:noAutofit/>
          </a:bodyPr>
          <a:lstStyle/>
          <a:p>
            <a:pPr indent="0" lvl="0" marL="0" marR="0" rtl="0" algn="r">
              <a:spcBef>
                <a:spcPts val="0"/>
              </a:spcBef>
              <a:spcAft>
                <a:spcPts val="0"/>
              </a:spcAft>
              <a:buNone/>
            </a:pPr>
            <a:fld id="{00000000-1234-1234-1234-123412341234}" type="slidenum">
              <a:rPr lang="en-US" sz="2400">
                <a:solidFill>
                  <a:schemeClr val="dk1"/>
                </a:solidFill>
                <a:latin typeface="Arial"/>
                <a:ea typeface="Arial"/>
                <a:cs typeface="Arial"/>
                <a:sym typeface="Arial"/>
              </a:rPr>
              <a:t>‹#›</a:t>
            </a:fld>
            <a:endParaRPr sz="2400">
              <a:solidFill>
                <a:schemeClr val="dk1"/>
              </a:solidFill>
              <a:latin typeface="Arial"/>
              <a:ea typeface="Arial"/>
              <a:cs typeface="Arial"/>
              <a:sym typeface="Arial"/>
            </a:endParaRPr>
          </a:p>
        </p:txBody>
      </p:sp>
      <p:sp>
        <p:nvSpPr>
          <p:cNvPr id="310" name="Google Shape;310;g3c73369c4b1_0_116:notes"/>
          <p:cNvSpPr/>
          <p:nvPr>
            <p:ph idx="2" type="sldImg"/>
          </p:nvPr>
        </p:nvSpPr>
        <p:spPr>
          <a:xfrm>
            <a:off x="393700" y="692150"/>
            <a:ext cx="60705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g3c73369c4b1_0_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c73369c4b1_0_20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g3c73369c4b1_0_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c73369c4b1_0_21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g3c73369c4b1_0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c73369c4b1_0_22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g3c73369c4b1_0_2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c73369c4b1_0_23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3c73369c4b1_0_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c73369c4b1_0_23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g3c73369c4b1_0_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c73369c4b1_0_24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g3c73369c4b1_0_2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 name="Shape 17"/>
        <p:cNvGrpSpPr/>
        <p:nvPr/>
      </p:nvGrpSpPr>
      <p:grpSpPr>
        <a:xfrm>
          <a:off x="0" y="0"/>
          <a:ext cx="0" cy="0"/>
          <a:chOff x="0" y="0"/>
          <a:chExt cx="0" cy="0"/>
        </a:xfrm>
      </p:grpSpPr>
      <p:sp>
        <p:nvSpPr>
          <p:cNvPr id="18" name="Google Shape;18;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 name="Shape 22"/>
        <p:cNvGrpSpPr/>
        <p:nvPr/>
      </p:nvGrpSpPr>
      <p:grpSpPr>
        <a:xfrm>
          <a:off x="0" y="0"/>
          <a:ext cx="0" cy="0"/>
          <a:chOff x="0" y="0"/>
          <a:chExt cx="0" cy="0"/>
        </a:xfrm>
      </p:grpSpPr>
      <p:sp>
        <p:nvSpPr>
          <p:cNvPr id="23" name="Google Shape;23;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 name="Shape 26"/>
        <p:cNvGrpSpPr/>
        <p:nvPr/>
      </p:nvGrpSpPr>
      <p:grpSpPr>
        <a:xfrm>
          <a:off x="0" y="0"/>
          <a:ext cx="0" cy="0"/>
          <a:chOff x="0" y="0"/>
          <a:chExt cx="0" cy="0"/>
        </a:xfrm>
      </p:grpSpPr>
      <p:sp>
        <p:nvSpPr>
          <p:cNvPr id="27" name="Google Shape;27;p4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4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4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4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4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4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4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4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5"/>
          <p:cNvSpPr/>
          <p:nvPr>
            <p:ph idx="2" type="pic"/>
          </p:nvPr>
        </p:nvSpPr>
        <p:spPr>
          <a:xfrm>
            <a:off x="5183188" y="987425"/>
            <a:ext cx="6172200" cy="4873625"/>
          </a:xfrm>
          <a:prstGeom prst="rect">
            <a:avLst/>
          </a:prstGeom>
          <a:noFill/>
          <a:ln>
            <a:noFill/>
          </a:ln>
        </p:spPr>
      </p:sp>
      <p:sp>
        <p:nvSpPr>
          <p:cNvPr id="64" name="Google Shape;64;p4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Picture With Caption">
  <p:cSld name="Big Picture With Caption">
    <p:spTree>
      <p:nvGrpSpPr>
        <p:cNvPr id="80" name="Shape 80"/>
        <p:cNvGrpSpPr/>
        <p:nvPr/>
      </p:nvGrpSpPr>
      <p:grpSpPr>
        <a:xfrm>
          <a:off x="0" y="0"/>
          <a:ext cx="0" cy="0"/>
          <a:chOff x="0" y="0"/>
          <a:chExt cx="0" cy="0"/>
        </a:xfrm>
      </p:grpSpPr>
      <p:sp>
        <p:nvSpPr>
          <p:cNvPr id="81" name="Google Shape;81;g3340b1a1f5b_0_389"/>
          <p:cNvSpPr/>
          <p:nvPr>
            <p:ph idx="2" type="pic"/>
          </p:nvPr>
        </p:nvSpPr>
        <p:spPr>
          <a:xfrm>
            <a:off x="176213" y="258763"/>
            <a:ext cx="11852400" cy="5985000"/>
          </a:xfrm>
          <a:prstGeom prst="rect">
            <a:avLst/>
          </a:prstGeom>
          <a:noFill/>
          <a:ln>
            <a:noFill/>
          </a:ln>
        </p:spPr>
      </p:sp>
      <p:sp>
        <p:nvSpPr>
          <p:cNvPr id="82" name="Google Shape;82;g3340b1a1f5b_0_389"/>
          <p:cNvSpPr txBox="1"/>
          <p:nvPr>
            <p:ph idx="1" type="body"/>
          </p:nvPr>
        </p:nvSpPr>
        <p:spPr>
          <a:xfrm>
            <a:off x="0" y="6243782"/>
            <a:ext cx="12192000" cy="535800"/>
          </a:xfrm>
          <a:prstGeom prst="rect">
            <a:avLst/>
          </a:prstGeom>
          <a:noFill/>
          <a:ln>
            <a:noFill/>
          </a:ln>
        </p:spPr>
        <p:txBody>
          <a:bodyPr anchorCtr="0" anchor="t" bIns="45700" lIns="91425" spcFirstLastPara="1" rIns="91425" wrap="square" tIns="45700">
            <a:noAutofit/>
          </a:bodyPr>
          <a:lstStyle>
            <a:lvl1pPr indent="-228600" lvl="0" marL="457200" algn="ctr">
              <a:lnSpc>
                <a:spcPct val="110000"/>
              </a:lnSpc>
              <a:spcBef>
                <a:spcPts val="1000"/>
              </a:spcBef>
              <a:spcAft>
                <a:spcPts val="0"/>
              </a:spcAft>
              <a:buClr>
                <a:srgbClr val="000000"/>
              </a:buClr>
              <a:buSzPts val="3600"/>
              <a:buNone/>
              <a:defRPr sz="3600"/>
            </a:lvl1pPr>
            <a:lvl2pPr indent="-228600" lvl="1" marL="914400" algn="l">
              <a:lnSpc>
                <a:spcPct val="110000"/>
              </a:lnSpc>
              <a:spcBef>
                <a:spcPts val="500"/>
              </a:spcBef>
              <a:spcAft>
                <a:spcPts val="0"/>
              </a:spcAft>
              <a:buClr>
                <a:srgbClr val="000000"/>
              </a:buClr>
              <a:buSzPts val="4000"/>
              <a:buNone/>
              <a:defRPr/>
            </a:lvl2pPr>
            <a:lvl3pPr indent="-228600" lvl="2" marL="1371600" algn="l">
              <a:lnSpc>
                <a:spcPct val="110000"/>
              </a:lnSpc>
              <a:spcBef>
                <a:spcPts val="500"/>
              </a:spcBef>
              <a:spcAft>
                <a:spcPts val="0"/>
              </a:spcAft>
              <a:buClr>
                <a:srgbClr val="000000"/>
              </a:buClr>
              <a:buSzPts val="3600"/>
              <a:buNone/>
              <a:defRPr/>
            </a:lvl3pPr>
            <a:lvl4pPr indent="-228600" lvl="3" marL="1828800" algn="l">
              <a:lnSpc>
                <a:spcPct val="110000"/>
              </a:lnSpc>
              <a:spcBef>
                <a:spcPts val="500"/>
              </a:spcBef>
              <a:spcAft>
                <a:spcPts val="0"/>
              </a:spcAft>
              <a:buClr>
                <a:srgbClr val="000000"/>
              </a:buClr>
              <a:buSzPts val="3200"/>
              <a:buNone/>
              <a:defRPr/>
            </a:lvl4pPr>
            <a:lvl5pPr indent="-228600" lvl="4" marL="2286000" algn="l">
              <a:lnSpc>
                <a:spcPct val="110000"/>
              </a:lnSpc>
              <a:spcBef>
                <a:spcPts val="500"/>
              </a:spcBef>
              <a:spcAft>
                <a:spcPts val="0"/>
              </a:spcAft>
              <a:buClr>
                <a:srgbClr val="000000"/>
              </a:buClr>
              <a:buSzPts val="3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1.jp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0.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descr="A circuit board&#10;&#10;Description automatically generated" id="87" name="Google Shape;87;p1"/>
          <p:cNvPicPr preferRelativeResize="0"/>
          <p:nvPr/>
        </p:nvPicPr>
        <p:blipFill rotWithShape="1">
          <a:blip r:embed="rId3">
            <a:alphaModFix/>
          </a:blip>
          <a:srcRect b="0" l="0" r="0" t="0"/>
          <a:stretch/>
        </p:blipFill>
        <p:spPr>
          <a:xfrm>
            <a:off x="0" y="12032"/>
            <a:ext cx="12192000" cy="2578768"/>
          </a:xfrm>
          <a:prstGeom prst="rect">
            <a:avLst/>
          </a:prstGeom>
          <a:noFill/>
          <a:ln>
            <a:noFill/>
          </a:ln>
        </p:spPr>
      </p:pic>
      <p:sp>
        <p:nvSpPr>
          <p:cNvPr id="88" name="Google Shape;88;p1"/>
          <p:cNvSpPr txBox="1"/>
          <p:nvPr>
            <p:ph type="title"/>
          </p:nvPr>
        </p:nvSpPr>
        <p:spPr>
          <a:xfrm>
            <a:off x="1557867" y="2837181"/>
            <a:ext cx="7967100" cy="697800"/>
          </a:xfrm>
          <a:prstGeom prst="rect">
            <a:avLst/>
          </a:prstGeom>
          <a:noFill/>
          <a:ln>
            <a:noFill/>
          </a:ln>
        </p:spPr>
        <p:txBody>
          <a:bodyPr anchorCtr="0" anchor="ctr" bIns="0" lIns="0" spcFirstLastPara="1" rIns="0" wrap="square" tIns="81275">
            <a:spAutoFit/>
          </a:bodyPr>
          <a:lstStyle/>
          <a:p>
            <a:pPr indent="-1456055" lvl="0" marL="1468120" marR="5080" rtl="0" algn="ctr">
              <a:lnSpc>
                <a:spcPct val="108000"/>
              </a:lnSpc>
              <a:spcBef>
                <a:spcPts val="0"/>
              </a:spcBef>
              <a:spcAft>
                <a:spcPts val="0"/>
              </a:spcAft>
              <a:buClr>
                <a:srgbClr val="FFC000"/>
              </a:buClr>
              <a:buSzPts val="4000"/>
              <a:buFont typeface="Arial"/>
              <a:buNone/>
            </a:pPr>
            <a:r>
              <a:rPr b="1" lang="en-US" sz="4000">
                <a:solidFill>
                  <a:srgbClr val="FFC000"/>
                </a:solidFill>
                <a:latin typeface="Arial"/>
                <a:ea typeface="Arial"/>
                <a:cs typeface="Arial"/>
                <a:sym typeface="Arial"/>
              </a:rPr>
              <a:t>Artificial Intelligence  (CS-2002)</a:t>
            </a:r>
            <a:endParaRPr sz="4000">
              <a:solidFill>
                <a:srgbClr val="FFC000"/>
              </a:solidFill>
              <a:latin typeface="Arial"/>
              <a:ea typeface="Arial"/>
              <a:cs typeface="Arial"/>
              <a:sym typeface="Arial"/>
            </a:endParaRPr>
          </a:p>
        </p:txBody>
      </p:sp>
      <p:sp>
        <p:nvSpPr>
          <p:cNvPr id="89" name="Google Shape;89;p1"/>
          <p:cNvSpPr/>
          <p:nvPr/>
        </p:nvSpPr>
        <p:spPr>
          <a:xfrm>
            <a:off x="715752" y="4228575"/>
            <a:ext cx="10656000" cy="990000"/>
          </a:xfrm>
          <a:prstGeom prst="rect">
            <a:avLst/>
          </a:prstGeom>
          <a:noFill/>
          <a:ln>
            <a:noFill/>
          </a:ln>
        </p:spPr>
        <p:txBody>
          <a:bodyPr anchorCtr="0" anchor="t" bIns="45700" lIns="91425" spcFirstLastPara="1" rIns="91425" wrap="square" tIns="45700">
            <a:spAutoFit/>
          </a:bodyPr>
          <a:lstStyle/>
          <a:p>
            <a:pPr indent="1356360" lvl="0" marL="12700" marR="5080" rtl="0" algn="ctr">
              <a:lnSpc>
                <a:spcPct val="108124"/>
              </a:lnSpc>
              <a:spcBef>
                <a:spcPts val="0"/>
              </a:spcBef>
              <a:spcAft>
                <a:spcPts val="0"/>
              </a:spcAft>
              <a:buNone/>
            </a:pPr>
            <a:r>
              <a:rPr b="1" i="0" lang="en-US" sz="3200" u="none" cap="none" strike="noStrike">
                <a:solidFill>
                  <a:schemeClr val="dk1"/>
                </a:solidFill>
                <a:latin typeface="Arial Rounded"/>
                <a:ea typeface="Arial Rounded"/>
                <a:cs typeface="Arial Rounded"/>
                <a:sym typeface="Arial Rounded"/>
              </a:rPr>
              <a:t>Chapter 4: Local Search Algorithm and Optimization </a:t>
            </a:r>
            <a:endParaRPr b="1" i="0" sz="3200" u="none" cap="none" strike="noStrike">
              <a:solidFill>
                <a:schemeClr val="dk1"/>
              </a:solidFill>
              <a:latin typeface="Arial Rounded"/>
              <a:ea typeface="Arial Rounded"/>
              <a:cs typeface="Arial Rounded"/>
              <a:sym typeface="Arial Rounde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Calibri"/>
              <a:buNone/>
            </a:pPr>
            <a:r>
              <a:rPr b="1" lang="en-US">
                <a:solidFill>
                  <a:schemeClr val="dk2"/>
                </a:solidFill>
              </a:rPr>
              <a:t>Objectives of the Chapter</a:t>
            </a:r>
            <a:endParaRPr b="1">
              <a:solidFill>
                <a:schemeClr val="dk2"/>
              </a:solidFill>
            </a:endParaRPr>
          </a:p>
        </p:txBody>
      </p:sp>
      <p:sp>
        <p:nvSpPr>
          <p:cNvPr id="95" name="Google Shape;95;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Local Search: Hill Climbing </a:t>
            </a:r>
            <a:endParaRPr/>
          </a:p>
          <a:p>
            <a:pPr indent="0" lvl="0" marL="0" rtl="0" algn="l">
              <a:lnSpc>
                <a:spcPct val="90000"/>
              </a:lnSpc>
              <a:spcBef>
                <a:spcPts val="1000"/>
              </a:spcBef>
              <a:spcAft>
                <a:spcPts val="0"/>
              </a:spcAft>
              <a:buClr>
                <a:schemeClr val="dk1"/>
              </a:buClr>
              <a:buSzPts val="2800"/>
              <a:buNone/>
            </a:pPr>
            <a:r>
              <a:rPr lang="en-US"/>
              <a:t>• Escaping Local Maxima: Local Beam Search </a:t>
            </a:r>
            <a:endParaRPr/>
          </a:p>
          <a:p>
            <a:pPr indent="0" lvl="0" marL="0" rtl="0" algn="l">
              <a:lnSpc>
                <a:spcPct val="90000"/>
              </a:lnSpc>
              <a:spcBef>
                <a:spcPts val="1000"/>
              </a:spcBef>
              <a:spcAft>
                <a:spcPts val="0"/>
              </a:spcAft>
              <a:buClr>
                <a:schemeClr val="dk1"/>
              </a:buClr>
              <a:buSzPts val="2800"/>
              <a:buNone/>
            </a:pPr>
            <a:r>
              <a:rPr lang="en-US"/>
              <a:t>• Genetic Algorithm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Calibri"/>
              <a:buNone/>
            </a:pPr>
            <a:r>
              <a:rPr b="1" lang="en-US">
                <a:solidFill>
                  <a:schemeClr val="dk2"/>
                </a:solidFill>
              </a:rPr>
              <a:t>Local Search</a:t>
            </a:r>
            <a:endParaRPr/>
          </a:p>
        </p:txBody>
      </p:sp>
      <p:sp>
        <p:nvSpPr>
          <p:cNvPr id="101" name="Google Shape;101;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Use single current state and move to the neighboring state.</a:t>
            </a:r>
            <a:endParaRPr/>
          </a:p>
          <a:p>
            <a:pPr indent="-228600" lvl="0" marL="228600" rtl="0" algn="l">
              <a:lnSpc>
                <a:spcPct val="90000"/>
              </a:lnSpc>
              <a:spcBef>
                <a:spcPts val="1000"/>
              </a:spcBef>
              <a:spcAft>
                <a:spcPts val="0"/>
              </a:spcAft>
              <a:buClr>
                <a:schemeClr val="dk1"/>
              </a:buClr>
              <a:buSzPts val="2800"/>
              <a:buChar char="•"/>
            </a:pPr>
            <a:r>
              <a:rPr b="1" lang="en-US"/>
              <a:t>Idea: </a:t>
            </a:r>
            <a:r>
              <a:rPr lang="en-US"/>
              <a:t>Start with an initial guess at a solution and incrementally improve it until it is one.</a:t>
            </a:r>
            <a:endParaRPr/>
          </a:p>
          <a:p>
            <a:pPr indent="-50800" lvl="0" marL="228600" rtl="0" algn="l">
              <a:lnSpc>
                <a:spcPct val="90000"/>
              </a:lnSpc>
              <a:spcBef>
                <a:spcPts val="1000"/>
              </a:spcBef>
              <a:spcAft>
                <a:spcPts val="0"/>
              </a:spcAft>
              <a:buClr>
                <a:schemeClr val="dk1"/>
              </a:buClr>
              <a:buSzPts val="2800"/>
              <a:buNone/>
            </a:pPr>
            <a:r>
              <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340b1a1f5b_0_21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200"/>
              <a:buFont typeface="Erica One"/>
              <a:buNone/>
            </a:pPr>
            <a:r>
              <a:rPr b="1" lang="en-US">
                <a:solidFill>
                  <a:schemeClr val="dk2"/>
                </a:solidFill>
              </a:rPr>
              <a:t>Local Search</a:t>
            </a:r>
            <a:endParaRPr b="1">
              <a:solidFill>
                <a:schemeClr val="dk2"/>
              </a:solidFill>
            </a:endParaRPr>
          </a:p>
        </p:txBody>
      </p:sp>
      <p:sp>
        <p:nvSpPr>
          <p:cNvPr id="107" name="Google Shape;107;g3340b1a1f5b_0_21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79400" lvl="0" marL="228600" rtl="0" algn="l">
              <a:lnSpc>
                <a:spcPct val="110000"/>
              </a:lnSpc>
              <a:spcBef>
                <a:spcPts val="0"/>
              </a:spcBef>
              <a:spcAft>
                <a:spcPts val="0"/>
              </a:spcAft>
              <a:buClr>
                <a:srgbClr val="000000"/>
              </a:buClr>
              <a:buSzPts val="4400"/>
              <a:buChar char="•"/>
            </a:pPr>
            <a:r>
              <a:rPr lang="en-US"/>
              <a:t>Local search algorithms operate using a single current node rather than multiple paths </a:t>
            </a:r>
            <a:endParaRPr/>
          </a:p>
          <a:p>
            <a:pPr indent="0" lvl="0" marL="228600" rtl="0" algn="l">
              <a:lnSpc>
                <a:spcPct val="110000"/>
              </a:lnSpc>
              <a:spcBef>
                <a:spcPts val="1000"/>
              </a:spcBef>
              <a:spcAft>
                <a:spcPts val="0"/>
              </a:spcAft>
              <a:buClr>
                <a:srgbClr val="000000"/>
              </a:buClr>
              <a:buSzPts val="4400"/>
              <a:buNone/>
            </a:pPr>
            <a:r>
              <a:t/>
            </a:r>
            <a:endParaRPr/>
          </a:p>
          <a:p>
            <a:pPr indent="-279400" lvl="0" marL="228600" rtl="0" algn="l">
              <a:lnSpc>
                <a:spcPct val="110000"/>
              </a:lnSpc>
              <a:spcBef>
                <a:spcPts val="1000"/>
              </a:spcBef>
              <a:spcAft>
                <a:spcPts val="0"/>
              </a:spcAft>
              <a:buClr>
                <a:srgbClr val="000000"/>
              </a:buClr>
              <a:buSzPts val="4400"/>
              <a:buChar char="•"/>
            </a:pPr>
            <a:r>
              <a:rPr lang="en-US"/>
              <a:t>Move only to neighbors of that node. </a:t>
            </a:r>
            <a:endParaRPr/>
          </a:p>
          <a:p>
            <a:pPr indent="0" lvl="0" marL="228600" rtl="0" algn="l">
              <a:lnSpc>
                <a:spcPct val="110000"/>
              </a:lnSpc>
              <a:spcBef>
                <a:spcPts val="1000"/>
              </a:spcBef>
              <a:spcAft>
                <a:spcPts val="0"/>
              </a:spcAft>
              <a:buClr>
                <a:srgbClr val="000000"/>
              </a:buClr>
              <a:buSzPts val="4400"/>
              <a:buNone/>
            </a:pPr>
            <a:r>
              <a:t/>
            </a:r>
            <a:endParaRPr/>
          </a:p>
          <a:p>
            <a:pPr indent="-279400" lvl="0" marL="228600" rtl="0" algn="l">
              <a:lnSpc>
                <a:spcPct val="110000"/>
              </a:lnSpc>
              <a:spcBef>
                <a:spcPts val="1000"/>
              </a:spcBef>
              <a:spcAft>
                <a:spcPts val="0"/>
              </a:spcAft>
              <a:buClr>
                <a:srgbClr val="000000"/>
              </a:buClr>
              <a:buSzPts val="4400"/>
              <a:buChar char="•"/>
            </a:pPr>
            <a:r>
              <a:rPr lang="en-US"/>
              <a:t>The paths followed by the search are not retained.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340b1a1f5b_0_22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200"/>
              <a:buFont typeface="Erica One"/>
              <a:buNone/>
            </a:pPr>
            <a:r>
              <a:rPr b="1" lang="en-US">
                <a:solidFill>
                  <a:schemeClr val="dk2"/>
                </a:solidFill>
              </a:rPr>
              <a:t>Local Search Advantages</a:t>
            </a:r>
            <a:endParaRPr b="1">
              <a:solidFill>
                <a:schemeClr val="dk2"/>
              </a:solidFill>
            </a:endParaRPr>
          </a:p>
        </p:txBody>
      </p:sp>
      <p:sp>
        <p:nvSpPr>
          <p:cNvPr id="113" name="Google Shape;113;g3340b1a1f5b_0_22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79400" lvl="0" marL="228600" rtl="0" algn="l">
              <a:lnSpc>
                <a:spcPct val="110000"/>
              </a:lnSpc>
              <a:spcBef>
                <a:spcPts val="0"/>
              </a:spcBef>
              <a:spcAft>
                <a:spcPts val="0"/>
              </a:spcAft>
              <a:buClr>
                <a:srgbClr val="000000"/>
              </a:buClr>
              <a:buSzPts val="4400"/>
              <a:buChar char="•"/>
            </a:pPr>
            <a:r>
              <a:rPr lang="en-US"/>
              <a:t>they use very little memory—	usually a constant amount; </a:t>
            </a:r>
            <a:endParaRPr/>
          </a:p>
          <a:p>
            <a:pPr indent="0" lvl="0" marL="228600" rtl="0" algn="l">
              <a:lnSpc>
                <a:spcPct val="110000"/>
              </a:lnSpc>
              <a:spcBef>
                <a:spcPts val="1000"/>
              </a:spcBef>
              <a:spcAft>
                <a:spcPts val="0"/>
              </a:spcAft>
              <a:buClr>
                <a:srgbClr val="000000"/>
              </a:buClr>
              <a:buSzPts val="4400"/>
              <a:buNone/>
            </a:pPr>
            <a:r>
              <a:t/>
            </a:r>
            <a:endParaRPr/>
          </a:p>
          <a:p>
            <a:pPr indent="-279400" lvl="0" marL="228600" rtl="0" algn="l">
              <a:lnSpc>
                <a:spcPct val="110000"/>
              </a:lnSpc>
              <a:spcBef>
                <a:spcPts val="1000"/>
              </a:spcBef>
              <a:spcAft>
                <a:spcPts val="0"/>
              </a:spcAft>
              <a:buClr>
                <a:srgbClr val="000000"/>
              </a:buClr>
              <a:buSzPts val="4400"/>
              <a:buChar char="•"/>
            </a:pPr>
            <a:r>
              <a:rPr lang="en-US"/>
              <a:t>they can often find reasonable solutions in large or infinite (continuous) state spaces for which systematic algorithms are unsuitable.</a:t>
            </a:r>
            <a:endParaRPr/>
          </a:p>
          <a:p>
            <a:pPr indent="0" lvl="0" marL="228600" rtl="0" algn="l">
              <a:lnSpc>
                <a:spcPct val="110000"/>
              </a:lnSpc>
              <a:spcBef>
                <a:spcPts val="1000"/>
              </a:spcBef>
              <a:spcAft>
                <a:spcPts val="0"/>
              </a:spcAft>
              <a:buClr>
                <a:srgbClr val="000000"/>
              </a:buClr>
              <a:buSzPts val="44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rPr>
              <a:t>Hill Climbing Algorithm</a:t>
            </a:r>
            <a:br>
              <a:rPr b="1" lang="en-US">
                <a:solidFill>
                  <a:srgbClr val="0070C0"/>
                </a:solidFill>
              </a:rPr>
            </a:br>
            <a:r>
              <a:rPr lang="en-US" sz="3200"/>
              <a:t>(Local Search, Greedy Approach, No backtrack)</a:t>
            </a:r>
            <a:endParaRPr/>
          </a:p>
        </p:txBody>
      </p:sp>
      <p:sp>
        <p:nvSpPr>
          <p:cNvPr id="119" name="Google Shape;119;p4"/>
          <p:cNvSpPr txBox="1"/>
          <p:nvPr>
            <p:ph idx="1" type="body"/>
          </p:nvPr>
        </p:nvSpPr>
        <p:spPr>
          <a:xfrm>
            <a:off x="838200" y="1825625"/>
            <a:ext cx="110409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this algorithm, we don't need to maintain and handle the search tree or graph as it only keeps a single current state</a:t>
            </a:r>
            <a:endParaRPr/>
          </a:p>
          <a:p>
            <a:pPr indent="-228600" lvl="0" marL="228600" rtl="0" algn="l">
              <a:lnSpc>
                <a:spcPct val="90000"/>
              </a:lnSpc>
              <a:spcBef>
                <a:spcPts val="1000"/>
              </a:spcBef>
              <a:spcAft>
                <a:spcPts val="0"/>
              </a:spcAft>
              <a:buClr>
                <a:schemeClr val="dk1"/>
              </a:buClr>
              <a:buSzPts val="2800"/>
              <a:buChar char="•"/>
            </a:pPr>
            <a:r>
              <a:rPr lang="en-US"/>
              <a:t>Hill climbing algorithm continuously moves in the direction of increasing elevation/value to find the peak or best solution to the problem.</a:t>
            </a:r>
            <a:endParaRPr/>
          </a:p>
          <a:p>
            <a:pPr indent="-228600" lvl="0" marL="228600" rtl="0" algn="l">
              <a:lnSpc>
                <a:spcPct val="90000"/>
              </a:lnSpc>
              <a:spcBef>
                <a:spcPts val="1000"/>
              </a:spcBef>
              <a:spcAft>
                <a:spcPts val="0"/>
              </a:spcAft>
              <a:buClr>
                <a:schemeClr val="dk1"/>
              </a:buClr>
              <a:buSzPts val="2800"/>
              <a:buChar char="•"/>
            </a:pPr>
            <a:r>
              <a:rPr lang="en-US"/>
              <a:t>It terminates when it reaches a peak value where no neighbor has a higher value.</a:t>
            </a:r>
            <a:endParaRPr/>
          </a:p>
          <a:p>
            <a:pPr indent="-228600" lvl="0" marL="228600" rtl="0" algn="l">
              <a:lnSpc>
                <a:spcPct val="90000"/>
              </a:lnSpc>
              <a:spcBef>
                <a:spcPts val="1000"/>
              </a:spcBef>
              <a:spcAft>
                <a:spcPts val="0"/>
              </a:spcAft>
              <a:buClr>
                <a:schemeClr val="dk1"/>
              </a:buClr>
              <a:buSzPts val="2800"/>
              <a:buChar char="•"/>
            </a:pPr>
            <a:r>
              <a:rPr lang="en-US"/>
              <a:t>It is also called </a:t>
            </a:r>
            <a:r>
              <a:rPr b="1" lang="en-US">
                <a:solidFill>
                  <a:srgbClr val="0070C0"/>
                </a:solidFill>
              </a:rPr>
              <a:t>greedy local search </a:t>
            </a:r>
            <a:r>
              <a:rPr lang="en-US"/>
              <a:t>as it only looks to its good immediate neighbor state and not beyond that.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rPr>
              <a:t>Algorithm</a:t>
            </a:r>
            <a:endParaRPr/>
          </a:p>
        </p:txBody>
      </p:sp>
      <p:sp>
        <p:nvSpPr>
          <p:cNvPr id="125" name="Google Shape;125;p5"/>
          <p:cNvSpPr txBox="1"/>
          <p:nvPr>
            <p:ph idx="1" type="body"/>
          </p:nvPr>
        </p:nvSpPr>
        <p:spPr>
          <a:xfrm>
            <a:off x="838200" y="1489587"/>
            <a:ext cx="10515600" cy="4687376"/>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Step 1:</a:t>
            </a:r>
            <a:r>
              <a:rPr lang="en-US"/>
              <a:t> Evaluate the initial state, if it is goal state then return success and Stop.</a:t>
            </a:r>
            <a:endParaRPr/>
          </a:p>
          <a:p>
            <a:pPr indent="-228600" lvl="0" marL="228600" rtl="0" algn="l">
              <a:lnSpc>
                <a:spcPct val="90000"/>
              </a:lnSpc>
              <a:spcBef>
                <a:spcPts val="1000"/>
              </a:spcBef>
              <a:spcAft>
                <a:spcPts val="0"/>
              </a:spcAft>
              <a:buClr>
                <a:schemeClr val="dk1"/>
              </a:buClr>
              <a:buSzPts val="2800"/>
              <a:buChar char="•"/>
            </a:pPr>
            <a:r>
              <a:rPr b="1" lang="en-US"/>
              <a:t>Step 2:</a:t>
            </a:r>
            <a:r>
              <a:rPr lang="en-US"/>
              <a:t> Loop Until a solution is found or there is no new operator left to apply.</a:t>
            </a:r>
            <a:endParaRPr/>
          </a:p>
          <a:p>
            <a:pPr indent="-228600" lvl="0" marL="228600" rtl="0" algn="l">
              <a:lnSpc>
                <a:spcPct val="90000"/>
              </a:lnSpc>
              <a:spcBef>
                <a:spcPts val="1000"/>
              </a:spcBef>
              <a:spcAft>
                <a:spcPts val="0"/>
              </a:spcAft>
              <a:buClr>
                <a:schemeClr val="dk1"/>
              </a:buClr>
              <a:buSzPts val="2800"/>
              <a:buChar char="•"/>
            </a:pPr>
            <a:r>
              <a:rPr b="1" lang="en-US"/>
              <a:t>Step 3:</a:t>
            </a:r>
            <a:r>
              <a:rPr lang="en-US"/>
              <a:t> Select and apply an operator to the current state.</a:t>
            </a:r>
            <a:endParaRPr/>
          </a:p>
          <a:p>
            <a:pPr indent="-228600" lvl="0" marL="228600" rtl="0" algn="l">
              <a:lnSpc>
                <a:spcPct val="90000"/>
              </a:lnSpc>
              <a:spcBef>
                <a:spcPts val="1000"/>
              </a:spcBef>
              <a:spcAft>
                <a:spcPts val="0"/>
              </a:spcAft>
              <a:buClr>
                <a:schemeClr val="dk1"/>
              </a:buClr>
              <a:buSzPts val="2800"/>
              <a:buChar char="•"/>
            </a:pPr>
            <a:r>
              <a:rPr b="1" lang="en-US"/>
              <a:t>Step 4:</a:t>
            </a:r>
            <a:r>
              <a:rPr lang="en-US"/>
              <a:t> Check new state:</a:t>
            </a:r>
            <a:endParaRPr/>
          </a:p>
          <a:p>
            <a:pPr indent="-228600" lvl="1" marL="685800" rtl="0" algn="l">
              <a:lnSpc>
                <a:spcPct val="90000"/>
              </a:lnSpc>
              <a:spcBef>
                <a:spcPts val="500"/>
              </a:spcBef>
              <a:spcAft>
                <a:spcPts val="0"/>
              </a:spcAft>
              <a:buClr>
                <a:schemeClr val="dk1"/>
              </a:buClr>
              <a:buSzPts val="2400"/>
              <a:buChar char="•"/>
            </a:pPr>
            <a:r>
              <a:rPr lang="en-US"/>
              <a:t>If it is goal state, then return success and quit.</a:t>
            </a:r>
            <a:endParaRPr/>
          </a:p>
          <a:p>
            <a:pPr indent="-228600" lvl="1" marL="685800" rtl="0" algn="l">
              <a:lnSpc>
                <a:spcPct val="90000"/>
              </a:lnSpc>
              <a:spcBef>
                <a:spcPts val="500"/>
              </a:spcBef>
              <a:spcAft>
                <a:spcPts val="0"/>
              </a:spcAft>
              <a:buClr>
                <a:schemeClr val="dk1"/>
              </a:buClr>
              <a:buSzPts val="2400"/>
              <a:buChar char="•"/>
            </a:pPr>
            <a:r>
              <a:rPr lang="en-US"/>
              <a:t>Else if it is better than the current state then assign new state as a current state.</a:t>
            </a:r>
            <a:endParaRPr/>
          </a:p>
          <a:p>
            <a:pPr indent="-228600" lvl="1" marL="685800" rtl="0" algn="l">
              <a:lnSpc>
                <a:spcPct val="90000"/>
              </a:lnSpc>
              <a:spcBef>
                <a:spcPts val="500"/>
              </a:spcBef>
              <a:spcAft>
                <a:spcPts val="0"/>
              </a:spcAft>
              <a:buClr>
                <a:schemeClr val="dk1"/>
              </a:buClr>
              <a:buSzPts val="2400"/>
              <a:buChar char="•"/>
            </a:pPr>
            <a:r>
              <a:rPr lang="en-US"/>
              <a:t>Else if not better than the current state, then return to step2.</a:t>
            </a:r>
            <a:endParaRPr/>
          </a:p>
          <a:p>
            <a:pPr indent="-228600" lvl="0" marL="228600" rtl="0" algn="l">
              <a:lnSpc>
                <a:spcPct val="90000"/>
              </a:lnSpc>
              <a:spcBef>
                <a:spcPts val="1000"/>
              </a:spcBef>
              <a:spcAft>
                <a:spcPts val="0"/>
              </a:spcAft>
              <a:buClr>
                <a:schemeClr val="dk1"/>
              </a:buClr>
              <a:buSzPts val="2800"/>
              <a:buChar char="•"/>
            </a:pPr>
            <a:r>
              <a:rPr b="1" lang="en-US"/>
              <a:t>Step 5:</a:t>
            </a:r>
            <a:r>
              <a:rPr lang="en-US"/>
              <a:t> Exit.</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g3c73369c4b1_0_0"/>
          <p:cNvPicPr preferRelativeResize="0"/>
          <p:nvPr/>
        </p:nvPicPr>
        <p:blipFill rotWithShape="1">
          <a:blip r:embed="rId3">
            <a:alphaModFix/>
          </a:blip>
          <a:srcRect b="0" l="0" r="0" t="0"/>
          <a:stretch/>
        </p:blipFill>
        <p:spPr>
          <a:xfrm>
            <a:off x="3160875" y="0"/>
            <a:ext cx="7801927" cy="6799001"/>
          </a:xfrm>
          <a:prstGeom prst="rect">
            <a:avLst/>
          </a:prstGeom>
          <a:noFill/>
          <a:ln>
            <a:noFill/>
          </a:ln>
        </p:spPr>
      </p:pic>
      <p:sp>
        <p:nvSpPr>
          <p:cNvPr id="131" name="Google Shape;131;g3c73369c4b1_0_0"/>
          <p:cNvSpPr txBox="1"/>
          <p:nvPr/>
        </p:nvSpPr>
        <p:spPr>
          <a:xfrm>
            <a:off x="591074" y="609275"/>
            <a:ext cx="2241600" cy="693900"/>
          </a:xfrm>
          <a:prstGeom prst="rect">
            <a:avLst/>
          </a:prstGeom>
          <a:noFill/>
          <a:ln>
            <a:noFill/>
          </a:ln>
        </p:spPr>
        <p:txBody>
          <a:bodyPr anchorCtr="0" anchor="t" bIns="0" lIns="0" spcFirstLastPara="1" rIns="0" wrap="square" tIns="16500">
            <a:spAutoFit/>
          </a:bodyPr>
          <a:lstStyle/>
          <a:p>
            <a:pPr indent="0" lvl="0" marL="12700" marR="0" rtl="0" algn="l">
              <a:spcBef>
                <a:spcPts val="0"/>
              </a:spcBef>
              <a:spcAft>
                <a:spcPts val="0"/>
              </a:spcAft>
              <a:buNone/>
            </a:pPr>
            <a:r>
              <a:rPr lang="en-US" sz="4400">
                <a:solidFill>
                  <a:srgbClr val="006FC0"/>
                </a:solidFill>
                <a:latin typeface="Calibri"/>
                <a:ea typeface="Calibri"/>
                <a:cs typeface="Calibri"/>
                <a:sym typeface="Calibri"/>
              </a:rPr>
              <a:t>Example</a:t>
            </a:r>
            <a:endParaRPr sz="44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g3c73369c4b1_0_5"/>
          <p:cNvPicPr preferRelativeResize="0"/>
          <p:nvPr/>
        </p:nvPicPr>
        <p:blipFill rotWithShape="1">
          <a:blip r:embed="rId3">
            <a:alphaModFix/>
          </a:blip>
          <a:srcRect b="0" l="0" r="0" t="0"/>
          <a:stretch/>
        </p:blipFill>
        <p:spPr>
          <a:xfrm>
            <a:off x="1561428" y="0"/>
            <a:ext cx="9069144" cy="685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8"/>
          <p:cNvSpPr/>
          <p:nvPr>
            <p:ph type="title"/>
          </p:nvPr>
        </p:nvSpPr>
        <p:spPr>
          <a:xfrm>
            <a:off x="429768" y="411480"/>
            <a:ext cx="6702552" cy="1106424"/>
          </a:xfrm>
          <a:prstGeom prst="ellipse">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3600"/>
              <a:buFont typeface="Calibri"/>
              <a:buNone/>
            </a:pPr>
            <a:r>
              <a:rPr b="1" lang="en-US" sz="3600">
                <a:solidFill>
                  <a:srgbClr val="0070C0"/>
                </a:solidFill>
              </a:rPr>
              <a:t>Problems in Hill Climbing</a:t>
            </a:r>
            <a:endParaRPr/>
          </a:p>
        </p:txBody>
      </p:sp>
      <p:sp>
        <p:nvSpPr>
          <p:cNvPr id="143" name="Google Shape;143;p8"/>
          <p:cNvSpPr/>
          <p:nvPr/>
        </p:nvSpPr>
        <p:spPr>
          <a:xfrm>
            <a:off x="0" y="598458"/>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pic>
        <p:nvPicPr>
          <p:cNvPr descr="A picture containing object, ball, clock, player&#10;&#10;Description automatically generated" id="144" name="Google Shape;144;p8"/>
          <p:cNvPicPr preferRelativeResize="0"/>
          <p:nvPr/>
        </p:nvPicPr>
        <p:blipFill rotWithShape="1">
          <a:blip r:embed="rId3">
            <a:alphaModFix/>
          </a:blip>
          <a:srcRect b="0" l="0" r="0" t="0"/>
          <a:stretch/>
        </p:blipFill>
        <p:spPr>
          <a:xfrm>
            <a:off x="552735" y="1517901"/>
            <a:ext cx="6702552" cy="2664263"/>
          </a:xfrm>
          <a:prstGeom prst="rect">
            <a:avLst/>
          </a:prstGeom>
          <a:noFill/>
          <a:ln>
            <a:noFill/>
          </a:ln>
        </p:spPr>
      </p:pic>
      <p:sp>
        <p:nvSpPr>
          <p:cNvPr id="145" name="Google Shape;145;p8"/>
          <p:cNvSpPr txBox="1"/>
          <p:nvPr>
            <p:ph idx="1" type="body"/>
          </p:nvPr>
        </p:nvSpPr>
        <p:spPr>
          <a:xfrm>
            <a:off x="7132320" y="2020824"/>
            <a:ext cx="4261529" cy="3959352"/>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1. Local Maximum:</a:t>
            </a:r>
            <a:r>
              <a:rPr lang="en-US"/>
              <a:t> A local maximum is a peak state in the landscape which is better than each of its neighboring states, but there is another state also present which is higher than the local maximum.</a:t>
            </a:r>
            <a:endParaRPr/>
          </a:p>
        </p:txBody>
      </p:sp>
      <p:sp>
        <p:nvSpPr>
          <p:cNvPr id="146" name="Google Shape;146;p8"/>
          <p:cNvSpPr txBox="1"/>
          <p:nvPr/>
        </p:nvSpPr>
        <p:spPr>
          <a:xfrm>
            <a:off x="5200281" y="1256621"/>
            <a:ext cx="19320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B050"/>
                </a:solidFill>
                <a:latin typeface="Merriweather"/>
                <a:ea typeface="Merriweather"/>
                <a:cs typeface="Merriweather"/>
                <a:sym typeface="Merriweather"/>
              </a:rPr>
              <a:t>Global maximum</a:t>
            </a:r>
            <a:endParaRPr/>
          </a:p>
        </p:txBody>
      </p:sp>
      <p:sp>
        <p:nvSpPr>
          <p:cNvPr id="147" name="Google Shape;147;p8"/>
          <p:cNvSpPr/>
          <p:nvPr/>
        </p:nvSpPr>
        <p:spPr>
          <a:xfrm flipH="1">
            <a:off x="5044115" y="1378385"/>
            <a:ext cx="88490" cy="247568"/>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close up of text on a white background&#10;&#10;Description automatically generated" id="148" name="Google Shape;148;p8"/>
          <p:cNvPicPr preferRelativeResize="0"/>
          <p:nvPr/>
        </p:nvPicPr>
        <p:blipFill rotWithShape="1">
          <a:blip r:embed="rId4">
            <a:alphaModFix/>
          </a:blip>
          <a:srcRect b="9724" l="2277" r="39614" t="30878"/>
          <a:stretch/>
        </p:blipFill>
        <p:spPr>
          <a:xfrm>
            <a:off x="1562192" y="4193737"/>
            <a:ext cx="4533808" cy="2664263"/>
          </a:xfrm>
          <a:prstGeom prst="rect">
            <a:avLst/>
          </a:prstGeom>
          <a:noFill/>
          <a:ln>
            <a:noFill/>
          </a:ln>
        </p:spPr>
      </p:pic>
      <p:sp>
        <p:nvSpPr>
          <p:cNvPr id="149" name="Google Shape;149;p8"/>
          <p:cNvSpPr/>
          <p:nvPr/>
        </p:nvSpPr>
        <p:spPr>
          <a:xfrm>
            <a:off x="5088360" y="4193737"/>
            <a:ext cx="988142" cy="884903"/>
          </a:xfrm>
          <a:prstGeom prst="rect">
            <a:avLst/>
          </a:prstGeom>
          <a:gradFill>
            <a:gsLst>
              <a:gs pos="0">
                <a:srgbClr val="262D4E"/>
              </a:gs>
              <a:gs pos="50000">
                <a:srgbClr val="374171"/>
              </a:gs>
              <a:gs pos="100000">
                <a:srgbClr val="424F88"/>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3" name="Shape 153"/>
        <p:cNvGrpSpPr/>
        <p:nvPr/>
      </p:nvGrpSpPr>
      <p:grpSpPr>
        <a:xfrm>
          <a:off x="0" y="0"/>
          <a:ext cx="0" cy="0"/>
          <a:chOff x="0" y="0"/>
          <a:chExt cx="0" cy="0"/>
        </a:xfrm>
      </p:grpSpPr>
      <p:sp>
        <p:nvSpPr>
          <p:cNvPr id="154" name="Google Shape;154;p9"/>
          <p:cNvSpPr txBox="1"/>
          <p:nvPr>
            <p:ph type="title"/>
          </p:nvPr>
        </p:nvSpPr>
        <p:spPr>
          <a:xfrm>
            <a:off x="692193" y="691405"/>
            <a:ext cx="11201400" cy="1106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3600"/>
              <a:buFont typeface="Calibri"/>
              <a:buNone/>
            </a:pPr>
            <a:r>
              <a:rPr b="1" lang="en-US" sz="3600">
                <a:solidFill>
                  <a:srgbClr val="0070C0"/>
                </a:solidFill>
              </a:rPr>
              <a:t>Problems in Hill Climbing….</a:t>
            </a:r>
            <a:endParaRPr sz="3600">
              <a:solidFill>
                <a:srgbClr val="0070C0"/>
              </a:solidFill>
            </a:endParaRPr>
          </a:p>
        </p:txBody>
      </p:sp>
      <p:sp>
        <p:nvSpPr>
          <p:cNvPr id="155" name="Google Shape;155;p9"/>
          <p:cNvSpPr/>
          <p:nvPr/>
        </p:nvSpPr>
        <p:spPr>
          <a:xfrm>
            <a:off x="0" y="598458"/>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pic>
        <p:nvPicPr>
          <p:cNvPr descr="A picture containing object, antenna&#10;&#10;Description automatically generated" id="156" name="Google Shape;156;p9"/>
          <p:cNvPicPr preferRelativeResize="0"/>
          <p:nvPr/>
        </p:nvPicPr>
        <p:blipFill rotWithShape="1">
          <a:blip r:embed="rId3">
            <a:alphaModFix/>
          </a:blip>
          <a:srcRect b="0" l="0" r="0" t="0"/>
          <a:stretch/>
        </p:blipFill>
        <p:spPr>
          <a:xfrm>
            <a:off x="386043" y="2346372"/>
            <a:ext cx="6702552" cy="2982636"/>
          </a:xfrm>
          <a:prstGeom prst="rect">
            <a:avLst/>
          </a:prstGeom>
          <a:noFill/>
          <a:ln>
            <a:noFill/>
          </a:ln>
        </p:spPr>
      </p:pic>
      <p:sp>
        <p:nvSpPr>
          <p:cNvPr id="157" name="Google Shape;157;p9"/>
          <p:cNvSpPr/>
          <p:nvPr/>
        </p:nvSpPr>
        <p:spPr>
          <a:xfrm>
            <a:off x="7543801" y="1721922"/>
            <a:ext cx="4218432" cy="4520560"/>
          </a:xfrm>
          <a:prstGeom prst="rect">
            <a:avLst/>
          </a:prstGeom>
          <a:solidFill>
            <a:schemeClr val="lt1"/>
          </a:solidFill>
          <a:ln cap="flat" cmpd="sng" w="9525">
            <a:solidFill>
              <a:srgbClr val="DEDEDE"/>
            </a:solidFill>
            <a:prstDash val="solid"/>
            <a:miter lim="800000"/>
            <a:headEnd len="sm" w="sm" type="none"/>
            <a:tailEnd len="sm" w="sm" type="none"/>
          </a:ln>
          <a:effectLst>
            <a:outerShdw blurRad="50800" rotWithShape="0" algn="tl" dir="2700000"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 name="Google Shape;158;p9"/>
          <p:cNvSpPr txBox="1"/>
          <p:nvPr>
            <p:ph idx="1" type="body"/>
          </p:nvPr>
        </p:nvSpPr>
        <p:spPr>
          <a:xfrm>
            <a:off x="7551174" y="2020824"/>
            <a:ext cx="3842675" cy="3959352"/>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400"/>
              <a:buNone/>
            </a:pPr>
            <a:r>
              <a:rPr b="1" i="0" lang="en-US" sz="2400">
                <a:latin typeface="verdana"/>
                <a:ea typeface="verdana"/>
                <a:cs typeface="verdana"/>
                <a:sym typeface="verdana"/>
              </a:rPr>
              <a:t>2 Plateau:</a:t>
            </a:r>
            <a:r>
              <a:rPr b="0" i="0" lang="en-US" sz="2400">
                <a:latin typeface="verdana"/>
                <a:ea typeface="verdana"/>
                <a:cs typeface="verdana"/>
                <a:sym typeface="verdana"/>
              </a:rPr>
              <a:t> A plateau is the flat area of the search space in which all the neighbor states of the current state contains the same value, because of this algorithm does not find any best direction to move. A hill-climbing search might be lost in the plateau area.</a:t>
            </a:r>
            <a:endParaRPr sz="2400"/>
          </a:p>
          <a:p>
            <a:pPr indent="0" lvl="0" marL="0" rtl="0" algn="l">
              <a:lnSpc>
                <a:spcPct val="90000"/>
              </a:lnSpc>
              <a:spcBef>
                <a:spcPts val="1000"/>
              </a:spcBef>
              <a:spcAft>
                <a:spcPts val="0"/>
              </a:spcAft>
              <a:buClr>
                <a:schemeClr val="dk1"/>
              </a:buClr>
              <a:buSzPts val="1800"/>
              <a:buNone/>
            </a:pPr>
            <a:r>
              <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rPr>
              <a:t>Problems in Hill Climbing…</a:t>
            </a:r>
            <a:endParaRPr/>
          </a:p>
        </p:txBody>
      </p:sp>
      <p:sp>
        <p:nvSpPr>
          <p:cNvPr id="164" name="Google Shape;164;p10"/>
          <p:cNvSpPr txBox="1"/>
          <p:nvPr>
            <p:ph idx="1" type="body"/>
          </p:nvPr>
        </p:nvSpPr>
        <p:spPr>
          <a:xfrm>
            <a:off x="7776143" y="1530657"/>
            <a:ext cx="3809078" cy="332156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b="1" lang="en-US" sz="2400"/>
              <a:t>3. </a:t>
            </a:r>
            <a:r>
              <a:rPr b="1" lang="en-US"/>
              <a:t>Ridges:</a:t>
            </a:r>
            <a:r>
              <a:rPr lang="en-US"/>
              <a:t> A ridge is a special form of the local maximum. It has an area which is higher than its surrounding areas, but itself has a slope, and cannot be reached in a single move.</a:t>
            </a:r>
            <a:endParaRPr sz="2400"/>
          </a:p>
        </p:txBody>
      </p:sp>
      <p:pic>
        <p:nvPicPr>
          <p:cNvPr descr="A picture containing black, drawing&#10;&#10;Description automatically generated" id="165" name="Google Shape;165;p10"/>
          <p:cNvPicPr preferRelativeResize="0"/>
          <p:nvPr/>
        </p:nvPicPr>
        <p:blipFill rotWithShape="1">
          <a:blip r:embed="rId3">
            <a:alphaModFix/>
          </a:blip>
          <a:srcRect b="27837" l="1817" r="1799" t="-21969"/>
          <a:stretch/>
        </p:blipFill>
        <p:spPr>
          <a:xfrm>
            <a:off x="1069621" y="726276"/>
            <a:ext cx="5526650" cy="3487814"/>
          </a:xfrm>
          <a:prstGeom prst="rect">
            <a:avLst/>
          </a:prstGeom>
          <a:noFill/>
          <a:ln>
            <a:noFill/>
          </a:ln>
        </p:spPr>
      </p:pic>
      <p:pic>
        <p:nvPicPr>
          <p:cNvPr descr="A picture containing clock&#10;&#10;Description automatically generated" id="166" name="Google Shape;166;p10"/>
          <p:cNvPicPr preferRelativeResize="0"/>
          <p:nvPr/>
        </p:nvPicPr>
        <p:blipFill rotWithShape="1">
          <a:blip r:embed="rId4">
            <a:alphaModFix/>
          </a:blip>
          <a:srcRect b="0" l="0" r="0" t="0"/>
          <a:stretch/>
        </p:blipFill>
        <p:spPr>
          <a:xfrm>
            <a:off x="1750782" y="4216082"/>
            <a:ext cx="4020111" cy="2276793"/>
          </a:xfrm>
          <a:prstGeom prst="rect">
            <a:avLst/>
          </a:prstGeom>
          <a:noFill/>
          <a:ln>
            <a:noFill/>
          </a:ln>
        </p:spPr>
      </p:pic>
      <p:cxnSp>
        <p:nvCxnSpPr>
          <p:cNvPr id="167" name="Google Shape;167;p10"/>
          <p:cNvCxnSpPr/>
          <p:nvPr/>
        </p:nvCxnSpPr>
        <p:spPr>
          <a:xfrm rot="10800000">
            <a:off x="1946787" y="1386348"/>
            <a:ext cx="0" cy="2827742"/>
          </a:xfrm>
          <a:prstGeom prst="straightConnector1">
            <a:avLst/>
          </a:prstGeom>
          <a:noFill/>
          <a:ln cap="flat" cmpd="sng" w="38100">
            <a:solidFill>
              <a:schemeClr val="accent1"/>
            </a:solidFill>
            <a:prstDash val="solid"/>
            <a:miter lim="800000"/>
            <a:headEnd len="sm" w="sm" type="none"/>
            <a:tailEnd len="med" w="med" type="triangle"/>
          </a:ln>
        </p:spPr>
      </p:cxnSp>
      <p:cxnSp>
        <p:nvCxnSpPr>
          <p:cNvPr id="168" name="Google Shape;168;p10"/>
          <p:cNvCxnSpPr/>
          <p:nvPr/>
        </p:nvCxnSpPr>
        <p:spPr>
          <a:xfrm>
            <a:off x="1946787" y="4214090"/>
            <a:ext cx="3628103" cy="0"/>
          </a:xfrm>
          <a:prstGeom prst="straightConnector1">
            <a:avLst/>
          </a:prstGeom>
          <a:noFill/>
          <a:ln cap="flat" cmpd="sng" w="38100">
            <a:solidFill>
              <a:schemeClr val="accent1"/>
            </a:solidFill>
            <a:prstDash val="solid"/>
            <a:miter lim="800000"/>
            <a:headEnd len="sm" w="sm" type="none"/>
            <a:tailEnd len="med" w="med" type="triangle"/>
          </a:ln>
        </p:spPr>
      </p:cxnSp>
      <p:cxnSp>
        <p:nvCxnSpPr>
          <p:cNvPr id="169" name="Google Shape;169;p10"/>
          <p:cNvCxnSpPr/>
          <p:nvPr/>
        </p:nvCxnSpPr>
        <p:spPr>
          <a:xfrm flipH="1" rot="10800000">
            <a:off x="1941873" y="1530658"/>
            <a:ext cx="1347017" cy="2683432"/>
          </a:xfrm>
          <a:prstGeom prst="straightConnector1">
            <a:avLst/>
          </a:prstGeom>
          <a:noFill/>
          <a:ln cap="flat" cmpd="sng" w="38100">
            <a:solidFill>
              <a:schemeClr val="accent1"/>
            </a:solidFill>
            <a:prstDash val="solid"/>
            <a:miter lim="800000"/>
            <a:headEnd len="sm" w="sm" type="none"/>
            <a:tailEnd len="med" w="med" type="triangle"/>
          </a:ln>
        </p:spPr>
      </p:cxnSp>
      <p:sp>
        <p:nvSpPr>
          <p:cNvPr id="170" name="Google Shape;170;p10"/>
          <p:cNvSpPr/>
          <p:nvPr/>
        </p:nvSpPr>
        <p:spPr>
          <a:xfrm flipH="1">
            <a:off x="3391491" y="2222615"/>
            <a:ext cx="88490" cy="247568"/>
          </a:xfrm>
          <a:prstGeom prst="ellipse">
            <a:avLst/>
          </a:prstGeom>
          <a:solidFill>
            <a:schemeClr val="accent2"/>
          </a:solidFill>
          <a:ln cap="flat" cmpd="sng" w="12700">
            <a:solidFill>
              <a:srgbClr val="AC5B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rPr>
              <a:t>Local Beam Search</a:t>
            </a:r>
            <a:endParaRPr/>
          </a:p>
        </p:txBody>
      </p:sp>
      <p:sp>
        <p:nvSpPr>
          <p:cNvPr id="176" name="Google Shape;176;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Start with k randomly generated states (ß= 2 or 3)</a:t>
            </a:r>
            <a:endParaRPr/>
          </a:p>
          <a:p>
            <a:pPr indent="0" lvl="0" marL="0" rtl="0" algn="l">
              <a:lnSpc>
                <a:spcPct val="90000"/>
              </a:lnSpc>
              <a:spcBef>
                <a:spcPts val="1000"/>
              </a:spcBef>
              <a:spcAft>
                <a:spcPts val="0"/>
              </a:spcAft>
              <a:buClr>
                <a:schemeClr val="dk1"/>
              </a:buClr>
              <a:buSzPts val="2800"/>
              <a:buNone/>
            </a:pPr>
            <a:r>
              <a:rPr lang="en-US"/>
              <a:t>• At each iteration, all the successors of all k states are generated </a:t>
            </a:r>
            <a:endParaRPr/>
          </a:p>
          <a:p>
            <a:pPr indent="0" lvl="0" marL="0" rtl="0" algn="l">
              <a:lnSpc>
                <a:spcPct val="90000"/>
              </a:lnSpc>
              <a:spcBef>
                <a:spcPts val="1000"/>
              </a:spcBef>
              <a:spcAft>
                <a:spcPts val="0"/>
              </a:spcAft>
              <a:buClr>
                <a:schemeClr val="dk1"/>
              </a:buClr>
              <a:buSzPts val="2800"/>
              <a:buNone/>
            </a:pPr>
            <a:r>
              <a:rPr lang="en-US"/>
              <a:t>• If any one is a goal state, stop; else select the k best successors from the complete list and successors from the complete list and repeat</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id="177" name="Google Shape;177;p11"/>
          <p:cNvPicPr preferRelativeResize="0"/>
          <p:nvPr/>
        </p:nvPicPr>
        <p:blipFill rotWithShape="1">
          <a:blip r:embed="rId3">
            <a:alphaModFix/>
          </a:blip>
          <a:srcRect b="0" l="0" r="0" t="0"/>
          <a:stretch/>
        </p:blipFill>
        <p:spPr>
          <a:xfrm>
            <a:off x="1085850" y="3693700"/>
            <a:ext cx="10267950" cy="1885950"/>
          </a:xfrm>
          <a:prstGeom prst="rect">
            <a:avLst/>
          </a:prstGeom>
          <a:noFill/>
          <a:ln>
            <a:noFill/>
          </a:ln>
        </p:spPr>
      </p:pic>
      <p:sp>
        <p:nvSpPr>
          <p:cNvPr id="178" name="Google Shape;178;p11"/>
          <p:cNvSpPr txBox="1"/>
          <p:nvPr/>
        </p:nvSpPr>
        <p:spPr>
          <a:xfrm>
            <a:off x="8362335" y="5579650"/>
            <a:ext cx="205002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70C0"/>
                </a:solidFill>
                <a:latin typeface="Calibri"/>
                <a:ea typeface="Calibri"/>
                <a:cs typeface="Calibri"/>
                <a:sym typeface="Calibri"/>
              </a:rPr>
              <a:t>Local Beam</a:t>
            </a:r>
            <a:endParaRPr/>
          </a:p>
        </p:txBody>
      </p:sp>
      <p:sp>
        <p:nvSpPr>
          <p:cNvPr id="179" name="Google Shape;179;p11"/>
          <p:cNvSpPr txBox="1"/>
          <p:nvPr/>
        </p:nvSpPr>
        <p:spPr>
          <a:xfrm>
            <a:off x="1779639" y="5693640"/>
            <a:ext cx="205002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70C0"/>
                </a:solidFill>
                <a:latin typeface="Calibri"/>
                <a:ea typeface="Calibri"/>
                <a:cs typeface="Calibri"/>
                <a:sym typeface="Calibri"/>
              </a:rPr>
              <a:t>Greedy Local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rPr>
              <a:t>Simulated Annealing</a:t>
            </a:r>
            <a:endParaRPr/>
          </a:p>
        </p:txBody>
      </p:sp>
      <p:sp>
        <p:nvSpPr>
          <p:cNvPr id="185" name="Google Shape;185;p12"/>
          <p:cNvSpPr txBox="1"/>
          <p:nvPr>
            <p:ph idx="1" type="body"/>
          </p:nvPr>
        </p:nvSpPr>
        <p:spPr>
          <a:xfrm>
            <a:off x="838200" y="1327355"/>
            <a:ext cx="10515600" cy="484960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Conceptually SA exploits an Analogy between Annealing and the Search for a </a:t>
            </a:r>
            <a:r>
              <a:rPr lang="en-US">
                <a:solidFill>
                  <a:srgbClr val="0070C0"/>
                </a:solidFill>
              </a:rPr>
              <a:t>minimum</a:t>
            </a:r>
            <a:r>
              <a:rPr lang="en-US"/>
              <a:t> in a more general system</a:t>
            </a:r>
            <a:endParaRPr/>
          </a:p>
          <a:p>
            <a:pPr indent="-228600" lvl="0" marL="228600" rtl="0" algn="l">
              <a:lnSpc>
                <a:spcPct val="90000"/>
              </a:lnSpc>
              <a:spcBef>
                <a:spcPts val="1000"/>
              </a:spcBef>
              <a:spcAft>
                <a:spcPts val="0"/>
              </a:spcAft>
              <a:buClr>
                <a:schemeClr val="dk1"/>
              </a:buClr>
              <a:buSzPts val="2800"/>
              <a:buChar char="•"/>
            </a:pPr>
            <a:r>
              <a:rPr lang="en-US"/>
              <a:t>Explore Successors wildly randomly: </a:t>
            </a:r>
            <a:r>
              <a:rPr lang="en-US">
                <a:solidFill>
                  <a:srgbClr val="0070C0"/>
                </a:solidFill>
              </a:rPr>
              <a:t>High temp</a:t>
            </a:r>
            <a:endParaRPr/>
          </a:p>
          <a:p>
            <a:pPr indent="-228600" lvl="0" marL="228600" rtl="0" algn="l">
              <a:lnSpc>
                <a:spcPct val="90000"/>
              </a:lnSpc>
              <a:spcBef>
                <a:spcPts val="1000"/>
              </a:spcBef>
              <a:spcAft>
                <a:spcPts val="0"/>
              </a:spcAft>
              <a:buClr>
                <a:schemeClr val="dk1"/>
              </a:buClr>
              <a:buSzPts val="2800"/>
              <a:buChar char="•"/>
            </a:pPr>
            <a:r>
              <a:rPr lang="en-US"/>
              <a:t>As time goes by , explore less wildly: </a:t>
            </a:r>
            <a:r>
              <a:rPr lang="en-US">
                <a:solidFill>
                  <a:srgbClr val="0070C0"/>
                </a:solidFill>
              </a:rPr>
              <a:t>Cool Down</a:t>
            </a:r>
            <a:endParaRPr/>
          </a:p>
          <a:p>
            <a:pPr indent="-228600" lvl="0" marL="228600" rtl="0" algn="l">
              <a:lnSpc>
                <a:spcPct val="90000"/>
              </a:lnSpc>
              <a:spcBef>
                <a:spcPts val="1000"/>
              </a:spcBef>
              <a:spcAft>
                <a:spcPts val="0"/>
              </a:spcAft>
              <a:buClr>
                <a:schemeClr val="dk1"/>
              </a:buClr>
              <a:buSzPts val="2800"/>
              <a:buChar char="•"/>
            </a:pPr>
            <a:r>
              <a:rPr lang="en-US"/>
              <a:t>Until there’s a time when things settle: </a:t>
            </a:r>
            <a:r>
              <a:rPr lang="en-US">
                <a:solidFill>
                  <a:srgbClr val="0070C0"/>
                </a:solidFill>
              </a:rPr>
              <a:t>Cold</a:t>
            </a:r>
            <a:endParaRPr/>
          </a:p>
          <a:p>
            <a:pPr indent="0" lvl="0" marL="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86" name="Google Shape;186;p12"/>
          <p:cNvPicPr preferRelativeResize="0"/>
          <p:nvPr/>
        </p:nvPicPr>
        <p:blipFill rotWithShape="1">
          <a:blip r:embed="rId3">
            <a:alphaModFix/>
          </a:blip>
          <a:srcRect b="0" l="0" r="0" t="0"/>
          <a:stretch/>
        </p:blipFill>
        <p:spPr>
          <a:xfrm>
            <a:off x="1104286" y="3923072"/>
            <a:ext cx="9396566" cy="256980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3"/>
          <p:cNvSpPr txBox="1"/>
          <p:nvPr>
            <p:ph type="title"/>
          </p:nvPr>
        </p:nvSpPr>
        <p:spPr>
          <a:xfrm>
            <a:off x="917576" y="609275"/>
            <a:ext cx="5004600" cy="75540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chemeClr val="dk1"/>
              </a:buClr>
              <a:buSzPts val="4400"/>
              <a:buFont typeface="Calibri"/>
              <a:buNone/>
            </a:pPr>
            <a:r>
              <a:rPr b="1" lang="en-US" sz="4800">
                <a:solidFill>
                  <a:schemeClr val="dk2"/>
                </a:solidFill>
              </a:rPr>
              <a:t>Genetic Algorithm</a:t>
            </a:r>
            <a:endParaRPr b="1" sz="4800">
              <a:solidFill>
                <a:schemeClr val="dk2"/>
              </a:solidFill>
            </a:endParaRPr>
          </a:p>
        </p:txBody>
      </p:sp>
      <p:sp>
        <p:nvSpPr>
          <p:cNvPr id="192" name="Google Shape;192;p13"/>
          <p:cNvSpPr/>
          <p:nvPr/>
        </p:nvSpPr>
        <p:spPr>
          <a:xfrm>
            <a:off x="917575" y="2209800"/>
            <a:ext cx="9695700" cy="3813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13"/>
          <p:cNvSpPr/>
          <p:nvPr/>
        </p:nvSpPr>
        <p:spPr>
          <a:xfrm>
            <a:off x="838200" y="1416680"/>
            <a:ext cx="9775190" cy="0"/>
          </a:xfrm>
          <a:custGeom>
            <a:rect b="b" l="l" r="r" t="t"/>
            <a:pathLst>
              <a:path extrusionOk="0" h="120000" w="9775190">
                <a:moveTo>
                  <a:pt x="0" y="0"/>
                </a:moveTo>
                <a:lnTo>
                  <a:pt x="9775057" y="0"/>
                </a:lnTo>
              </a:path>
            </a:pathLst>
          </a:custGeom>
          <a:noFill/>
          <a:ln cap="flat" cmpd="sng" w="38075">
            <a:solidFill>
              <a:srgbClr val="4471C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13"/>
          <p:cNvSpPr/>
          <p:nvPr/>
        </p:nvSpPr>
        <p:spPr>
          <a:xfrm>
            <a:off x="5130987" y="4816698"/>
            <a:ext cx="218940" cy="180304"/>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340b1a1f5b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12700" rtl="0" algn="l">
              <a:lnSpc>
                <a:spcPct val="100000"/>
              </a:lnSpc>
              <a:spcBef>
                <a:spcPts val="0"/>
              </a:spcBef>
              <a:spcAft>
                <a:spcPts val="0"/>
              </a:spcAft>
              <a:buClr>
                <a:schemeClr val="dk1"/>
              </a:buClr>
              <a:buSzPts val="4400"/>
              <a:buFont typeface="Calibri"/>
              <a:buNone/>
            </a:pPr>
            <a:r>
              <a:rPr b="1" lang="en-US" sz="4800">
                <a:solidFill>
                  <a:schemeClr val="dk2"/>
                </a:solidFill>
              </a:rPr>
              <a:t>Genetic Algorithm</a:t>
            </a:r>
            <a:endParaRPr/>
          </a:p>
        </p:txBody>
      </p:sp>
      <p:sp>
        <p:nvSpPr>
          <p:cNvPr id="201" name="Google Shape;201;g3340b1a1f5b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79400" lvl="0" marL="228600" rtl="0" algn="l">
              <a:lnSpc>
                <a:spcPct val="110000"/>
              </a:lnSpc>
              <a:spcBef>
                <a:spcPts val="0"/>
              </a:spcBef>
              <a:spcAft>
                <a:spcPts val="0"/>
              </a:spcAft>
              <a:buClr>
                <a:srgbClr val="000000"/>
              </a:buClr>
              <a:buSzPts val="4400"/>
              <a:buChar char="•"/>
            </a:pPr>
            <a:r>
              <a:rPr lang="en-US"/>
              <a:t>Twist on Local Search: successor is generated by combining two parent states</a:t>
            </a:r>
            <a:endParaRPr/>
          </a:p>
          <a:p>
            <a:pPr indent="-279400" lvl="0" marL="228600" rtl="0" algn="l">
              <a:lnSpc>
                <a:spcPct val="110000"/>
              </a:lnSpc>
              <a:spcBef>
                <a:spcPts val="1000"/>
              </a:spcBef>
              <a:spcAft>
                <a:spcPts val="0"/>
              </a:spcAft>
              <a:buClr>
                <a:srgbClr val="000000"/>
              </a:buClr>
              <a:buSzPts val="4400"/>
              <a:buChar char="•"/>
            </a:pPr>
            <a:r>
              <a:rPr lang="en-US"/>
              <a:t>A state is represented as a string over a finite alphabet (e.g. binary)</a:t>
            </a:r>
            <a:endParaRPr/>
          </a:p>
          <a:p>
            <a:pPr indent="-254000" lvl="1" marL="685800" rtl="0" algn="l">
              <a:lnSpc>
                <a:spcPct val="110000"/>
              </a:lnSpc>
              <a:spcBef>
                <a:spcPts val="500"/>
              </a:spcBef>
              <a:spcAft>
                <a:spcPts val="0"/>
              </a:spcAft>
              <a:buClr>
                <a:srgbClr val="000000"/>
              </a:buClr>
              <a:buSzPts val="4000"/>
              <a:buChar char="•"/>
            </a:pPr>
            <a:r>
              <a:rPr lang="en-US"/>
              <a:t>8-queens</a:t>
            </a:r>
            <a:endParaRPr/>
          </a:p>
          <a:p>
            <a:pPr indent="-228600" lvl="2" marL="1143000" rtl="0" algn="l">
              <a:lnSpc>
                <a:spcPct val="110000"/>
              </a:lnSpc>
              <a:spcBef>
                <a:spcPts val="500"/>
              </a:spcBef>
              <a:spcAft>
                <a:spcPts val="0"/>
              </a:spcAft>
              <a:buClr>
                <a:srgbClr val="000000"/>
              </a:buClr>
              <a:buSzPts val="3600"/>
              <a:buChar char="•"/>
            </a:pPr>
            <a:r>
              <a:rPr lang="en-US"/>
              <a:t>State = position of 8 queens each in a column  </a:t>
            </a:r>
            <a:endParaRPr/>
          </a:p>
        </p:txBody>
      </p:sp>
      <p:sp>
        <p:nvSpPr>
          <p:cNvPr id="202" name="Google Shape;202;g3340b1a1f5b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340b1a1f5b_0_2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200"/>
              <a:buFont typeface="Erica One"/>
              <a:buNone/>
            </a:pPr>
            <a:r>
              <a:rPr b="1" lang="en-US">
                <a:solidFill>
                  <a:schemeClr val="dk2"/>
                </a:solidFill>
              </a:rPr>
              <a:t>Salient Features</a:t>
            </a:r>
            <a:endParaRPr b="1">
              <a:solidFill>
                <a:schemeClr val="dk2"/>
              </a:solidFill>
            </a:endParaRPr>
          </a:p>
        </p:txBody>
      </p:sp>
      <p:sp>
        <p:nvSpPr>
          <p:cNvPr id="208" name="Google Shape;208;g3340b1a1f5b_0_2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lnSpcReduction="20000"/>
          </a:bodyPr>
          <a:lstStyle/>
          <a:p>
            <a:pPr indent="-291465" lvl="0" marL="228600" rtl="0" algn="l">
              <a:lnSpc>
                <a:spcPct val="110000"/>
              </a:lnSpc>
              <a:spcBef>
                <a:spcPts val="0"/>
              </a:spcBef>
              <a:spcAft>
                <a:spcPts val="0"/>
              </a:spcAft>
              <a:buClr>
                <a:srgbClr val="000000"/>
              </a:buClr>
              <a:buSzPts val="4400"/>
              <a:buChar char="•"/>
            </a:pPr>
            <a:r>
              <a:rPr lang="en-US"/>
              <a:t>Evolutionary Algorithms fall into the category of “generate and test” algorithms </a:t>
            </a:r>
            <a:endParaRPr/>
          </a:p>
          <a:p>
            <a:pPr indent="-291465" lvl="0" marL="228600" rtl="0" algn="l">
              <a:lnSpc>
                <a:spcPct val="110000"/>
              </a:lnSpc>
              <a:spcBef>
                <a:spcPts val="1000"/>
              </a:spcBef>
              <a:spcAft>
                <a:spcPts val="0"/>
              </a:spcAft>
              <a:buClr>
                <a:srgbClr val="000000"/>
              </a:buClr>
              <a:buSzPts val="4400"/>
              <a:buChar char="•"/>
            </a:pPr>
            <a:r>
              <a:rPr lang="en-US"/>
              <a:t>They are stochastic, population-based algorithms </a:t>
            </a:r>
            <a:endParaRPr/>
          </a:p>
          <a:p>
            <a:pPr indent="-291465" lvl="0" marL="228600" rtl="0" algn="l">
              <a:lnSpc>
                <a:spcPct val="110000"/>
              </a:lnSpc>
              <a:spcBef>
                <a:spcPts val="1000"/>
              </a:spcBef>
              <a:spcAft>
                <a:spcPts val="0"/>
              </a:spcAft>
              <a:buClr>
                <a:srgbClr val="000000"/>
              </a:buClr>
              <a:buSzPts val="4400"/>
              <a:buChar char="•"/>
            </a:pPr>
            <a:r>
              <a:rPr lang="en-US"/>
              <a:t>Variation operators (recombination and mutation) create the necessary diversity and thereby facilitate novelty </a:t>
            </a:r>
            <a:endParaRPr/>
          </a:p>
          <a:p>
            <a:pPr indent="-291465" lvl="0" marL="228600" rtl="0" algn="l">
              <a:lnSpc>
                <a:spcPct val="110000"/>
              </a:lnSpc>
              <a:spcBef>
                <a:spcPts val="1000"/>
              </a:spcBef>
              <a:spcAft>
                <a:spcPts val="0"/>
              </a:spcAft>
              <a:buClr>
                <a:srgbClr val="000000"/>
              </a:buClr>
              <a:buSzPts val="4400"/>
              <a:buChar char="•"/>
            </a:pPr>
            <a:r>
              <a:rPr lang="en-US"/>
              <a:t>Selection reduces diversity and acts as a force pushing quality </a:t>
            </a:r>
            <a:endParaRPr/>
          </a:p>
          <a:p>
            <a:pPr indent="-12065" lvl="0" marL="228600" rtl="0" algn="l">
              <a:lnSpc>
                <a:spcPct val="110000"/>
              </a:lnSpc>
              <a:spcBef>
                <a:spcPts val="1000"/>
              </a:spcBef>
              <a:spcAft>
                <a:spcPts val="0"/>
              </a:spcAft>
              <a:buClr>
                <a:srgbClr val="000000"/>
              </a:buClr>
              <a:buSzPts val="44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340b1a1f5b_0_2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200"/>
              <a:buFont typeface="Erica One"/>
              <a:buNone/>
            </a:pPr>
            <a:r>
              <a:rPr b="1" lang="en-US">
                <a:solidFill>
                  <a:schemeClr val="dk2"/>
                </a:solidFill>
              </a:rPr>
              <a:t>Typical GA </a:t>
            </a:r>
            <a:endParaRPr b="1">
              <a:solidFill>
                <a:schemeClr val="dk2"/>
              </a:solidFill>
            </a:endParaRPr>
          </a:p>
        </p:txBody>
      </p:sp>
      <p:sp>
        <p:nvSpPr>
          <p:cNvPr id="214" name="Google Shape;214;g3340b1a1f5b_0_2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10000"/>
              </a:lnSpc>
              <a:spcBef>
                <a:spcPts val="0"/>
              </a:spcBef>
              <a:spcAft>
                <a:spcPts val="0"/>
              </a:spcAft>
              <a:buClr>
                <a:srgbClr val="000000"/>
              </a:buClr>
              <a:buSzPct val="157142"/>
              <a:buChar char="•"/>
            </a:pPr>
            <a:r>
              <a:rPr lang="en-US"/>
              <a:t>Step 1: Initialize the population randomly or with potentially good solutions. </a:t>
            </a:r>
            <a:endParaRPr/>
          </a:p>
          <a:p>
            <a:pPr indent="-228600" lvl="0" marL="228600" rtl="0" algn="l">
              <a:lnSpc>
                <a:spcPct val="110000"/>
              </a:lnSpc>
              <a:spcBef>
                <a:spcPts val="1000"/>
              </a:spcBef>
              <a:spcAft>
                <a:spcPts val="0"/>
              </a:spcAft>
              <a:buClr>
                <a:srgbClr val="000000"/>
              </a:buClr>
              <a:buSzPct val="157142"/>
              <a:buChar char="•"/>
            </a:pPr>
            <a:r>
              <a:rPr lang="en-US"/>
              <a:t>Step 2: Compute the fitness of each individual in the population. </a:t>
            </a:r>
            <a:endParaRPr/>
          </a:p>
          <a:p>
            <a:pPr indent="-228600" lvl="0" marL="228600" rtl="0" algn="l">
              <a:lnSpc>
                <a:spcPct val="110000"/>
              </a:lnSpc>
              <a:spcBef>
                <a:spcPts val="1000"/>
              </a:spcBef>
              <a:spcAft>
                <a:spcPts val="0"/>
              </a:spcAft>
              <a:buClr>
                <a:srgbClr val="000000"/>
              </a:buClr>
              <a:buSzPct val="157142"/>
              <a:buChar char="•"/>
            </a:pPr>
            <a:r>
              <a:rPr lang="en-US"/>
              <a:t>Step 3: Select parents using a selection procedure. </a:t>
            </a:r>
            <a:endParaRPr/>
          </a:p>
          <a:p>
            <a:pPr indent="-228600" lvl="0" marL="228600" rtl="0" algn="l">
              <a:lnSpc>
                <a:spcPct val="110000"/>
              </a:lnSpc>
              <a:spcBef>
                <a:spcPts val="1000"/>
              </a:spcBef>
              <a:spcAft>
                <a:spcPts val="0"/>
              </a:spcAft>
              <a:buClr>
                <a:srgbClr val="000000"/>
              </a:buClr>
              <a:buSzPct val="157142"/>
              <a:buChar char="•"/>
            </a:pPr>
            <a:r>
              <a:rPr lang="en-US"/>
              <a:t>Step 4: Create offspring by crossover and mutation operators. </a:t>
            </a:r>
            <a:endParaRPr/>
          </a:p>
          <a:p>
            <a:pPr indent="-228600" lvl="0" marL="228600" rtl="0" algn="l">
              <a:lnSpc>
                <a:spcPct val="110000"/>
              </a:lnSpc>
              <a:spcBef>
                <a:spcPts val="1000"/>
              </a:spcBef>
              <a:spcAft>
                <a:spcPts val="0"/>
              </a:spcAft>
              <a:buClr>
                <a:srgbClr val="000000"/>
              </a:buClr>
              <a:buSzPct val="157142"/>
              <a:buChar char="•"/>
            </a:pPr>
            <a:r>
              <a:rPr lang="en-US"/>
              <a:t>Step 5: Compute the fitness of the new offspring. </a:t>
            </a:r>
            <a:endParaRPr/>
          </a:p>
          <a:p>
            <a:pPr indent="-228600" lvl="0" marL="228600" rtl="0" algn="l">
              <a:lnSpc>
                <a:spcPct val="110000"/>
              </a:lnSpc>
              <a:spcBef>
                <a:spcPts val="1000"/>
              </a:spcBef>
              <a:spcAft>
                <a:spcPts val="0"/>
              </a:spcAft>
              <a:buClr>
                <a:srgbClr val="000000"/>
              </a:buClr>
              <a:buSzPct val="157142"/>
              <a:buChar char="•"/>
            </a:pPr>
            <a:r>
              <a:rPr lang="en-US"/>
              <a:t>Step 6: Select members of population to die using a selection procedure. </a:t>
            </a:r>
            <a:endParaRPr/>
          </a:p>
          <a:p>
            <a:pPr indent="-228600" lvl="0" marL="228600" rtl="0" algn="l">
              <a:lnSpc>
                <a:spcPct val="110000"/>
              </a:lnSpc>
              <a:spcBef>
                <a:spcPts val="1000"/>
              </a:spcBef>
              <a:spcAft>
                <a:spcPts val="0"/>
              </a:spcAft>
              <a:buClr>
                <a:srgbClr val="000000"/>
              </a:buClr>
              <a:buSzPct val="157142"/>
              <a:buChar char="•"/>
            </a:pPr>
            <a:r>
              <a:rPr lang="en-US"/>
              <a:t>Step 7: Go to Step 2 until termination criteria are met.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340b1a1f5b_0_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12700" rtl="0" algn="l">
              <a:lnSpc>
                <a:spcPct val="100000"/>
              </a:lnSpc>
              <a:spcBef>
                <a:spcPts val="0"/>
              </a:spcBef>
              <a:spcAft>
                <a:spcPts val="0"/>
              </a:spcAft>
              <a:buClr>
                <a:schemeClr val="dk1"/>
              </a:buClr>
              <a:buSzPts val="4400"/>
              <a:buFont typeface="Calibri"/>
              <a:buNone/>
            </a:pPr>
            <a:r>
              <a:rPr b="1" lang="en-US" sz="4800">
                <a:solidFill>
                  <a:schemeClr val="dk2"/>
                </a:solidFill>
              </a:rPr>
              <a:t>Genetic Algorithm</a:t>
            </a:r>
            <a:endParaRPr/>
          </a:p>
        </p:txBody>
      </p:sp>
      <p:sp>
        <p:nvSpPr>
          <p:cNvPr id="220" name="Google Shape;220;g3340b1a1f5b_0_30"/>
          <p:cNvSpPr txBox="1"/>
          <p:nvPr>
            <p:ph idx="1" type="body"/>
          </p:nvPr>
        </p:nvSpPr>
        <p:spPr>
          <a:xfrm>
            <a:off x="838200" y="1597025"/>
            <a:ext cx="10515600" cy="4351200"/>
          </a:xfrm>
          <a:prstGeom prst="rect">
            <a:avLst/>
          </a:prstGeom>
          <a:noFill/>
          <a:ln>
            <a:noFill/>
          </a:ln>
        </p:spPr>
        <p:txBody>
          <a:bodyPr anchorCtr="0" anchor="t" bIns="45700" lIns="91425" spcFirstLastPara="1" rIns="91425" wrap="square" tIns="45700">
            <a:noAutofit/>
          </a:bodyPr>
          <a:lstStyle/>
          <a:p>
            <a:pPr indent="-212090" lvl="0" marL="228600" rtl="0" algn="l">
              <a:lnSpc>
                <a:spcPct val="90000"/>
              </a:lnSpc>
              <a:spcBef>
                <a:spcPts val="0"/>
              </a:spcBef>
              <a:spcAft>
                <a:spcPts val="0"/>
              </a:spcAft>
              <a:buClr>
                <a:srgbClr val="000000"/>
              </a:buClr>
              <a:buSzPts val="2490"/>
              <a:buChar char="•"/>
            </a:pPr>
            <a:r>
              <a:rPr lang="en-US" sz="1729"/>
              <a:t>START</a:t>
            </a:r>
            <a:endParaRPr sz="1729"/>
          </a:p>
          <a:p>
            <a:pPr indent="-212090" lvl="0" marL="228600" rtl="0" algn="l">
              <a:lnSpc>
                <a:spcPct val="90000"/>
              </a:lnSpc>
              <a:spcBef>
                <a:spcPts val="1000"/>
              </a:spcBef>
              <a:spcAft>
                <a:spcPts val="0"/>
              </a:spcAft>
              <a:buClr>
                <a:srgbClr val="000000"/>
              </a:buClr>
              <a:buSzPts val="2490"/>
              <a:buChar char="•"/>
            </a:pPr>
            <a:r>
              <a:rPr lang="en-US" sz="1729"/>
              <a:t>Generate the initial population</a:t>
            </a:r>
            <a:endParaRPr sz="1729"/>
          </a:p>
          <a:p>
            <a:pPr indent="-212090" lvl="0" marL="228600" rtl="0" algn="l">
              <a:lnSpc>
                <a:spcPct val="90000"/>
              </a:lnSpc>
              <a:spcBef>
                <a:spcPts val="1000"/>
              </a:spcBef>
              <a:spcAft>
                <a:spcPts val="0"/>
              </a:spcAft>
              <a:buClr>
                <a:srgbClr val="000000"/>
              </a:buClr>
              <a:buSzPts val="2490"/>
              <a:buChar char="•"/>
            </a:pPr>
            <a:r>
              <a:rPr lang="en-US" sz="1729"/>
              <a:t>Compute fitness</a:t>
            </a:r>
            <a:endParaRPr sz="1729"/>
          </a:p>
          <a:p>
            <a:pPr indent="-212090" lvl="0" marL="228600" rtl="0" algn="l">
              <a:lnSpc>
                <a:spcPct val="90000"/>
              </a:lnSpc>
              <a:spcBef>
                <a:spcPts val="1000"/>
              </a:spcBef>
              <a:spcAft>
                <a:spcPts val="0"/>
              </a:spcAft>
              <a:buClr>
                <a:srgbClr val="000000"/>
              </a:buClr>
              <a:buSzPts val="2490"/>
              <a:buChar char="•"/>
            </a:pPr>
            <a:r>
              <a:rPr lang="en-US" sz="1729"/>
              <a:t>REPEAT</a:t>
            </a:r>
            <a:endParaRPr sz="1729"/>
          </a:p>
          <a:p>
            <a:pPr indent="0" lvl="0" marL="228600" rtl="0" algn="l">
              <a:lnSpc>
                <a:spcPct val="90000"/>
              </a:lnSpc>
              <a:spcBef>
                <a:spcPts val="1000"/>
              </a:spcBef>
              <a:spcAft>
                <a:spcPts val="0"/>
              </a:spcAft>
              <a:buNone/>
            </a:pPr>
            <a:r>
              <a:rPr lang="en-US" sz="1729"/>
              <a:t> Selection</a:t>
            </a:r>
            <a:endParaRPr sz="1729"/>
          </a:p>
          <a:p>
            <a:pPr indent="0" lvl="0" marL="228600" rtl="0" algn="l">
              <a:lnSpc>
                <a:spcPct val="90000"/>
              </a:lnSpc>
              <a:spcBef>
                <a:spcPts val="1000"/>
              </a:spcBef>
              <a:spcAft>
                <a:spcPts val="0"/>
              </a:spcAft>
              <a:buNone/>
            </a:pPr>
            <a:r>
              <a:rPr lang="en-US" sz="1729"/>
              <a:t>Crossover</a:t>
            </a:r>
            <a:endParaRPr sz="1729"/>
          </a:p>
          <a:p>
            <a:pPr indent="0" lvl="0" marL="228600" rtl="0" algn="l">
              <a:lnSpc>
                <a:spcPct val="90000"/>
              </a:lnSpc>
              <a:spcBef>
                <a:spcPts val="1000"/>
              </a:spcBef>
              <a:spcAft>
                <a:spcPts val="0"/>
              </a:spcAft>
              <a:buNone/>
            </a:pPr>
            <a:r>
              <a:rPr lang="en-US" sz="1729"/>
              <a:t> Mutation</a:t>
            </a:r>
            <a:endParaRPr sz="1729"/>
          </a:p>
          <a:p>
            <a:pPr indent="0" lvl="0" marL="228600" rtl="0" algn="l">
              <a:lnSpc>
                <a:spcPct val="90000"/>
              </a:lnSpc>
              <a:spcBef>
                <a:spcPts val="1000"/>
              </a:spcBef>
              <a:spcAft>
                <a:spcPts val="0"/>
              </a:spcAft>
              <a:buNone/>
            </a:pPr>
            <a:r>
              <a:rPr lang="en-US" sz="1729"/>
              <a:t>Compute fitness</a:t>
            </a:r>
            <a:endParaRPr sz="1729"/>
          </a:p>
          <a:p>
            <a:pPr indent="-212090" lvl="0" marL="228600" rtl="0" algn="l">
              <a:lnSpc>
                <a:spcPct val="90000"/>
              </a:lnSpc>
              <a:spcBef>
                <a:spcPts val="1000"/>
              </a:spcBef>
              <a:spcAft>
                <a:spcPts val="0"/>
              </a:spcAft>
              <a:buClr>
                <a:srgbClr val="000000"/>
              </a:buClr>
              <a:buSzPts val="2490"/>
              <a:buChar char="•"/>
            </a:pPr>
            <a:r>
              <a:rPr lang="en-US" sz="1729"/>
              <a:t>UNTIL population has converged</a:t>
            </a:r>
            <a:endParaRPr sz="1729"/>
          </a:p>
          <a:p>
            <a:pPr indent="-212090" lvl="0" marL="228600" rtl="0" algn="l">
              <a:lnSpc>
                <a:spcPct val="90000"/>
              </a:lnSpc>
              <a:spcBef>
                <a:spcPts val="1000"/>
              </a:spcBef>
              <a:spcAft>
                <a:spcPts val="0"/>
              </a:spcAft>
              <a:buClr>
                <a:srgbClr val="000000"/>
              </a:buClr>
              <a:buSzPts val="2490"/>
              <a:buChar char="•"/>
            </a:pPr>
            <a:r>
              <a:rPr lang="en-US" sz="1729"/>
              <a:t>STOP</a:t>
            </a:r>
            <a:endParaRPr sz="1729"/>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4"/>
          <p:cNvSpPr txBox="1"/>
          <p:nvPr>
            <p:ph type="title"/>
          </p:nvPr>
        </p:nvSpPr>
        <p:spPr>
          <a:xfrm>
            <a:off x="917576" y="609275"/>
            <a:ext cx="7620000" cy="70920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rgbClr val="1F3863"/>
              </a:buClr>
              <a:buSzPts val="4400"/>
              <a:buFont typeface="Calibri"/>
              <a:buNone/>
            </a:pPr>
            <a:r>
              <a:rPr b="1" lang="en-US" sz="4500">
                <a:solidFill>
                  <a:srgbClr val="1F3863"/>
                </a:solidFill>
              </a:rPr>
              <a:t>Nature of Computer Mapping</a:t>
            </a:r>
            <a:endParaRPr b="1" sz="4500"/>
          </a:p>
        </p:txBody>
      </p:sp>
      <p:sp>
        <p:nvSpPr>
          <p:cNvPr id="226" name="Google Shape;226;p14"/>
          <p:cNvSpPr/>
          <p:nvPr/>
        </p:nvSpPr>
        <p:spPr>
          <a:xfrm>
            <a:off x="838200" y="1416680"/>
            <a:ext cx="9775190" cy="0"/>
          </a:xfrm>
          <a:custGeom>
            <a:rect b="b" l="l" r="r" t="t"/>
            <a:pathLst>
              <a:path extrusionOk="0" h="120000" w="9775190">
                <a:moveTo>
                  <a:pt x="0" y="0"/>
                </a:moveTo>
                <a:lnTo>
                  <a:pt x="9775057" y="0"/>
                </a:lnTo>
              </a:path>
            </a:pathLst>
          </a:custGeom>
          <a:noFill/>
          <a:ln cap="flat" cmpd="sng" w="38075">
            <a:solidFill>
              <a:srgbClr val="4471C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14"/>
          <p:cNvSpPr/>
          <p:nvPr/>
        </p:nvSpPr>
        <p:spPr>
          <a:xfrm>
            <a:off x="1146212" y="2047777"/>
            <a:ext cx="9467088" cy="395377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5"/>
          <p:cNvSpPr txBox="1"/>
          <p:nvPr>
            <p:ph type="title"/>
          </p:nvPr>
        </p:nvSpPr>
        <p:spPr>
          <a:xfrm>
            <a:off x="917576" y="609275"/>
            <a:ext cx="5791800" cy="74010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rgbClr val="1F3863"/>
              </a:buClr>
              <a:buSzPts val="4400"/>
              <a:buFont typeface="Calibri"/>
              <a:buNone/>
            </a:pPr>
            <a:r>
              <a:rPr b="1" lang="en-US" sz="4700">
                <a:solidFill>
                  <a:srgbClr val="1F3863"/>
                </a:solidFill>
              </a:rPr>
              <a:t>Computational Model</a:t>
            </a:r>
            <a:endParaRPr b="1" sz="4700"/>
          </a:p>
        </p:txBody>
      </p:sp>
      <p:sp>
        <p:nvSpPr>
          <p:cNvPr id="233" name="Google Shape;233;p15"/>
          <p:cNvSpPr/>
          <p:nvPr/>
        </p:nvSpPr>
        <p:spPr>
          <a:xfrm>
            <a:off x="5924894" y="1603305"/>
            <a:ext cx="6072600" cy="5076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5"/>
          <p:cNvSpPr/>
          <p:nvPr/>
        </p:nvSpPr>
        <p:spPr>
          <a:xfrm>
            <a:off x="838200" y="1416680"/>
            <a:ext cx="9775190" cy="0"/>
          </a:xfrm>
          <a:custGeom>
            <a:rect b="b" l="l" r="r" t="t"/>
            <a:pathLst>
              <a:path extrusionOk="0" h="120000" w="9775190">
                <a:moveTo>
                  <a:pt x="0" y="0"/>
                </a:moveTo>
                <a:lnTo>
                  <a:pt x="9775057" y="0"/>
                </a:lnTo>
              </a:path>
            </a:pathLst>
          </a:custGeom>
          <a:noFill/>
          <a:ln cap="flat" cmpd="sng" w="38075">
            <a:solidFill>
              <a:srgbClr val="4471C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35" name="Google Shape;235;p15"/>
          <p:cNvPicPr preferRelativeResize="0"/>
          <p:nvPr/>
        </p:nvPicPr>
        <p:blipFill rotWithShape="1">
          <a:blip r:embed="rId4">
            <a:alphaModFix/>
          </a:blip>
          <a:srcRect b="0" l="0" r="0" t="0"/>
          <a:stretch/>
        </p:blipFill>
        <p:spPr>
          <a:xfrm>
            <a:off x="353451" y="1523050"/>
            <a:ext cx="5253724" cy="3811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6"/>
          <p:cNvSpPr txBox="1"/>
          <p:nvPr>
            <p:ph type="title"/>
          </p:nvPr>
        </p:nvSpPr>
        <p:spPr>
          <a:xfrm>
            <a:off x="726100" y="600525"/>
            <a:ext cx="2536800" cy="74010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rgbClr val="1F3863"/>
              </a:buClr>
              <a:buSzPts val="4400"/>
              <a:buFont typeface="Calibri"/>
              <a:buNone/>
            </a:pPr>
            <a:r>
              <a:rPr b="1" lang="en-US" sz="4700">
                <a:solidFill>
                  <a:srgbClr val="1F3863"/>
                </a:solidFill>
              </a:rPr>
              <a:t>Encoding</a:t>
            </a:r>
            <a:endParaRPr b="1" sz="4700"/>
          </a:p>
        </p:txBody>
      </p:sp>
      <p:sp>
        <p:nvSpPr>
          <p:cNvPr id="241" name="Google Shape;241;p16"/>
          <p:cNvSpPr/>
          <p:nvPr/>
        </p:nvSpPr>
        <p:spPr>
          <a:xfrm>
            <a:off x="838200" y="1416680"/>
            <a:ext cx="9775190" cy="0"/>
          </a:xfrm>
          <a:custGeom>
            <a:rect b="b" l="l" r="r" t="t"/>
            <a:pathLst>
              <a:path extrusionOk="0" h="120000" w="9775190">
                <a:moveTo>
                  <a:pt x="0" y="0"/>
                </a:moveTo>
                <a:lnTo>
                  <a:pt x="9775057" y="0"/>
                </a:lnTo>
              </a:path>
            </a:pathLst>
          </a:custGeom>
          <a:noFill/>
          <a:ln cap="flat" cmpd="sng" w="38075">
            <a:solidFill>
              <a:srgbClr val="4471C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16"/>
          <p:cNvSpPr/>
          <p:nvPr/>
        </p:nvSpPr>
        <p:spPr>
          <a:xfrm>
            <a:off x="1009915" y="1779422"/>
            <a:ext cx="9603300" cy="4443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7"/>
          <p:cNvSpPr txBox="1"/>
          <p:nvPr>
            <p:ph type="title"/>
          </p:nvPr>
        </p:nvSpPr>
        <p:spPr>
          <a:xfrm>
            <a:off x="917576" y="609275"/>
            <a:ext cx="2782500" cy="70920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rgbClr val="1F3863"/>
              </a:buClr>
              <a:buSzPts val="4400"/>
              <a:buFont typeface="Calibri"/>
              <a:buNone/>
            </a:pPr>
            <a:r>
              <a:rPr b="1" lang="en-US" sz="4500">
                <a:solidFill>
                  <a:srgbClr val="1F3863"/>
                </a:solidFill>
              </a:rPr>
              <a:t>Crossover</a:t>
            </a:r>
            <a:endParaRPr b="1" sz="4500"/>
          </a:p>
        </p:txBody>
      </p:sp>
      <p:sp>
        <p:nvSpPr>
          <p:cNvPr id="248" name="Google Shape;248;p17"/>
          <p:cNvSpPr/>
          <p:nvPr/>
        </p:nvSpPr>
        <p:spPr>
          <a:xfrm>
            <a:off x="838200" y="1416680"/>
            <a:ext cx="9775190" cy="0"/>
          </a:xfrm>
          <a:custGeom>
            <a:rect b="b" l="l" r="r" t="t"/>
            <a:pathLst>
              <a:path extrusionOk="0" h="120000" w="9775190">
                <a:moveTo>
                  <a:pt x="0" y="0"/>
                </a:moveTo>
                <a:lnTo>
                  <a:pt x="9775057" y="0"/>
                </a:lnTo>
              </a:path>
            </a:pathLst>
          </a:custGeom>
          <a:noFill/>
          <a:ln cap="flat" cmpd="sng" w="38075">
            <a:solidFill>
              <a:srgbClr val="4471C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17"/>
          <p:cNvSpPr/>
          <p:nvPr/>
        </p:nvSpPr>
        <p:spPr>
          <a:xfrm>
            <a:off x="1325447" y="1778355"/>
            <a:ext cx="9053700" cy="45720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8"/>
          <p:cNvSpPr txBox="1"/>
          <p:nvPr>
            <p:ph type="title"/>
          </p:nvPr>
        </p:nvSpPr>
        <p:spPr>
          <a:xfrm>
            <a:off x="917578" y="609275"/>
            <a:ext cx="3919800" cy="74010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rgbClr val="1F3863"/>
              </a:buClr>
              <a:buSzPts val="4400"/>
              <a:buFont typeface="Calibri"/>
              <a:buNone/>
            </a:pPr>
            <a:r>
              <a:rPr b="1" lang="en-US" sz="4700">
                <a:solidFill>
                  <a:srgbClr val="1F3863"/>
                </a:solidFill>
              </a:rPr>
              <a:t>Crossover</a:t>
            </a:r>
            <a:endParaRPr b="1" sz="4700"/>
          </a:p>
        </p:txBody>
      </p:sp>
      <p:sp>
        <p:nvSpPr>
          <p:cNvPr id="255" name="Google Shape;255;p18"/>
          <p:cNvSpPr/>
          <p:nvPr/>
        </p:nvSpPr>
        <p:spPr>
          <a:xfrm>
            <a:off x="838200" y="1416680"/>
            <a:ext cx="9775190" cy="0"/>
          </a:xfrm>
          <a:custGeom>
            <a:rect b="b" l="l" r="r" t="t"/>
            <a:pathLst>
              <a:path extrusionOk="0" h="120000" w="9775190">
                <a:moveTo>
                  <a:pt x="0" y="0"/>
                </a:moveTo>
                <a:lnTo>
                  <a:pt x="9775057" y="0"/>
                </a:lnTo>
              </a:path>
            </a:pathLst>
          </a:custGeom>
          <a:noFill/>
          <a:ln cap="flat" cmpd="sng" w="38075">
            <a:solidFill>
              <a:srgbClr val="4471C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8"/>
          <p:cNvSpPr/>
          <p:nvPr/>
        </p:nvSpPr>
        <p:spPr>
          <a:xfrm>
            <a:off x="1403856" y="1690649"/>
            <a:ext cx="8409950" cy="474878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9"/>
          <p:cNvSpPr txBox="1"/>
          <p:nvPr>
            <p:ph type="title"/>
          </p:nvPr>
        </p:nvSpPr>
        <p:spPr>
          <a:xfrm>
            <a:off x="917576" y="609275"/>
            <a:ext cx="2940000" cy="70920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rgbClr val="1F3863"/>
              </a:buClr>
              <a:buSzPts val="4400"/>
              <a:buFont typeface="Calibri"/>
              <a:buNone/>
            </a:pPr>
            <a:r>
              <a:rPr b="1" lang="en-US" sz="4500">
                <a:solidFill>
                  <a:srgbClr val="1F3863"/>
                </a:solidFill>
              </a:rPr>
              <a:t>Crossover</a:t>
            </a:r>
            <a:endParaRPr b="1" sz="4500"/>
          </a:p>
        </p:txBody>
      </p:sp>
      <p:sp>
        <p:nvSpPr>
          <p:cNvPr id="262" name="Google Shape;262;p19"/>
          <p:cNvSpPr/>
          <p:nvPr/>
        </p:nvSpPr>
        <p:spPr>
          <a:xfrm>
            <a:off x="838200" y="1416680"/>
            <a:ext cx="9775190" cy="0"/>
          </a:xfrm>
          <a:custGeom>
            <a:rect b="b" l="l" r="r" t="t"/>
            <a:pathLst>
              <a:path extrusionOk="0" h="120000" w="9775190">
                <a:moveTo>
                  <a:pt x="0" y="0"/>
                </a:moveTo>
                <a:lnTo>
                  <a:pt x="9775057" y="0"/>
                </a:lnTo>
              </a:path>
            </a:pathLst>
          </a:custGeom>
          <a:noFill/>
          <a:ln cap="flat" cmpd="sng" w="38075">
            <a:solidFill>
              <a:srgbClr val="4471C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9"/>
          <p:cNvSpPr/>
          <p:nvPr/>
        </p:nvSpPr>
        <p:spPr>
          <a:xfrm>
            <a:off x="1224570" y="1970428"/>
            <a:ext cx="9002267" cy="427582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type="title"/>
          </p:nvPr>
        </p:nvSpPr>
        <p:spPr>
          <a:xfrm>
            <a:off x="917576" y="609275"/>
            <a:ext cx="2992500" cy="70920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rgbClr val="1F3863"/>
              </a:buClr>
              <a:buSzPts val="4400"/>
              <a:buFont typeface="Calibri"/>
              <a:buNone/>
            </a:pPr>
            <a:r>
              <a:rPr b="1" lang="en-US" sz="4500">
                <a:solidFill>
                  <a:srgbClr val="1F3863"/>
                </a:solidFill>
              </a:rPr>
              <a:t>Crossover</a:t>
            </a:r>
            <a:endParaRPr b="1" sz="4500"/>
          </a:p>
        </p:txBody>
      </p:sp>
      <p:sp>
        <p:nvSpPr>
          <p:cNvPr id="269" name="Google Shape;269;p20"/>
          <p:cNvSpPr/>
          <p:nvPr/>
        </p:nvSpPr>
        <p:spPr>
          <a:xfrm>
            <a:off x="838200" y="1416680"/>
            <a:ext cx="9775190" cy="0"/>
          </a:xfrm>
          <a:custGeom>
            <a:rect b="b" l="l" r="r" t="t"/>
            <a:pathLst>
              <a:path extrusionOk="0" h="120000" w="9775190">
                <a:moveTo>
                  <a:pt x="0" y="0"/>
                </a:moveTo>
                <a:lnTo>
                  <a:pt x="9775057" y="0"/>
                </a:lnTo>
              </a:path>
            </a:pathLst>
          </a:custGeom>
          <a:noFill/>
          <a:ln cap="flat" cmpd="sng" w="38075">
            <a:solidFill>
              <a:srgbClr val="4471C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20"/>
          <p:cNvSpPr/>
          <p:nvPr/>
        </p:nvSpPr>
        <p:spPr>
          <a:xfrm>
            <a:off x="1249247" y="1911974"/>
            <a:ext cx="8976600" cy="4198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3c73369c4b1_0_84"/>
          <p:cNvSpPr txBox="1"/>
          <p:nvPr>
            <p:ph type="title"/>
          </p:nvPr>
        </p:nvSpPr>
        <p:spPr>
          <a:xfrm>
            <a:off x="175492" y="180399"/>
            <a:ext cx="11852700" cy="521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Example: 8 Queens </a:t>
            </a:r>
            <a:endParaRPr/>
          </a:p>
        </p:txBody>
      </p:sp>
      <p:sp>
        <p:nvSpPr>
          <p:cNvPr id="277" name="Google Shape;277;g3c73369c4b1_0_84"/>
          <p:cNvSpPr txBox="1"/>
          <p:nvPr>
            <p:ph idx="1" type="body"/>
          </p:nvPr>
        </p:nvSpPr>
        <p:spPr>
          <a:xfrm>
            <a:off x="175492" y="951345"/>
            <a:ext cx="5844300" cy="52257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Population: </a:t>
            </a:r>
            <a:endParaRPr/>
          </a:p>
          <a:p>
            <a:pPr indent="-228600" lvl="1" marL="685800" rtl="0" algn="l">
              <a:lnSpc>
                <a:spcPct val="90000"/>
              </a:lnSpc>
              <a:spcBef>
                <a:spcPts val="500"/>
              </a:spcBef>
              <a:spcAft>
                <a:spcPts val="0"/>
              </a:spcAft>
              <a:buClr>
                <a:schemeClr val="dk1"/>
              </a:buClr>
              <a:buSzPts val="2400"/>
              <a:buChar char="•"/>
            </a:pPr>
            <a:r>
              <a:rPr lang="en-US"/>
              <a:t>Row of queen in each column.</a:t>
            </a:r>
            <a:endParaRPr/>
          </a:p>
          <a:p>
            <a:pPr indent="-228600" lvl="1" marL="685800" rtl="0" algn="l">
              <a:lnSpc>
                <a:spcPct val="90000"/>
              </a:lnSpc>
              <a:spcBef>
                <a:spcPts val="500"/>
              </a:spcBef>
              <a:spcAft>
                <a:spcPts val="0"/>
              </a:spcAft>
              <a:buClr>
                <a:schemeClr val="dk1"/>
              </a:buClr>
              <a:buSzPts val="2400"/>
              <a:buChar char="•"/>
            </a:pPr>
            <a:r>
              <a:rPr lang="en-US"/>
              <a:t>[1,6,2,5,7,4,8,3]</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t>Fitness Function</a:t>
            </a:r>
            <a:endParaRPr/>
          </a:p>
          <a:p>
            <a:pPr indent="-228600" lvl="1" marL="685800" rtl="0" algn="l">
              <a:lnSpc>
                <a:spcPct val="90000"/>
              </a:lnSpc>
              <a:spcBef>
                <a:spcPts val="500"/>
              </a:spcBef>
              <a:spcAft>
                <a:spcPts val="0"/>
              </a:spcAft>
              <a:buClr>
                <a:schemeClr val="dk1"/>
              </a:buClr>
              <a:buSzPts val="2400"/>
              <a:buChar char="•"/>
            </a:pPr>
            <a:r>
              <a:rPr lang="en-US"/>
              <a:t>Number of non-attacking pairs of queens</a:t>
            </a:r>
            <a:endParaRPr/>
          </a:p>
        </p:txBody>
      </p:sp>
      <p:pic>
        <p:nvPicPr>
          <p:cNvPr id="278" name="Google Shape;278;g3c73369c4b1_0_84"/>
          <p:cNvPicPr preferRelativeResize="0"/>
          <p:nvPr>
            <p:ph idx="2" type="body"/>
          </p:nvPr>
        </p:nvPicPr>
        <p:blipFill rotWithShape="1">
          <a:blip r:embed="rId3">
            <a:alphaModFix/>
          </a:blip>
          <a:srcRect b="0" l="0" r="0" t="0"/>
          <a:stretch/>
        </p:blipFill>
        <p:spPr>
          <a:xfrm>
            <a:off x="7364412" y="1778000"/>
            <a:ext cx="3552900" cy="3571800"/>
          </a:xfrm>
          <a:prstGeom prst="rect">
            <a:avLst/>
          </a:prstGeom>
          <a:noFill/>
          <a:ln>
            <a:noFill/>
          </a:ln>
        </p:spPr>
      </p:pic>
      <p:sp>
        <p:nvSpPr>
          <p:cNvPr id="279" name="Google Shape;279;g3c73369c4b1_0_84"/>
          <p:cNvSpPr txBox="1"/>
          <p:nvPr>
            <p:ph idx="11" type="ftr"/>
          </p:nvPr>
        </p:nvSpPr>
        <p:spPr>
          <a:xfrm>
            <a:off x="2930239" y="6492875"/>
            <a:ext cx="83265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https://www.youtube.com/watch?v=MacVqujSXWE</a:t>
            </a:r>
            <a:endParaRPr/>
          </a:p>
        </p:txBody>
      </p:sp>
      <p:sp>
        <p:nvSpPr>
          <p:cNvPr id="280" name="Google Shape;280;g3c73369c4b1_0_84"/>
          <p:cNvSpPr txBox="1"/>
          <p:nvPr/>
        </p:nvSpPr>
        <p:spPr>
          <a:xfrm>
            <a:off x="6440557" y="670453"/>
            <a:ext cx="48504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chemeClr val="dk1"/>
                </a:solidFill>
                <a:latin typeface="Calibri"/>
                <a:ea typeface="Calibri"/>
                <a:cs typeface="Calibri"/>
                <a:sym typeface="Calibri"/>
              </a:rPr>
              <a:t>1   2   3  4  5   6  7   8</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4" name="Shape 284"/>
        <p:cNvGrpSpPr/>
        <p:nvPr/>
      </p:nvGrpSpPr>
      <p:grpSpPr>
        <a:xfrm>
          <a:off x="0" y="0"/>
          <a:ext cx="0" cy="0"/>
          <a:chOff x="0" y="0"/>
          <a:chExt cx="0" cy="0"/>
        </a:xfrm>
      </p:grpSpPr>
      <p:sp>
        <p:nvSpPr>
          <p:cNvPr id="285" name="Google Shape;285;g3c73369c4b1_0_93"/>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 name="Google Shape;286;g3c73369c4b1_0_93"/>
          <p:cNvSpPr txBox="1"/>
          <p:nvPr>
            <p:ph type="title"/>
          </p:nvPr>
        </p:nvSpPr>
        <p:spPr>
          <a:xfrm>
            <a:off x="838200" y="184805"/>
            <a:ext cx="10515600" cy="1506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200"/>
              <a:buFont typeface="Calibri"/>
              <a:buNone/>
            </a:pPr>
            <a:r>
              <a:rPr lang="en-US" sz="5200"/>
              <a:t>Initial Population</a:t>
            </a:r>
            <a:endParaRPr/>
          </a:p>
        </p:txBody>
      </p:sp>
      <p:pic>
        <p:nvPicPr>
          <p:cNvPr id="287" name="Google Shape;287;g3c73369c4b1_0_93"/>
          <p:cNvPicPr preferRelativeResize="0"/>
          <p:nvPr/>
        </p:nvPicPr>
        <p:blipFill rotWithShape="1">
          <a:blip r:embed="rId3">
            <a:alphaModFix/>
          </a:blip>
          <a:srcRect b="0" l="0" r="0" t="0"/>
          <a:stretch/>
        </p:blipFill>
        <p:spPr>
          <a:xfrm>
            <a:off x="838200" y="1928647"/>
            <a:ext cx="10512548" cy="428386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1" name="Shape 291"/>
        <p:cNvGrpSpPr/>
        <p:nvPr/>
      </p:nvGrpSpPr>
      <p:grpSpPr>
        <a:xfrm>
          <a:off x="0" y="0"/>
          <a:ext cx="0" cy="0"/>
          <a:chOff x="0" y="0"/>
          <a:chExt cx="0" cy="0"/>
        </a:xfrm>
      </p:grpSpPr>
      <p:sp>
        <p:nvSpPr>
          <p:cNvPr id="292" name="Google Shape;292;g3c73369c4b1_0_9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3" name="Google Shape;293;g3c73369c4b1_0_99"/>
          <p:cNvSpPr/>
          <p:nvPr/>
        </p:nvSpPr>
        <p:spPr>
          <a:xfrm>
            <a:off x="1882006" y="569844"/>
            <a:ext cx="8427900" cy="5649900"/>
          </a:xfrm>
          <a:prstGeom prst="rect">
            <a:avLst/>
          </a:prstGeom>
          <a:solidFill>
            <a:schemeClr val="lt1"/>
          </a:solidFill>
          <a:ln>
            <a:noFill/>
          </a:ln>
          <a:effectLst>
            <a:outerShdw blurRad="317500" sx="95000" rotWithShape="0" algn="t" dir="7140000" dist="317500" sy="95000">
              <a:srgbClr val="000000">
                <a:alpha val="2471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game with a checkerboard and a checkerboard with numbers&#10;&#10;Description automatically generated" id="294" name="Google Shape;294;g3c73369c4b1_0_99"/>
          <p:cNvPicPr preferRelativeResize="0"/>
          <p:nvPr>
            <p:ph idx="1" type="body"/>
          </p:nvPr>
        </p:nvPicPr>
        <p:blipFill rotWithShape="1">
          <a:blip r:embed="rId3">
            <a:alphaModFix/>
          </a:blip>
          <a:srcRect b="4150" l="0" r="0" t="0"/>
          <a:stretch/>
        </p:blipFill>
        <p:spPr>
          <a:xfrm>
            <a:off x="1539300" y="255626"/>
            <a:ext cx="9113400" cy="6093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8" name="Shape 298"/>
        <p:cNvGrpSpPr/>
        <p:nvPr/>
      </p:nvGrpSpPr>
      <p:grpSpPr>
        <a:xfrm>
          <a:off x="0" y="0"/>
          <a:ext cx="0" cy="0"/>
          <a:chOff x="0" y="0"/>
          <a:chExt cx="0" cy="0"/>
        </a:xfrm>
      </p:grpSpPr>
      <p:pic>
        <p:nvPicPr>
          <p:cNvPr descr="A screenshot of a game&#10;&#10;Description automatically generated" id="299" name="Google Shape;299;g3c73369c4b1_0_105"/>
          <p:cNvPicPr preferRelativeResize="0"/>
          <p:nvPr>
            <p:ph idx="1" type="body"/>
          </p:nvPr>
        </p:nvPicPr>
        <p:blipFill rotWithShape="1">
          <a:blip r:embed="rId3">
            <a:alphaModFix/>
          </a:blip>
          <a:srcRect b="0" l="0" r="0" t="0"/>
          <a:stretch/>
        </p:blipFill>
        <p:spPr>
          <a:xfrm>
            <a:off x="783350" y="653750"/>
            <a:ext cx="9896100" cy="5158800"/>
          </a:xfrm>
          <a:prstGeom prst="rect">
            <a:avLst/>
          </a:prstGeom>
          <a:noFill/>
          <a:ln>
            <a:noFill/>
          </a:ln>
        </p:spPr>
      </p:pic>
      <p:sp>
        <p:nvSpPr>
          <p:cNvPr id="300" name="Google Shape;300;g3c73369c4b1_0_105"/>
          <p:cNvSpPr txBox="1"/>
          <p:nvPr/>
        </p:nvSpPr>
        <p:spPr>
          <a:xfrm>
            <a:off x="783350" y="6101700"/>
            <a:ext cx="593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https://youtu.be/gxGe2v7c5E8?si=298ujwPYalxoNrdz</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4" name="Shape 304"/>
        <p:cNvGrpSpPr/>
        <p:nvPr/>
      </p:nvGrpSpPr>
      <p:grpSpPr>
        <a:xfrm>
          <a:off x="0" y="0"/>
          <a:ext cx="0" cy="0"/>
          <a:chOff x="0" y="0"/>
          <a:chExt cx="0" cy="0"/>
        </a:xfrm>
      </p:grpSpPr>
      <p:sp>
        <p:nvSpPr>
          <p:cNvPr id="305" name="Google Shape;305;g3c73369c4b1_0_110"/>
          <p:cNvSpPr/>
          <p:nvPr/>
        </p:nvSpPr>
        <p:spPr>
          <a:xfrm>
            <a:off x="0" y="651752"/>
            <a:ext cx="12192000" cy="736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 name="Google Shape;306;g3c73369c4b1_0_110"/>
          <p:cNvSpPr txBox="1"/>
          <p:nvPr>
            <p:ph type="title"/>
          </p:nvPr>
        </p:nvSpPr>
        <p:spPr>
          <a:xfrm>
            <a:off x="556532" y="643467"/>
            <a:ext cx="11211000" cy="744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200"/>
              <a:buFont typeface="Calibri"/>
              <a:buNone/>
            </a:pPr>
            <a:r>
              <a:rPr lang="en-US" sz="3200">
                <a:solidFill>
                  <a:schemeClr val="lt1"/>
                </a:solidFill>
              </a:rPr>
              <a:t>8 Queen Problem</a:t>
            </a:r>
            <a:endParaRPr sz="3200">
              <a:solidFill>
                <a:schemeClr val="lt1"/>
              </a:solidFill>
              <a:latin typeface="Calibri"/>
              <a:ea typeface="Calibri"/>
              <a:cs typeface="Calibri"/>
              <a:sym typeface="Calibri"/>
            </a:endParaRPr>
          </a:p>
        </p:txBody>
      </p:sp>
      <p:pic>
        <p:nvPicPr>
          <p:cNvPr descr="A diagram of a number&#10;&#10;Description automatically generated" id="307" name="Google Shape;307;g3c73369c4b1_0_110"/>
          <p:cNvPicPr preferRelativeResize="0"/>
          <p:nvPr>
            <p:ph idx="1" type="body"/>
          </p:nvPr>
        </p:nvPicPr>
        <p:blipFill rotWithShape="1">
          <a:blip r:embed="rId3">
            <a:alphaModFix/>
          </a:blip>
          <a:srcRect b="0" l="0" r="0" t="0"/>
          <a:stretch/>
        </p:blipFill>
        <p:spPr>
          <a:xfrm>
            <a:off x="643467" y="2509193"/>
            <a:ext cx="10905000" cy="2726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c73369c4b1_0_116"/>
          <p:cNvSpPr txBox="1"/>
          <p:nvPr/>
        </p:nvSpPr>
        <p:spPr>
          <a:xfrm>
            <a:off x="1639888" y="2743200"/>
            <a:ext cx="1395300" cy="738900"/>
          </a:xfrm>
          <a:prstGeom prst="rect">
            <a:avLst/>
          </a:prstGeom>
          <a:noFill/>
          <a:ln cap="flat" cmpd="sng" w="254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accent2"/>
                </a:solidFill>
                <a:latin typeface="Tahoma"/>
                <a:ea typeface="Tahoma"/>
                <a:cs typeface="Tahoma"/>
                <a:sym typeface="Tahoma"/>
              </a:rPr>
              <a:t>fitness = </a:t>
            </a:r>
            <a:endParaRPr/>
          </a:p>
          <a:p>
            <a:pPr indent="0" lvl="0" marL="0" marR="0" rtl="0" algn="l">
              <a:spcBef>
                <a:spcPts val="0"/>
              </a:spcBef>
              <a:spcAft>
                <a:spcPts val="0"/>
              </a:spcAft>
              <a:buNone/>
            </a:pPr>
            <a:r>
              <a:rPr lang="en-US" sz="1400">
                <a:solidFill>
                  <a:schemeClr val="accent2"/>
                </a:solidFill>
                <a:latin typeface="Tahoma"/>
                <a:ea typeface="Tahoma"/>
                <a:cs typeface="Tahoma"/>
                <a:sym typeface="Tahoma"/>
              </a:rPr>
              <a:t>#non-attacking</a:t>
            </a:r>
            <a:endParaRPr/>
          </a:p>
          <a:p>
            <a:pPr indent="0" lvl="0" marL="0" marR="0" rtl="0" algn="l">
              <a:spcBef>
                <a:spcPts val="0"/>
              </a:spcBef>
              <a:spcAft>
                <a:spcPts val="0"/>
              </a:spcAft>
              <a:buNone/>
            </a:pPr>
            <a:r>
              <a:rPr lang="en-US" sz="1400">
                <a:solidFill>
                  <a:schemeClr val="accent2"/>
                </a:solidFill>
                <a:latin typeface="Tahoma"/>
                <a:ea typeface="Tahoma"/>
                <a:cs typeface="Tahoma"/>
                <a:sym typeface="Tahoma"/>
              </a:rPr>
              <a:t>queens</a:t>
            </a:r>
            <a:endParaRPr/>
          </a:p>
        </p:txBody>
      </p:sp>
      <p:sp>
        <p:nvSpPr>
          <p:cNvPr id="314" name="Google Shape;314;g3c73369c4b1_0_116"/>
          <p:cNvSpPr txBox="1"/>
          <p:nvPr>
            <p:ph idx="4294967295" type="body"/>
          </p:nvPr>
        </p:nvSpPr>
        <p:spPr>
          <a:xfrm>
            <a:off x="365761" y="2332038"/>
            <a:ext cx="11826300" cy="4526100"/>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Clr>
                <a:schemeClr val="dk1"/>
              </a:buClr>
              <a:buSzPts val="3600"/>
              <a:buNone/>
            </a:pPr>
            <a:r>
              <a:t/>
            </a:r>
            <a:endParaRPr sz="3600"/>
          </a:p>
          <a:p>
            <a:pPr indent="0" lvl="0" marL="228600" rtl="0" algn="l">
              <a:lnSpc>
                <a:spcPct val="90000"/>
              </a:lnSpc>
              <a:spcBef>
                <a:spcPts val="1000"/>
              </a:spcBef>
              <a:spcAft>
                <a:spcPts val="0"/>
              </a:spcAft>
              <a:buClr>
                <a:schemeClr val="dk1"/>
              </a:buClr>
              <a:buSzPts val="3600"/>
              <a:buNone/>
            </a:pPr>
            <a:r>
              <a:t/>
            </a:r>
            <a:endParaRPr sz="3600"/>
          </a:p>
          <a:p>
            <a:pPr indent="0" lvl="0" marL="228600" rtl="0" algn="l">
              <a:lnSpc>
                <a:spcPct val="90000"/>
              </a:lnSpc>
              <a:spcBef>
                <a:spcPts val="1000"/>
              </a:spcBef>
              <a:spcAft>
                <a:spcPts val="0"/>
              </a:spcAft>
              <a:buClr>
                <a:schemeClr val="dk1"/>
              </a:buClr>
              <a:buSzPts val="3600"/>
              <a:buNone/>
            </a:pPr>
            <a:r>
              <a:t/>
            </a:r>
            <a:endParaRPr sz="3600"/>
          </a:p>
          <a:p>
            <a:pPr indent="-228600" lvl="0" marL="228600" rtl="0" algn="l">
              <a:lnSpc>
                <a:spcPct val="90000"/>
              </a:lnSpc>
              <a:spcBef>
                <a:spcPts val="1000"/>
              </a:spcBef>
              <a:spcAft>
                <a:spcPts val="0"/>
              </a:spcAft>
              <a:buClr>
                <a:schemeClr val="dk1"/>
              </a:buClr>
              <a:buSzPts val="1800"/>
              <a:buFont typeface="Arial"/>
              <a:buNone/>
            </a:pPr>
            <a:r>
              <a:t/>
            </a:r>
            <a:endParaRPr sz="1800"/>
          </a:p>
          <a:p>
            <a:pPr indent="-228600" lvl="0" marL="228600" rtl="0" algn="l">
              <a:lnSpc>
                <a:spcPct val="90000"/>
              </a:lnSpc>
              <a:spcBef>
                <a:spcPts val="1000"/>
              </a:spcBef>
              <a:spcAft>
                <a:spcPts val="0"/>
              </a:spcAft>
              <a:buClr>
                <a:schemeClr val="dk1"/>
              </a:buClr>
              <a:buSzPts val="1800"/>
              <a:buChar char="•"/>
            </a:pPr>
            <a:r>
              <a:rPr lang="en-US" sz="1800"/>
              <a:t>Fitness function: #non-attacking queen pairs</a:t>
            </a:r>
            <a:endParaRPr/>
          </a:p>
          <a:p>
            <a:pPr indent="-228600" lvl="1" marL="685800" rtl="0" algn="l">
              <a:lnSpc>
                <a:spcPct val="90000"/>
              </a:lnSpc>
              <a:spcBef>
                <a:spcPts val="500"/>
              </a:spcBef>
              <a:spcAft>
                <a:spcPts val="0"/>
              </a:spcAft>
              <a:buClr>
                <a:schemeClr val="dk1"/>
              </a:buClr>
              <a:buSzPts val="1400"/>
              <a:buChar char="•"/>
            </a:pPr>
            <a:r>
              <a:rPr lang="en-US" sz="1400"/>
              <a:t>min = 0, max = 8 × 7/2 = 28</a:t>
            </a:r>
            <a:endParaRPr/>
          </a:p>
          <a:p>
            <a:pPr indent="-228600" lvl="0" marL="228600" rtl="0" algn="l">
              <a:lnSpc>
                <a:spcPct val="90000"/>
              </a:lnSpc>
              <a:spcBef>
                <a:spcPts val="1000"/>
              </a:spcBef>
              <a:spcAft>
                <a:spcPts val="0"/>
              </a:spcAft>
              <a:buClr>
                <a:schemeClr val="dk1"/>
              </a:buClr>
              <a:buSzPts val="1800"/>
              <a:buChar char="•"/>
            </a:pPr>
            <a:r>
              <a:rPr lang="en-US" sz="1800"/>
              <a:t>Σ</a:t>
            </a:r>
            <a:r>
              <a:rPr baseline="-25000" lang="en-US" sz="1800"/>
              <a:t>i</a:t>
            </a:r>
            <a:r>
              <a:rPr lang="en-US" sz="1800"/>
              <a:t> fitness_i = 24+23+20+11 = 78</a:t>
            </a:r>
            <a:endParaRPr/>
          </a:p>
          <a:p>
            <a:pPr indent="-228600" lvl="0" marL="228600" rtl="0" algn="l">
              <a:lnSpc>
                <a:spcPct val="90000"/>
              </a:lnSpc>
              <a:spcBef>
                <a:spcPts val="1000"/>
              </a:spcBef>
              <a:spcAft>
                <a:spcPts val="0"/>
              </a:spcAft>
              <a:buClr>
                <a:schemeClr val="dk1"/>
              </a:buClr>
              <a:buSzPts val="1800"/>
              <a:buChar char="•"/>
            </a:pPr>
            <a:r>
              <a:rPr lang="en-US" sz="1800"/>
              <a:t>P(pick child_1 for next gen.) = fitness_1/(Σ_i fitness_i) = 24/78 = 31%</a:t>
            </a:r>
            <a:endParaRPr/>
          </a:p>
          <a:p>
            <a:pPr indent="-228600" lvl="0" marL="228600" rtl="0" algn="l">
              <a:lnSpc>
                <a:spcPct val="90000"/>
              </a:lnSpc>
              <a:spcBef>
                <a:spcPts val="1000"/>
              </a:spcBef>
              <a:spcAft>
                <a:spcPts val="0"/>
              </a:spcAft>
              <a:buClr>
                <a:schemeClr val="dk1"/>
              </a:buClr>
              <a:buSzPts val="1800"/>
              <a:buChar char="•"/>
            </a:pPr>
            <a:r>
              <a:rPr lang="en-US" sz="1800"/>
              <a:t>P(pick child_2 for next gen.) = fitness_2/(Σ_i fitness_i) = 23/78 = 29%; etc</a:t>
            </a:r>
            <a:endParaRPr sz="1800"/>
          </a:p>
        </p:txBody>
      </p:sp>
      <p:pic>
        <p:nvPicPr>
          <p:cNvPr descr="genetic" id="315" name="Google Shape;315;g3c73369c4b1_0_116"/>
          <p:cNvPicPr preferRelativeResize="0"/>
          <p:nvPr/>
        </p:nvPicPr>
        <p:blipFill rotWithShape="1">
          <a:blip r:embed="rId3">
            <a:alphaModFix/>
          </a:blip>
          <a:srcRect b="0" l="0" r="0" t="0"/>
          <a:stretch/>
        </p:blipFill>
        <p:spPr>
          <a:xfrm>
            <a:off x="1524000" y="0"/>
            <a:ext cx="7772400" cy="2355850"/>
          </a:xfrm>
          <a:prstGeom prst="rect">
            <a:avLst/>
          </a:prstGeom>
          <a:noFill/>
          <a:ln>
            <a:noFill/>
          </a:ln>
        </p:spPr>
      </p:pic>
      <p:pic>
        <p:nvPicPr>
          <p:cNvPr descr="8queens-crossover" id="316" name="Google Shape;316;g3c73369c4b1_0_116"/>
          <p:cNvPicPr preferRelativeResize="0"/>
          <p:nvPr/>
        </p:nvPicPr>
        <p:blipFill rotWithShape="1">
          <a:blip r:embed="rId4">
            <a:alphaModFix/>
          </a:blip>
          <a:srcRect b="0" l="0" r="0" t="0"/>
          <a:stretch/>
        </p:blipFill>
        <p:spPr>
          <a:xfrm>
            <a:off x="3867150" y="2514601"/>
            <a:ext cx="6800850" cy="1990725"/>
          </a:xfrm>
          <a:prstGeom prst="rect">
            <a:avLst/>
          </a:prstGeom>
          <a:noFill/>
          <a:ln>
            <a:noFill/>
          </a:ln>
        </p:spPr>
      </p:pic>
      <p:cxnSp>
        <p:nvCxnSpPr>
          <p:cNvPr id="317" name="Google Shape;317;g3c73369c4b1_0_116"/>
          <p:cNvCxnSpPr/>
          <p:nvPr/>
        </p:nvCxnSpPr>
        <p:spPr>
          <a:xfrm flipH="1" rot="10800000">
            <a:off x="2395538" y="1676400"/>
            <a:ext cx="728700" cy="1066800"/>
          </a:xfrm>
          <a:prstGeom prst="straightConnector1">
            <a:avLst/>
          </a:prstGeom>
          <a:noFill/>
          <a:ln cap="flat" cmpd="sng" w="25400">
            <a:solidFill>
              <a:srgbClr val="C0504D"/>
            </a:solidFill>
            <a:prstDash val="solid"/>
            <a:round/>
            <a:headEnd len="med" w="med" type="none"/>
            <a:tailEnd len="lg" w="lg" type="triangle"/>
          </a:ln>
        </p:spPr>
      </p:cxnSp>
      <p:cxnSp>
        <p:nvCxnSpPr>
          <p:cNvPr id="318" name="Google Shape;318;g3c73369c4b1_0_116"/>
          <p:cNvCxnSpPr/>
          <p:nvPr/>
        </p:nvCxnSpPr>
        <p:spPr>
          <a:xfrm rot="10800000">
            <a:off x="3505200" y="1676400"/>
            <a:ext cx="0" cy="2133600"/>
          </a:xfrm>
          <a:prstGeom prst="straightConnector1">
            <a:avLst/>
          </a:prstGeom>
          <a:noFill/>
          <a:ln cap="flat" cmpd="sng" w="25400">
            <a:solidFill>
              <a:srgbClr val="C0504D"/>
            </a:solidFill>
            <a:prstDash val="solid"/>
            <a:round/>
            <a:headEnd len="med" w="med" type="none"/>
            <a:tailEnd len="lg" w="lg" type="triangle"/>
          </a:ln>
        </p:spPr>
      </p:cxnSp>
      <p:sp>
        <p:nvSpPr>
          <p:cNvPr id="319" name="Google Shape;319;g3c73369c4b1_0_116"/>
          <p:cNvSpPr txBox="1"/>
          <p:nvPr/>
        </p:nvSpPr>
        <p:spPr>
          <a:xfrm>
            <a:off x="1647826" y="3810000"/>
            <a:ext cx="1857300" cy="738900"/>
          </a:xfrm>
          <a:prstGeom prst="rect">
            <a:avLst/>
          </a:prstGeom>
          <a:noFill/>
          <a:ln cap="flat" cmpd="sng" w="254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accent2"/>
                </a:solidFill>
                <a:latin typeface="Tahoma"/>
                <a:ea typeface="Tahoma"/>
                <a:cs typeface="Tahoma"/>
                <a:sym typeface="Tahoma"/>
              </a:rPr>
              <a:t>probability of being </a:t>
            </a:r>
            <a:endParaRPr/>
          </a:p>
          <a:p>
            <a:pPr indent="0" lvl="0" marL="0" marR="0" rtl="0" algn="l">
              <a:spcBef>
                <a:spcPts val="0"/>
              </a:spcBef>
              <a:spcAft>
                <a:spcPts val="0"/>
              </a:spcAft>
              <a:buNone/>
            </a:pPr>
            <a:r>
              <a:rPr lang="en-US" sz="1400">
                <a:solidFill>
                  <a:schemeClr val="accent2"/>
                </a:solidFill>
                <a:latin typeface="Tahoma"/>
                <a:ea typeface="Tahoma"/>
                <a:cs typeface="Tahoma"/>
                <a:sym typeface="Tahoma"/>
              </a:rPr>
              <a:t>in next generation =</a:t>
            </a:r>
            <a:endParaRPr/>
          </a:p>
          <a:p>
            <a:pPr indent="0" lvl="0" marL="0" marR="0" rtl="0" algn="l">
              <a:spcBef>
                <a:spcPts val="0"/>
              </a:spcBef>
              <a:spcAft>
                <a:spcPts val="0"/>
              </a:spcAft>
              <a:buNone/>
            </a:pPr>
            <a:r>
              <a:rPr lang="en-US" sz="1400">
                <a:solidFill>
                  <a:schemeClr val="accent2"/>
                </a:solidFill>
                <a:latin typeface="Tahoma"/>
                <a:ea typeface="Tahoma"/>
                <a:cs typeface="Tahoma"/>
                <a:sym typeface="Tahoma"/>
              </a:rPr>
              <a:t>fitness/(Σ_i fitness_i)</a:t>
            </a:r>
            <a:endParaRPr sz="1400">
              <a:solidFill>
                <a:schemeClr val="accent2"/>
              </a:solidFill>
              <a:latin typeface="Tahoma"/>
              <a:ea typeface="Tahoma"/>
              <a:cs typeface="Tahoma"/>
              <a:sym typeface="Tahoma"/>
            </a:endParaRPr>
          </a:p>
        </p:txBody>
      </p:sp>
      <p:sp>
        <p:nvSpPr>
          <p:cNvPr id="320" name="Google Shape;320;g3c73369c4b1_0_116"/>
          <p:cNvSpPr txBox="1"/>
          <p:nvPr/>
        </p:nvSpPr>
        <p:spPr>
          <a:xfrm>
            <a:off x="8001000" y="4659313"/>
            <a:ext cx="2438400" cy="1200600"/>
          </a:xfrm>
          <a:prstGeom prst="rect">
            <a:avLst/>
          </a:prstGeom>
          <a:noFill/>
          <a:ln cap="flat" cmpd="sng" w="9525">
            <a:solidFill>
              <a:srgbClr val="C0504D"/>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accent2"/>
                </a:solidFill>
                <a:latin typeface="Arial"/>
                <a:ea typeface="Arial"/>
                <a:cs typeface="Arial"/>
                <a:sym typeface="Arial"/>
              </a:rPr>
              <a:t>How to convert a fitness value into a probability of being in the next generation.</a:t>
            </a:r>
            <a:endParaRPr/>
          </a:p>
        </p:txBody>
      </p:sp>
      <p:cxnSp>
        <p:nvCxnSpPr>
          <p:cNvPr id="321" name="Google Shape;321;g3c73369c4b1_0_116"/>
          <p:cNvCxnSpPr/>
          <p:nvPr/>
        </p:nvCxnSpPr>
        <p:spPr>
          <a:xfrm flipH="1" rot="10800000">
            <a:off x="3867150" y="381000"/>
            <a:ext cx="247800" cy="2133600"/>
          </a:xfrm>
          <a:prstGeom prst="straightConnector1">
            <a:avLst/>
          </a:prstGeom>
          <a:noFill/>
          <a:ln cap="flat" cmpd="sng" w="25400">
            <a:solidFill>
              <a:srgbClr val="C0504D"/>
            </a:solidFill>
            <a:prstDash val="solid"/>
            <a:round/>
            <a:headEnd len="med" w="med" type="none"/>
            <a:tailEnd len="lg" w="lg" type="triangle"/>
          </a:ln>
        </p:spPr>
      </p:cxnSp>
      <p:cxnSp>
        <p:nvCxnSpPr>
          <p:cNvPr id="322" name="Google Shape;322;g3c73369c4b1_0_116"/>
          <p:cNvCxnSpPr/>
          <p:nvPr/>
        </p:nvCxnSpPr>
        <p:spPr>
          <a:xfrm rot="10800000">
            <a:off x="5410200" y="762000"/>
            <a:ext cx="914400" cy="1752600"/>
          </a:xfrm>
          <a:prstGeom prst="straightConnector1">
            <a:avLst/>
          </a:prstGeom>
          <a:noFill/>
          <a:ln cap="flat" cmpd="sng" w="25400">
            <a:solidFill>
              <a:srgbClr val="C0504D"/>
            </a:solidFill>
            <a:prstDash val="solid"/>
            <a:round/>
            <a:headEnd len="med" w="med" type="none"/>
            <a:tailEnd len="lg" w="lg" type="triangle"/>
          </a:ln>
        </p:spPr>
      </p:cxnSp>
      <p:cxnSp>
        <p:nvCxnSpPr>
          <p:cNvPr id="323" name="Google Shape;323;g3c73369c4b1_0_116"/>
          <p:cNvCxnSpPr/>
          <p:nvPr/>
        </p:nvCxnSpPr>
        <p:spPr>
          <a:xfrm rot="10800000">
            <a:off x="7391400" y="381000"/>
            <a:ext cx="1295400" cy="2133600"/>
          </a:xfrm>
          <a:prstGeom prst="straightConnector1">
            <a:avLst/>
          </a:prstGeom>
          <a:noFill/>
          <a:ln cap="flat" cmpd="sng" w="25400">
            <a:solidFill>
              <a:srgbClr val="C0504D"/>
            </a:solidFill>
            <a:prstDash val="solid"/>
            <a:round/>
            <a:headEnd len="med" w="med" type="none"/>
            <a:tailEnd len="lg" w="lg" type="triangle"/>
          </a:ln>
        </p:spPr>
      </p:cxnSp>
      <p:cxnSp>
        <p:nvCxnSpPr>
          <p:cNvPr id="324" name="Google Shape;324;g3c73369c4b1_0_116"/>
          <p:cNvCxnSpPr/>
          <p:nvPr/>
        </p:nvCxnSpPr>
        <p:spPr>
          <a:xfrm flipH="1">
            <a:off x="6934200" y="5259388"/>
            <a:ext cx="1066800" cy="455700"/>
          </a:xfrm>
          <a:prstGeom prst="straightConnector1">
            <a:avLst/>
          </a:prstGeom>
          <a:noFill/>
          <a:ln cap="flat" cmpd="sng" w="25400">
            <a:solidFill>
              <a:srgbClr val="C0504D"/>
            </a:solidFill>
            <a:prstDash val="solid"/>
            <a:round/>
            <a:headEnd len="med" w="med" type="none"/>
            <a:tailEnd len="lg" w="lg"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c73369c4b1_0_207"/>
          <p:cNvSpPr txBox="1"/>
          <p:nvPr>
            <p:ph type="title"/>
          </p:nvPr>
        </p:nvSpPr>
        <p:spPr>
          <a:xfrm>
            <a:off x="917576" y="609275"/>
            <a:ext cx="4865100" cy="69390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rgbClr val="1F3863"/>
              </a:buClr>
              <a:buSzPts val="4400"/>
              <a:buFont typeface="Arial"/>
              <a:buNone/>
            </a:pPr>
            <a:r>
              <a:rPr b="1" lang="en-US" sz="4400">
                <a:solidFill>
                  <a:srgbClr val="1F3863"/>
                </a:solidFill>
                <a:latin typeface="Arial"/>
                <a:ea typeface="Arial"/>
                <a:cs typeface="Arial"/>
                <a:sym typeface="Arial"/>
              </a:rPr>
              <a:t>Fitness function</a:t>
            </a:r>
            <a:endParaRPr sz="4400">
              <a:latin typeface="Arial"/>
              <a:ea typeface="Arial"/>
              <a:cs typeface="Arial"/>
              <a:sym typeface="Arial"/>
            </a:endParaRPr>
          </a:p>
        </p:txBody>
      </p:sp>
      <p:grpSp>
        <p:nvGrpSpPr>
          <p:cNvPr id="330" name="Google Shape;330;g3c73369c4b1_0_207"/>
          <p:cNvGrpSpPr/>
          <p:nvPr/>
        </p:nvGrpSpPr>
        <p:grpSpPr>
          <a:xfrm>
            <a:off x="1505455" y="1851582"/>
            <a:ext cx="7759720" cy="3739258"/>
            <a:chOff x="828281" y="2254668"/>
            <a:chExt cx="7611300" cy="3291600"/>
          </a:xfrm>
        </p:grpSpPr>
        <p:sp>
          <p:nvSpPr>
            <p:cNvPr id="331" name="Google Shape;331;g3c73369c4b1_0_207"/>
            <p:cNvSpPr/>
            <p:nvPr/>
          </p:nvSpPr>
          <p:spPr>
            <a:xfrm>
              <a:off x="828281" y="2254668"/>
              <a:ext cx="7611300" cy="32916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g3c73369c4b1_0_207"/>
            <p:cNvSpPr/>
            <p:nvPr/>
          </p:nvSpPr>
          <p:spPr>
            <a:xfrm>
              <a:off x="2833116" y="4631935"/>
              <a:ext cx="375285" cy="369570"/>
            </a:xfrm>
            <a:custGeom>
              <a:rect b="b" l="l" r="r" t="t"/>
              <a:pathLst>
                <a:path extrusionOk="0" h="369570" w="375285">
                  <a:moveTo>
                    <a:pt x="374748" y="0"/>
                  </a:moveTo>
                  <a:lnTo>
                    <a:pt x="0" y="0"/>
                  </a:lnTo>
                  <a:lnTo>
                    <a:pt x="0" y="369320"/>
                  </a:lnTo>
                  <a:lnTo>
                    <a:pt x="374748" y="369320"/>
                  </a:lnTo>
                  <a:lnTo>
                    <a:pt x="37474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g3c73369c4b1_0_207"/>
            <p:cNvSpPr/>
            <p:nvPr/>
          </p:nvSpPr>
          <p:spPr>
            <a:xfrm>
              <a:off x="2833116" y="4631935"/>
              <a:ext cx="375285" cy="369570"/>
            </a:xfrm>
            <a:custGeom>
              <a:rect b="b" l="l" r="r" t="t"/>
              <a:pathLst>
                <a:path extrusionOk="0" h="369570" w="375285">
                  <a:moveTo>
                    <a:pt x="0" y="369320"/>
                  </a:moveTo>
                  <a:lnTo>
                    <a:pt x="374748" y="369320"/>
                  </a:lnTo>
                  <a:lnTo>
                    <a:pt x="374748" y="0"/>
                  </a:lnTo>
                  <a:lnTo>
                    <a:pt x="0" y="0"/>
                  </a:lnTo>
                  <a:lnTo>
                    <a:pt x="0" y="369320"/>
                  </a:lnTo>
                  <a:close/>
                </a:path>
              </a:pathLst>
            </a:custGeom>
            <a:noFill/>
            <a:ln cap="flat" cmpd="sng" w="12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4" name="Google Shape;334;g3c73369c4b1_0_207"/>
          <p:cNvSpPr txBox="1"/>
          <p:nvPr/>
        </p:nvSpPr>
        <p:spPr>
          <a:xfrm>
            <a:off x="5209544" y="3286439"/>
            <a:ext cx="28542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Arial"/>
                <a:ea typeface="Arial"/>
                <a:cs typeface="Arial"/>
                <a:sym typeface="Arial"/>
              </a:rPr>
              <a:t>Probability= 24+23+20+11= 78</a:t>
            </a:r>
            <a:endParaRPr sz="1800">
              <a:solidFill>
                <a:schemeClr val="dk1"/>
              </a:solidFill>
              <a:latin typeface="Arial"/>
              <a:ea typeface="Arial"/>
              <a:cs typeface="Arial"/>
              <a:sym typeface="Arial"/>
            </a:endParaRPr>
          </a:p>
        </p:txBody>
      </p:sp>
      <p:sp>
        <p:nvSpPr>
          <p:cNvPr id="335" name="Google Shape;335;g3c73369c4b1_0_207"/>
          <p:cNvSpPr/>
          <p:nvPr/>
        </p:nvSpPr>
        <p:spPr>
          <a:xfrm>
            <a:off x="869429" y="1469014"/>
            <a:ext cx="10193655" cy="45084"/>
          </a:xfrm>
          <a:custGeom>
            <a:rect b="b" l="l" r="r" t="t"/>
            <a:pathLst>
              <a:path extrusionOk="0" h="45084" w="10193655">
                <a:moveTo>
                  <a:pt x="0" y="44957"/>
                </a:moveTo>
                <a:lnTo>
                  <a:pt x="10193285" y="0"/>
                </a:lnTo>
              </a:path>
            </a:pathLst>
          </a:custGeom>
          <a:noFill/>
          <a:ln cap="flat" cmpd="sng" w="38075">
            <a:solidFill>
              <a:srgbClr val="5B9AD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c73369c4b1_0_217"/>
          <p:cNvSpPr txBox="1"/>
          <p:nvPr>
            <p:ph type="title"/>
          </p:nvPr>
        </p:nvSpPr>
        <p:spPr>
          <a:xfrm>
            <a:off x="917577" y="609275"/>
            <a:ext cx="3993300" cy="69390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chemeClr val="dk1"/>
              </a:buClr>
              <a:buSzPts val="4400"/>
              <a:buFont typeface="Arial"/>
              <a:buNone/>
            </a:pPr>
            <a:r>
              <a:rPr b="1" lang="en-US" sz="4400">
                <a:latin typeface="Arial"/>
                <a:ea typeface="Arial"/>
                <a:cs typeface="Arial"/>
                <a:sym typeface="Arial"/>
              </a:rPr>
              <a:t>Probability</a:t>
            </a:r>
            <a:endParaRPr sz="4400">
              <a:latin typeface="Arial"/>
              <a:ea typeface="Arial"/>
              <a:cs typeface="Arial"/>
              <a:sym typeface="Arial"/>
            </a:endParaRPr>
          </a:p>
        </p:txBody>
      </p:sp>
      <p:sp>
        <p:nvSpPr>
          <p:cNvPr id="341" name="Google Shape;341;g3c73369c4b1_0_217"/>
          <p:cNvSpPr/>
          <p:nvPr/>
        </p:nvSpPr>
        <p:spPr>
          <a:xfrm>
            <a:off x="1159727" y="1885036"/>
            <a:ext cx="8164200" cy="3661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g3c73369c4b1_0_217"/>
          <p:cNvSpPr txBox="1"/>
          <p:nvPr/>
        </p:nvSpPr>
        <p:spPr>
          <a:xfrm>
            <a:off x="4999359" y="3040694"/>
            <a:ext cx="4344600" cy="945600"/>
          </a:xfrm>
          <a:prstGeom prst="rect">
            <a:avLst/>
          </a:prstGeom>
          <a:noFill/>
          <a:ln>
            <a:noFill/>
          </a:ln>
        </p:spPr>
        <p:txBody>
          <a:bodyPr anchorCtr="0" anchor="t" bIns="0" lIns="0" spcFirstLastPara="1" rIns="0" wrap="square" tIns="12700">
            <a:spAutoFit/>
          </a:bodyPr>
          <a:lstStyle/>
          <a:p>
            <a:pPr indent="0" lvl="0" marL="12700" marR="0" rtl="0" algn="l">
              <a:lnSpc>
                <a:spcPct val="118333"/>
              </a:lnSpc>
              <a:spcBef>
                <a:spcPts val="0"/>
              </a:spcBef>
              <a:spcAft>
                <a:spcPts val="0"/>
              </a:spcAft>
              <a:buNone/>
            </a:pPr>
            <a:r>
              <a:rPr lang="en-US" sz="1800">
                <a:solidFill>
                  <a:schemeClr val="dk1"/>
                </a:solidFill>
                <a:latin typeface="Arial"/>
                <a:ea typeface="Arial"/>
                <a:cs typeface="Arial"/>
                <a:sym typeface="Arial"/>
              </a:rPr>
              <a:t>24/78= 0.307 Normalize 0.307</a:t>
            </a:r>
            <a:r>
              <a:rPr lang="en-US" sz="1800">
                <a:solidFill>
                  <a:schemeClr val="dk1"/>
                </a:solidFill>
                <a:latin typeface="Arial Black"/>
                <a:ea typeface="Arial Black"/>
                <a:cs typeface="Arial Black"/>
                <a:sym typeface="Arial Black"/>
              </a:rPr>
              <a:t>× 100 = 30.7%</a:t>
            </a:r>
            <a:endParaRPr sz="1800">
              <a:solidFill>
                <a:schemeClr val="dk1"/>
              </a:solidFill>
              <a:latin typeface="Arial Black"/>
              <a:ea typeface="Arial Black"/>
              <a:cs typeface="Arial Black"/>
              <a:sym typeface="Arial Black"/>
            </a:endParaRPr>
          </a:p>
          <a:p>
            <a:pPr indent="0" lvl="0" marL="12700" marR="0" rtl="0" algn="l">
              <a:lnSpc>
                <a:spcPct val="118333"/>
              </a:lnSpc>
              <a:spcBef>
                <a:spcPts val="0"/>
              </a:spcBef>
              <a:spcAft>
                <a:spcPts val="0"/>
              </a:spcAft>
              <a:buNone/>
            </a:pPr>
            <a:r>
              <a:rPr lang="en-US" sz="1800">
                <a:solidFill>
                  <a:schemeClr val="dk1"/>
                </a:solidFill>
                <a:latin typeface="Arial"/>
                <a:ea typeface="Arial"/>
                <a:cs typeface="Arial"/>
                <a:sym typeface="Arial"/>
              </a:rPr>
              <a:t>chance of being chosen probably</a:t>
            </a:r>
            <a:endParaRPr sz="1800">
              <a:solidFill>
                <a:schemeClr val="dk1"/>
              </a:solidFill>
              <a:latin typeface="Arial"/>
              <a:ea typeface="Arial"/>
              <a:cs typeface="Arial"/>
              <a:sym typeface="Arial"/>
            </a:endParaRPr>
          </a:p>
        </p:txBody>
      </p:sp>
      <p:sp>
        <p:nvSpPr>
          <p:cNvPr id="343" name="Google Shape;343;g3c73369c4b1_0_217"/>
          <p:cNvSpPr/>
          <p:nvPr/>
        </p:nvSpPr>
        <p:spPr>
          <a:xfrm>
            <a:off x="869429" y="1469014"/>
            <a:ext cx="10193655" cy="45084"/>
          </a:xfrm>
          <a:custGeom>
            <a:rect b="b" l="l" r="r" t="t"/>
            <a:pathLst>
              <a:path extrusionOk="0" h="45084" w="10193655">
                <a:moveTo>
                  <a:pt x="0" y="44957"/>
                </a:moveTo>
                <a:lnTo>
                  <a:pt x="10193285" y="0"/>
                </a:lnTo>
              </a:path>
            </a:pathLst>
          </a:custGeom>
          <a:noFill/>
          <a:ln cap="flat" cmpd="sng" w="38075">
            <a:solidFill>
              <a:srgbClr val="5B9AD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c73369c4b1_0_224"/>
          <p:cNvSpPr txBox="1"/>
          <p:nvPr>
            <p:ph type="title"/>
          </p:nvPr>
        </p:nvSpPr>
        <p:spPr>
          <a:xfrm>
            <a:off x="917576" y="609275"/>
            <a:ext cx="4288200" cy="69390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chemeClr val="dk1"/>
              </a:buClr>
              <a:buSzPts val="4400"/>
              <a:buFont typeface="Arial"/>
              <a:buNone/>
            </a:pPr>
            <a:r>
              <a:rPr b="1" lang="en-US" sz="4400">
                <a:latin typeface="Arial"/>
                <a:ea typeface="Arial"/>
                <a:cs typeface="Arial"/>
                <a:sym typeface="Arial"/>
              </a:rPr>
              <a:t>Reproduction</a:t>
            </a:r>
            <a:endParaRPr sz="4400">
              <a:latin typeface="Arial"/>
              <a:ea typeface="Arial"/>
              <a:cs typeface="Arial"/>
              <a:sym typeface="Arial"/>
            </a:endParaRPr>
          </a:p>
        </p:txBody>
      </p:sp>
      <p:sp>
        <p:nvSpPr>
          <p:cNvPr id="349" name="Google Shape;349;g3c73369c4b1_0_224"/>
          <p:cNvSpPr/>
          <p:nvPr/>
        </p:nvSpPr>
        <p:spPr>
          <a:xfrm>
            <a:off x="917571" y="1817649"/>
            <a:ext cx="9335700" cy="39387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g3c73369c4b1_0_224"/>
          <p:cNvSpPr/>
          <p:nvPr/>
        </p:nvSpPr>
        <p:spPr>
          <a:xfrm>
            <a:off x="869429" y="1469014"/>
            <a:ext cx="10193655" cy="45084"/>
          </a:xfrm>
          <a:custGeom>
            <a:rect b="b" l="l" r="r" t="t"/>
            <a:pathLst>
              <a:path extrusionOk="0" h="45084" w="10193655">
                <a:moveTo>
                  <a:pt x="0" y="44957"/>
                </a:moveTo>
                <a:lnTo>
                  <a:pt x="10193285" y="0"/>
                </a:lnTo>
              </a:path>
            </a:pathLst>
          </a:custGeom>
          <a:noFill/>
          <a:ln cap="flat" cmpd="sng" w="38075">
            <a:solidFill>
              <a:srgbClr val="5B9AD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c73369c4b1_0_230"/>
          <p:cNvSpPr txBox="1"/>
          <p:nvPr>
            <p:ph type="title"/>
          </p:nvPr>
        </p:nvSpPr>
        <p:spPr>
          <a:xfrm>
            <a:off x="917577" y="609275"/>
            <a:ext cx="3698700" cy="693900"/>
          </a:xfrm>
          <a:prstGeom prst="rect">
            <a:avLst/>
          </a:prstGeom>
          <a:noFill/>
          <a:ln>
            <a:noFill/>
          </a:ln>
        </p:spPr>
        <p:txBody>
          <a:bodyPr anchorCtr="0" anchor="ctr" bIns="0" lIns="0" spcFirstLastPara="1" rIns="0" wrap="square" tIns="16500">
            <a:spAutoFit/>
          </a:bodyPr>
          <a:lstStyle/>
          <a:p>
            <a:pPr indent="0" lvl="0" marL="12700" rtl="0" algn="l">
              <a:lnSpc>
                <a:spcPct val="100000"/>
              </a:lnSpc>
              <a:spcBef>
                <a:spcPts val="0"/>
              </a:spcBef>
              <a:spcAft>
                <a:spcPts val="0"/>
              </a:spcAft>
              <a:buClr>
                <a:schemeClr val="dk1"/>
              </a:buClr>
              <a:buSzPts val="4400"/>
              <a:buFont typeface="Arial"/>
              <a:buNone/>
            </a:pPr>
            <a:r>
              <a:rPr b="1" lang="en-US" sz="4400">
                <a:latin typeface="Arial"/>
                <a:ea typeface="Arial"/>
                <a:cs typeface="Arial"/>
                <a:sym typeface="Arial"/>
              </a:rPr>
              <a:t>Crossover</a:t>
            </a:r>
            <a:endParaRPr sz="4400">
              <a:latin typeface="Arial"/>
              <a:ea typeface="Arial"/>
              <a:cs typeface="Arial"/>
              <a:sym typeface="Arial"/>
            </a:endParaRPr>
          </a:p>
        </p:txBody>
      </p:sp>
      <p:sp>
        <p:nvSpPr>
          <p:cNvPr id="356" name="Google Shape;356;g3c73369c4b1_0_230"/>
          <p:cNvSpPr/>
          <p:nvPr/>
        </p:nvSpPr>
        <p:spPr>
          <a:xfrm>
            <a:off x="1315843" y="1951576"/>
            <a:ext cx="8146500" cy="35436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g3c73369c4b1_0_230"/>
          <p:cNvSpPr/>
          <p:nvPr/>
        </p:nvSpPr>
        <p:spPr>
          <a:xfrm>
            <a:off x="869429" y="1469014"/>
            <a:ext cx="10193655" cy="45084"/>
          </a:xfrm>
          <a:custGeom>
            <a:rect b="b" l="l" r="r" t="t"/>
            <a:pathLst>
              <a:path extrusionOk="0" h="45084" w="10193655">
                <a:moveTo>
                  <a:pt x="0" y="44957"/>
                </a:moveTo>
                <a:lnTo>
                  <a:pt x="10193285" y="0"/>
                </a:lnTo>
              </a:path>
            </a:pathLst>
          </a:custGeom>
          <a:noFill/>
          <a:ln cap="flat" cmpd="sng" w="38075">
            <a:solidFill>
              <a:srgbClr val="5B9AD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3c73369c4b1_0_236"/>
          <p:cNvSpPr txBox="1"/>
          <p:nvPr>
            <p:ph type="title"/>
          </p:nvPr>
        </p:nvSpPr>
        <p:spPr>
          <a:xfrm>
            <a:off x="917576" y="572775"/>
            <a:ext cx="3147300" cy="75240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chemeClr val="dk1"/>
              </a:buClr>
              <a:buSzPts val="4800"/>
              <a:buFont typeface="Arial"/>
              <a:buNone/>
            </a:pPr>
            <a:r>
              <a:rPr b="1" lang="en-US" sz="4800">
                <a:latin typeface="Arial"/>
                <a:ea typeface="Arial"/>
                <a:cs typeface="Arial"/>
                <a:sym typeface="Arial"/>
              </a:rPr>
              <a:t>Mutation</a:t>
            </a:r>
            <a:endParaRPr sz="4800">
              <a:latin typeface="Arial"/>
              <a:ea typeface="Arial"/>
              <a:cs typeface="Arial"/>
              <a:sym typeface="Arial"/>
            </a:endParaRPr>
          </a:p>
        </p:txBody>
      </p:sp>
      <p:sp>
        <p:nvSpPr>
          <p:cNvPr id="363" name="Google Shape;363;g3c73369c4b1_0_236"/>
          <p:cNvSpPr/>
          <p:nvPr/>
        </p:nvSpPr>
        <p:spPr>
          <a:xfrm>
            <a:off x="869429" y="1963096"/>
            <a:ext cx="10133400" cy="3853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g3c73369c4b1_0_236"/>
          <p:cNvSpPr/>
          <p:nvPr/>
        </p:nvSpPr>
        <p:spPr>
          <a:xfrm>
            <a:off x="869429" y="1469014"/>
            <a:ext cx="10193655" cy="45084"/>
          </a:xfrm>
          <a:custGeom>
            <a:rect b="b" l="l" r="r" t="t"/>
            <a:pathLst>
              <a:path extrusionOk="0" h="45084" w="10193655">
                <a:moveTo>
                  <a:pt x="0" y="44957"/>
                </a:moveTo>
                <a:lnTo>
                  <a:pt x="10193285" y="0"/>
                </a:lnTo>
              </a:path>
            </a:pathLst>
          </a:custGeom>
          <a:noFill/>
          <a:ln cap="flat" cmpd="sng" w="38075">
            <a:solidFill>
              <a:srgbClr val="5B9AD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3c73369c4b1_0_242"/>
          <p:cNvSpPr/>
          <p:nvPr/>
        </p:nvSpPr>
        <p:spPr>
          <a:xfrm>
            <a:off x="749948" y="569206"/>
            <a:ext cx="10369500" cy="43227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highlight>
                <a:srgbClr val="FFFF00"/>
              </a:highlight>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8"/>
          <p:cNvSpPr txBox="1"/>
          <p:nvPr>
            <p:ph type="title"/>
          </p:nvPr>
        </p:nvSpPr>
        <p:spPr>
          <a:xfrm>
            <a:off x="917576" y="572775"/>
            <a:ext cx="5914200" cy="75240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chemeClr val="dk1"/>
              </a:buClr>
              <a:buSzPts val="4800"/>
              <a:buFont typeface="Arial"/>
              <a:buNone/>
            </a:pPr>
            <a:r>
              <a:rPr b="1" lang="en-US" sz="4800">
                <a:latin typeface="Arial"/>
                <a:ea typeface="Arial"/>
                <a:cs typeface="Arial"/>
                <a:sym typeface="Arial"/>
              </a:rPr>
              <a:t>Knapsack Problem</a:t>
            </a:r>
            <a:endParaRPr sz="4800">
              <a:latin typeface="Arial"/>
              <a:ea typeface="Arial"/>
              <a:cs typeface="Arial"/>
              <a:sym typeface="Arial"/>
            </a:endParaRPr>
          </a:p>
        </p:txBody>
      </p:sp>
      <p:sp>
        <p:nvSpPr>
          <p:cNvPr id="375" name="Google Shape;375;p28"/>
          <p:cNvSpPr/>
          <p:nvPr/>
        </p:nvSpPr>
        <p:spPr>
          <a:xfrm>
            <a:off x="869429" y="1469014"/>
            <a:ext cx="10193655" cy="45085"/>
          </a:xfrm>
          <a:custGeom>
            <a:rect b="b" l="l" r="r" t="t"/>
            <a:pathLst>
              <a:path extrusionOk="0" h="45084" w="10193655">
                <a:moveTo>
                  <a:pt x="0" y="44957"/>
                </a:moveTo>
                <a:lnTo>
                  <a:pt x="10193285" y="0"/>
                </a:lnTo>
              </a:path>
            </a:pathLst>
          </a:custGeom>
          <a:noFill/>
          <a:ln cap="flat" cmpd="sng" w="38075">
            <a:solidFill>
              <a:srgbClr val="5B9AD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28"/>
          <p:cNvSpPr txBox="1"/>
          <p:nvPr/>
        </p:nvSpPr>
        <p:spPr>
          <a:xfrm>
            <a:off x="917563" y="1804094"/>
            <a:ext cx="10368300" cy="2174700"/>
          </a:xfrm>
          <a:prstGeom prst="rect">
            <a:avLst/>
          </a:prstGeom>
          <a:noFill/>
          <a:ln>
            <a:noFill/>
          </a:ln>
        </p:spPr>
        <p:txBody>
          <a:bodyPr anchorCtr="0" anchor="t" bIns="0" lIns="0" spcFirstLastPara="1" rIns="0" wrap="square" tIns="49525">
            <a:spAutoFit/>
          </a:bodyPr>
          <a:lstStyle/>
          <a:p>
            <a:pPr indent="-229234" lvl="0" marL="241300" marR="5080" rtl="0" algn="just">
              <a:lnSpc>
                <a:spcPct val="9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Let’s say, you are going to spend a month in the wilderness. Only thing you are  carrying is the backpack which can hold a maximum weight of </a:t>
            </a:r>
            <a:r>
              <a:rPr b="1" lang="en-US" sz="2400">
                <a:solidFill>
                  <a:schemeClr val="dk1"/>
                </a:solidFill>
                <a:latin typeface="Arial"/>
                <a:ea typeface="Arial"/>
                <a:cs typeface="Arial"/>
                <a:sym typeface="Arial"/>
              </a:rPr>
              <a:t>30 kg</a:t>
            </a:r>
            <a:r>
              <a:rPr lang="en-US" sz="2400">
                <a:solidFill>
                  <a:schemeClr val="dk1"/>
                </a:solidFill>
                <a:latin typeface="Arial"/>
                <a:ea typeface="Arial"/>
                <a:cs typeface="Arial"/>
                <a:sym typeface="Arial"/>
              </a:rPr>
              <a:t>. Now you have different survival items, each having its own “Survival Points” (which are  given for each item in the table). So, your objective is maximize the survival  points.</a:t>
            </a:r>
            <a:endParaRPr sz="2400">
              <a:solidFill>
                <a:schemeClr val="dk1"/>
              </a:solidFill>
              <a:latin typeface="Arial"/>
              <a:ea typeface="Arial"/>
              <a:cs typeface="Arial"/>
              <a:sym typeface="Arial"/>
            </a:endParaRPr>
          </a:p>
          <a:p>
            <a:pPr indent="-229234" lvl="0" marL="241300" marR="0" rtl="0" algn="just">
              <a:lnSpc>
                <a:spcPct val="100000"/>
              </a:lnSpc>
              <a:spcBef>
                <a:spcPts val="725"/>
              </a:spcBef>
              <a:spcAft>
                <a:spcPts val="0"/>
              </a:spcAft>
              <a:buClr>
                <a:schemeClr val="dk1"/>
              </a:buClr>
              <a:buSzPts val="2400"/>
              <a:buFont typeface="Arial"/>
              <a:buChar char="•"/>
            </a:pPr>
            <a:r>
              <a:rPr lang="en-US" sz="2400">
                <a:solidFill>
                  <a:schemeClr val="dk1"/>
                </a:solidFill>
                <a:latin typeface="Arial"/>
                <a:ea typeface="Arial"/>
                <a:cs typeface="Arial"/>
                <a:sym typeface="Arial"/>
              </a:rPr>
              <a:t>Here is the table giving details about each item.</a:t>
            </a:r>
            <a:endParaRPr sz="2400">
              <a:solidFill>
                <a:schemeClr val="dk1"/>
              </a:solidFill>
              <a:latin typeface="Arial"/>
              <a:ea typeface="Arial"/>
              <a:cs typeface="Arial"/>
              <a:sym typeface="Arial"/>
            </a:endParaRPr>
          </a:p>
        </p:txBody>
      </p:sp>
      <p:sp>
        <p:nvSpPr>
          <p:cNvPr id="377" name="Google Shape;377;p28"/>
          <p:cNvSpPr/>
          <p:nvPr/>
        </p:nvSpPr>
        <p:spPr>
          <a:xfrm>
            <a:off x="1892104" y="4157664"/>
            <a:ext cx="8146953" cy="195262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Choose an initial population of four. Then choose best three subsequently (Encoding hint: 1 if item is chosen 0 otherwise)</a:t>
            </a:r>
            <a:endParaRPr/>
          </a:p>
          <a:p>
            <a:pPr indent="-228600" lvl="0" marL="228600" rtl="0" algn="l">
              <a:lnSpc>
                <a:spcPct val="90000"/>
              </a:lnSpc>
              <a:spcBef>
                <a:spcPts val="1000"/>
              </a:spcBef>
              <a:spcAft>
                <a:spcPts val="0"/>
              </a:spcAft>
              <a:buClr>
                <a:schemeClr val="dk1"/>
              </a:buClr>
              <a:buSzPts val="2800"/>
              <a:buChar char="•"/>
            </a:pPr>
            <a:r>
              <a:rPr lang="en-US"/>
              <a:t>Decide crossover point.</a:t>
            </a:r>
            <a:endParaRPr/>
          </a:p>
          <a:p>
            <a:pPr indent="-228600" lvl="0" marL="228600" rtl="0" algn="l">
              <a:lnSpc>
                <a:spcPct val="90000"/>
              </a:lnSpc>
              <a:spcBef>
                <a:spcPts val="1000"/>
              </a:spcBef>
              <a:spcAft>
                <a:spcPts val="0"/>
              </a:spcAft>
              <a:buClr>
                <a:schemeClr val="dk1"/>
              </a:buClr>
              <a:buSzPts val="2800"/>
              <a:buChar char="•"/>
            </a:pPr>
            <a:r>
              <a:rPr lang="en-US"/>
              <a:t>Chance of mutation = 50 items in 100 generations.</a:t>
            </a:r>
            <a:endParaRPr/>
          </a:p>
          <a:p>
            <a:pPr indent="-228600" lvl="0" marL="228600" rtl="0" algn="l">
              <a:lnSpc>
                <a:spcPct val="90000"/>
              </a:lnSpc>
              <a:spcBef>
                <a:spcPts val="1000"/>
              </a:spcBef>
              <a:spcAft>
                <a:spcPts val="0"/>
              </a:spcAft>
              <a:buClr>
                <a:schemeClr val="dk1"/>
              </a:buClr>
              <a:buSzPts val="2800"/>
              <a:buChar char="•"/>
            </a:pPr>
            <a:r>
              <a:rPr lang="en-US"/>
              <a:t>Step by step solution ahead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pic>
        <p:nvPicPr>
          <p:cNvPr id="387" name="Google Shape;387;p30"/>
          <p:cNvPicPr preferRelativeResize="0"/>
          <p:nvPr>
            <p:ph idx="1" type="body"/>
          </p:nvPr>
        </p:nvPicPr>
        <p:blipFill rotWithShape="1">
          <a:blip r:embed="rId3">
            <a:alphaModFix/>
          </a:blip>
          <a:srcRect b="0" l="0" r="0" t="0"/>
          <a:stretch/>
        </p:blipFill>
        <p:spPr>
          <a:xfrm rot="5400000">
            <a:off x="2246107" y="452386"/>
            <a:ext cx="6757200" cy="59019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p31"/>
          <p:cNvPicPr preferRelativeResize="0"/>
          <p:nvPr>
            <p:ph idx="1" type="body"/>
          </p:nvPr>
        </p:nvPicPr>
        <p:blipFill rotWithShape="1">
          <a:blip r:embed="rId3">
            <a:alphaModFix/>
          </a:blip>
          <a:srcRect b="0" l="0" r="0" t="0"/>
          <a:stretch/>
        </p:blipFill>
        <p:spPr>
          <a:xfrm rot="5400000">
            <a:off x="1926769" y="388917"/>
            <a:ext cx="6739247" cy="619891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32"/>
          <p:cNvPicPr preferRelativeResize="0"/>
          <p:nvPr>
            <p:ph idx="1" type="body"/>
          </p:nvPr>
        </p:nvPicPr>
        <p:blipFill rotWithShape="1">
          <a:blip r:embed="rId3">
            <a:alphaModFix/>
          </a:blip>
          <a:srcRect b="0" l="0" r="0" t="0"/>
          <a:stretch/>
        </p:blipFill>
        <p:spPr>
          <a:xfrm>
            <a:off x="2351314" y="1436915"/>
            <a:ext cx="7255823" cy="431074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p33"/>
          <p:cNvPicPr preferRelativeResize="0"/>
          <p:nvPr>
            <p:ph idx="1" type="body"/>
          </p:nvPr>
        </p:nvPicPr>
        <p:blipFill rotWithShape="1">
          <a:blip r:embed="rId3">
            <a:alphaModFix/>
          </a:blip>
          <a:srcRect b="0" l="0" r="0" t="0"/>
          <a:stretch/>
        </p:blipFill>
        <p:spPr>
          <a:xfrm rot="5400000">
            <a:off x="2149432" y="486889"/>
            <a:ext cx="6614559" cy="585453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pic>
        <p:nvPicPr>
          <p:cNvPr id="407" name="Google Shape;407;p34"/>
          <p:cNvPicPr preferRelativeResize="0"/>
          <p:nvPr>
            <p:ph idx="1" type="body"/>
          </p:nvPr>
        </p:nvPicPr>
        <p:blipFill rotWithShape="1">
          <a:blip r:embed="rId3">
            <a:alphaModFix/>
          </a:blip>
          <a:srcRect b="0" l="0" r="0" t="0"/>
          <a:stretch/>
        </p:blipFill>
        <p:spPr>
          <a:xfrm rot="5400000">
            <a:off x="2743580" y="315078"/>
            <a:ext cx="6708798" cy="6377049"/>
          </a:xfrm>
          <a:prstGeom prst="rect">
            <a:avLst/>
          </a:prstGeom>
          <a:noFill/>
          <a:ln>
            <a:noFill/>
          </a:ln>
        </p:spPr>
      </p:pic>
      <p:sp>
        <p:nvSpPr>
          <p:cNvPr id="408" name="Google Shape;408;p34"/>
          <p:cNvSpPr txBox="1"/>
          <p:nvPr/>
        </p:nvSpPr>
        <p:spPr>
          <a:xfrm>
            <a:off x="9630889" y="2850079"/>
            <a:ext cx="1971304"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You can do the third iteration on your own now. First two iterations have been done by me.</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5"/>
          <p:cNvSpPr txBox="1"/>
          <p:nvPr>
            <p:ph type="title"/>
          </p:nvPr>
        </p:nvSpPr>
        <p:spPr>
          <a:xfrm>
            <a:off x="917577" y="572775"/>
            <a:ext cx="3762300" cy="76770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chemeClr val="dk1"/>
              </a:buClr>
              <a:buSzPts val="4800"/>
              <a:buFont typeface="Arial"/>
              <a:buNone/>
            </a:pPr>
            <a:r>
              <a:rPr b="1" lang="en-US" sz="4900">
                <a:latin typeface="Arial"/>
                <a:ea typeface="Arial"/>
                <a:cs typeface="Arial"/>
                <a:sym typeface="Arial"/>
              </a:rPr>
              <a:t>Properties</a:t>
            </a:r>
            <a:endParaRPr sz="4900">
              <a:latin typeface="Arial"/>
              <a:ea typeface="Arial"/>
              <a:cs typeface="Arial"/>
              <a:sym typeface="Arial"/>
            </a:endParaRPr>
          </a:p>
        </p:txBody>
      </p:sp>
      <p:sp>
        <p:nvSpPr>
          <p:cNvPr id="414" name="Google Shape;414;p35"/>
          <p:cNvSpPr/>
          <p:nvPr/>
        </p:nvSpPr>
        <p:spPr>
          <a:xfrm>
            <a:off x="1110012" y="2299943"/>
            <a:ext cx="7568370" cy="233991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35"/>
          <p:cNvSpPr/>
          <p:nvPr/>
        </p:nvSpPr>
        <p:spPr>
          <a:xfrm>
            <a:off x="869429" y="1469014"/>
            <a:ext cx="10193655" cy="45085"/>
          </a:xfrm>
          <a:custGeom>
            <a:rect b="b" l="l" r="r" t="t"/>
            <a:pathLst>
              <a:path extrusionOk="0" h="45084" w="10193655">
                <a:moveTo>
                  <a:pt x="0" y="44957"/>
                </a:moveTo>
                <a:lnTo>
                  <a:pt x="10193285" y="0"/>
                </a:lnTo>
              </a:path>
            </a:pathLst>
          </a:custGeom>
          <a:noFill/>
          <a:ln cap="flat" cmpd="sng" w="38075">
            <a:solidFill>
              <a:srgbClr val="5B9AD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2020-02-17T19:02:34Z</dcterms:created>
  <dc:creator>Saeeda</dc:creator>
</cp:coreProperties>
</file>