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82" r:id="rId4"/>
    <p:sldId id="268" r:id="rId5"/>
    <p:sldId id="267" r:id="rId6"/>
    <p:sldId id="259" r:id="rId7"/>
    <p:sldId id="260" r:id="rId8"/>
    <p:sldId id="261" r:id="rId9"/>
    <p:sldId id="269" r:id="rId10"/>
    <p:sldId id="262" r:id="rId11"/>
    <p:sldId id="283" r:id="rId12"/>
    <p:sldId id="263" r:id="rId13"/>
    <p:sldId id="281" r:id="rId14"/>
    <p:sldId id="264" r:id="rId15"/>
    <p:sldId id="265" r:id="rId16"/>
    <p:sldId id="266"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8387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8520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6768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6893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2925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9806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9587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63674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394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655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32249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57154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9618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571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567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225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8/28/2024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8386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9514" y="3006810"/>
            <a:ext cx="9580605" cy="2010032"/>
          </a:xfrm>
        </p:spPr>
        <p:txBody>
          <a:bodyPr/>
          <a:lstStyle/>
          <a:p>
            <a:pPr algn="ctr"/>
            <a:r>
              <a:rPr lang="en-US" sz="6600" dirty="0" smtClean="0"/>
              <a:t>Chapter 2 – Database System Concepts and Architecture</a:t>
            </a:r>
            <a:endParaRPr lang="en-US" sz="6600" dirty="0"/>
          </a:p>
        </p:txBody>
      </p:sp>
    </p:spTree>
    <p:extLst>
      <p:ext uri="{BB962C8B-B14F-4D97-AF65-F5344CB8AC3E}">
        <p14:creationId xmlns:p14="http://schemas.microsoft.com/office/powerpoint/2010/main" val="3572750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1" y="1515763"/>
            <a:ext cx="8805777" cy="4124410"/>
          </a:xfrm>
        </p:spPr>
        <p:txBody>
          <a:bodyPr>
            <a:normAutofit fontScale="90000"/>
          </a:bodyPr>
          <a:lstStyle/>
          <a:p>
            <a:r>
              <a:rPr lang="en-US" sz="3100" cap="none" dirty="0" smtClean="0">
                <a:solidFill>
                  <a:schemeClr val="tx1"/>
                </a:solidFill>
              </a:rPr>
              <a:t>- </a:t>
            </a:r>
            <a:r>
              <a:rPr lang="en-US" sz="3100" dirty="0">
                <a:solidFill>
                  <a:schemeClr val="tx1"/>
                </a:solidFill>
              </a:rPr>
              <a:t>Data Model, Schema and Instance</a:t>
            </a:r>
            <a:r>
              <a:rPr lang="en-US" sz="3100" cap="none" dirty="0" smtClean="0">
                <a:solidFill>
                  <a:schemeClr val="tx1"/>
                </a:solidFill>
              </a:rPr>
              <a:t/>
            </a:r>
            <a:br>
              <a:rPr lang="en-US" sz="3100" cap="none" dirty="0" smtClean="0">
                <a:solidFill>
                  <a:schemeClr val="tx1"/>
                </a:solidFill>
              </a:rPr>
            </a:br>
            <a:r>
              <a:rPr lang="en-US" sz="3100" cap="none" dirty="0" smtClean="0">
                <a:solidFill>
                  <a:schemeClr val="tx1"/>
                </a:solidFill>
              </a:rPr>
              <a:t/>
            </a:r>
            <a:br>
              <a:rPr lang="en-US" sz="3100" cap="none" dirty="0" smtClean="0">
                <a:solidFill>
                  <a:schemeClr val="tx1"/>
                </a:solidFill>
              </a:rPr>
            </a:br>
            <a:r>
              <a:rPr lang="en-US" sz="3100" cap="none" dirty="0" smtClean="0">
                <a:solidFill>
                  <a:schemeClr val="tx1"/>
                </a:solidFill>
              </a:rPr>
              <a:t>- </a:t>
            </a:r>
            <a:r>
              <a:rPr lang="en-US" sz="3100" dirty="0" smtClean="0">
                <a:solidFill>
                  <a:schemeClr val="tx1"/>
                </a:solidFill>
              </a:rPr>
              <a:t>Three </a:t>
            </a:r>
            <a:r>
              <a:rPr lang="en-US" sz="3100" dirty="0">
                <a:solidFill>
                  <a:schemeClr val="tx1"/>
                </a:solidFill>
              </a:rPr>
              <a:t>schema architecture and data </a:t>
            </a:r>
            <a:r>
              <a:rPr lang="en-US" sz="3100" dirty="0" smtClean="0">
                <a:solidFill>
                  <a:schemeClr val="tx1"/>
                </a:solidFill>
              </a:rPr>
              <a:t>independence</a:t>
            </a:r>
            <a:br>
              <a:rPr lang="en-US" sz="3100" dirty="0" smtClean="0">
                <a:solidFill>
                  <a:schemeClr val="tx1"/>
                </a:solidFill>
              </a:rPr>
            </a:br>
            <a:r>
              <a:rPr lang="en-US" sz="3100" dirty="0" smtClean="0">
                <a:solidFill>
                  <a:schemeClr val="tx1"/>
                </a:solidFill>
              </a:rPr>
              <a:t/>
            </a:r>
            <a:br>
              <a:rPr lang="en-US" sz="3100" dirty="0" smtClean="0">
                <a:solidFill>
                  <a:schemeClr val="tx1"/>
                </a:solidFill>
              </a:rPr>
            </a:br>
            <a:r>
              <a:rPr lang="en-US" sz="3100" dirty="0" smtClean="0">
                <a:solidFill>
                  <a:schemeClr val="tx1"/>
                </a:solidFill>
              </a:rPr>
              <a:t>- Database </a:t>
            </a:r>
            <a:r>
              <a:rPr lang="en-US" sz="3100" dirty="0">
                <a:solidFill>
                  <a:schemeClr val="tx1"/>
                </a:solidFill>
              </a:rPr>
              <a:t>languages &amp; </a:t>
            </a:r>
            <a:r>
              <a:rPr lang="en-US" sz="3100" dirty="0" smtClean="0">
                <a:solidFill>
                  <a:schemeClr val="tx1"/>
                </a:solidFill>
              </a:rPr>
              <a:t>Interfaces</a:t>
            </a:r>
            <a:br>
              <a:rPr lang="en-US" sz="3100" dirty="0" smtClean="0">
                <a:solidFill>
                  <a:schemeClr val="tx1"/>
                </a:solidFill>
              </a:rPr>
            </a:br>
            <a:r>
              <a:rPr lang="en-US" sz="3100" dirty="0" smtClean="0">
                <a:solidFill>
                  <a:schemeClr val="tx1"/>
                </a:solidFill>
              </a:rPr>
              <a:t> </a:t>
            </a:r>
            <a:br>
              <a:rPr lang="en-US" sz="3100" dirty="0" smtClean="0">
                <a:solidFill>
                  <a:schemeClr val="tx1"/>
                </a:solidFill>
              </a:rPr>
            </a:br>
            <a:r>
              <a:rPr lang="en-US" sz="3100" dirty="0" smtClean="0">
                <a:solidFill>
                  <a:schemeClr val="tx1"/>
                </a:solidFill>
              </a:rPr>
              <a:t>- Database </a:t>
            </a:r>
            <a:r>
              <a:rPr lang="en-US" sz="3100" dirty="0">
                <a:solidFill>
                  <a:schemeClr val="tx1"/>
                </a:solidFill>
              </a:rPr>
              <a:t>systems environment</a:t>
            </a:r>
            <a:br>
              <a:rPr lang="en-US" sz="3100" dirty="0">
                <a:solidFill>
                  <a:schemeClr val="tx1"/>
                </a:solidFill>
              </a:rPr>
            </a:br>
            <a:r>
              <a:rPr lang="en-US" sz="3100" cap="none" dirty="0" smtClean="0">
                <a:solidFill>
                  <a:schemeClr val="tx1"/>
                </a:solidFill>
              </a:rPr>
              <a:t/>
            </a:r>
            <a:br>
              <a:rPr lang="en-US" sz="3100" cap="none" dirty="0" smtClean="0">
                <a:solidFill>
                  <a:schemeClr val="tx1"/>
                </a:solidFill>
              </a:rPr>
            </a:br>
            <a:r>
              <a:rPr lang="en-US" sz="3100" cap="none" dirty="0" smtClean="0">
                <a:solidFill>
                  <a:schemeClr val="tx1"/>
                </a:solidFill>
              </a:rPr>
              <a:t>- </a:t>
            </a:r>
            <a:r>
              <a:rPr lang="en-US" sz="3100" dirty="0" smtClean="0">
                <a:solidFill>
                  <a:schemeClr val="tx1"/>
                </a:solidFill>
              </a:rPr>
              <a:t>Classification </a:t>
            </a:r>
            <a:r>
              <a:rPr lang="en-US" sz="3100" dirty="0">
                <a:solidFill>
                  <a:schemeClr val="tx1"/>
                </a:solidFill>
              </a:rPr>
              <a:t>of </a:t>
            </a:r>
            <a:r>
              <a:rPr lang="en-US" sz="3100" dirty="0" smtClean="0">
                <a:solidFill>
                  <a:schemeClr val="tx1"/>
                </a:solidFill>
              </a:rPr>
              <a:t>DBMS</a:t>
            </a:r>
            <a:br>
              <a:rPr lang="en-US" sz="3100" dirty="0" smtClean="0">
                <a:solidFill>
                  <a:schemeClr val="tx1"/>
                </a:solidFill>
              </a:rPr>
            </a:br>
            <a:r>
              <a:rPr lang="en-US" sz="3100" cap="none" dirty="0" smtClean="0">
                <a:solidFill>
                  <a:schemeClr val="tx1"/>
                </a:solidFill>
              </a:rPr>
              <a:t/>
            </a:r>
            <a:br>
              <a:rPr lang="en-US" sz="3100" cap="none" dirty="0" smtClean="0">
                <a:solidFill>
                  <a:schemeClr val="tx1"/>
                </a:solidFill>
              </a:rPr>
            </a:br>
            <a:r>
              <a:rPr lang="en-US" sz="3100" cap="none" dirty="0" smtClean="0">
                <a:solidFill>
                  <a:schemeClr val="tx1"/>
                </a:solidFill>
              </a:rPr>
              <a:t/>
            </a:r>
            <a:br>
              <a:rPr lang="en-US" sz="3100" cap="none" dirty="0" smtClean="0">
                <a:solidFill>
                  <a:schemeClr val="tx1"/>
                </a:solidFill>
              </a:rPr>
            </a:br>
            <a:r>
              <a:rPr lang="en-US" dirty="0">
                <a:solidFill>
                  <a:schemeClr val="tx1"/>
                </a:solidFill>
              </a:rPr>
              <a:t/>
            </a:r>
            <a:br>
              <a:rPr lang="en-US" dirty="0">
                <a:solidFill>
                  <a:schemeClr val="tx1"/>
                </a:solidFill>
              </a:rPr>
            </a:br>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US" dirty="0" smtClean="0"/>
              <a:t/>
            </a:r>
            <a:br>
              <a:rPr lang="en-US" dirty="0" smtClean="0"/>
            </a:br>
            <a:endParaRPr lang="en-US" dirty="0"/>
          </a:p>
        </p:txBody>
      </p:sp>
      <p:sp>
        <p:nvSpPr>
          <p:cNvPr id="3" name="Content Placeholder 2"/>
          <p:cNvSpPr>
            <a:spLocks noGrp="1"/>
          </p:cNvSpPr>
          <p:nvPr>
            <p:ph idx="1"/>
          </p:nvPr>
        </p:nvSpPr>
        <p:spPr>
          <a:xfrm>
            <a:off x="741877" y="784654"/>
            <a:ext cx="8534400" cy="1175951"/>
          </a:xfrm>
        </p:spPr>
        <p:txBody>
          <a:bodyPr>
            <a:normAutofit/>
          </a:bodyPr>
          <a:lstStyle/>
          <a:p>
            <a:pPr marL="0" indent="0">
              <a:buNone/>
            </a:pPr>
            <a:r>
              <a:rPr lang="en-US" sz="3200" b="1" dirty="0" smtClean="0"/>
              <a:t>Content</a:t>
            </a:r>
            <a:endParaRPr lang="en-US" sz="3200" b="1" dirty="0"/>
          </a:p>
        </p:txBody>
      </p:sp>
    </p:spTree>
    <p:extLst>
      <p:ext uri="{BB962C8B-B14F-4D97-AF65-F5344CB8AC3E}">
        <p14:creationId xmlns:p14="http://schemas.microsoft.com/office/powerpoint/2010/main" val="373669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Models, Schemas, and Instances</a:t>
            </a:r>
          </a:p>
        </p:txBody>
      </p:sp>
      <p:sp>
        <p:nvSpPr>
          <p:cNvPr id="3" name="Content Placeholder 2"/>
          <p:cNvSpPr>
            <a:spLocks noGrp="1"/>
          </p:cNvSpPr>
          <p:nvPr>
            <p:ph idx="1"/>
          </p:nvPr>
        </p:nvSpPr>
        <p:spPr>
          <a:xfrm>
            <a:off x="553766" y="1270000"/>
            <a:ext cx="9158644" cy="4867189"/>
          </a:xfrm>
        </p:spPr>
        <p:txBody>
          <a:bodyPr>
            <a:normAutofit/>
          </a:bodyPr>
          <a:lstStyle/>
          <a:p>
            <a:endParaRPr lang="en-US" sz="1600" dirty="0" smtClean="0"/>
          </a:p>
          <a:p>
            <a:r>
              <a:rPr lang="en-US" sz="2000" dirty="0" smtClean="0"/>
              <a:t>Data abstraction: suppression of details </a:t>
            </a:r>
            <a:r>
              <a:rPr lang="en-US" sz="2000" dirty="0"/>
              <a:t>of data organization and </a:t>
            </a:r>
            <a:r>
              <a:rPr lang="en-US" sz="2000" dirty="0" smtClean="0"/>
              <a:t>storage to highlight essential features.</a:t>
            </a:r>
          </a:p>
          <a:p>
            <a:r>
              <a:rPr lang="en-US" sz="2000" dirty="0"/>
              <a:t>A </a:t>
            </a:r>
            <a:r>
              <a:rPr lang="en-US" sz="2000" b="1" dirty="0">
                <a:solidFill>
                  <a:schemeClr val="accent5"/>
                </a:solidFill>
              </a:rPr>
              <a:t>data model</a:t>
            </a:r>
            <a:r>
              <a:rPr lang="en-US" sz="2000" dirty="0"/>
              <a:t>—a collection of concepts </a:t>
            </a:r>
            <a:r>
              <a:rPr lang="en-US" sz="2000" dirty="0" smtClean="0"/>
              <a:t>that can </a:t>
            </a:r>
            <a:r>
              <a:rPr lang="en-US" sz="2000" dirty="0"/>
              <a:t>be used to describe the structure </a:t>
            </a:r>
            <a:r>
              <a:rPr lang="en-US" sz="2000" dirty="0" smtClean="0"/>
              <a:t>(</a:t>
            </a:r>
            <a:r>
              <a:rPr lang="en-US" sz="2000" b="1" dirty="0">
                <a:solidFill>
                  <a:schemeClr val="accent5"/>
                </a:solidFill>
              </a:rPr>
              <a:t>data types</a:t>
            </a:r>
            <a:r>
              <a:rPr lang="en-US" sz="2000" dirty="0"/>
              <a:t>, </a:t>
            </a:r>
            <a:r>
              <a:rPr lang="en-US" sz="2000" b="1" dirty="0">
                <a:solidFill>
                  <a:schemeClr val="accent5"/>
                </a:solidFill>
              </a:rPr>
              <a:t>relationships</a:t>
            </a:r>
            <a:r>
              <a:rPr lang="en-US" sz="2000" dirty="0"/>
              <a:t>, and </a:t>
            </a:r>
            <a:r>
              <a:rPr lang="en-US" sz="2000" b="1" dirty="0">
                <a:solidFill>
                  <a:schemeClr val="accent5"/>
                </a:solidFill>
              </a:rPr>
              <a:t>constraints</a:t>
            </a:r>
            <a:r>
              <a:rPr lang="en-US" sz="2000" dirty="0" smtClean="0"/>
              <a:t>) of </a:t>
            </a:r>
            <a:r>
              <a:rPr lang="en-US" sz="2000" dirty="0"/>
              <a:t>a </a:t>
            </a:r>
            <a:r>
              <a:rPr lang="en-US" sz="2000" dirty="0" smtClean="0"/>
              <a:t>database to </a:t>
            </a:r>
            <a:r>
              <a:rPr lang="en-US" sz="2000" dirty="0"/>
              <a:t>achieve </a:t>
            </a:r>
            <a:r>
              <a:rPr lang="en-US" sz="2000" dirty="0" smtClean="0"/>
              <a:t>abstraction. </a:t>
            </a:r>
          </a:p>
          <a:p>
            <a:r>
              <a:rPr lang="en-US" sz="2000" dirty="0" smtClean="0"/>
              <a:t>Data Models can be divided into 2 major categories:</a:t>
            </a:r>
            <a:endParaRPr lang="en-US" sz="2000" dirty="0"/>
          </a:p>
          <a:p>
            <a:r>
              <a:rPr lang="en-US" sz="2000" dirty="0" smtClean="0"/>
              <a:t>High Level/Conceptual </a:t>
            </a:r>
            <a:r>
              <a:rPr lang="en-US" sz="2000" dirty="0"/>
              <a:t>Data Model: </a:t>
            </a:r>
            <a:r>
              <a:rPr lang="en-US" sz="2000" b="1" dirty="0" smtClean="0">
                <a:solidFill>
                  <a:srgbClr val="C00000"/>
                </a:solidFill>
              </a:rPr>
              <a:t>provide concepts so that users can easily perceive data</a:t>
            </a:r>
            <a:r>
              <a:rPr lang="en-US" sz="2000" dirty="0" smtClean="0"/>
              <a:t>. (Example: ER Model)</a:t>
            </a:r>
          </a:p>
          <a:p>
            <a:r>
              <a:rPr lang="en-US" sz="2000" dirty="0" smtClean="0"/>
              <a:t>Low Level/Physical </a:t>
            </a:r>
            <a:r>
              <a:rPr lang="en-US" sz="2000" dirty="0"/>
              <a:t>Data Model: </a:t>
            </a:r>
            <a:r>
              <a:rPr lang="en-US" sz="2000" b="1" dirty="0" smtClean="0">
                <a:solidFill>
                  <a:srgbClr val="C00000"/>
                </a:solidFill>
              </a:rPr>
              <a:t>details on how data is stored on the computer storage media, typically magnetic disks.</a:t>
            </a:r>
            <a:endParaRPr lang="en-US" dirty="0" smtClean="0">
              <a:solidFill>
                <a:schemeClr val="tx1">
                  <a:lumMod val="95000"/>
                  <a:lumOff val="5000"/>
                </a:schemeClr>
              </a:solidFill>
            </a:endParaRPr>
          </a:p>
          <a:p>
            <a:endParaRPr lang="en-US" sz="1600" b="1" dirty="0">
              <a:solidFill>
                <a:srgbClr val="C00000"/>
              </a:solidFill>
            </a:endParaRPr>
          </a:p>
        </p:txBody>
      </p:sp>
    </p:spTree>
    <p:extLst>
      <p:ext uri="{BB962C8B-B14F-4D97-AF65-F5344CB8AC3E}">
        <p14:creationId xmlns:p14="http://schemas.microsoft.com/office/powerpoint/2010/main" val="118904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Models, Schemas, and Instances</a:t>
            </a:r>
          </a:p>
        </p:txBody>
      </p:sp>
      <p:sp>
        <p:nvSpPr>
          <p:cNvPr id="3" name="Content Placeholder 2"/>
          <p:cNvSpPr>
            <a:spLocks noGrp="1"/>
          </p:cNvSpPr>
          <p:nvPr>
            <p:ph idx="1"/>
          </p:nvPr>
        </p:nvSpPr>
        <p:spPr>
          <a:xfrm>
            <a:off x="364297" y="1474573"/>
            <a:ext cx="6044742" cy="4860325"/>
          </a:xfrm>
        </p:spPr>
        <p:txBody>
          <a:bodyPr>
            <a:normAutofit fontScale="92500" lnSpcReduction="10000"/>
          </a:bodyPr>
          <a:lstStyle/>
          <a:p>
            <a:r>
              <a:rPr lang="en-US" b="1" dirty="0" smtClean="0"/>
              <a:t>Categories of Data Models:</a:t>
            </a:r>
          </a:p>
          <a:p>
            <a:r>
              <a:rPr lang="en-US" b="1" dirty="0">
                <a:solidFill>
                  <a:schemeClr val="accent5"/>
                </a:solidFill>
              </a:rPr>
              <a:t>High-level </a:t>
            </a:r>
            <a:r>
              <a:rPr lang="en-US" b="1" dirty="0" smtClean="0">
                <a:solidFill>
                  <a:schemeClr val="accent5"/>
                </a:solidFill>
              </a:rPr>
              <a:t>or conceptual </a:t>
            </a:r>
            <a:r>
              <a:rPr lang="en-US" b="1" dirty="0">
                <a:solidFill>
                  <a:schemeClr val="accent5"/>
                </a:solidFill>
              </a:rPr>
              <a:t>data models such as entity–relationship </a:t>
            </a:r>
            <a:r>
              <a:rPr lang="en-US" b="1" dirty="0" smtClean="0">
                <a:solidFill>
                  <a:schemeClr val="accent5"/>
                </a:solidFill>
              </a:rPr>
              <a:t>model </a:t>
            </a:r>
            <a:r>
              <a:rPr lang="en-US" dirty="0" smtClean="0"/>
              <a:t>provide </a:t>
            </a:r>
            <a:r>
              <a:rPr lang="en-US" dirty="0"/>
              <a:t>concepts that are </a:t>
            </a:r>
            <a:r>
              <a:rPr lang="en-US" dirty="0" smtClean="0"/>
              <a:t>easy for users to understand.</a:t>
            </a:r>
          </a:p>
          <a:p>
            <a:r>
              <a:rPr lang="en-US" dirty="0" smtClean="0"/>
              <a:t>Conceptual </a:t>
            </a:r>
            <a:r>
              <a:rPr lang="en-US" dirty="0"/>
              <a:t>data models use concepts such as </a:t>
            </a:r>
            <a:r>
              <a:rPr lang="en-US" b="1" dirty="0">
                <a:solidFill>
                  <a:schemeClr val="accent5"/>
                </a:solidFill>
              </a:rPr>
              <a:t>entities, attributes, and relationships</a:t>
            </a:r>
            <a:r>
              <a:rPr lang="en-US" dirty="0"/>
              <a:t>.</a:t>
            </a:r>
          </a:p>
          <a:p>
            <a:r>
              <a:rPr lang="en-US" dirty="0"/>
              <a:t>An </a:t>
            </a:r>
            <a:r>
              <a:rPr lang="en-US" b="1" dirty="0">
                <a:solidFill>
                  <a:schemeClr val="accent5"/>
                </a:solidFill>
              </a:rPr>
              <a:t>entity </a:t>
            </a:r>
            <a:r>
              <a:rPr lang="en-US" dirty="0"/>
              <a:t>represents a real-world object or concept, such as </a:t>
            </a:r>
            <a:r>
              <a:rPr lang="en-US" dirty="0" smtClean="0"/>
              <a:t>a student </a:t>
            </a:r>
            <a:r>
              <a:rPr lang="en-US" dirty="0"/>
              <a:t>or a </a:t>
            </a:r>
            <a:r>
              <a:rPr lang="en-US" dirty="0" smtClean="0"/>
              <a:t>course. </a:t>
            </a:r>
          </a:p>
          <a:p>
            <a:r>
              <a:rPr lang="en-US" dirty="0" smtClean="0"/>
              <a:t>An </a:t>
            </a:r>
            <a:r>
              <a:rPr lang="en-US" b="1" dirty="0">
                <a:solidFill>
                  <a:schemeClr val="accent5"/>
                </a:solidFill>
              </a:rPr>
              <a:t>attribute</a:t>
            </a:r>
            <a:r>
              <a:rPr lang="en-US" dirty="0"/>
              <a:t> </a:t>
            </a:r>
            <a:r>
              <a:rPr lang="en-US" dirty="0" smtClean="0"/>
              <a:t>further </a:t>
            </a:r>
            <a:r>
              <a:rPr lang="en-US" dirty="0"/>
              <a:t>describes an entity, such as the </a:t>
            </a:r>
            <a:r>
              <a:rPr lang="en-US" dirty="0" smtClean="0"/>
              <a:t>student’s </a:t>
            </a:r>
            <a:r>
              <a:rPr lang="en-US" dirty="0"/>
              <a:t>name </a:t>
            </a:r>
            <a:r>
              <a:rPr lang="en-US" dirty="0" smtClean="0"/>
              <a:t>or age. </a:t>
            </a:r>
          </a:p>
          <a:p>
            <a:r>
              <a:rPr lang="en-US" dirty="0" smtClean="0"/>
              <a:t>A </a:t>
            </a:r>
            <a:r>
              <a:rPr lang="en-US" b="1" dirty="0">
                <a:solidFill>
                  <a:schemeClr val="accent5"/>
                </a:solidFill>
              </a:rPr>
              <a:t>relationship</a:t>
            </a:r>
            <a:r>
              <a:rPr lang="en-US" dirty="0"/>
              <a:t> among two or more entities represents an association </a:t>
            </a:r>
            <a:r>
              <a:rPr lang="en-US" dirty="0" smtClean="0"/>
              <a:t>among the </a:t>
            </a:r>
            <a:r>
              <a:rPr lang="en-US" dirty="0"/>
              <a:t>entities, for example, a </a:t>
            </a:r>
            <a:r>
              <a:rPr lang="en-US" dirty="0" smtClean="0"/>
              <a:t>student is enrolled in a course.</a:t>
            </a:r>
          </a:p>
          <a:p>
            <a:r>
              <a:rPr lang="en-US" dirty="0"/>
              <a:t>Physical data models describe how data is stored as files in the computer by </a:t>
            </a:r>
            <a:r>
              <a:rPr lang="en-US" dirty="0" smtClean="0"/>
              <a:t>representing information </a:t>
            </a:r>
            <a:r>
              <a:rPr lang="en-US" dirty="0"/>
              <a:t>such as </a:t>
            </a:r>
            <a:r>
              <a:rPr lang="en-US" b="1" dirty="0">
                <a:solidFill>
                  <a:schemeClr val="accent5"/>
                </a:solidFill>
              </a:rPr>
              <a:t>record formats</a:t>
            </a:r>
            <a:r>
              <a:rPr lang="en-US" dirty="0"/>
              <a:t>, </a:t>
            </a:r>
            <a:r>
              <a:rPr lang="en-US" b="1" dirty="0">
                <a:solidFill>
                  <a:schemeClr val="accent5"/>
                </a:solidFill>
              </a:rPr>
              <a:t>record orderings</a:t>
            </a:r>
            <a:r>
              <a:rPr lang="en-US" dirty="0"/>
              <a:t>, and </a:t>
            </a:r>
            <a:r>
              <a:rPr lang="en-US" b="1" dirty="0">
                <a:solidFill>
                  <a:schemeClr val="accent5"/>
                </a:solidFill>
              </a:rPr>
              <a:t>access paths</a:t>
            </a:r>
            <a:r>
              <a:rPr lang="en-US" dirty="0"/>
              <a:t>.</a:t>
            </a:r>
          </a:p>
        </p:txBody>
      </p:sp>
      <p:pic>
        <p:nvPicPr>
          <p:cNvPr id="1026" name="Picture 2" descr="The Entity-Relationship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654" y="1930400"/>
            <a:ext cx="4077730" cy="31792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857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Models, Schemas, and Instances</a:t>
            </a:r>
          </a:p>
        </p:txBody>
      </p:sp>
      <p:sp>
        <p:nvSpPr>
          <p:cNvPr id="3" name="Content Placeholder 2"/>
          <p:cNvSpPr>
            <a:spLocks noGrp="1"/>
          </p:cNvSpPr>
          <p:nvPr>
            <p:ph idx="1"/>
          </p:nvPr>
        </p:nvSpPr>
        <p:spPr>
          <a:xfrm>
            <a:off x="609599" y="1405742"/>
            <a:ext cx="5955958" cy="958517"/>
          </a:xfrm>
        </p:spPr>
        <p:txBody>
          <a:bodyPr>
            <a:normAutofit/>
          </a:bodyPr>
          <a:lstStyle/>
          <a:p>
            <a:r>
              <a:rPr lang="en-US" sz="1600" b="1" dirty="0">
                <a:solidFill>
                  <a:schemeClr val="accent5"/>
                </a:solidFill>
              </a:rPr>
              <a:t>Representational or implementation data models </a:t>
            </a:r>
            <a:r>
              <a:rPr lang="en-US" sz="1600" dirty="0"/>
              <a:t>are </a:t>
            </a:r>
            <a:r>
              <a:rPr lang="en-US" sz="1600" dirty="0" smtClean="0"/>
              <a:t>used </a:t>
            </a:r>
            <a:r>
              <a:rPr lang="en-US" sz="1600" dirty="0"/>
              <a:t>most </a:t>
            </a:r>
            <a:r>
              <a:rPr lang="en-US" sz="1600" dirty="0" smtClean="0"/>
              <a:t>frequently in </a:t>
            </a:r>
            <a:r>
              <a:rPr lang="en-US" sz="1600" dirty="0"/>
              <a:t>traditional commercial DBMSs. These include the widely used </a:t>
            </a:r>
            <a:r>
              <a:rPr lang="en-US" sz="1600" b="1" dirty="0" smtClean="0">
                <a:solidFill>
                  <a:schemeClr val="accent5"/>
                </a:solidFill>
              </a:rPr>
              <a:t>relational data model</a:t>
            </a:r>
            <a:r>
              <a:rPr lang="en-US" sz="1600" dirty="0" smtClean="0"/>
              <a:t>.</a:t>
            </a:r>
          </a:p>
          <a:p>
            <a:pPr marL="0" indent="0">
              <a:buNone/>
            </a:pPr>
            <a:endParaRPr lang="en-US" dirty="0" smtClean="0"/>
          </a:p>
        </p:txBody>
      </p:sp>
      <p:pic>
        <p:nvPicPr>
          <p:cNvPr id="2050" name="Picture 2" descr="Relational Data Model, Semantic Data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9124" y="1372790"/>
            <a:ext cx="3171566" cy="2098279"/>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2" name="Picture 4" descr="Object Oriented Database Model Example, HD Png Download - ki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76" y="2526550"/>
            <a:ext cx="2657607" cy="2033378"/>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7" name="Content Placeholder 2"/>
          <p:cNvSpPr txBox="1">
            <a:spLocks/>
          </p:cNvSpPr>
          <p:nvPr/>
        </p:nvSpPr>
        <p:spPr>
          <a:xfrm>
            <a:off x="3233222" y="3435921"/>
            <a:ext cx="3436563" cy="961315"/>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600" dirty="0" smtClean="0"/>
              <a:t>Object data model is an example of a higher-level implementation data model that is closer to conceptual data models.</a:t>
            </a:r>
          </a:p>
        </p:txBody>
      </p:sp>
      <p:sp>
        <p:nvSpPr>
          <p:cNvPr id="8" name="Content Placeholder 2"/>
          <p:cNvSpPr txBox="1">
            <a:spLocks/>
          </p:cNvSpPr>
          <p:nvPr/>
        </p:nvSpPr>
        <p:spPr>
          <a:xfrm>
            <a:off x="787839" y="5079243"/>
            <a:ext cx="3436563" cy="96131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1600" dirty="0" smtClean="0"/>
          </a:p>
        </p:txBody>
      </p:sp>
      <p:sp>
        <p:nvSpPr>
          <p:cNvPr id="9" name="Content Placeholder 2"/>
          <p:cNvSpPr txBox="1">
            <a:spLocks/>
          </p:cNvSpPr>
          <p:nvPr/>
        </p:nvSpPr>
        <p:spPr>
          <a:xfrm>
            <a:off x="1314157" y="4954755"/>
            <a:ext cx="4790081" cy="139517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600" b="1" dirty="0" smtClean="0">
                <a:solidFill>
                  <a:schemeClr val="accent5"/>
                </a:solidFill>
              </a:rPr>
              <a:t>Self-describing </a:t>
            </a:r>
            <a:r>
              <a:rPr lang="en-US" sz="1600" b="1" dirty="0">
                <a:solidFill>
                  <a:schemeClr val="accent5"/>
                </a:solidFill>
              </a:rPr>
              <a:t>data </a:t>
            </a:r>
            <a:r>
              <a:rPr lang="en-US" sz="1600" b="1" dirty="0" smtClean="0">
                <a:solidFill>
                  <a:schemeClr val="accent5"/>
                </a:solidFill>
              </a:rPr>
              <a:t>models</a:t>
            </a:r>
            <a:r>
              <a:rPr lang="en-US" sz="1600" dirty="0" smtClean="0"/>
              <a:t> - </a:t>
            </a:r>
            <a:r>
              <a:rPr lang="en-US" sz="1600" dirty="0"/>
              <a:t>The </a:t>
            </a:r>
            <a:r>
              <a:rPr lang="en-US" sz="1600" dirty="0" smtClean="0"/>
              <a:t>data storage </a:t>
            </a:r>
            <a:r>
              <a:rPr lang="en-US" sz="1600" dirty="0"/>
              <a:t>in </a:t>
            </a:r>
            <a:r>
              <a:rPr lang="en-US" sz="1600" dirty="0" smtClean="0"/>
              <a:t>these </a:t>
            </a:r>
            <a:r>
              <a:rPr lang="en-US" sz="1600" dirty="0"/>
              <a:t>models combines the description of the data </a:t>
            </a:r>
            <a:r>
              <a:rPr lang="en-US" sz="1600" dirty="0" smtClean="0"/>
              <a:t>with the </a:t>
            </a:r>
            <a:r>
              <a:rPr lang="en-US" sz="1600" dirty="0"/>
              <a:t>data </a:t>
            </a:r>
            <a:r>
              <a:rPr lang="en-US" sz="1600" dirty="0" smtClean="0"/>
              <a:t>values. These </a:t>
            </a:r>
            <a:r>
              <a:rPr lang="en-US" sz="1600" dirty="0"/>
              <a:t>models include </a:t>
            </a:r>
            <a:r>
              <a:rPr lang="en-US" sz="1600" dirty="0" smtClean="0"/>
              <a:t>XML, key-value stores, </a:t>
            </a:r>
            <a:r>
              <a:rPr lang="en-US" sz="1600" dirty="0"/>
              <a:t>and NOSQL </a:t>
            </a:r>
            <a:r>
              <a:rPr lang="en-US" sz="1600" dirty="0" smtClean="0"/>
              <a:t>systems</a:t>
            </a:r>
          </a:p>
        </p:txBody>
      </p:sp>
      <p:pic>
        <p:nvPicPr>
          <p:cNvPr id="2054" name="Picture 6" descr="Key-Value Databases, Explained - KDnugge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335" y="4645668"/>
            <a:ext cx="3058308" cy="2013349"/>
          </a:xfrm>
          <a:prstGeom prst="rect">
            <a:avLst/>
          </a:prstGeom>
          <a:ln w="285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934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Models, Schemas, and Instances</a:t>
            </a:r>
          </a:p>
        </p:txBody>
      </p:sp>
      <p:sp>
        <p:nvSpPr>
          <p:cNvPr id="3" name="Content Placeholder 2"/>
          <p:cNvSpPr>
            <a:spLocks noGrp="1"/>
          </p:cNvSpPr>
          <p:nvPr>
            <p:ph idx="1"/>
          </p:nvPr>
        </p:nvSpPr>
        <p:spPr>
          <a:xfrm>
            <a:off x="677335" y="1449859"/>
            <a:ext cx="5558708" cy="4591503"/>
          </a:xfrm>
        </p:spPr>
        <p:txBody>
          <a:bodyPr>
            <a:normAutofit/>
          </a:bodyPr>
          <a:lstStyle/>
          <a:p>
            <a:r>
              <a:rPr lang="en-US" b="1" u="sng" dirty="0">
                <a:solidFill>
                  <a:schemeClr val="accent2">
                    <a:lumMod val="75000"/>
                  </a:schemeClr>
                </a:solidFill>
              </a:rPr>
              <a:t>Schemas, Instances, and Database </a:t>
            </a:r>
            <a:r>
              <a:rPr lang="en-US" b="1" u="sng" dirty="0" smtClean="0">
                <a:solidFill>
                  <a:schemeClr val="accent2">
                    <a:lumMod val="75000"/>
                  </a:schemeClr>
                </a:solidFill>
              </a:rPr>
              <a:t>State</a:t>
            </a:r>
          </a:p>
          <a:p>
            <a:r>
              <a:rPr lang="en-US" dirty="0" smtClean="0">
                <a:solidFill>
                  <a:schemeClr val="tx1"/>
                </a:solidFill>
              </a:rPr>
              <a:t>The </a:t>
            </a:r>
            <a:r>
              <a:rPr lang="en-US" b="1" u="sng" dirty="0">
                <a:solidFill>
                  <a:schemeClr val="accent5"/>
                </a:solidFill>
              </a:rPr>
              <a:t>description of a database is called </a:t>
            </a:r>
            <a:r>
              <a:rPr lang="en-US" b="1" u="sng" dirty="0" smtClean="0">
                <a:solidFill>
                  <a:schemeClr val="accent5"/>
                </a:solidFill>
              </a:rPr>
              <a:t>the database </a:t>
            </a:r>
            <a:r>
              <a:rPr lang="en-US" b="1" u="sng" dirty="0">
                <a:solidFill>
                  <a:schemeClr val="accent5"/>
                </a:solidFill>
              </a:rPr>
              <a:t>schema</a:t>
            </a:r>
            <a:r>
              <a:rPr lang="en-US" dirty="0">
                <a:solidFill>
                  <a:schemeClr val="tx1"/>
                </a:solidFill>
              </a:rPr>
              <a:t>, which is specified during database </a:t>
            </a:r>
            <a:r>
              <a:rPr lang="en-US" dirty="0" smtClean="0">
                <a:solidFill>
                  <a:schemeClr val="tx1"/>
                </a:solidFill>
              </a:rPr>
              <a:t>design.</a:t>
            </a:r>
          </a:p>
          <a:p>
            <a:r>
              <a:rPr lang="en-US" dirty="0">
                <a:solidFill>
                  <a:schemeClr val="tx1"/>
                </a:solidFill>
              </a:rPr>
              <a:t>A displayed schema is called a </a:t>
            </a:r>
            <a:r>
              <a:rPr lang="en-US" b="1" dirty="0">
                <a:solidFill>
                  <a:schemeClr val="accent5"/>
                </a:solidFill>
              </a:rPr>
              <a:t>schema </a:t>
            </a:r>
            <a:r>
              <a:rPr lang="en-US" b="1" dirty="0" smtClean="0">
                <a:solidFill>
                  <a:schemeClr val="accent5"/>
                </a:solidFill>
              </a:rPr>
              <a:t>diagram</a:t>
            </a:r>
            <a:r>
              <a:rPr lang="en-US" dirty="0">
                <a:solidFill>
                  <a:schemeClr val="tx1"/>
                </a:solidFill>
              </a:rPr>
              <a:t> </a:t>
            </a:r>
            <a:r>
              <a:rPr lang="en-US" dirty="0" smtClean="0">
                <a:solidFill>
                  <a:schemeClr val="tx1"/>
                </a:solidFill>
              </a:rPr>
              <a:t>shown in </a:t>
            </a:r>
            <a:r>
              <a:rPr lang="en-US" dirty="0">
                <a:solidFill>
                  <a:schemeClr val="tx1"/>
                </a:solidFill>
              </a:rPr>
              <a:t>Figure </a:t>
            </a:r>
            <a:r>
              <a:rPr lang="en-US" dirty="0" smtClean="0">
                <a:solidFill>
                  <a:schemeClr val="tx1"/>
                </a:solidFill>
              </a:rPr>
              <a:t>2.1. </a:t>
            </a:r>
            <a:r>
              <a:rPr lang="en-US" dirty="0">
                <a:solidFill>
                  <a:schemeClr val="tx1"/>
                </a:solidFill>
              </a:rPr>
              <a:t>T</a:t>
            </a:r>
            <a:r>
              <a:rPr lang="en-US" dirty="0" smtClean="0">
                <a:solidFill>
                  <a:schemeClr val="tx1"/>
                </a:solidFill>
              </a:rPr>
              <a:t>he </a:t>
            </a:r>
            <a:r>
              <a:rPr lang="en-US" dirty="0">
                <a:solidFill>
                  <a:schemeClr val="tx1"/>
                </a:solidFill>
              </a:rPr>
              <a:t>diagram </a:t>
            </a:r>
            <a:r>
              <a:rPr lang="en-US" dirty="0" smtClean="0">
                <a:solidFill>
                  <a:schemeClr val="tx1"/>
                </a:solidFill>
              </a:rPr>
              <a:t>displays the </a:t>
            </a:r>
            <a:r>
              <a:rPr lang="en-US" dirty="0">
                <a:solidFill>
                  <a:schemeClr val="tx1"/>
                </a:solidFill>
              </a:rPr>
              <a:t>structure of each record type but not the actual instances of records. </a:t>
            </a:r>
            <a:endParaRPr lang="en-US" dirty="0" smtClean="0">
              <a:solidFill>
                <a:schemeClr val="tx1"/>
              </a:solidFill>
            </a:endParaRPr>
          </a:p>
          <a:p>
            <a:r>
              <a:rPr lang="en-US" dirty="0">
                <a:solidFill>
                  <a:schemeClr val="tx1"/>
                </a:solidFill>
              </a:rPr>
              <a:t>E</a:t>
            </a:r>
            <a:r>
              <a:rPr lang="en-US" dirty="0" smtClean="0">
                <a:solidFill>
                  <a:schemeClr val="tx1"/>
                </a:solidFill>
              </a:rPr>
              <a:t>ach </a:t>
            </a:r>
            <a:r>
              <a:rPr lang="en-US" dirty="0">
                <a:solidFill>
                  <a:schemeClr val="tx1"/>
                </a:solidFill>
              </a:rPr>
              <a:t>object in the schema—such as STUDENT or COURSE</a:t>
            </a:r>
            <a:r>
              <a:rPr lang="en-US" dirty="0" smtClean="0">
                <a:solidFill>
                  <a:schemeClr val="tx1"/>
                </a:solidFill>
              </a:rPr>
              <a:t>— </a:t>
            </a:r>
            <a:r>
              <a:rPr lang="en-US" b="1" dirty="0" smtClean="0">
                <a:solidFill>
                  <a:schemeClr val="accent5"/>
                </a:solidFill>
              </a:rPr>
              <a:t>a schema construct</a:t>
            </a:r>
            <a:r>
              <a:rPr lang="en-US" dirty="0" smtClean="0">
                <a:solidFill>
                  <a:schemeClr val="tx1"/>
                </a:solidFill>
              </a:rPr>
              <a:t>.</a:t>
            </a:r>
          </a:p>
          <a:p>
            <a:r>
              <a:rPr lang="en-US" dirty="0" smtClean="0">
                <a:solidFill>
                  <a:schemeClr val="tx1"/>
                </a:solidFill>
              </a:rPr>
              <a:t>Other </a:t>
            </a:r>
            <a:r>
              <a:rPr lang="en-US" dirty="0">
                <a:solidFill>
                  <a:schemeClr val="tx1"/>
                </a:solidFill>
              </a:rPr>
              <a:t>aspects </a:t>
            </a:r>
            <a:r>
              <a:rPr lang="en-US" dirty="0" smtClean="0">
                <a:solidFill>
                  <a:schemeClr val="tx1"/>
                </a:solidFill>
              </a:rPr>
              <a:t>such as the </a:t>
            </a:r>
            <a:r>
              <a:rPr lang="en-US" b="1" dirty="0" smtClean="0">
                <a:solidFill>
                  <a:schemeClr val="accent5"/>
                </a:solidFill>
              </a:rPr>
              <a:t>data type</a:t>
            </a:r>
            <a:r>
              <a:rPr lang="en-US" dirty="0" smtClean="0">
                <a:solidFill>
                  <a:schemeClr val="tx1"/>
                </a:solidFill>
              </a:rPr>
              <a:t> </a:t>
            </a:r>
            <a:r>
              <a:rPr lang="en-US" dirty="0">
                <a:solidFill>
                  <a:schemeClr val="tx1"/>
                </a:solidFill>
              </a:rPr>
              <a:t>of each data item nor the </a:t>
            </a:r>
            <a:r>
              <a:rPr lang="en-US" b="1" dirty="0">
                <a:solidFill>
                  <a:schemeClr val="accent5"/>
                </a:solidFill>
              </a:rPr>
              <a:t>relationships</a:t>
            </a:r>
            <a:r>
              <a:rPr lang="en-US" dirty="0">
                <a:solidFill>
                  <a:schemeClr val="tx1"/>
                </a:solidFill>
              </a:rPr>
              <a:t> among the various files are not </a:t>
            </a:r>
            <a:r>
              <a:rPr lang="en-US" dirty="0" smtClean="0">
                <a:solidFill>
                  <a:schemeClr val="tx1"/>
                </a:solidFill>
              </a:rPr>
              <a:t>specified.</a:t>
            </a:r>
            <a:endParaRPr lang="en-US" dirty="0">
              <a:solidFill>
                <a:schemeClr val="tx1"/>
              </a:solidFill>
            </a:endParaRPr>
          </a:p>
        </p:txBody>
      </p:sp>
      <p:pic>
        <p:nvPicPr>
          <p:cNvPr id="4" name="Picture 3"/>
          <p:cNvPicPr>
            <a:picLocks noChangeAspect="1"/>
          </p:cNvPicPr>
          <p:nvPr/>
        </p:nvPicPr>
        <p:blipFill>
          <a:blip r:embed="rId2"/>
          <a:stretch>
            <a:fillRect/>
          </a:stretch>
        </p:blipFill>
        <p:spPr>
          <a:xfrm>
            <a:off x="6236043" y="2488340"/>
            <a:ext cx="5783488" cy="2701498"/>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502348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Models, Schemas, and Instances</a:t>
            </a:r>
          </a:p>
        </p:txBody>
      </p:sp>
      <p:sp>
        <p:nvSpPr>
          <p:cNvPr id="3" name="Content Placeholder 2"/>
          <p:cNvSpPr>
            <a:spLocks noGrp="1"/>
          </p:cNvSpPr>
          <p:nvPr>
            <p:ph idx="1"/>
          </p:nvPr>
        </p:nvSpPr>
        <p:spPr>
          <a:xfrm>
            <a:off x="611431" y="1194489"/>
            <a:ext cx="9125692" cy="1639328"/>
          </a:xfrm>
        </p:spPr>
        <p:txBody>
          <a:bodyPr>
            <a:normAutofit lnSpcReduction="10000"/>
          </a:bodyPr>
          <a:lstStyle/>
          <a:p>
            <a:r>
              <a:rPr lang="en-US" b="1" u="sng" dirty="0">
                <a:solidFill>
                  <a:schemeClr val="accent2">
                    <a:lumMod val="75000"/>
                  </a:schemeClr>
                </a:solidFill>
              </a:rPr>
              <a:t>Schemas, Instances, and Database </a:t>
            </a:r>
            <a:r>
              <a:rPr lang="en-US" b="1" u="sng" dirty="0" smtClean="0">
                <a:solidFill>
                  <a:schemeClr val="accent2">
                    <a:lumMod val="75000"/>
                  </a:schemeClr>
                </a:solidFill>
              </a:rPr>
              <a:t>State</a:t>
            </a:r>
          </a:p>
          <a:p>
            <a:r>
              <a:rPr lang="en-US" dirty="0">
                <a:solidFill>
                  <a:schemeClr val="tx1"/>
                </a:solidFill>
              </a:rPr>
              <a:t>The actual data in a database may change quite frequently. For example, the </a:t>
            </a:r>
            <a:r>
              <a:rPr lang="en-US" dirty="0" smtClean="0">
                <a:solidFill>
                  <a:schemeClr val="tx1"/>
                </a:solidFill>
              </a:rPr>
              <a:t>database changes </a:t>
            </a:r>
            <a:r>
              <a:rPr lang="en-US" dirty="0">
                <a:solidFill>
                  <a:schemeClr val="tx1"/>
                </a:solidFill>
              </a:rPr>
              <a:t>every time we add a new student or enter a </a:t>
            </a:r>
            <a:r>
              <a:rPr lang="en-US" dirty="0" smtClean="0">
                <a:solidFill>
                  <a:schemeClr val="tx1"/>
                </a:solidFill>
              </a:rPr>
              <a:t>new grade</a:t>
            </a:r>
            <a:r>
              <a:rPr lang="en-US" dirty="0">
                <a:solidFill>
                  <a:schemeClr val="tx1"/>
                </a:solidFill>
              </a:rPr>
              <a:t>. </a:t>
            </a:r>
            <a:endParaRPr lang="en-US" dirty="0" smtClean="0">
              <a:solidFill>
                <a:schemeClr val="tx1"/>
              </a:solidFill>
            </a:endParaRPr>
          </a:p>
          <a:p>
            <a:r>
              <a:rPr lang="en-US" b="1" dirty="0" smtClean="0">
                <a:solidFill>
                  <a:schemeClr val="accent5"/>
                </a:solidFill>
              </a:rPr>
              <a:t>The </a:t>
            </a:r>
            <a:r>
              <a:rPr lang="en-US" b="1" dirty="0">
                <a:solidFill>
                  <a:schemeClr val="accent5"/>
                </a:solidFill>
              </a:rPr>
              <a:t>data in the database at a particular moment in time is called a </a:t>
            </a:r>
            <a:r>
              <a:rPr lang="en-US" b="1" u="sng" dirty="0" smtClean="0">
                <a:solidFill>
                  <a:schemeClr val="accent5"/>
                </a:solidFill>
              </a:rPr>
              <a:t>database state </a:t>
            </a:r>
            <a:r>
              <a:rPr lang="en-US" b="1" u="sng" dirty="0">
                <a:solidFill>
                  <a:schemeClr val="accent5"/>
                </a:solidFill>
              </a:rPr>
              <a:t>or </a:t>
            </a:r>
            <a:r>
              <a:rPr lang="en-US" b="1" u="sng" dirty="0" smtClean="0">
                <a:solidFill>
                  <a:schemeClr val="accent5"/>
                </a:solidFill>
              </a:rPr>
              <a:t>snapshot or current set of occurrences/instances in the database.</a:t>
            </a:r>
            <a:r>
              <a:rPr lang="en-US" b="1" u="sng" dirty="0" smtClean="0">
                <a:solidFill>
                  <a:schemeClr val="tx1"/>
                </a:solidFill>
              </a:rPr>
              <a:t> </a:t>
            </a:r>
          </a:p>
        </p:txBody>
      </p:sp>
      <p:sp>
        <p:nvSpPr>
          <p:cNvPr id="4" name="Content Placeholder 2"/>
          <p:cNvSpPr txBox="1">
            <a:spLocks/>
          </p:cNvSpPr>
          <p:nvPr/>
        </p:nvSpPr>
        <p:spPr>
          <a:xfrm>
            <a:off x="627905" y="4190310"/>
            <a:ext cx="9125692" cy="214458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solidFill>
                  <a:schemeClr val="tx1"/>
                </a:solidFill>
              </a:rPr>
              <a:t>I</a:t>
            </a:r>
            <a:r>
              <a:rPr lang="en-US" dirty="0" smtClean="0">
                <a:solidFill>
                  <a:schemeClr val="tx1"/>
                </a:solidFill>
              </a:rPr>
              <a:t>nitial state - when the database is first populated with the initial data. From then on, every time an update operation is applied, we get another database state. At any point in time, the database has a current state.</a:t>
            </a:r>
          </a:p>
          <a:p>
            <a:r>
              <a:rPr lang="en-US" b="1" dirty="0">
                <a:solidFill>
                  <a:schemeClr val="accent5"/>
                </a:solidFill>
              </a:rPr>
              <a:t>V</a:t>
            </a:r>
            <a:r>
              <a:rPr lang="en-US" b="1" dirty="0" smtClean="0">
                <a:solidFill>
                  <a:schemeClr val="accent5"/>
                </a:solidFill>
              </a:rPr>
              <a:t>alid state</a:t>
            </a:r>
            <a:r>
              <a:rPr lang="en-US" dirty="0" smtClean="0">
                <a:solidFill>
                  <a:schemeClr val="tx1"/>
                </a:solidFill>
              </a:rPr>
              <a:t>—that is, a state that satisfies the structure and constraints specified in the schema.</a:t>
            </a:r>
          </a:p>
        </p:txBody>
      </p:sp>
      <p:sp>
        <p:nvSpPr>
          <p:cNvPr id="5" name="Content Placeholder 2"/>
          <p:cNvSpPr txBox="1">
            <a:spLocks/>
          </p:cNvSpPr>
          <p:nvPr/>
        </p:nvSpPr>
        <p:spPr>
          <a:xfrm>
            <a:off x="636142" y="2897662"/>
            <a:ext cx="9125692" cy="1114165"/>
          </a:xfrm>
          <a:prstGeom prst="rect">
            <a:avLst/>
          </a:prstGeom>
          <a:ln w="28575">
            <a:solidFill>
              <a:srgbClr val="0070C0"/>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smtClean="0">
                <a:solidFill>
                  <a:schemeClr val="tx1"/>
                </a:solidFill>
              </a:rPr>
              <a:t>Difference between </a:t>
            </a:r>
            <a:r>
              <a:rPr lang="en-US" u="sng" dirty="0" smtClean="0">
                <a:solidFill>
                  <a:schemeClr val="tx1"/>
                </a:solidFill>
              </a:rPr>
              <a:t>database schema </a:t>
            </a:r>
            <a:r>
              <a:rPr lang="en-US" dirty="0" smtClean="0">
                <a:solidFill>
                  <a:schemeClr val="tx1"/>
                </a:solidFill>
              </a:rPr>
              <a:t>and </a:t>
            </a:r>
            <a:r>
              <a:rPr lang="en-US" u="sng" dirty="0" smtClean="0">
                <a:solidFill>
                  <a:schemeClr val="tx1"/>
                </a:solidFill>
              </a:rPr>
              <a:t>database state</a:t>
            </a:r>
            <a:r>
              <a:rPr lang="en-US" dirty="0" smtClean="0">
                <a:solidFill>
                  <a:schemeClr val="tx1"/>
                </a:solidFill>
              </a:rPr>
              <a:t>. </a:t>
            </a:r>
          </a:p>
          <a:p>
            <a:r>
              <a:rPr lang="en-US" dirty="0" smtClean="0">
                <a:solidFill>
                  <a:schemeClr val="tx1"/>
                </a:solidFill>
              </a:rPr>
              <a:t>When we define a new database, we specify its </a:t>
            </a:r>
            <a:r>
              <a:rPr lang="en-US" b="1" dirty="0" smtClean="0">
                <a:solidFill>
                  <a:schemeClr val="accent5"/>
                </a:solidFill>
              </a:rPr>
              <a:t>database schema </a:t>
            </a:r>
            <a:r>
              <a:rPr lang="en-US" dirty="0" smtClean="0">
                <a:solidFill>
                  <a:schemeClr val="tx1"/>
                </a:solidFill>
              </a:rPr>
              <a:t>only to the DBMS. At this point, the database state is the </a:t>
            </a:r>
            <a:r>
              <a:rPr lang="en-US" b="1" dirty="0" smtClean="0">
                <a:solidFill>
                  <a:schemeClr val="accent5"/>
                </a:solidFill>
              </a:rPr>
              <a:t>empty state</a:t>
            </a:r>
            <a:r>
              <a:rPr lang="en-US" dirty="0" smtClean="0">
                <a:solidFill>
                  <a:schemeClr val="tx1"/>
                </a:solidFill>
              </a:rPr>
              <a:t>. </a:t>
            </a:r>
            <a:endParaRPr lang="en-US" sz="1600" dirty="0" smtClean="0">
              <a:solidFill>
                <a:schemeClr val="tx1"/>
              </a:solidFill>
            </a:endParaRPr>
          </a:p>
        </p:txBody>
      </p:sp>
    </p:spTree>
    <p:extLst>
      <p:ext uri="{BB962C8B-B14F-4D97-AF65-F5344CB8AC3E}">
        <p14:creationId xmlns:p14="http://schemas.microsoft.com/office/powerpoint/2010/main" val="1313689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63826" y="2323070"/>
            <a:ext cx="6367848" cy="9418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2577" y="129059"/>
            <a:ext cx="9068028" cy="1320800"/>
          </a:xfrm>
        </p:spPr>
        <p:txBody>
          <a:bodyPr/>
          <a:lstStyle/>
          <a:p>
            <a:r>
              <a:rPr lang="en-US" dirty="0"/>
              <a:t>Three schema architecture and data independence</a:t>
            </a:r>
          </a:p>
        </p:txBody>
      </p:sp>
      <p:sp>
        <p:nvSpPr>
          <p:cNvPr id="3" name="Content Placeholder 2"/>
          <p:cNvSpPr>
            <a:spLocks noGrp="1"/>
          </p:cNvSpPr>
          <p:nvPr>
            <p:ph idx="1"/>
          </p:nvPr>
        </p:nvSpPr>
        <p:spPr>
          <a:xfrm>
            <a:off x="594117" y="1559693"/>
            <a:ext cx="6868526" cy="4893276"/>
          </a:xfrm>
          <a:noFill/>
        </p:spPr>
        <p:txBody>
          <a:bodyPr>
            <a:normAutofit fontScale="85000" lnSpcReduction="20000"/>
          </a:bodyPr>
          <a:lstStyle/>
          <a:p>
            <a:r>
              <a:rPr lang="en-US" b="1" u="sng" dirty="0">
                <a:solidFill>
                  <a:schemeClr val="accent2">
                    <a:lumMod val="75000"/>
                  </a:schemeClr>
                </a:solidFill>
              </a:rPr>
              <a:t>The Three-Schema </a:t>
            </a:r>
            <a:r>
              <a:rPr lang="en-US" b="1" u="sng" dirty="0" smtClean="0">
                <a:solidFill>
                  <a:schemeClr val="accent2">
                    <a:lumMod val="75000"/>
                  </a:schemeClr>
                </a:solidFill>
              </a:rPr>
              <a:t>Architecture</a:t>
            </a:r>
          </a:p>
          <a:p>
            <a:r>
              <a:rPr lang="en-US" dirty="0">
                <a:solidFill>
                  <a:schemeClr val="tx1"/>
                </a:solidFill>
              </a:rPr>
              <a:t>The goal of the three-schema </a:t>
            </a:r>
            <a:r>
              <a:rPr lang="en-US" dirty="0" smtClean="0">
                <a:solidFill>
                  <a:schemeClr val="tx1"/>
                </a:solidFill>
              </a:rPr>
              <a:t>architecture is </a:t>
            </a:r>
            <a:r>
              <a:rPr lang="en-US" dirty="0">
                <a:solidFill>
                  <a:schemeClr val="tx1"/>
                </a:solidFill>
              </a:rPr>
              <a:t>to </a:t>
            </a:r>
            <a:r>
              <a:rPr lang="en-US" dirty="0" smtClean="0">
                <a:solidFill>
                  <a:schemeClr val="tx1"/>
                </a:solidFill>
              </a:rPr>
              <a:t>separate the </a:t>
            </a:r>
            <a:r>
              <a:rPr lang="en-US" dirty="0">
                <a:solidFill>
                  <a:schemeClr val="tx1"/>
                </a:solidFill>
              </a:rPr>
              <a:t>user applications from the physical database</a:t>
            </a:r>
            <a:r>
              <a:rPr lang="en-US" dirty="0" smtClean="0">
                <a:solidFill>
                  <a:schemeClr val="tx1"/>
                </a:solidFill>
              </a:rPr>
              <a:t>.</a:t>
            </a:r>
          </a:p>
          <a:p>
            <a:r>
              <a:rPr lang="en-US" dirty="0">
                <a:solidFill>
                  <a:schemeClr val="tx1"/>
                </a:solidFill>
              </a:rPr>
              <a:t>Internal Level - The internal level has an internal schema, which describes the </a:t>
            </a:r>
            <a:r>
              <a:rPr lang="en-US" dirty="0" smtClean="0">
                <a:solidFill>
                  <a:schemeClr val="tx1"/>
                </a:solidFill>
              </a:rPr>
              <a:t>physical storage </a:t>
            </a:r>
            <a:r>
              <a:rPr lang="en-US" dirty="0">
                <a:solidFill>
                  <a:schemeClr val="tx1"/>
                </a:solidFill>
              </a:rPr>
              <a:t>structure of the database. </a:t>
            </a:r>
            <a:endParaRPr lang="en-US" dirty="0" smtClean="0">
              <a:solidFill>
                <a:schemeClr val="tx1"/>
              </a:solidFill>
            </a:endParaRPr>
          </a:p>
          <a:p>
            <a:pPr lvl="1"/>
            <a:r>
              <a:rPr lang="en-US" dirty="0" smtClean="0">
                <a:solidFill>
                  <a:schemeClr val="tx1"/>
                </a:solidFill>
              </a:rPr>
              <a:t>The </a:t>
            </a:r>
            <a:r>
              <a:rPr lang="en-US" dirty="0">
                <a:solidFill>
                  <a:schemeClr val="tx1"/>
                </a:solidFill>
              </a:rPr>
              <a:t>internal schema uses a physical </a:t>
            </a:r>
            <a:r>
              <a:rPr lang="en-US" dirty="0" smtClean="0">
                <a:solidFill>
                  <a:schemeClr val="tx1"/>
                </a:solidFill>
              </a:rPr>
              <a:t>data model </a:t>
            </a:r>
            <a:r>
              <a:rPr lang="en-US" dirty="0">
                <a:solidFill>
                  <a:schemeClr val="tx1"/>
                </a:solidFill>
              </a:rPr>
              <a:t>and describes the complete details of data storage and access paths </a:t>
            </a:r>
            <a:r>
              <a:rPr lang="en-US" dirty="0" smtClean="0">
                <a:solidFill>
                  <a:schemeClr val="tx1"/>
                </a:solidFill>
              </a:rPr>
              <a:t>for the </a:t>
            </a:r>
            <a:r>
              <a:rPr lang="en-US" dirty="0">
                <a:solidFill>
                  <a:schemeClr val="tx1"/>
                </a:solidFill>
              </a:rPr>
              <a:t>database</a:t>
            </a:r>
            <a:r>
              <a:rPr lang="en-US" dirty="0" smtClean="0">
                <a:solidFill>
                  <a:schemeClr val="tx1"/>
                </a:solidFill>
              </a:rPr>
              <a:t>.</a:t>
            </a:r>
          </a:p>
          <a:p>
            <a:r>
              <a:rPr lang="en-US" dirty="0" smtClean="0">
                <a:solidFill>
                  <a:schemeClr val="tx1"/>
                </a:solidFill>
              </a:rPr>
              <a:t>Conceptual level -  The </a:t>
            </a:r>
            <a:r>
              <a:rPr lang="en-US" dirty="0">
                <a:solidFill>
                  <a:schemeClr val="tx1"/>
                </a:solidFill>
              </a:rPr>
              <a:t>conceptual level has a conceptual schema, which describes the </a:t>
            </a:r>
            <a:r>
              <a:rPr lang="en-US" dirty="0" smtClean="0">
                <a:solidFill>
                  <a:schemeClr val="tx1"/>
                </a:solidFill>
              </a:rPr>
              <a:t>structure of </a:t>
            </a:r>
            <a:r>
              <a:rPr lang="en-US" dirty="0">
                <a:solidFill>
                  <a:schemeClr val="tx1"/>
                </a:solidFill>
              </a:rPr>
              <a:t>the whole </a:t>
            </a:r>
            <a:r>
              <a:rPr lang="en-US" dirty="0" smtClean="0">
                <a:solidFill>
                  <a:schemeClr val="tx1"/>
                </a:solidFill>
              </a:rPr>
              <a:t>database. </a:t>
            </a:r>
          </a:p>
          <a:p>
            <a:pPr lvl="1"/>
            <a:r>
              <a:rPr lang="en-US" dirty="0" smtClean="0">
                <a:solidFill>
                  <a:schemeClr val="tx1"/>
                </a:solidFill>
              </a:rPr>
              <a:t>The </a:t>
            </a:r>
            <a:r>
              <a:rPr lang="en-US" dirty="0">
                <a:solidFill>
                  <a:schemeClr val="tx1"/>
                </a:solidFill>
              </a:rPr>
              <a:t>conceptual schema </a:t>
            </a:r>
            <a:r>
              <a:rPr lang="en-US" dirty="0" smtClean="0">
                <a:solidFill>
                  <a:schemeClr val="tx1"/>
                </a:solidFill>
              </a:rPr>
              <a:t>hides the </a:t>
            </a:r>
            <a:r>
              <a:rPr lang="en-US" dirty="0">
                <a:solidFill>
                  <a:schemeClr val="tx1"/>
                </a:solidFill>
              </a:rPr>
              <a:t>details of physical storage structures and concentrates on describing </a:t>
            </a:r>
            <a:r>
              <a:rPr lang="en-US" dirty="0" smtClean="0">
                <a:solidFill>
                  <a:schemeClr val="tx1"/>
                </a:solidFill>
              </a:rPr>
              <a:t>entities, data </a:t>
            </a:r>
            <a:r>
              <a:rPr lang="en-US" dirty="0">
                <a:solidFill>
                  <a:schemeClr val="tx1"/>
                </a:solidFill>
              </a:rPr>
              <a:t>types, relationships, user operations, and constraints. </a:t>
            </a:r>
            <a:endParaRPr lang="en-US" dirty="0" smtClean="0">
              <a:solidFill>
                <a:schemeClr val="tx1"/>
              </a:solidFill>
            </a:endParaRPr>
          </a:p>
          <a:p>
            <a:r>
              <a:rPr lang="en-US" dirty="0" smtClean="0">
                <a:solidFill>
                  <a:schemeClr val="tx1"/>
                </a:solidFill>
              </a:rPr>
              <a:t>External level - The </a:t>
            </a:r>
            <a:r>
              <a:rPr lang="en-US" dirty="0">
                <a:solidFill>
                  <a:schemeClr val="tx1"/>
                </a:solidFill>
              </a:rPr>
              <a:t>external or view level includes a number of external schemas or </a:t>
            </a:r>
            <a:r>
              <a:rPr lang="en-US" dirty="0" smtClean="0">
                <a:solidFill>
                  <a:schemeClr val="tx1"/>
                </a:solidFill>
              </a:rPr>
              <a:t>user views.</a:t>
            </a:r>
          </a:p>
          <a:p>
            <a:pPr lvl="1"/>
            <a:r>
              <a:rPr lang="en-US" dirty="0" smtClean="0">
                <a:solidFill>
                  <a:schemeClr val="tx1"/>
                </a:solidFill>
              </a:rPr>
              <a:t> </a:t>
            </a:r>
            <a:r>
              <a:rPr lang="en-US" dirty="0">
                <a:solidFill>
                  <a:schemeClr val="tx1"/>
                </a:solidFill>
              </a:rPr>
              <a:t>Each external schema describes the part of the database that a </a:t>
            </a:r>
            <a:r>
              <a:rPr lang="en-US" dirty="0" smtClean="0">
                <a:solidFill>
                  <a:schemeClr val="tx1"/>
                </a:solidFill>
              </a:rPr>
              <a:t>particular user </a:t>
            </a:r>
            <a:r>
              <a:rPr lang="en-US" dirty="0">
                <a:solidFill>
                  <a:schemeClr val="tx1"/>
                </a:solidFill>
              </a:rPr>
              <a:t>group is interested in and hides the rest of the database from </a:t>
            </a:r>
            <a:r>
              <a:rPr lang="en-US" dirty="0" smtClean="0">
                <a:solidFill>
                  <a:schemeClr val="tx1"/>
                </a:solidFill>
              </a:rPr>
              <a:t>that user </a:t>
            </a:r>
            <a:r>
              <a:rPr lang="en-US" dirty="0">
                <a:solidFill>
                  <a:schemeClr val="tx1"/>
                </a:solidFill>
              </a:rPr>
              <a:t>group.</a:t>
            </a:r>
            <a:endParaRPr lang="en-US" dirty="0" smtClean="0">
              <a:solidFill>
                <a:schemeClr val="tx1"/>
              </a:solidFill>
            </a:endParaRPr>
          </a:p>
          <a:p>
            <a:r>
              <a:rPr lang="en-US" dirty="0">
                <a:solidFill>
                  <a:schemeClr val="tx1"/>
                </a:solidFill>
              </a:rPr>
              <a:t>T</a:t>
            </a:r>
            <a:r>
              <a:rPr lang="en-US" dirty="0" smtClean="0">
                <a:solidFill>
                  <a:schemeClr val="tx1"/>
                </a:solidFill>
              </a:rPr>
              <a:t>he </a:t>
            </a:r>
            <a:r>
              <a:rPr lang="en-US" dirty="0">
                <a:solidFill>
                  <a:schemeClr val="tx1"/>
                </a:solidFill>
              </a:rPr>
              <a:t>three schemas are only descriptions of data; the actual data is </a:t>
            </a:r>
            <a:r>
              <a:rPr lang="en-US" dirty="0" smtClean="0">
                <a:solidFill>
                  <a:schemeClr val="tx1"/>
                </a:solidFill>
              </a:rPr>
              <a:t>stored at </a:t>
            </a:r>
            <a:r>
              <a:rPr lang="en-US" dirty="0">
                <a:solidFill>
                  <a:schemeClr val="tx1"/>
                </a:solidFill>
              </a:rPr>
              <a:t>the physical level only. </a:t>
            </a:r>
            <a:endParaRPr lang="en-US" dirty="0" smtClean="0">
              <a:solidFill>
                <a:schemeClr val="tx1"/>
              </a:solidFill>
            </a:endParaRPr>
          </a:p>
        </p:txBody>
      </p:sp>
      <p:pic>
        <p:nvPicPr>
          <p:cNvPr id="4" name="Picture 3"/>
          <p:cNvPicPr>
            <a:picLocks noChangeAspect="1"/>
          </p:cNvPicPr>
          <p:nvPr/>
        </p:nvPicPr>
        <p:blipFill>
          <a:blip r:embed="rId2"/>
          <a:stretch>
            <a:fillRect/>
          </a:stretch>
        </p:blipFill>
        <p:spPr>
          <a:xfrm>
            <a:off x="7593612" y="1902940"/>
            <a:ext cx="4352925" cy="3352800"/>
          </a:xfrm>
          <a:prstGeom prst="rect">
            <a:avLst/>
          </a:prstGeom>
          <a:ln w="38100" cap="sq">
            <a:solidFill>
              <a:srgbClr val="000000"/>
            </a:solidFill>
            <a:miter lim="800000"/>
          </a:ln>
          <a:effectLst>
            <a:outerShdw blurRad="57150" dist="50800" dir="2700000" algn="tl" rotWithShape="0">
              <a:srgbClr val="000000">
                <a:alpha val="40000"/>
              </a:srgbClr>
            </a:outerShdw>
          </a:effectLst>
        </p:spPr>
      </p:pic>
      <p:sp>
        <p:nvSpPr>
          <p:cNvPr id="6" name="Rectangle 5"/>
          <p:cNvSpPr/>
          <p:nvPr/>
        </p:nvSpPr>
        <p:spPr>
          <a:xfrm>
            <a:off x="963826" y="3319845"/>
            <a:ext cx="6367848" cy="1046209"/>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63826" y="4442938"/>
            <a:ext cx="6367848" cy="1091514"/>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6192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129059"/>
            <a:ext cx="9068028" cy="1320800"/>
          </a:xfrm>
        </p:spPr>
        <p:txBody>
          <a:bodyPr/>
          <a:lstStyle/>
          <a:p>
            <a:r>
              <a:rPr lang="en-US" dirty="0"/>
              <a:t>Three schema architecture and data independence</a:t>
            </a:r>
          </a:p>
        </p:txBody>
      </p:sp>
      <p:sp>
        <p:nvSpPr>
          <p:cNvPr id="3" name="Content Placeholder 2"/>
          <p:cNvSpPr>
            <a:spLocks noGrp="1"/>
          </p:cNvSpPr>
          <p:nvPr>
            <p:ph idx="1"/>
          </p:nvPr>
        </p:nvSpPr>
        <p:spPr>
          <a:xfrm>
            <a:off x="512577" y="1449859"/>
            <a:ext cx="6868526" cy="584887"/>
          </a:xfrm>
          <a:noFill/>
        </p:spPr>
        <p:txBody>
          <a:bodyPr>
            <a:normAutofit/>
          </a:bodyPr>
          <a:lstStyle/>
          <a:p>
            <a:r>
              <a:rPr lang="en-US" b="1" u="sng" dirty="0">
                <a:solidFill>
                  <a:schemeClr val="accent2">
                    <a:lumMod val="75000"/>
                  </a:schemeClr>
                </a:solidFill>
              </a:rPr>
              <a:t>The Three-Schema </a:t>
            </a:r>
            <a:r>
              <a:rPr lang="en-US" b="1" u="sng" dirty="0" smtClean="0">
                <a:solidFill>
                  <a:schemeClr val="accent2">
                    <a:lumMod val="75000"/>
                  </a:schemeClr>
                </a:solidFill>
              </a:rPr>
              <a:t>Architecture</a:t>
            </a:r>
          </a:p>
        </p:txBody>
      </p:sp>
      <p:pic>
        <p:nvPicPr>
          <p:cNvPr id="4" name="Picture 3"/>
          <p:cNvPicPr>
            <a:picLocks noChangeAspect="1"/>
          </p:cNvPicPr>
          <p:nvPr/>
        </p:nvPicPr>
        <p:blipFill>
          <a:blip r:embed="rId2"/>
          <a:stretch>
            <a:fillRect/>
          </a:stretch>
        </p:blipFill>
        <p:spPr>
          <a:xfrm>
            <a:off x="7593612" y="1902940"/>
            <a:ext cx="4352925" cy="3352800"/>
          </a:xfrm>
          <a:prstGeom prst="rect">
            <a:avLst/>
          </a:prstGeom>
          <a:ln w="38100" cap="sq">
            <a:solidFill>
              <a:srgbClr val="000000"/>
            </a:solidFill>
            <a:miter lim="800000"/>
          </a:ln>
          <a:effectLst>
            <a:outerShdw blurRad="57150" dist="50800" dir="2700000" algn="tl" rotWithShape="0">
              <a:srgbClr val="000000">
                <a:alpha val="40000"/>
              </a:srgbClr>
            </a:outerShdw>
          </a:effectLst>
        </p:spPr>
      </p:pic>
      <p:sp>
        <p:nvSpPr>
          <p:cNvPr id="7" name="TextBox 6"/>
          <p:cNvSpPr txBox="1"/>
          <p:nvPr/>
        </p:nvSpPr>
        <p:spPr>
          <a:xfrm>
            <a:off x="1080070" y="2034746"/>
            <a:ext cx="3014135" cy="584775"/>
          </a:xfrm>
          <a:prstGeom prst="rect">
            <a:avLst/>
          </a:prstGeom>
          <a:noFill/>
          <a:ln w="28575">
            <a:solidFill>
              <a:schemeClr val="tx1"/>
            </a:solidFill>
          </a:ln>
        </p:spPr>
        <p:txBody>
          <a:bodyPr wrap="square" rtlCol="0">
            <a:spAutoFit/>
          </a:bodyPr>
          <a:lstStyle/>
          <a:p>
            <a:pPr algn="ctr"/>
            <a:r>
              <a:rPr lang="en-US" sz="1600" dirty="0" smtClean="0"/>
              <a:t>Request </a:t>
            </a:r>
            <a:r>
              <a:rPr lang="en-US" sz="1600" dirty="0"/>
              <a:t>specified</a:t>
            </a:r>
          </a:p>
          <a:p>
            <a:pPr algn="ctr"/>
            <a:r>
              <a:rPr lang="en-US" sz="1600" dirty="0"/>
              <a:t>on an external schema</a:t>
            </a:r>
          </a:p>
        </p:txBody>
      </p:sp>
      <p:sp>
        <p:nvSpPr>
          <p:cNvPr id="11" name="TextBox 10"/>
          <p:cNvSpPr txBox="1"/>
          <p:nvPr/>
        </p:nvSpPr>
        <p:spPr>
          <a:xfrm>
            <a:off x="1088308" y="3058984"/>
            <a:ext cx="3014135" cy="584775"/>
          </a:xfrm>
          <a:prstGeom prst="rect">
            <a:avLst/>
          </a:prstGeom>
          <a:noFill/>
          <a:ln w="28575">
            <a:solidFill>
              <a:schemeClr val="tx1"/>
            </a:solidFill>
          </a:ln>
        </p:spPr>
        <p:txBody>
          <a:bodyPr wrap="square" rtlCol="0">
            <a:spAutoFit/>
          </a:bodyPr>
          <a:lstStyle/>
          <a:p>
            <a:pPr algn="ctr"/>
            <a:r>
              <a:rPr lang="en-US" sz="1600" dirty="0" smtClean="0"/>
              <a:t>Request transformed into conceptual schema</a:t>
            </a:r>
            <a:endParaRPr lang="en-US" sz="1600" dirty="0"/>
          </a:p>
        </p:txBody>
      </p:sp>
      <p:sp>
        <p:nvSpPr>
          <p:cNvPr id="13" name="TextBox 12"/>
          <p:cNvSpPr txBox="1"/>
          <p:nvPr/>
        </p:nvSpPr>
        <p:spPr>
          <a:xfrm>
            <a:off x="1088308" y="4055763"/>
            <a:ext cx="3014135" cy="584775"/>
          </a:xfrm>
          <a:prstGeom prst="rect">
            <a:avLst/>
          </a:prstGeom>
          <a:noFill/>
          <a:ln w="28575">
            <a:solidFill>
              <a:schemeClr val="tx1"/>
            </a:solidFill>
          </a:ln>
        </p:spPr>
        <p:txBody>
          <a:bodyPr wrap="square" rtlCol="0">
            <a:spAutoFit/>
          </a:bodyPr>
          <a:lstStyle/>
          <a:p>
            <a:pPr algn="ctr"/>
            <a:r>
              <a:rPr lang="en-US" sz="1600" dirty="0" smtClean="0"/>
              <a:t>Request </a:t>
            </a:r>
            <a:r>
              <a:rPr lang="en-US" sz="1600" dirty="0"/>
              <a:t>transformed into </a:t>
            </a:r>
            <a:r>
              <a:rPr lang="en-US" sz="1600" dirty="0" smtClean="0"/>
              <a:t>internal schema</a:t>
            </a:r>
            <a:endParaRPr lang="en-US" sz="1600" dirty="0"/>
          </a:p>
        </p:txBody>
      </p:sp>
      <p:sp>
        <p:nvSpPr>
          <p:cNvPr id="14" name="Can 13"/>
          <p:cNvSpPr/>
          <p:nvPr/>
        </p:nvSpPr>
        <p:spPr>
          <a:xfrm>
            <a:off x="2004647" y="5077256"/>
            <a:ext cx="1164974" cy="81554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Processing</a:t>
            </a:r>
            <a:endParaRPr lang="en-US" sz="1600" dirty="0"/>
          </a:p>
        </p:txBody>
      </p:sp>
      <p:cxnSp>
        <p:nvCxnSpPr>
          <p:cNvPr id="17" name="Straight Arrow Connector 16"/>
          <p:cNvCxnSpPr/>
          <p:nvPr/>
        </p:nvCxnSpPr>
        <p:spPr>
          <a:xfrm>
            <a:off x="2529015" y="2635997"/>
            <a:ext cx="0" cy="414749"/>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525348" y="3643759"/>
            <a:ext cx="0" cy="414749"/>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529922" y="4640538"/>
            <a:ext cx="0" cy="414749"/>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497860" y="2843260"/>
            <a:ext cx="2883243" cy="1499398"/>
          </a:xfrm>
          <a:prstGeom prst="rect">
            <a:avLst/>
          </a:prstGeom>
          <a:noFill/>
        </p:spPr>
        <p:txBody>
          <a:bodyPr wrap="square" rtlCol="0">
            <a:spAutoFit/>
          </a:bodyPr>
          <a:lstStyle/>
          <a:p>
            <a:pPr algn="ctr"/>
            <a:r>
              <a:rPr lang="en-US" b="1" dirty="0">
                <a:solidFill>
                  <a:schemeClr val="accent5"/>
                </a:solidFill>
              </a:rPr>
              <a:t>The processes of transforming</a:t>
            </a:r>
          </a:p>
          <a:p>
            <a:pPr algn="ctr"/>
            <a:r>
              <a:rPr lang="en-US" b="1" dirty="0">
                <a:solidFill>
                  <a:schemeClr val="accent5"/>
                </a:solidFill>
              </a:rPr>
              <a:t>requests and results between levels are called mappings.</a:t>
            </a:r>
          </a:p>
        </p:txBody>
      </p:sp>
      <p:sp>
        <p:nvSpPr>
          <p:cNvPr id="21" name="Left Brace 20"/>
          <p:cNvSpPr/>
          <p:nvPr/>
        </p:nvSpPr>
        <p:spPr>
          <a:xfrm flipH="1">
            <a:off x="4182414" y="1847333"/>
            <a:ext cx="479284" cy="4007600"/>
          </a:xfrm>
          <a:prstGeom prst="leftBrace">
            <a:avLst/>
          </a:prstGeom>
          <a:ln w="2857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07081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129059"/>
            <a:ext cx="9068028" cy="1320800"/>
          </a:xfrm>
        </p:spPr>
        <p:txBody>
          <a:bodyPr/>
          <a:lstStyle/>
          <a:p>
            <a:r>
              <a:rPr lang="en-US" dirty="0"/>
              <a:t>Three schema architecture and data independence</a:t>
            </a:r>
          </a:p>
        </p:txBody>
      </p:sp>
      <p:sp>
        <p:nvSpPr>
          <p:cNvPr id="3" name="Content Placeholder 2"/>
          <p:cNvSpPr>
            <a:spLocks noGrp="1"/>
          </p:cNvSpPr>
          <p:nvPr>
            <p:ph idx="1"/>
          </p:nvPr>
        </p:nvSpPr>
        <p:spPr>
          <a:xfrm>
            <a:off x="512577" y="1383956"/>
            <a:ext cx="9809434" cy="4893276"/>
          </a:xfrm>
        </p:spPr>
        <p:txBody>
          <a:bodyPr>
            <a:normAutofit/>
          </a:bodyPr>
          <a:lstStyle/>
          <a:p>
            <a:r>
              <a:rPr lang="en-US" b="1" u="sng" dirty="0">
                <a:solidFill>
                  <a:schemeClr val="accent2">
                    <a:lumMod val="75000"/>
                  </a:schemeClr>
                </a:solidFill>
              </a:rPr>
              <a:t>Data </a:t>
            </a:r>
            <a:r>
              <a:rPr lang="en-US" b="1" u="sng" dirty="0" smtClean="0">
                <a:solidFill>
                  <a:schemeClr val="accent2">
                    <a:lumMod val="75000"/>
                  </a:schemeClr>
                </a:solidFill>
              </a:rPr>
              <a:t>Independence</a:t>
            </a:r>
          </a:p>
          <a:p>
            <a:r>
              <a:rPr lang="en-US" dirty="0">
                <a:solidFill>
                  <a:schemeClr val="tx1"/>
                </a:solidFill>
              </a:rPr>
              <a:t>D</a:t>
            </a:r>
            <a:r>
              <a:rPr lang="en-US" dirty="0" smtClean="0">
                <a:solidFill>
                  <a:schemeClr val="tx1"/>
                </a:solidFill>
              </a:rPr>
              <a:t>ata independence – the </a:t>
            </a:r>
            <a:r>
              <a:rPr lang="en-US" b="1" dirty="0" smtClean="0">
                <a:solidFill>
                  <a:schemeClr val="accent5"/>
                </a:solidFill>
              </a:rPr>
              <a:t>capacity </a:t>
            </a:r>
            <a:r>
              <a:rPr lang="en-US" b="1" dirty="0">
                <a:solidFill>
                  <a:schemeClr val="accent5"/>
                </a:solidFill>
              </a:rPr>
              <a:t>to change the schema at </a:t>
            </a:r>
            <a:r>
              <a:rPr lang="en-US" b="1" dirty="0" smtClean="0">
                <a:solidFill>
                  <a:schemeClr val="accent5"/>
                </a:solidFill>
              </a:rPr>
              <a:t>one level </a:t>
            </a:r>
            <a:r>
              <a:rPr lang="en-US" b="1" dirty="0">
                <a:solidFill>
                  <a:schemeClr val="accent5"/>
                </a:solidFill>
              </a:rPr>
              <a:t>of a database system without having to change the schema at the next </a:t>
            </a:r>
            <a:r>
              <a:rPr lang="en-US" b="1" dirty="0" smtClean="0">
                <a:solidFill>
                  <a:schemeClr val="accent5"/>
                </a:solidFill>
              </a:rPr>
              <a:t>higher level</a:t>
            </a:r>
            <a:r>
              <a:rPr lang="en-US" dirty="0" smtClean="0">
                <a:solidFill>
                  <a:schemeClr val="tx1"/>
                </a:solidFill>
              </a:rPr>
              <a:t>.</a:t>
            </a:r>
          </a:p>
          <a:p>
            <a:r>
              <a:rPr lang="en-US" b="1" dirty="0">
                <a:solidFill>
                  <a:schemeClr val="accent5"/>
                </a:solidFill>
              </a:rPr>
              <a:t>Logical data independence </a:t>
            </a:r>
            <a:r>
              <a:rPr lang="en-US" dirty="0">
                <a:solidFill>
                  <a:schemeClr val="tx1"/>
                </a:solidFill>
              </a:rPr>
              <a:t>is the capacity to change the conceptual </a:t>
            </a:r>
            <a:r>
              <a:rPr lang="en-US" dirty="0" smtClean="0">
                <a:solidFill>
                  <a:schemeClr val="tx1"/>
                </a:solidFill>
              </a:rPr>
              <a:t>schema without </a:t>
            </a:r>
            <a:r>
              <a:rPr lang="en-US" dirty="0">
                <a:solidFill>
                  <a:schemeClr val="tx1"/>
                </a:solidFill>
              </a:rPr>
              <a:t>having to change external schemas </a:t>
            </a:r>
            <a:r>
              <a:rPr lang="en-US" dirty="0" smtClean="0">
                <a:solidFill>
                  <a:schemeClr val="tx1"/>
                </a:solidFill>
              </a:rPr>
              <a:t>. </a:t>
            </a:r>
            <a:r>
              <a:rPr lang="en-US" dirty="0">
                <a:solidFill>
                  <a:schemeClr val="tx1"/>
                </a:solidFill>
              </a:rPr>
              <a:t>We may change the conceptual schema </a:t>
            </a:r>
            <a:r>
              <a:rPr lang="en-US" dirty="0" smtClean="0">
                <a:solidFill>
                  <a:schemeClr val="tx1"/>
                </a:solidFill>
              </a:rPr>
              <a:t>(by </a:t>
            </a:r>
            <a:r>
              <a:rPr lang="en-US" dirty="0">
                <a:solidFill>
                  <a:schemeClr val="tx1"/>
                </a:solidFill>
              </a:rPr>
              <a:t>adding </a:t>
            </a:r>
            <a:r>
              <a:rPr lang="en-US" dirty="0" smtClean="0">
                <a:solidFill>
                  <a:schemeClr val="tx1"/>
                </a:solidFill>
              </a:rPr>
              <a:t>a record </a:t>
            </a:r>
            <a:r>
              <a:rPr lang="en-US" dirty="0">
                <a:solidFill>
                  <a:schemeClr val="tx1"/>
                </a:solidFill>
              </a:rPr>
              <a:t>type or data item), to change constraints, or to reduce the </a:t>
            </a:r>
            <a:r>
              <a:rPr lang="en-US" dirty="0" smtClean="0">
                <a:solidFill>
                  <a:schemeClr val="tx1"/>
                </a:solidFill>
              </a:rPr>
              <a:t>database (by </a:t>
            </a:r>
            <a:r>
              <a:rPr lang="en-US" dirty="0">
                <a:solidFill>
                  <a:schemeClr val="tx1"/>
                </a:solidFill>
              </a:rPr>
              <a:t>removing a record type or data item). </a:t>
            </a:r>
            <a:endParaRPr lang="en-US" dirty="0" smtClean="0">
              <a:solidFill>
                <a:schemeClr val="tx1"/>
              </a:solidFill>
            </a:endParaRPr>
          </a:p>
          <a:p>
            <a:r>
              <a:rPr lang="en-US" dirty="0" smtClean="0">
                <a:solidFill>
                  <a:schemeClr val="tx1"/>
                </a:solidFill>
              </a:rPr>
              <a:t>After the conceptual </a:t>
            </a:r>
            <a:r>
              <a:rPr lang="en-US" dirty="0">
                <a:solidFill>
                  <a:schemeClr val="tx1"/>
                </a:solidFill>
              </a:rPr>
              <a:t>schema </a:t>
            </a:r>
            <a:r>
              <a:rPr lang="en-US" dirty="0" smtClean="0">
                <a:solidFill>
                  <a:schemeClr val="tx1"/>
                </a:solidFill>
              </a:rPr>
              <a:t>changes, </a:t>
            </a:r>
            <a:r>
              <a:rPr lang="en-US" dirty="0">
                <a:solidFill>
                  <a:schemeClr val="tx1"/>
                </a:solidFill>
              </a:rPr>
              <a:t>application </a:t>
            </a:r>
            <a:r>
              <a:rPr lang="en-US" dirty="0" smtClean="0">
                <a:solidFill>
                  <a:schemeClr val="tx1"/>
                </a:solidFill>
              </a:rPr>
              <a:t>programs that </a:t>
            </a:r>
            <a:r>
              <a:rPr lang="en-US" dirty="0">
                <a:solidFill>
                  <a:schemeClr val="tx1"/>
                </a:solidFill>
              </a:rPr>
              <a:t>reference the external schema constructs must work as </a:t>
            </a:r>
            <a:r>
              <a:rPr lang="en-US" dirty="0" smtClean="0">
                <a:solidFill>
                  <a:schemeClr val="tx1"/>
                </a:solidFill>
              </a:rPr>
              <a:t>before. </a:t>
            </a:r>
          </a:p>
          <a:p>
            <a:r>
              <a:rPr lang="en-US" b="1" dirty="0" smtClean="0">
                <a:solidFill>
                  <a:schemeClr val="accent5"/>
                </a:solidFill>
              </a:rPr>
              <a:t>Changes </a:t>
            </a:r>
            <a:r>
              <a:rPr lang="en-US" b="1" dirty="0">
                <a:solidFill>
                  <a:schemeClr val="accent5"/>
                </a:solidFill>
              </a:rPr>
              <a:t>to constraints </a:t>
            </a:r>
            <a:r>
              <a:rPr lang="en-US" dirty="0">
                <a:solidFill>
                  <a:schemeClr val="tx1"/>
                </a:solidFill>
              </a:rPr>
              <a:t>can be applied to the conceptual schema </a:t>
            </a:r>
            <a:r>
              <a:rPr lang="en-US" dirty="0" smtClean="0">
                <a:solidFill>
                  <a:schemeClr val="tx1"/>
                </a:solidFill>
              </a:rPr>
              <a:t>without affecting </a:t>
            </a:r>
            <a:r>
              <a:rPr lang="en-US" dirty="0">
                <a:solidFill>
                  <a:schemeClr val="tx1"/>
                </a:solidFill>
              </a:rPr>
              <a:t>the external schemas or application programs.</a:t>
            </a:r>
            <a:endParaRPr lang="en-US" dirty="0" smtClean="0">
              <a:solidFill>
                <a:schemeClr val="tx1"/>
              </a:solidFill>
            </a:endParaRPr>
          </a:p>
          <a:p>
            <a:endParaRPr lang="en-US" dirty="0" smtClean="0">
              <a:solidFill>
                <a:schemeClr val="tx1"/>
              </a:solidFill>
            </a:endParaRPr>
          </a:p>
        </p:txBody>
      </p:sp>
    </p:spTree>
    <p:extLst>
      <p:ext uri="{BB962C8B-B14F-4D97-AF65-F5344CB8AC3E}">
        <p14:creationId xmlns:p14="http://schemas.microsoft.com/office/powerpoint/2010/main" val="2263844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129059"/>
            <a:ext cx="9068028" cy="1320800"/>
          </a:xfrm>
        </p:spPr>
        <p:txBody>
          <a:bodyPr/>
          <a:lstStyle/>
          <a:p>
            <a:r>
              <a:rPr lang="en-US" dirty="0"/>
              <a:t>Three schema architecture and data independence</a:t>
            </a:r>
          </a:p>
        </p:txBody>
      </p:sp>
      <p:sp>
        <p:nvSpPr>
          <p:cNvPr id="3" name="Content Placeholder 2"/>
          <p:cNvSpPr>
            <a:spLocks noGrp="1"/>
          </p:cNvSpPr>
          <p:nvPr>
            <p:ph idx="1"/>
          </p:nvPr>
        </p:nvSpPr>
        <p:spPr>
          <a:xfrm>
            <a:off x="1772966" y="3816204"/>
            <a:ext cx="9809434" cy="848497"/>
          </a:xfrm>
        </p:spPr>
        <p:txBody>
          <a:bodyPr>
            <a:normAutofit/>
          </a:bodyPr>
          <a:lstStyle/>
          <a:p>
            <a:r>
              <a:rPr lang="en-US" dirty="0" smtClean="0">
                <a:solidFill>
                  <a:schemeClr val="tx1"/>
                </a:solidFill>
              </a:rPr>
              <a:t>Only view definition and mappings are changed.</a:t>
            </a:r>
          </a:p>
        </p:txBody>
      </p:sp>
      <p:pic>
        <p:nvPicPr>
          <p:cNvPr id="4" name="Picture 3"/>
          <p:cNvPicPr>
            <a:picLocks noChangeAspect="1"/>
          </p:cNvPicPr>
          <p:nvPr/>
        </p:nvPicPr>
        <p:blipFill rotWithShape="1">
          <a:blip r:embed="rId2"/>
          <a:srcRect t="4174"/>
          <a:stretch/>
        </p:blipFill>
        <p:spPr>
          <a:xfrm>
            <a:off x="512577" y="1338701"/>
            <a:ext cx="7061235" cy="2561968"/>
          </a:xfrm>
          <a:prstGeom prst="rect">
            <a:avLst/>
          </a:prstGeom>
        </p:spPr>
      </p:pic>
      <p:pic>
        <p:nvPicPr>
          <p:cNvPr id="5" name="Picture 4"/>
          <p:cNvPicPr>
            <a:picLocks noChangeAspect="1"/>
          </p:cNvPicPr>
          <p:nvPr/>
        </p:nvPicPr>
        <p:blipFill>
          <a:blip r:embed="rId3"/>
          <a:stretch>
            <a:fillRect/>
          </a:stretch>
        </p:blipFill>
        <p:spPr>
          <a:xfrm>
            <a:off x="6093183" y="4664701"/>
            <a:ext cx="5818730" cy="2110621"/>
          </a:xfrm>
          <a:prstGeom prst="rect">
            <a:avLst/>
          </a:prstGeom>
        </p:spPr>
      </p:pic>
    </p:spTree>
    <p:extLst>
      <p:ext uri="{BB962C8B-B14F-4D97-AF65-F5344CB8AC3E}">
        <p14:creationId xmlns:p14="http://schemas.microsoft.com/office/powerpoint/2010/main" val="3750605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129059"/>
            <a:ext cx="9068028" cy="1320800"/>
          </a:xfrm>
        </p:spPr>
        <p:txBody>
          <a:bodyPr/>
          <a:lstStyle/>
          <a:p>
            <a:r>
              <a:rPr lang="en-US" dirty="0"/>
              <a:t>Three schema architecture and data independence</a:t>
            </a:r>
          </a:p>
        </p:txBody>
      </p:sp>
      <p:sp>
        <p:nvSpPr>
          <p:cNvPr id="3" name="Content Placeholder 2"/>
          <p:cNvSpPr>
            <a:spLocks noGrp="1"/>
          </p:cNvSpPr>
          <p:nvPr>
            <p:ph idx="1"/>
          </p:nvPr>
        </p:nvSpPr>
        <p:spPr>
          <a:xfrm>
            <a:off x="512577" y="1383956"/>
            <a:ext cx="9809434" cy="4893276"/>
          </a:xfrm>
        </p:spPr>
        <p:txBody>
          <a:bodyPr>
            <a:normAutofit/>
          </a:bodyPr>
          <a:lstStyle/>
          <a:p>
            <a:r>
              <a:rPr lang="en-US" b="1" u="sng" dirty="0">
                <a:solidFill>
                  <a:schemeClr val="accent2">
                    <a:lumMod val="75000"/>
                  </a:schemeClr>
                </a:solidFill>
              </a:rPr>
              <a:t>Data </a:t>
            </a:r>
            <a:r>
              <a:rPr lang="en-US" b="1" u="sng" dirty="0" smtClean="0">
                <a:solidFill>
                  <a:schemeClr val="accent2">
                    <a:lumMod val="75000"/>
                  </a:schemeClr>
                </a:solidFill>
              </a:rPr>
              <a:t>Independence</a:t>
            </a:r>
          </a:p>
          <a:p>
            <a:r>
              <a:rPr lang="en-US" b="1" dirty="0">
                <a:solidFill>
                  <a:schemeClr val="accent5"/>
                </a:solidFill>
              </a:rPr>
              <a:t>Physical data independence </a:t>
            </a:r>
            <a:r>
              <a:rPr lang="en-US" dirty="0">
                <a:solidFill>
                  <a:schemeClr val="tx1"/>
                </a:solidFill>
              </a:rPr>
              <a:t>is the capacity to change the internal </a:t>
            </a:r>
            <a:r>
              <a:rPr lang="en-US" dirty="0" smtClean="0">
                <a:solidFill>
                  <a:schemeClr val="tx1"/>
                </a:solidFill>
              </a:rPr>
              <a:t>schema without </a:t>
            </a:r>
            <a:r>
              <a:rPr lang="en-US" dirty="0">
                <a:solidFill>
                  <a:schemeClr val="tx1"/>
                </a:solidFill>
              </a:rPr>
              <a:t>having to change the conceptual schema. Hence, the external </a:t>
            </a:r>
            <a:r>
              <a:rPr lang="en-US" dirty="0" smtClean="0">
                <a:solidFill>
                  <a:schemeClr val="tx1"/>
                </a:solidFill>
              </a:rPr>
              <a:t>schemas need </a:t>
            </a:r>
            <a:r>
              <a:rPr lang="en-US" dirty="0">
                <a:solidFill>
                  <a:schemeClr val="tx1"/>
                </a:solidFill>
              </a:rPr>
              <a:t>not be changed as well. </a:t>
            </a:r>
            <a:endParaRPr lang="en-US" dirty="0" smtClean="0">
              <a:solidFill>
                <a:schemeClr val="tx1"/>
              </a:solidFill>
            </a:endParaRPr>
          </a:p>
          <a:p>
            <a:r>
              <a:rPr lang="en-US" dirty="0" smtClean="0">
                <a:solidFill>
                  <a:schemeClr val="tx1"/>
                </a:solidFill>
              </a:rPr>
              <a:t>Changes </a:t>
            </a:r>
            <a:r>
              <a:rPr lang="en-US" dirty="0">
                <a:solidFill>
                  <a:schemeClr val="tx1"/>
                </a:solidFill>
              </a:rPr>
              <a:t>to the internal schema may </a:t>
            </a:r>
            <a:r>
              <a:rPr lang="en-US" dirty="0" smtClean="0">
                <a:solidFill>
                  <a:schemeClr val="tx1"/>
                </a:solidFill>
              </a:rPr>
              <a:t>be needed </a:t>
            </a:r>
            <a:r>
              <a:rPr lang="en-US" dirty="0">
                <a:solidFill>
                  <a:schemeClr val="tx1"/>
                </a:solidFill>
              </a:rPr>
              <a:t>because some physical files were reorganized—for example, by </a:t>
            </a:r>
            <a:r>
              <a:rPr lang="en-US" dirty="0" smtClean="0">
                <a:solidFill>
                  <a:schemeClr val="tx1"/>
                </a:solidFill>
              </a:rPr>
              <a:t>creating additional </a:t>
            </a:r>
            <a:r>
              <a:rPr lang="en-US" dirty="0">
                <a:solidFill>
                  <a:schemeClr val="tx1"/>
                </a:solidFill>
              </a:rPr>
              <a:t>access structures—to improve the performance of </a:t>
            </a:r>
            <a:r>
              <a:rPr lang="en-US" dirty="0" smtClean="0">
                <a:solidFill>
                  <a:schemeClr val="tx1"/>
                </a:solidFill>
              </a:rPr>
              <a:t>retrieval or </a:t>
            </a:r>
            <a:r>
              <a:rPr lang="en-US" dirty="0">
                <a:solidFill>
                  <a:schemeClr val="tx1"/>
                </a:solidFill>
              </a:rPr>
              <a:t>update. </a:t>
            </a:r>
            <a:endParaRPr lang="en-US" dirty="0" smtClean="0">
              <a:solidFill>
                <a:schemeClr val="tx1"/>
              </a:solidFill>
            </a:endParaRPr>
          </a:p>
          <a:p>
            <a:r>
              <a:rPr lang="en-US" dirty="0" smtClean="0">
                <a:solidFill>
                  <a:schemeClr val="tx1"/>
                </a:solidFill>
              </a:rPr>
              <a:t>If </a:t>
            </a:r>
            <a:r>
              <a:rPr lang="en-US" dirty="0">
                <a:solidFill>
                  <a:schemeClr val="tx1"/>
                </a:solidFill>
              </a:rPr>
              <a:t>the same data as before remains in the database, we should </a:t>
            </a:r>
            <a:r>
              <a:rPr lang="en-US" dirty="0" smtClean="0">
                <a:solidFill>
                  <a:schemeClr val="tx1"/>
                </a:solidFill>
              </a:rPr>
              <a:t>not have </a:t>
            </a:r>
            <a:r>
              <a:rPr lang="en-US" dirty="0">
                <a:solidFill>
                  <a:schemeClr val="tx1"/>
                </a:solidFill>
              </a:rPr>
              <a:t>to change the conceptual schema. </a:t>
            </a:r>
            <a:endParaRPr lang="en-US" dirty="0" smtClean="0">
              <a:solidFill>
                <a:schemeClr val="tx1"/>
              </a:solidFill>
            </a:endParaRPr>
          </a:p>
        </p:txBody>
      </p:sp>
      <p:sp>
        <p:nvSpPr>
          <p:cNvPr id="5" name="TextBox 4"/>
          <p:cNvSpPr txBox="1"/>
          <p:nvPr/>
        </p:nvSpPr>
        <p:spPr>
          <a:xfrm>
            <a:off x="1504321" y="4559646"/>
            <a:ext cx="7825946" cy="2339102"/>
          </a:xfrm>
          <a:prstGeom prst="rect">
            <a:avLst/>
          </a:prstGeom>
          <a:noFill/>
          <a:ln w="28575">
            <a:noFill/>
          </a:ln>
        </p:spPr>
        <p:txBody>
          <a:bodyPr wrap="square" rtlCol="0">
            <a:spAutoFit/>
          </a:bodyPr>
          <a:lstStyle/>
          <a:p>
            <a:pPr algn="ctr"/>
            <a:r>
              <a:rPr lang="en-US" sz="2400" b="1" dirty="0">
                <a:solidFill>
                  <a:srgbClr val="FF0000"/>
                </a:solidFill>
              </a:rPr>
              <a:t>Which data independence is harder to achieve? Physical or logical? Why</a:t>
            </a:r>
            <a:r>
              <a:rPr lang="en-US" sz="2400" b="1" dirty="0" smtClean="0">
                <a:solidFill>
                  <a:srgbClr val="FF0000"/>
                </a:solidFill>
              </a:rPr>
              <a:t>?</a:t>
            </a:r>
          </a:p>
          <a:p>
            <a:pPr algn="ctr"/>
            <a:r>
              <a:rPr lang="en-US" sz="2000" b="1" dirty="0" smtClean="0">
                <a:solidFill>
                  <a:schemeClr val="tx1">
                    <a:lumMod val="95000"/>
                    <a:lumOff val="5000"/>
                  </a:schemeClr>
                </a:solidFill>
              </a:rPr>
              <a:t>Logical is hard to achieve since applications are heavily dependent on data. Physical independence such as access paths, compression techniques, encoding is already handled by the OS.</a:t>
            </a:r>
            <a:endParaRPr lang="en-US" sz="2000" b="1" dirty="0">
              <a:solidFill>
                <a:schemeClr val="tx1">
                  <a:lumMod val="95000"/>
                  <a:lumOff val="5000"/>
                </a:schemeClr>
              </a:solidFill>
            </a:endParaRPr>
          </a:p>
          <a:p>
            <a:endParaRPr lang="en-US" dirty="0"/>
          </a:p>
        </p:txBody>
      </p:sp>
    </p:spTree>
    <p:extLst>
      <p:ext uri="{BB962C8B-B14F-4D97-AF65-F5344CB8AC3E}">
        <p14:creationId xmlns:p14="http://schemas.microsoft.com/office/powerpoint/2010/main" val="3695525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Database Languages and Interfaces</a:t>
            </a:r>
          </a:p>
        </p:txBody>
      </p:sp>
      <p:sp>
        <p:nvSpPr>
          <p:cNvPr id="3" name="Content Placeholder 2"/>
          <p:cNvSpPr>
            <a:spLocks noGrp="1"/>
          </p:cNvSpPr>
          <p:nvPr>
            <p:ph idx="1"/>
          </p:nvPr>
        </p:nvSpPr>
        <p:spPr>
          <a:xfrm>
            <a:off x="314869" y="1046204"/>
            <a:ext cx="6407207" cy="5577017"/>
          </a:xfrm>
        </p:spPr>
        <p:txBody>
          <a:bodyPr>
            <a:normAutofit/>
          </a:bodyPr>
          <a:lstStyle/>
          <a:p>
            <a:r>
              <a:rPr lang="en-US" b="1" u="sng" dirty="0">
                <a:solidFill>
                  <a:schemeClr val="accent2">
                    <a:lumMod val="75000"/>
                  </a:schemeClr>
                </a:solidFill>
              </a:rPr>
              <a:t>DBMS </a:t>
            </a:r>
            <a:r>
              <a:rPr lang="en-US" b="1" u="sng" dirty="0" smtClean="0">
                <a:solidFill>
                  <a:schemeClr val="accent2">
                    <a:lumMod val="75000"/>
                  </a:schemeClr>
                </a:solidFill>
              </a:rPr>
              <a:t>Languages</a:t>
            </a:r>
          </a:p>
          <a:p>
            <a:endParaRPr lang="en-US" b="1" u="sng" dirty="0" smtClean="0">
              <a:solidFill>
                <a:schemeClr val="accent2">
                  <a:lumMod val="75000"/>
                </a:schemeClr>
              </a:solidFill>
            </a:endParaRPr>
          </a:p>
          <a:p>
            <a:r>
              <a:rPr lang="en-US" b="1" dirty="0">
                <a:solidFill>
                  <a:schemeClr val="accent5"/>
                </a:solidFill>
              </a:rPr>
              <a:t>D</a:t>
            </a:r>
            <a:r>
              <a:rPr lang="en-US" b="1" dirty="0" smtClean="0">
                <a:solidFill>
                  <a:schemeClr val="accent5"/>
                </a:solidFill>
              </a:rPr>
              <a:t>ata </a:t>
            </a:r>
            <a:r>
              <a:rPr lang="en-US" b="1" dirty="0">
                <a:solidFill>
                  <a:schemeClr val="accent5"/>
                </a:solidFill>
              </a:rPr>
              <a:t>definition </a:t>
            </a:r>
            <a:r>
              <a:rPr lang="en-US" b="1" dirty="0" smtClean="0">
                <a:solidFill>
                  <a:schemeClr val="accent5"/>
                </a:solidFill>
              </a:rPr>
              <a:t>language (DDL) - </a:t>
            </a:r>
            <a:r>
              <a:rPr lang="en-US" dirty="0" smtClean="0">
                <a:solidFill>
                  <a:schemeClr val="tx1"/>
                </a:solidFill>
              </a:rPr>
              <a:t>is </a:t>
            </a:r>
            <a:r>
              <a:rPr lang="en-US" dirty="0">
                <a:solidFill>
                  <a:schemeClr val="tx1"/>
                </a:solidFill>
              </a:rPr>
              <a:t>used </a:t>
            </a:r>
            <a:r>
              <a:rPr lang="en-US" dirty="0" smtClean="0">
                <a:solidFill>
                  <a:schemeClr val="tx1"/>
                </a:solidFill>
              </a:rPr>
              <a:t>to </a:t>
            </a:r>
            <a:r>
              <a:rPr lang="en-US" dirty="0">
                <a:solidFill>
                  <a:schemeClr val="tx1"/>
                </a:solidFill>
              </a:rPr>
              <a:t>specify conceptual and internal schemas for the </a:t>
            </a:r>
            <a:r>
              <a:rPr lang="en-US" dirty="0" smtClean="0">
                <a:solidFill>
                  <a:schemeClr val="tx1"/>
                </a:solidFill>
              </a:rPr>
              <a:t>database.</a:t>
            </a:r>
          </a:p>
          <a:p>
            <a:r>
              <a:rPr lang="en-US" dirty="0" smtClean="0">
                <a:solidFill>
                  <a:schemeClr val="tx1"/>
                </a:solidFill>
              </a:rPr>
              <a:t>The DBMS </a:t>
            </a:r>
            <a:r>
              <a:rPr lang="en-US" dirty="0">
                <a:solidFill>
                  <a:schemeClr val="tx1"/>
                </a:solidFill>
              </a:rPr>
              <a:t>will have a DDL compiler whose function is to process DDL statements </a:t>
            </a:r>
            <a:r>
              <a:rPr lang="en-US" dirty="0" smtClean="0">
                <a:solidFill>
                  <a:schemeClr val="tx1"/>
                </a:solidFill>
              </a:rPr>
              <a:t>to </a:t>
            </a:r>
            <a:r>
              <a:rPr lang="en-US" dirty="0">
                <a:solidFill>
                  <a:schemeClr val="tx1"/>
                </a:solidFill>
              </a:rPr>
              <a:t>identify descriptions of the schema constructs and to store the </a:t>
            </a:r>
            <a:r>
              <a:rPr lang="en-US" dirty="0" smtClean="0">
                <a:solidFill>
                  <a:schemeClr val="tx1"/>
                </a:solidFill>
              </a:rPr>
              <a:t>schema description </a:t>
            </a:r>
            <a:r>
              <a:rPr lang="en-US" dirty="0">
                <a:solidFill>
                  <a:schemeClr val="tx1"/>
                </a:solidFill>
              </a:rPr>
              <a:t>in the DBMS catalog</a:t>
            </a:r>
            <a:r>
              <a:rPr lang="en-US" dirty="0" smtClean="0">
                <a:solidFill>
                  <a:schemeClr val="tx1"/>
                </a:solidFill>
              </a:rPr>
              <a:t>.</a:t>
            </a:r>
          </a:p>
          <a:p>
            <a:r>
              <a:rPr lang="en-US" dirty="0" smtClean="0">
                <a:solidFill>
                  <a:schemeClr val="tx1"/>
                </a:solidFill>
              </a:rPr>
              <a:t>DDL </a:t>
            </a:r>
            <a:r>
              <a:rPr lang="en-US" dirty="0">
                <a:solidFill>
                  <a:schemeClr val="tx1"/>
                </a:solidFill>
              </a:rPr>
              <a:t>is used to specify the conceptual schema only. </a:t>
            </a:r>
            <a:r>
              <a:rPr lang="en-US" dirty="0" smtClean="0">
                <a:solidFill>
                  <a:schemeClr val="tx1"/>
                </a:solidFill>
              </a:rPr>
              <a:t>Another language</a:t>
            </a:r>
            <a:r>
              <a:rPr lang="en-US" dirty="0">
                <a:solidFill>
                  <a:schemeClr val="tx1"/>
                </a:solidFill>
              </a:rPr>
              <a:t>, the </a:t>
            </a:r>
            <a:r>
              <a:rPr lang="en-US" b="1" dirty="0">
                <a:solidFill>
                  <a:schemeClr val="accent5"/>
                </a:solidFill>
              </a:rPr>
              <a:t>storage definition language (SDL)</a:t>
            </a:r>
            <a:r>
              <a:rPr lang="en-US" b="1" dirty="0">
                <a:solidFill>
                  <a:schemeClr val="tx1"/>
                </a:solidFill>
              </a:rPr>
              <a:t>,</a:t>
            </a:r>
            <a:r>
              <a:rPr lang="en-US" b="1" dirty="0">
                <a:solidFill>
                  <a:schemeClr val="accent5"/>
                </a:solidFill>
              </a:rPr>
              <a:t> </a:t>
            </a:r>
            <a:r>
              <a:rPr lang="en-US" dirty="0">
                <a:solidFill>
                  <a:schemeClr val="tx1"/>
                </a:solidFill>
              </a:rPr>
              <a:t>is used to specify the </a:t>
            </a:r>
            <a:r>
              <a:rPr lang="en-US" dirty="0" smtClean="0">
                <a:solidFill>
                  <a:schemeClr val="tx1"/>
                </a:solidFill>
              </a:rPr>
              <a:t>internal schema (depending on DBMS used).</a:t>
            </a:r>
          </a:p>
          <a:p>
            <a:endParaRPr lang="en-US" sz="1600" dirty="0" smtClean="0">
              <a:solidFill>
                <a:schemeClr val="tx1"/>
              </a:solidFill>
            </a:endParaRPr>
          </a:p>
        </p:txBody>
      </p:sp>
      <p:pic>
        <p:nvPicPr>
          <p:cNvPr id="4098" name="Picture 2" descr="What is the Difference Between DDL and DML - Pediaa.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0357" y="1565188"/>
            <a:ext cx="4524375" cy="4486276"/>
          </a:xfrm>
          <a:prstGeom prst="rect">
            <a:avLst/>
          </a:prstGeom>
          <a:ln w="381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912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Database Languages and Interfaces</a:t>
            </a:r>
          </a:p>
        </p:txBody>
      </p:sp>
      <p:sp>
        <p:nvSpPr>
          <p:cNvPr id="3" name="Content Placeholder 2"/>
          <p:cNvSpPr>
            <a:spLocks noGrp="1"/>
          </p:cNvSpPr>
          <p:nvPr>
            <p:ph idx="1"/>
          </p:nvPr>
        </p:nvSpPr>
        <p:spPr>
          <a:xfrm>
            <a:off x="339582" y="1157415"/>
            <a:ext cx="6407207" cy="5577017"/>
          </a:xfrm>
        </p:spPr>
        <p:txBody>
          <a:bodyPr>
            <a:normAutofit/>
          </a:bodyPr>
          <a:lstStyle/>
          <a:p>
            <a:r>
              <a:rPr lang="en-US" sz="2000" b="1" u="sng" dirty="0">
                <a:solidFill>
                  <a:schemeClr val="accent2">
                    <a:lumMod val="75000"/>
                  </a:schemeClr>
                </a:solidFill>
              </a:rPr>
              <a:t>DBMS </a:t>
            </a:r>
            <a:r>
              <a:rPr lang="en-US" sz="2000" b="1" u="sng" dirty="0" smtClean="0">
                <a:solidFill>
                  <a:schemeClr val="accent2">
                    <a:lumMod val="75000"/>
                  </a:schemeClr>
                </a:solidFill>
              </a:rPr>
              <a:t>Languages</a:t>
            </a:r>
          </a:p>
          <a:p>
            <a:r>
              <a:rPr lang="en-US" dirty="0" smtClean="0">
                <a:solidFill>
                  <a:schemeClr val="tx1"/>
                </a:solidFill>
              </a:rPr>
              <a:t>Typical manipulations include </a:t>
            </a:r>
          </a:p>
          <a:p>
            <a:pPr lvl="1"/>
            <a:r>
              <a:rPr lang="en-US" b="1" dirty="0">
                <a:solidFill>
                  <a:schemeClr val="accent5"/>
                </a:solidFill>
              </a:rPr>
              <a:t>R</a:t>
            </a:r>
            <a:r>
              <a:rPr lang="en-US" b="1" dirty="0" smtClean="0">
                <a:solidFill>
                  <a:schemeClr val="accent5"/>
                </a:solidFill>
              </a:rPr>
              <a:t>etrieval, </a:t>
            </a:r>
          </a:p>
          <a:p>
            <a:pPr lvl="1"/>
            <a:r>
              <a:rPr lang="en-US" b="1" dirty="0">
                <a:solidFill>
                  <a:schemeClr val="accent5"/>
                </a:solidFill>
              </a:rPr>
              <a:t>I</a:t>
            </a:r>
            <a:r>
              <a:rPr lang="en-US" b="1" dirty="0" smtClean="0">
                <a:solidFill>
                  <a:schemeClr val="accent5"/>
                </a:solidFill>
              </a:rPr>
              <a:t>nsertion, </a:t>
            </a:r>
          </a:p>
          <a:p>
            <a:pPr lvl="1"/>
            <a:r>
              <a:rPr lang="en-US" b="1" dirty="0" smtClean="0">
                <a:solidFill>
                  <a:schemeClr val="accent5"/>
                </a:solidFill>
              </a:rPr>
              <a:t>Deletion, </a:t>
            </a:r>
          </a:p>
          <a:p>
            <a:pPr lvl="1"/>
            <a:r>
              <a:rPr lang="en-US" b="1" dirty="0" smtClean="0">
                <a:solidFill>
                  <a:schemeClr val="accent5"/>
                </a:solidFill>
              </a:rPr>
              <a:t>Modification </a:t>
            </a:r>
            <a:r>
              <a:rPr lang="en-US" dirty="0" smtClean="0">
                <a:solidFill>
                  <a:schemeClr val="tx1"/>
                </a:solidFill>
              </a:rPr>
              <a:t>of the data. </a:t>
            </a:r>
          </a:p>
          <a:p>
            <a:r>
              <a:rPr lang="en-US" dirty="0" smtClean="0">
                <a:solidFill>
                  <a:schemeClr val="tx1"/>
                </a:solidFill>
              </a:rPr>
              <a:t>The DBMS provides a set of operations called the </a:t>
            </a:r>
            <a:r>
              <a:rPr lang="en-US" b="1" dirty="0" smtClean="0">
                <a:solidFill>
                  <a:schemeClr val="accent5"/>
                </a:solidFill>
              </a:rPr>
              <a:t>data manipulation language (DML)</a:t>
            </a:r>
            <a:r>
              <a:rPr lang="en-US" dirty="0" smtClean="0">
                <a:solidFill>
                  <a:schemeClr val="tx1"/>
                </a:solidFill>
              </a:rPr>
              <a:t>.</a:t>
            </a:r>
          </a:p>
          <a:p>
            <a:r>
              <a:rPr lang="en-US" dirty="0" smtClean="0">
                <a:solidFill>
                  <a:schemeClr val="tx1"/>
                </a:solidFill>
              </a:rPr>
              <a:t>There </a:t>
            </a:r>
            <a:r>
              <a:rPr lang="en-US" dirty="0">
                <a:solidFill>
                  <a:schemeClr val="tx1"/>
                </a:solidFill>
              </a:rPr>
              <a:t>are two main types of DMLs. </a:t>
            </a:r>
            <a:endParaRPr lang="en-US" dirty="0" smtClean="0">
              <a:solidFill>
                <a:schemeClr val="tx1"/>
              </a:solidFill>
            </a:endParaRPr>
          </a:p>
          <a:p>
            <a:pPr lvl="1"/>
            <a:r>
              <a:rPr lang="en-US" dirty="0" smtClean="0">
                <a:solidFill>
                  <a:schemeClr val="tx1"/>
                </a:solidFill>
              </a:rPr>
              <a:t>A </a:t>
            </a:r>
            <a:r>
              <a:rPr lang="en-US" dirty="0">
                <a:solidFill>
                  <a:schemeClr val="tx1"/>
                </a:solidFill>
              </a:rPr>
              <a:t>high-level or nonprocedural DML can </a:t>
            </a:r>
            <a:r>
              <a:rPr lang="en-US" dirty="0" smtClean="0">
                <a:solidFill>
                  <a:schemeClr val="tx1"/>
                </a:solidFill>
              </a:rPr>
              <a:t>be used to </a:t>
            </a:r>
            <a:r>
              <a:rPr lang="en-US" dirty="0">
                <a:solidFill>
                  <a:schemeClr val="tx1"/>
                </a:solidFill>
              </a:rPr>
              <a:t>specify complex database operations </a:t>
            </a:r>
            <a:r>
              <a:rPr lang="en-US" dirty="0" smtClean="0">
                <a:solidFill>
                  <a:schemeClr val="tx1"/>
                </a:solidFill>
              </a:rPr>
              <a:t>that can be carried out directly from a terminal.</a:t>
            </a:r>
          </a:p>
          <a:p>
            <a:pPr lvl="1"/>
            <a:r>
              <a:rPr lang="en-US" dirty="0">
                <a:solidFill>
                  <a:schemeClr val="tx1"/>
                </a:solidFill>
              </a:rPr>
              <a:t>A </a:t>
            </a:r>
            <a:r>
              <a:rPr lang="en-US" dirty="0" smtClean="0">
                <a:solidFill>
                  <a:schemeClr val="tx1"/>
                </a:solidFill>
              </a:rPr>
              <a:t> low level or </a:t>
            </a:r>
            <a:r>
              <a:rPr lang="en-US" dirty="0">
                <a:solidFill>
                  <a:schemeClr val="tx1"/>
                </a:solidFill>
              </a:rPr>
              <a:t>procedural DML must be embedded in a general-purpose </a:t>
            </a:r>
            <a:r>
              <a:rPr lang="en-US" dirty="0" smtClean="0">
                <a:solidFill>
                  <a:schemeClr val="tx1"/>
                </a:solidFill>
              </a:rPr>
              <a:t>programming language</a:t>
            </a:r>
            <a:r>
              <a:rPr lang="en-US" dirty="0">
                <a:solidFill>
                  <a:schemeClr val="tx1"/>
                </a:solidFill>
              </a:rPr>
              <a:t>. </a:t>
            </a:r>
            <a:r>
              <a:rPr lang="en-US" dirty="0" smtClean="0">
                <a:solidFill>
                  <a:schemeClr val="tx1"/>
                </a:solidFill>
              </a:rPr>
              <a:t>It retrieves </a:t>
            </a:r>
            <a:r>
              <a:rPr lang="en-US" dirty="0">
                <a:solidFill>
                  <a:schemeClr val="tx1"/>
                </a:solidFill>
              </a:rPr>
              <a:t>individual records or objects </a:t>
            </a:r>
            <a:r>
              <a:rPr lang="en-US" dirty="0" smtClean="0">
                <a:solidFill>
                  <a:schemeClr val="tx1"/>
                </a:solidFill>
              </a:rPr>
              <a:t>from the </a:t>
            </a:r>
            <a:r>
              <a:rPr lang="en-US" dirty="0">
                <a:solidFill>
                  <a:schemeClr val="tx1"/>
                </a:solidFill>
              </a:rPr>
              <a:t>database and processes each separately</a:t>
            </a:r>
            <a:r>
              <a:rPr lang="en-US" dirty="0" smtClean="0">
                <a:solidFill>
                  <a:schemeClr val="tx1"/>
                </a:solidFill>
              </a:rPr>
              <a:t>. (JAVA)</a:t>
            </a:r>
          </a:p>
          <a:p>
            <a:endParaRPr lang="en-US" sz="1600" dirty="0" smtClean="0">
              <a:solidFill>
                <a:schemeClr val="tx1"/>
              </a:solidFill>
            </a:endParaRPr>
          </a:p>
        </p:txBody>
      </p:sp>
      <p:pic>
        <p:nvPicPr>
          <p:cNvPr id="4098" name="Picture 2" descr="What is the Difference Between DDL and DML - Pediaa.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0357" y="1565188"/>
            <a:ext cx="4524375" cy="4486276"/>
          </a:xfrm>
          <a:prstGeom prst="rect">
            <a:avLst/>
          </a:prstGeom>
          <a:ln w="381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289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Database Languages and Interfaces</a:t>
            </a:r>
          </a:p>
        </p:txBody>
      </p:sp>
      <p:sp>
        <p:nvSpPr>
          <p:cNvPr id="3" name="Content Placeholder 2"/>
          <p:cNvSpPr>
            <a:spLocks noGrp="1"/>
          </p:cNvSpPr>
          <p:nvPr>
            <p:ph idx="1"/>
          </p:nvPr>
        </p:nvSpPr>
        <p:spPr>
          <a:xfrm>
            <a:off x="512577" y="1383956"/>
            <a:ext cx="9809434" cy="4893276"/>
          </a:xfrm>
        </p:spPr>
        <p:txBody>
          <a:bodyPr>
            <a:normAutofit/>
          </a:bodyPr>
          <a:lstStyle/>
          <a:p>
            <a:r>
              <a:rPr lang="en-US" b="1" u="sng" dirty="0">
                <a:solidFill>
                  <a:schemeClr val="accent2">
                    <a:lumMod val="75000"/>
                  </a:schemeClr>
                </a:solidFill>
              </a:rPr>
              <a:t>DBMS </a:t>
            </a:r>
            <a:r>
              <a:rPr lang="en-US" b="1" u="sng" dirty="0" smtClean="0">
                <a:solidFill>
                  <a:schemeClr val="accent2">
                    <a:lumMod val="75000"/>
                  </a:schemeClr>
                </a:solidFill>
              </a:rPr>
              <a:t>Interfaces</a:t>
            </a:r>
          </a:p>
          <a:p>
            <a:r>
              <a:rPr lang="en-US" b="1" dirty="0">
                <a:solidFill>
                  <a:schemeClr val="tx1"/>
                </a:solidFill>
              </a:rPr>
              <a:t>Menu-based Interfaces for Web Clients or Browsing. </a:t>
            </a:r>
            <a:r>
              <a:rPr lang="en-US" dirty="0">
                <a:solidFill>
                  <a:schemeClr val="tx1"/>
                </a:solidFill>
              </a:rPr>
              <a:t>These interfaces </a:t>
            </a:r>
            <a:r>
              <a:rPr lang="en-US" dirty="0" smtClean="0">
                <a:solidFill>
                  <a:schemeClr val="tx1"/>
                </a:solidFill>
              </a:rPr>
              <a:t>present the </a:t>
            </a:r>
            <a:r>
              <a:rPr lang="en-US" dirty="0">
                <a:solidFill>
                  <a:schemeClr val="tx1"/>
                </a:solidFill>
              </a:rPr>
              <a:t>user with lists of options (called menus) that lead the user through the </a:t>
            </a:r>
            <a:r>
              <a:rPr lang="en-US" dirty="0" smtClean="0">
                <a:solidFill>
                  <a:schemeClr val="tx1"/>
                </a:solidFill>
              </a:rPr>
              <a:t>formulation of </a:t>
            </a:r>
            <a:r>
              <a:rPr lang="en-US" dirty="0">
                <a:solidFill>
                  <a:schemeClr val="tx1"/>
                </a:solidFill>
              </a:rPr>
              <a:t>a request. T</a:t>
            </a:r>
            <a:r>
              <a:rPr lang="en-US" dirty="0" smtClean="0">
                <a:solidFill>
                  <a:schemeClr val="tx1"/>
                </a:solidFill>
              </a:rPr>
              <a:t>he </a:t>
            </a:r>
            <a:r>
              <a:rPr lang="en-US" dirty="0">
                <a:solidFill>
                  <a:schemeClr val="tx1"/>
                </a:solidFill>
              </a:rPr>
              <a:t>query is composed </a:t>
            </a:r>
            <a:r>
              <a:rPr lang="en-US" dirty="0" smtClean="0">
                <a:solidFill>
                  <a:schemeClr val="tx1"/>
                </a:solidFill>
              </a:rPr>
              <a:t>step-by- step by </a:t>
            </a:r>
            <a:r>
              <a:rPr lang="en-US" dirty="0">
                <a:solidFill>
                  <a:schemeClr val="tx1"/>
                </a:solidFill>
              </a:rPr>
              <a:t>picking options from a menu </a:t>
            </a:r>
            <a:r>
              <a:rPr lang="en-US" dirty="0" smtClean="0">
                <a:solidFill>
                  <a:schemeClr val="tx1"/>
                </a:solidFill>
              </a:rPr>
              <a:t>displayed </a:t>
            </a:r>
            <a:r>
              <a:rPr lang="en-US" dirty="0">
                <a:solidFill>
                  <a:schemeClr val="tx1"/>
                </a:solidFill>
              </a:rPr>
              <a:t>by the system</a:t>
            </a:r>
            <a:r>
              <a:rPr lang="en-US" dirty="0" smtClean="0">
                <a:solidFill>
                  <a:schemeClr val="tx1"/>
                </a:solidFill>
              </a:rPr>
              <a:t>.</a:t>
            </a:r>
          </a:p>
          <a:p>
            <a:r>
              <a:rPr lang="en-US" b="1" dirty="0">
                <a:solidFill>
                  <a:schemeClr val="tx1"/>
                </a:solidFill>
              </a:rPr>
              <a:t>Apps for Mobile Devices. </a:t>
            </a:r>
            <a:r>
              <a:rPr lang="en-US" dirty="0">
                <a:solidFill>
                  <a:schemeClr val="tx1"/>
                </a:solidFill>
              </a:rPr>
              <a:t>These interfaces present mobile users with access </a:t>
            </a:r>
            <a:r>
              <a:rPr lang="en-US" dirty="0" smtClean="0">
                <a:solidFill>
                  <a:schemeClr val="tx1"/>
                </a:solidFill>
              </a:rPr>
              <a:t>to their </a:t>
            </a:r>
            <a:r>
              <a:rPr lang="en-US" dirty="0">
                <a:solidFill>
                  <a:schemeClr val="tx1"/>
                </a:solidFill>
              </a:rPr>
              <a:t>data. For example, banking, reservations, and insurance companies, </a:t>
            </a:r>
            <a:r>
              <a:rPr lang="en-US" dirty="0" smtClean="0">
                <a:solidFill>
                  <a:schemeClr val="tx1"/>
                </a:solidFill>
              </a:rPr>
              <a:t>provide </a:t>
            </a:r>
            <a:r>
              <a:rPr lang="en-US" dirty="0">
                <a:solidFill>
                  <a:schemeClr val="tx1"/>
                </a:solidFill>
              </a:rPr>
              <a:t>apps that allow users to access their data through a </a:t>
            </a:r>
            <a:r>
              <a:rPr lang="en-US" dirty="0" smtClean="0">
                <a:solidFill>
                  <a:schemeClr val="tx1"/>
                </a:solidFill>
              </a:rPr>
              <a:t>mobile phone.</a:t>
            </a:r>
          </a:p>
          <a:p>
            <a:r>
              <a:rPr lang="en-US" b="1" dirty="0">
                <a:solidFill>
                  <a:schemeClr val="tx1"/>
                </a:solidFill>
              </a:rPr>
              <a:t>Forms-based Interfaces. </a:t>
            </a:r>
            <a:r>
              <a:rPr lang="en-US" dirty="0">
                <a:solidFill>
                  <a:schemeClr val="tx1"/>
                </a:solidFill>
              </a:rPr>
              <a:t>A forms-based interface displays a form to each </a:t>
            </a:r>
            <a:r>
              <a:rPr lang="en-US" dirty="0" smtClean="0">
                <a:solidFill>
                  <a:schemeClr val="tx1"/>
                </a:solidFill>
              </a:rPr>
              <a:t>user. Users </a:t>
            </a:r>
            <a:r>
              <a:rPr lang="en-US" dirty="0">
                <a:solidFill>
                  <a:schemeClr val="tx1"/>
                </a:solidFill>
              </a:rPr>
              <a:t>can fill out all of the form entries to insert new </a:t>
            </a:r>
            <a:r>
              <a:rPr lang="en-US" dirty="0" smtClean="0">
                <a:solidFill>
                  <a:schemeClr val="tx1"/>
                </a:solidFill>
              </a:rPr>
              <a:t>data.</a:t>
            </a:r>
          </a:p>
          <a:p>
            <a:r>
              <a:rPr lang="en-US" b="1" dirty="0">
                <a:solidFill>
                  <a:schemeClr val="tx1"/>
                </a:solidFill>
              </a:rPr>
              <a:t>Graphical User Interfaces. </a:t>
            </a:r>
            <a:r>
              <a:rPr lang="en-US" dirty="0">
                <a:solidFill>
                  <a:schemeClr val="tx1"/>
                </a:solidFill>
              </a:rPr>
              <a:t>A GUI typically displays a schema to the user in </a:t>
            </a:r>
            <a:r>
              <a:rPr lang="en-US" dirty="0" smtClean="0">
                <a:solidFill>
                  <a:schemeClr val="tx1"/>
                </a:solidFill>
              </a:rPr>
              <a:t>diagrammatic form</a:t>
            </a:r>
            <a:r>
              <a:rPr lang="en-US" dirty="0">
                <a:solidFill>
                  <a:schemeClr val="tx1"/>
                </a:solidFill>
              </a:rPr>
              <a:t>. The user then can specify a query by manipulating the </a:t>
            </a:r>
            <a:r>
              <a:rPr lang="en-US" dirty="0" smtClean="0">
                <a:solidFill>
                  <a:schemeClr val="tx1"/>
                </a:solidFill>
              </a:rPr>
              <a:t>diagram. In </a:t>
            </a:r>
            <a:r>
              <a:rPr lang="en-US" dirty="0">
                <a:solidFill>
                  <a:schemeClr val="tx1"/>
                </a:solidFill>
              </a:rPr>
              <a:t>many cases, GUIs utilize both menus and forms.</a:t>
            </a:r>
            <a:endParaRPr lang="en-US" dirty="0" smtClean="0">
              <a:solidFill>
                <a:schemeClr val="tx1"/>
              </a:solidFill>
            </a:endParaRPr>
          </a:p>
        </p:txBody>
      </p:sp>
    </p:spTree>
    <p:extLst>
      <p:ext uri="{BB962C8B-B14F-4D97-AF65-F5344CB8AC3E}">
        <p14:creationId xmlns:p14="http://schemas.microsoft.com/office/powerpoint/2010/main" val="2314722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Database Languages and Interfaces</a:t>
            </a:r>
          </a:p>
        </p:txBody>
      </p:sp>
      <p:sp>
        <p:nvSpPr>
          <p:cNvPr id="3" name="Content Placeholder 2"/>
          <p:cNvSpPr>
            <a:spLocks noGrp="1"/>
          </p:cNvSpPr>
          <p:nvPr>
            <p:ph idx="1"/>
          </p:nvPr>
        </p:nvSpPr>
        <p:spPr>
          <a:xfrm>
            <a:off x="512577" y="1383956"/>
            <a:ext cx="9809434" cy="4893276"/>
          </a:xfrm>
        </p:spPr>
        <p:txBody>
          <a:bodyPr>
            <a:normAutofit fontScale="92500" lnSpcReduction="10000"/>
          </a:bodyPr>
          <a:lstStyle/>
          <a:p>
            <a:r>
              <a:rPr lang="en-US" b="1" u="sng" dirty="0">
                <a:solidFill>
                  <a:schemeClr val="accent2">
                    <a:lumMod val="75000"/>
                  </a:schemeClr>
                </a:solidFill>
              </a:rPr>
              <a:t>DBMS </a:t>
            </a:r>
            <a:r>
              <a:rPr lang="en-US" b="1" u="sng" dirty="0" smtClean="0">
                <a:solidFill>
                  <a:schemeClr val="accent2">
                    <a:lumMod val="75000"/>
                  </a:schemeClr>
                </a:solidFill>
              </a:rPr>
              <a:t>Interfaces</a:t>
            </a:r>
          </a:p>
          <a:p>
            <a:r>
              <a:rPr lang="en-US" b="1" dirty="0">
                <a:solidFill>
                  <a:schemeClr val="tx1"/>
                </a:solidFill>
              </a:rPr>
              <a:t>Natural Language Interfaces. </a:t>
            </a:r>
            <a:r>
              <a:rPr lang="en-US" dirty="0">
                <a:solidFill>
                  <a:schemeClr val="tx1"/>
                </a:solidFill>
              </a:rPr>
              <a:t>These interfaces accept requests written in </a:t>
            </a:r>
            <a:r>
              <a:rPr lang="en-US" dirty="0" smtClean="0">
                <a:solidFill>
                  <a:schemeClr val="tx1"/>
                </a:solidFill>
              </a:rPr>
              <a:t>English or </a:t>
            </a:r>
            <a:r>
              <a:rPr lang="en-US" dirty="0">
                <a:solidFill>
                  <a:schemeClr val="tx1"/>
                </a:solidFill>
              </a:rPr>
              <a:t>some other language and attempt to understand them. A natural </a:t>
            </a:r>
            <a:r>
              <a:rPr lang="en-US" dirty="0" smtClean="0">
                <a:solidFill>
                  <a:schemeClr val="tx1"/>
                </a:solidFill>
              </a:rPr>
              <a:t>language interface </a:t>
            </a:r>
            <a:r>
              <a:rPr lang="en-US" dirty="0">
                <a:solidFill>
                  <a:schemeClr val="tx1"/>
                </a:solidFill>
              </a:rPr>
              <a:t>usually has its own schema, which is similar to the database </a:t>
            </a:r>
            <a:r>
              <a:rPr lang="en-US" dirty="0" smtClean="0">
                <a:solidFill>
                  <a:schemeClr val="tx1"/>
                </a:solidFill>
              </a:rPr>
              <a:t>conceptual schema</a:t>
            </a:r>
            <a:r>
              <a:rPr lang="en-US" dirty="0">
                <a:solidFill>
                  <a:schemeClr val="tx1"/>
                </a:solidFill>
              </a:rPr>
              <a:t>, as well as a dictionary of important </a:t>
            </a:r>
            <a:r>
              <a:rPr lang="en-US" dirty="0" smtClean="0">
                <a:solidFill>
                  <a:schemeClr val="tx1"/>
                </a:solidFill>
              </a:rPr>
              <a:t>words.</a:t>
            </a:r>
          </a:p>
          <a:p>
            <a:pPr lvl="1"/>
            <a:r>
              <a:rPr lang="en-US" dirty="0" smtClean="0">
                <a:solidFill>
                  <a:schemeClr val="tx1"/>
                </a:solidFill>
              </a:rPr>
              <a:t>Example: Show </a:t>
            </a:r>
            <a:r>
              <a:rPr lang="en-US" dirty="0">
                <a:solidFill>
                  <a:schemeClr val="tx1"/>
                </a:solidFill>
              </a:rPr>
              <a:t>me a list of all the customers in my database = Select </a:t>
            </a:r>
            <a:r>
              <a:rPr lang="en-US" dirty="0" err="1">
                <a:solidFill>
                  <a:schemeClr val="tx1"/>
                </a:solidFill>
              </a:rPr>
              <a:t>CustomerID</a:t>
            </a:r>
            <a:r>
              <a:rPr lang="en-US" dirty="0">
                <a:solidFill>
                  <a:schemeClr val="tx1"/>
                </a:solidFill>
              </a:rPr>
              <a:t> from Customers</a:t>
            </a:r>
            <a:endParaRPr lang="en-US" dirty="0" smtClean="0">
              <a:solidFill>
                <a:schemeClr val="tx1"/>
              </a:solidFill>
            </a:endParaRPr>
          </a:p>
          <a:p>
            <a:r>
              <a:rPr lang="en-US" b="1" dirty="0" smtClean="0">
                <a:solidFill>
                  <a:schemeClr val="tx1"/>
                </a:solidFill>
              </a:rPr>
              <a:t>Keyword-based </a:t>
            </a:r>
            <a:r>
              <a:rPr lang="en-US" b="1" dirty="0">
                <a:solidFill>
                  <a:schemeClr val="tx1"/>
                </a:solidFill>
              </a:rPr>
              <a:t>Database Search. </a:t>
            </a:r>
            <a:r>
              <a:rPr lang="en-US" dirty="0">
                <a:solidFill>
                  <a:schemeClr val="tx1"/>
                </a:solidFill>
              </a:rPr>
              <a:t>These are somewhat similar to Web </a:t>
            </a:r>
            <a:r>
              <a:rPr lang="en-US" dirty="0" smtClean="0">
                <a:solidFill>
                  <a:schemeClr val="tx1"/>
                </a:solidFill>
              </a:rPr>
              <a:t>search engines</a:t>
            </a:r>
            <a:r>
              <a:rPr lang="en-US" dirty="0">
                <a:solidFill>
                  <a:schemeClr val="tx1"/>
                </a:solidFill>
              </a:rPr>
              <a:t>, which accept strings of natural language (like </a:t>
            </a:r>
            <a:r>
              <a:rPr lang="en-US" dirty="0" smtClean="0">
                <a:solidFill>
                  <a:schemeClr val="tx1"/>
                </a:solidFill>
              </a:rPr>
              <a:t>English) words and </a:t>
            </a:r>
            <a:r>
              <a:rPr lang="en-US" dirty="0">
                <a:solidFill>
                  <a:schemeClr val="tx1"/>
                </a:solidFill>
              </a:rPr>
              <a:t>match them with documents at specific sites (for local search engines) or </a:t>
            </a:r>
            <a:r>
              <a:rPr lang="en-US" dirty="0" smtClean="0">
                <a:solidFill>
                  <a:schemeClr val="tx1"/>
                </a:solidFill>
              </a:rPr>
              <a:t>Web pages </a:t>
            </a:r>
            <a:r>
              <a:rPr lang="en-US" dirty="0">
                <a:solidFill>
                  <a:schemeClr val="tx1"/>
                </a:solidFill>
              </a:rPr>
              <a:t>on the Web at large (for engines like Google or Ask</a:t>
            </a:r>
            <a:r>
              <a:rPr lang="en-US" dirty="0" smtClean="0">
                <a:solidFill>
                  <a:schemeClr val="tx1"/>
                </a:solidFill>
              </a:rPr>
              <a:t>).</a:t>
            </a:r>
          </a:p>
          <a:p>
            <a:r>
              <a:rPr lang="en-US" b="1" dirty="0">
                <a:solidFill>
                  <a:schemeClr val="tx1"/>
                </a:solidFill>
              </a:rPr>
              <a:t>Speech Input and Output. </a:t>
            </a:r>
            <a:r>
              <a:rPr lang="en-US" dirty="0" smtClean="0">
                <a:solidFill>
                  <a:schemeClr val="tx1"/>
                </a:solidFill>
              </a:rPr>
              <a:t>Applications with </a:t>
            </a:r>
            <a:r>
              <a:rPr lang="en-US" dirty="0">
                <a:solidFill>
                  <a:schemeClr val="tx1"/>
                </a:solidFill>
              </a:rPr>
              <a:t>limited vocabularies, such as inquiries for telephone directory, </a:t>
            </a:r>
            <a:r>
              <a:rPr lang="en-US" dirty="0" smtClean="0">
                <a:solidFill>
                  <a:schemeClr val="tx1"/>
                </a:solidFill>
              </a:rPr>
              <a:t>flight arrival/departure</a:t>
            </a:r>
            <a:r>
              <a:rPr lang="en-US" dirty="0">
                <a:solidFill>
                  <a:schemeClr val="tx1"/>
                </a:solidFill>
              </a:rPr>
              <a:t>, and credit card account information, are allowing speech </a:t>
            </a:r>
            <a:r>
              <a:rPr lang="en-US" dirty="0" smtClean="0">
                <a:solidFill>
                  <a:schemeClr val="tx1"/>
                </a:solidFill>
              </a:rPr>
              <a:t>for input </a:t>
            </a:r>
            <a:r>
              <a:rPr lang="en-US" dirty="0">
                <a:solidFill>
                  <a:schemeClr val="tx1"/>
                </a:solidFill>
              </a:rPr>
              <a:t>and output to enable customers to access this information</a:t>
            </a:r>
            <a:r>
              <a:rPr lang="en-US" dirty="0" smtClean="0">
                <a:solidFill>
                  <a:schemeClr val="tx1"/>
                </a:solidFill>
              </a:rPr>
              <a:t>.</a:t>
            </a:r>
          </a:p>
          <a:p>
            <a:r>
              <a:rPr lang="en-US" b="1" dirty="0">
                <a:solidFill>
                  <a:schemeClr val="tx1"/>
                </a:solidFill>
              </a:rPr>
              <a:t>Interfaces for Parametric Users. </a:t>
            </a:r>
            <a:r>
              <a:rPr lang="en-US" dirty="0">
                <a:solidFill>
                  <a:schemeClr val="tx1"/>
                </a:solidFill>
              </a:rPr>
              <a:t>Parametric users, such as bank tellers, </a:t>
            </a:r>
            <a:r>
              <a:rPr lang="en-US" dirty="0" smtClean="0">
                <a:solidFill>
                  <a:schemeClr val="tx1"/>
                </a:solidFill>
              </a:rPr>
              <a:t>often have </a:t>
            </a:r>
            <a:r>
              <a:rPr lang="en-US" dirty="0">
                <a:solidFill>
                  <a:schemeClr val="tx1"/>
                </a:solidFill>
              </a:rPr>
              <a:t>a small set of operations that they must perform repeatedly. </a:t>
            </a:r>
            <a:endParaRPr lang="en-US" dirty="0" smtClean="0">
              <a:solidFill>
                <a:schemeClr val="tx1"/>
              </a:solidFill>
            </a:endParaRPr>
          </a:p>
          <a:p>
            <a:pPr lvl="1"/>
            <a:r>
              <a:rPr lang="en-US" dirty="0" smtClean="0">
                <a:solidFill>
                  <a:schemeClr val="tx1"/>
                </a:solidFill>
              </a:rPr>
              <a:t>For </a:t>
            </a:r>
            <a:r>
              <a:rPr lang="en-US" dirty="0">
                <a:solidFill>
                  <a:schemeClr val="tx1"/>
                </a:solidFill>
              </a:rPr>
              <a:t>example, </a:t>
            </a:r>
            <a:r>
              <a:rPr lang="en-US" dirty="0" smtClean="0">
                <a:solidFill>
                  <a:schemeClr val="tx1"/>
                </a:solidFill>
              </a:rPr>
              <a:t>a teller </a:t>
            </a:r>
            <a:r>
              <a:rPr lang="en-US" dirty="0">
                <a:solidFill>
                  <a:schemeClr val="tx1"/>
                </a:solidFill>
              </a:rPr>
              <a:t>is able to use single function keys to invoke routine and repetitive </a:t>
            </a:r>
            <a:r>
              <a:rPr lang="en-US" dirty="0" smtClean="0">
                <a:solidFill>
                  <a:schemeClr val="tx1"/>
                </a:solidFill>
              </a:rPr>
              <a:t>transactions such </a:t>
            </a:r>
            <a:r>
              <a:rPr lang="en-US" dirty="0">
                <a:solidFill>
                  <a:schemeClr val="tx1"/>
                </a:solidFill>
              </a:rPr>
              <a:t>as account deposits or withdrawals, or balance inquiries.</a:t>
            </a:r>
            <a:endParaRPr lang="en-US" dirty="0" smtClean="0">
              <a:solidFill>
                <a:schemeClr val="tx1"/>
              </a:solidFill>
            </a:endParaRPr>
          </a:p>
        </p:txBody>
      </p:sp>
    </p:spTree>
    <p:extLst>
      <p:ext uri="{BB962C8B-B14F-4D97-AF65-F5344CB8AC3E}">
        <p14:creationId xmlns:p14="http://schemas.microsoft.com/office/powerpoint/2010/main" val="1454581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The Database System Environment</a:t>
            </a:r>
          </a:p>
        </p:txBody>
      </p:sp>
      <p:sp>
        <p:nvSpPr>
          <p:cNvPr id="3" name="Content Placeholder 2"/>
          <p:cNvSpPr>
            <a:spLocks noGrp="1"/>
          </p:cNvSpPr>
          <p:nvPr>
            <p:ph idx="1"/>
          </p:nvPr>
        </p:nvSpPr>
        <p:spPr>
          <a:xfrm>
            <a:off x="512577" y="1483569"/>
            <a:ext cx="5097391" cy="891061"/>
          </a:xfrm>
        </p:spPr>
        <p:txBody>
          <a:bodyPr>
            <a:normAutofit/>
          </a:bodyPr>
          <a:lstStyle/>
          <a:p>
            <a:r>
              <a:rPr lang="en-US" b="1" u="sng" dirty="0">
                <a:solidFill>
                  <a:schemeClr val="accent2">
                    <a:lumMod val="75000"/>
                  </a:schemeClr>
                </a:solidFill>
              </a:rPr>
              <a:t>DBMS Component </a:t>
            </a:r>
            <a:r>
              <a:rPr lang="en-US" b="1" u="sng" dirty="0" smtClean="0">
                <a:solidFill>
                  <a:schemeClr val="accent2">
                    <a:lumMod val="75000"/>
                  </a:schemeClr>
                </a:solidFill>
              </a:rPr>
              <a:t>Modules</a:t>
            </a:r>
            <a:br>
              <a:rPr lang="en-US" b="1" u="sng" dirty="0" smtClean="0">
                <a:solidFill>
                  <a:schemeClr val="accent2">
                    <a:lumMod val="75000"/>
                  </a:schemeClr>
                </a:solidFill>
              </a:rPr>
            </a:br>
            <a:endParaRPr lang="en-US" b="1" u="sng" dirty="0" smtClean="0">
              <a:solidFill>
                <a:schemeClr val="accent2">
                  <a:lumMod val="75000"/>
                </a:schemeClr>
              </a:solidFill>
            </a:endParaRPr>
          </a:p>
          <a:p>
            <a:endParaRPr lang="en-US" b="1" u="sng" dirty="0" smtClean="0">
              <a:solidFill>
                <a:schemeClr val="accent2">
                  <a:lumMod val="75000"/>
                </a:schemeClr>
              </a:solidFill>
            </a:endParaRPr>
          </a:p>
        </p:txBody>
      </p:sp>
      <p:pic>
        <p:nvPicPr>
          <p:cNvPr id="4" name="Picture 3"/>
          <p:cNvPicPr>
            <a:picLocks noChangeAspect="1"/>
          </p:cNvPicPr>
          <p:nvPr/>
        </p:nvPicPr>
        <p:blipFill>
          <a:blip r:embed="rId2"/>
          <a:stretch>
            <a:fillRect/>
          </a:stretch>
        </p:blipFill>
        <p:spPr>
          <a:xfrm>
            <a:off x="6523580" y="1139266"/>
            <a:ext cx="5275952" cy="5137966"/>
          </a:xfrm>
          <a:prstGeom prst="rect">
            <a:avLst/>
          </a:prstGeom>
          <a:ln w="28575" cap="sq">
            <a:solidFill>
              <a:srgbClr val="000000"/>
            </a:solidFill>
            <a:miter lim="800000"/>
          </a:ln>
          <a:effectLst>
            <a:outerShdw blurRad="57150" dist="50800" dir="2700000" algn="tl" rotWithShape="0">
              <a:srgbClr val="000000">
                <a:alpha val="40000"/>
              </a:srgbClr>
            </a:outerShdw>
          </a:effectLst>
        </p:spPr>
      </p:pic>
      <p:sp>
        <p:nvSpPr>
          <p:cNvPr id="5" name="Content Placeholder 2"/>
          <p:cNvSpPr txBox="1">
            <a:spLocks/>
          </p:cNvSpPr>
          <p:nvPr/>
        </p:nvSpPr>
        <p:spPr>
          <a:xfrm>
            <a:off x="512577" y="2086306"/>
            <a:ext cx="5690515" cy="4503964"/>
          </a:xfrm>
          <a:prstGeom prst="rect">
            <a:avLst/>
          </a:prstGeom>
          <a:ln w="28575">
            <a:solidFill>
              <a:srgbClr val="0070C0"/>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sz="2000" b="1" u="sng" dirty="0" smtClean="0">
              <a:solidFill>
                <a:schemeClr val="accent2">
                  <a:lumMod val="75000"/>
                </a:schemeClr>
              </a:solidFill>
            </a:endParaRPr>
          </a:p>
          <a:p>
            <a:r>
              <a:rPr lang="en-US" sz="2000" u="sng" dirty="0" smtClean="0">
                <a:solidFill>
                  <a:schemeClr val="tx1"/>
                </a:solidFill>
              </a:rPr>
              <a:t>Top part </a:t>
            </a:r>
            <a:r>
              <a:rPr lang="en-US" sz="2000" dirty="0" smtClean="0">
                <a:solidFill>
                  <a:schemeClr val="tx1"/>
                </a:solidFill>
              </a:rPr>
              <a:t>of the figure refers to the various users of the database environment and their interfaces. </a:t>
            </a:r>
          </a:p>
          <a:p>
            <a:r>
              <a:rPr lang="en-US" sz="2000" u="sng" dirty="0" smtClean="0">
                <a:solidFill>
                  <a:schemeClr val="tx1"/>
                </a:solidFill>
              </a:rPr>
              <a:t>Lower part </a:t>
            </a:r>
            <a:r>
              <a:rPr lang="en-US" sz="2000" dirty="0" smtClean="0">
                <a:solidFill>
                  <a:schemeClr val="tx1"/>
                </a:solidFill>
              </a:rPr>
              <a:t>shows the internal modules of the DBMS responsible for storage of data and processing of  transactions.</a:t>
            </a:r>
          </a:p>
          <a:p>
            <a:r>
              <a:rPr lang="en-US" sz="2000" dirty="0">
                <a:solidFill>
                  <a:schemeClr val="tx1"/>
                </a:solidFill>
              </a:rPr>
              <a:t>The </a:t>
            </a:r>
            <a:r>
              <a:rPr lang="en-US" sz="2000" b="1" dirty="0">
                <a:solidFill>
                  <a:schemeClr val="accent5"/>
                </a:solidFill>
              </a:rPr>
              <a:t>database</a:t>
            </a:r>
            <a:r>
              <a:rPr lang="en-US" sz="2000" dirty="0">
                <a:solidFill>
                  <a:schemeClr val="tx1"/>
                </a:solidFill>
              </a:rPr>
              <a:t> and the </a:t>
            </a:r>
            <a:r>
              <a:rPr lang="en-US" sz="2000" b="1" dirty="0">
                <a:solidFill>
                  <a:schemeClr val="accent5"/>
                </a:solidFill>
              </a:rPr>
              <a:t>DBMS catalog </a:t>
            </a:r>
            <a:r>
              <a:rPr lang="en-US" sz="2000" dirty="0">
                <a:solidFill>
                  <a:schemeClr val="tx1"/>
                </a:solidFill>
              </a:rPr>
              <a:t>are usually stored on disk. Access to </a:t>
            </a:r>
            <a:r>
              <a:rPr lang="en-US" sz="2000" dirty="0" smtClean="0">
                <a:solidFill>
                  <a:schemeClr val="tx1"/>
                </a:solidFill>
              </a:rPr>
              <a:t>the disk </a:t>
            </a:r>
            <a:r>
              <a:rPr lang="en-US" sz="2000" dirty="0">
                <a:solidFill>
                  <a:schemeClr val="tx1"/>
                </a:solidFill>
              </a:rPr>
              <a:t>is controlled primarily by the operating system (OS), which schedules </a:t>
            </a:r>
            <a:r>
              <a:rPr lang="en-US" sz="2000" dirty="0" smtClean="0">
                <a:solidFill>
                  <a:schemeClr val="tx1"/>
                </a:solidFill>
              </a:rPr>
              <a:t>disk read/write</a:t>
            </a:r>
            <a:r>
              <a:rPr lang="en-US" sz="2000" dirty="0">
                <a:solidFill>
                  <a:schemeClr val="tx1"/>
                </a:solidFill>
              </a:rPr>
              <a:t>.</a:t>
            </a:r>
            <a:endParaRPr lang="en-US" sz="2000" dirty="0" smtClean="0">
              <a:solidFill>
                <a:schemeClr val="tx1"/>
              </a:solidFill>
            </a:endParaRPr>
          </a:p>
          <a:p>
            <a:endParaRPr lang="en-US" dirty="0" smtClean="0">
              <a:solidFill>
                <a:schemeClr val="tx1"/>
              </a:solidFill>
            </a:endParaRPr>
          </a:p>
          <a:p>
            <a:endParaRPr lang="en-US" b="1" u="sng" dirty="0" smtClean="0">
              <a:solidFill>
                <a:schemeClr val="accent2">
                  <a:lumMod val="75000"/>
                </a:schemeClr>
              </a:solidFill>
            </a:endParaRPr>
          </a:p>
        </p:txBody>
      </p:sp>
    </p:spTree>
    <p:extLst>
      <p:ext uri="{BB962C8B-B14F-4D97-AF65-F5344CB8AC3E}">
        <p14:creationId xmlns:p14="http://schemas.microsoft.com/office/powerpoint/2010/main" val="3996998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The Database System Environment</a:t>
            </a:r>
          </a:p>
        </p:txBody>
      </p:sp>
      <p:sp>
        <p:nvSpPr>
          <p:cNvPr id="3" name="Content Placeholder 2"/>
          <p:cNvSpPr>
            <a:spLocks noGrp="1"/>
          </p:cNvSpPr>
          <p:nvPr>
            <p:ph idx="1"/>
          </p:nvPr>
        </p:nvSpPr>
        <p:spPr>
          <a:xfrm>
            <a:off x="512577" y="1483569"/>
            <a:ext cx="5097391" cy="891061"/>
          </a:xfrm>
        </p:spPr>
        <p:txBody>
          <a:bodyPr>
            <a:normAutofit/>
          </a:bodyPr>
          <a:lstStyle/>
          <a:p>
            <a:r>
              <a:rPr lang="en-US" b="1" u="sng" dirty="0">
                <a:solidFill>
                  <a:schemeClr val="accent2">
                    <a:lumMod val="75000"/>
                  </a:schemeClr>
                </a:solidFill>
              </a:rPr>
              <a:t>DBMS Component </a:t>
            </a:r>
            <a:r>
              <a:rPr lang="en-US" b="1" u="sng" dirty="0" smtClean="0">
                <a:solidFill>
                  <a:schemeClr val="accent2">
                    <a:lumMod val="75000"/>
                  </a:schemeClr>
                </a:solidFill>
              </a:rPr>
              <a:t>Modules</a:t>
            </a:r>
            <a:br>
              <a:rPr lang="en-US" b="1" u="sng" dirty="0" smtClean="0">
                <a:solidFill>
                  <a:schemeClr val="accent2">
                    <a:lumMod val="75000"/>
                  </a:schemeClr>
                </a:solidFill>
              </a:rPr>
            </a:br>
            <a:endParaRPr lang="en-US" b="1" u="sng" dirty="0" smtClean="0">
              <a:solidFill>
                <a:schemeClr val="accent2">
                  <a:lumMod val="75000"/>
                </a:schemeClr>
              </a:solidFill>
            </a:endParaRPr>
          </a:p>
          <a:p>
            <a:endParaRPr lang="en-US" b="1" u="sng" dirty="0" smtClean="0">
              <a:solidFill>
                <a:schemeClr val="accent2">
                  <a:lumMod val="75000"/>
                </a:schemeClr>
              </a:solidFill>
            </a:endParaRPr>
          </a:p>
        </p:txBody>
      </p:sp>
      <p:pic>
        <p:nvPicPr>
          <p:cNvPr id="4" name="Picture 3"/>
          <p:cNvPicPr>
            <a:picLocks noChangeAspect="1"/>
          </p:cNvPicPr>
          <p:nvPr/>
        </p:nvPicPr>
        <p:blipFill>
          <a:blip r:embed="rId2"/>
          <a:stretch>
            <a:fillRect/>
          </a:stretch>
        </p:blipFill>
        <p:spPr>
          <a:xfrm>
            <a:off x="6523580" y="1139266"/>
            <a:ext cx="5275952" cy="5137966"/>
          </a:xfrm>
          <a:prstGeom prst="rect">
            <a:avLst/>
          </a:prstGeom>
          <a:ln w="28575" cap="sq">
            <a:solidFill>
              <a:srgbClr val="000000"/>
            </a:solidFill>
            <a:miter lim="800000"/>
          </a:ln>
          <a:effectLst>
            <a:outerShdw blurRad="57150" dist="50800" dir="2700000" algn="tl" rotWithShape="0">
              <a:srgbClr val="000000">
                <a:alpha val="40000"/>
              </a:srgbClr>
            </a:outerShdw>
          </a:effectLst>
        </p:spPr>
      </p:pic>
      <p:sp>
        <p:nvSpPr>
          <p:cNvPr id="5" name="Content Placeholder 2"/>
          <p:cNvSpPr txBox="1">
            <a:spLocks/>
          </p:cNvSpPr>
          <p:nvPr/>
        </p:nvSpPr>
        <p:spPr>
          <a:xfrm>
            <a:off x="512577" y="1985319"/>
            <a:ext cx="5649592" cy="4415481"/>
          </a:xfrm>
          <a:prstGeom prst="rect">
            <a:avLst/>
          </a:prstGeom>
          <a:ln w="28575">
            <a:solidFill>
              <a:srgbClr val="0070C0"/>
            </a:solidFill>
          </a:ln>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100" b="1" i="1" u="sng" dirty="0" smtClean="0">
                <a:solidFill>
                  <a:schemeClr val="accent2">
                    <a:lumMod val="75000"/>
                  </a:schemeClr>
                </a:solidFill>
              </a:rPr>
              <a:t>USERS (top part)</a:t>
            </a:r>
          </a:p>
          <a:p>
            <a:r>
              <a:rPr lang="en-US" dirty="0">
                <a:solidFill>
                  <a:schemeClr val="tx1"/>
                </a:solidFill>
              </a:rPr>
              <a:t>I</a:t>
            </a:r>
            <a:r>
              <a:rPr lang="en-US" dirty="0" smtClean="0">
                <a:solidFill>
                  <a:schemeClr val="tx1"/>
                </a:solidFill>
              </a:rPr>
              <a:t>nterfaces </a:t>
            </a:r>
            <a:r>
              <a:rPr lang="en-US" dirty="0">
                <a:solidFill>
                  <a:schemeClr val="tx1"/>
                </a:solidFill>
              </a:rPr>
              <a:t>for the DBA </a:t>
            </a:r>
            <a:r>
              <a:rPr lang="en-US" dirty="0" smtClean="0">
                <a:solidFill>
                  <a:schemeClr val="tx1"/>
                </a:solidFill>
              </a:rPr>
              <a:t>staff</a:t>
            </a:r>
          </a:p>
          <a:p>
            <a:r>
              <a:rPr lang="en-US" dirty="0" smtClean="0">
                <a:solidFill>
                  <a:schemeClr val="tx1"/>
                </a:solidFill>
              </a:rPr>
              <a:t>Casual </a:t>
            </a:r>
            <a:r>
              <a:rPr lang="en-US" dirty="0">
                <a:solidFill>
                  <a:schemeClr val="tx1"/>
                </a:solidFill>
              </a:rPr>
              <a:t>users who work with interactive interfaces to </a:t>
            </a:r>
            <a:r>
              <a:rPr lang="en-US" dirty="0" smtClean="0">
                <a:solidFill>
                  <a:schemeClr val="tx1"/>
                </a:solidFill>
              </a:rPr>
              <a:t>make queries</a:t>
            </a:r>
          </a:p>
          <a:p>
            <a:r>
              <a:rPr lang="en-US" dirty="0" smtClean="0">
                <a:solidFill>
                  <a:schemeClr val="tx1"/>
                </a:solidFill>
              </a:rPr>
              <a:t>Application programmers </a:t>
            </a:r>
            <a:r>
              <a:rPr lang="en-US" dirty="0">
                <a:solidFill>
                  <a:schemeClr val="tx1"/>
                </a:solidFill>
              </a:rPr>
              <a:t>who create programs using some host programming </a:t>
            </a:r>
            <a:r>
              <a:rPr lang="en-US" dirty="0" smtClean="0">
                <a:solidFill>
                  <a:schemeClr val="tx1"/>
                </a:solidFill>
              </a:rPr>
              <a:t>languages</a:t>
            </a:r>
          </a:p>
          <a:p>
            <a:r>
              <a:rPr lang="en-US" dirty="0" smtClean="0">
                <a:solidFill>
                  <a:schemeClr val="tx1"/>
                </a:solidFill>
              </a:rPr>
              <a:t>Parametric </a:t>
            </a:r>
            <a:r>
              <a:rPr lang="en-US" dirty="0">
                <a:solidFill>
                  <a:schemeClr val="tx1"/>
                </a:solidFill>
              </a:rPr>
              <a:t>users who do data entry work by supplying parameters to predefined transactions. </a:t>
            </a:r>
            <a:endParaRPr lang="en-US" dirty="0" smtClean="0">
              <a:solidFill>
                <a:schemeClr val="tx1"/>
              </a:solidFill>
            </a:endParaRPr>
          </a:p>
          <a:p>
            <a:pPr lvl="1"/>
            <a:r>
              <a:rPr lang="en-US" dirty="0" smtClean="0">
                <a:solidFill>
                  <a:schemeClr val="tx1"/>
                </a:solidFill>
              </a:rPr>
              <a:t>Querying and </a:t>
            </a:r>
            <a:r>
              <a:rPr lang="en-US" dirty="0">
                <a:solidFill>
                  <a:schemeClr val="tx1"/>
                </a:solidFill>
              </a:rPr>
              <a:t>updating the database, using standard types of queries and </a:t>
            </a:r>
            <a:r>
              <a:rPr lang="en-US" dirty="0" smtClean="0">
                <a:solidFill>
                  <a:schemeClr val="tx1"/>
                </a:solidFill>
              </a:rPr>
              <a:t>updates called </a:t>
            </a:r>
            <a:r>
              <a:rPr lang="en-US" dirty="0">
                <a:solidFill>
                  <a:schemeClr val="tx1"/>
                </a:solidFill>
              </a:rPr>
              <a:t>canned transactions—that have been carefully programmed </a:t>
            </a:r>
            <a:r>
              <a:rPr lang="en-US" dirty="0" smtClean="0">
                <a:solidFill>
                  <a:schemeClr val="tx1"/>
                </a:solidFill>
              </a:rPr>
              <a:t>and tested</a:t>
            </a:r>
            <a:r>
              <a:rPr lang="en-US" dirty="0">
                <a:solidFill>
                  <a:schemeClr val="tx1"/>
                </a:solidFill>
              </a:rPr>
              <a:t>. </a:t>
            </a:r>
            <a:endParaRPr lang="en-US" dirty="0" smtClean="0">
              <a:solidFill>
                <a:schemeClr val="tx1"/>
              </a:solidFill>
            </a:endParaRPr>
          </a:p>
          <a:p>
            <a:pPr lvl="1"/>
            <a:r>
              <a:rPr lang="en-US" dirty="0" smtClean="0">
                <a:solidFill>
                  <a:schemeClr val="tx1"/>
                </a:solidFill>
              </a:rPr>
              <a:t>Bank </a:t>
            </a:r>
            <a:r>
              <a:rPr lang="en-US" dirty="0">
                <a:solidFill>
                  <a:schemeClr val="tx1"/>
                </a:solidFill>
              </a:rPr>
              <a:t>customers and tellers check account </a:t>
            </a:r>
            <a:r>
              <a:rPr lang="en-US" dirty="0" smtClean="0">
                <a:solidFill>
                  <a:schemeClr val="tx1"/>
                </a:solidFill>
              </a:rPr>
              <a:t>balances, Reservation </a:t>
            </a:r>
            <a:r>
              <a:rPr lang="en-US" dirty="0">
                <a:solidFill>
                  <a:schemeClr val="tx1"/>
                </a:solidFill>
              </a:rPr>
              <a:t>agents </a:t>
            </a:r>
            <a:r>
              <a:rPr lang="en-US" dirty="0" smtClean="0">
                <a:solidFill>
                  <a:schemeClr val="tx1"/>
                </a:solidFill>
              </a:rPr>
              <a:t>for </a:t>
            </a:r>
            <a:r>
              <a:rPr lang="en-US" dirty="0">
                <a:solidFill>
                  <a:schemeClr val="tx1"/>
                </a:solidFill>
              </a:rPr>
              <a:t>airlines, hotels, and car rental </a:t>
            </a:r>
            <a:r>
              <a:rPr lang="en-US" dirty="0" smtClean="0">
                <a:solidFill>
                  <a:schemeClr val="tx1"/>
                </a:solidFill>
              </a:rPr>
              <a:t>companies to make </a:t>
            </a:r>
            <a:r>
              <a:rPr lang="en-US" dirty="0">
                <a:solidFill>
                  <a:schemeClr val="tx1"/>
                </a:solidFill>
              </a:rPr>
              <a:t>reservations</a:t>
            </a:r>
            <a:r>
              <a:rPr lang="en-US" dirty="0" smtClean="0">
                <a:solidFill>
                  <a:schemeClr val="tx1"/>
                </a:solidFill>
              </a:rPr>
              <a:t>.</a:t>
            </a:r>
          </a:p>
          <a:p>
            <a:pPr lvl="1"/>
            <a:r>
              <a:rPr lang="en-US" dirty="0">
                <a:solidFill>
                  <a:schemeClr val="tx1"/>
                </a:solidFill>
              </a:rPr>
              <a:t>Social media users post and read items on social media Web sites.</a:t>
            </a:r>
          </a:p>
          <a:p>
            <a:pPr lvl="1"/>
            <a:r>
              <a:rPr lang="en-US" dirty="0" smtClean="0">
                <a:solidFill>
                  <a:schemeClr val="tx1"/>
                </a:solidFill>
              </a:rPr>
              <a:t>Sophisticated </a:t>
            </a:r>
            <a:r>
              <a:rPr lang="en-US" dirty="0">
                <a:solidFill>
                  <a:schemeClr val="tx1"/>
                </a:solidFill>
              </a:rPr>
              <a:t>end users include engineers, scientists, business </a:t>
            </a:r>
            <a:r>
              <a:rPr lang="en-US" dirty="0" smtClean="0">
                <a:solidFill>
                  <a:schemeClr val="tx1"/>
                </a:solidFill>
              </a:rPr>
              <a:t>analysts and so on</a:t>
            </a:r>
          </a:p>
        </p:txBody>
      </p:sp>
      <p:sp>
        <p:nvSpPr>
          <p:cNvPr id="6" name="Content Placeholder 2"/>
          <p:cNvSpPr txBox="1">
            <a:spLocks/>
          </p:cNvSpPr>
          <p:nvPr/>
        </p:nvSpPr>
        <p:spPr>
          <a:xfrm>
            <a:off x="6398677" y="1029730"/>
            <a:ext cx="5525758" cy="2710248"/>
          </a:xfrm>
          <a:prstGeom prst="rect">
            <a:avLst/>
          </a:prstGeom>
          <a:ln w="57150">
            <a:solidFill>
              <a:srgbClr val="FF0000"/>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b="1" u="sng" dirty="0" smtClean="0">
              <a:solidFill>
                <a:schemeClr val="accent2">
                  <a:lumMod val="75000"/>
                </a:schemeClr>
              </a:solidFill>
            </a:endParaRPr>
          </a:p>
          <a:p>
            <a:endParaRPr lang="en-US" dirty="0" smtClean="0">
              <a:solidFill>
                <a:schemeClr val="tx1"/>
              </a:solidFill>
            </a:endParaRPr>
          </a:p>
          <a:p>
            <a:endParaRPr lang="en-US" b="1" u="sng" dirty="0" smtClean="0">
              <a:solidFill>
                <a:schemeClr val="accent2">
                  <a:lumMod val="75000"/>
                </a:schemeClr>
              </a:solidFill>
            </a:endParaRPr>
          </a:p>
        </p:txBody>
      </p:sp>
    </p:spTree>
    <p:extLst>
      <p:ext uri="{BB962C8B-B14F-4D97-AF65-F5344CB8AC3E}">
        <p14:creationId xmlns:p14="http://schemas.microsoft.com/office/powerpoint/2010/main" val="507845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The Database System Environment</a:t>
            </a:r>
          </a:p>
        </p:txBody>
      </p:sp>
      <p:sp>
        <p:nvSpPr>
          <p:cNvPr id="3" name="Content Placeholder 2"/>
          <p:cNvSpPr>
            <a:spLocks noGrp="1"/>
          </p:cNvSpPr>
          <p:nvPr>
            <p:ph idx="1"/>
          </p:nvPr>
        </p:nvSpPr>
        <p:spPr>
          <a:xfrm>
            <a:off x="512577" y="1483569"/>
            <a:ext cx="5097391" cy="891061"/>
          </a:xfrm>
        </p:spPr>
        <p:txBody>
          <a:bodyPr>
            <a:normAutofit/>
          </a:bodyPr>
          <a:lstStyle/>
          <a:p>
            <a:r>
              <a:rPr lang="en-US" b="1" u="sng" dirty="0">
                <a:solidFill>
                  <a:schemeClr val="accent2">
                    <a:lumMod val="75000"/>
                  </a:schemeClr>
                </a:solidFill>
              </a:rPr>
              <a:t>DBMS Component </a:t>
            </a:r>
            <a:r>
              <a:rPr lang="en-US" b="1" u="sng" dirty="0" smtClean="0">
                <a:solidFill>
                  <a:schemeClr val="accent2">
                    <a:lumMod val="75000"/>
                  </a:schemeClr>
                </a:solidFill>
              </a:rPr>
              <a:t>Modules</a:t>
            </a:r>
            <a:br>
              <a:rPr lang="en-US" b="1" u="sng" dirty="0" smtClean="0">
                <a:solidFill>
                  <a:schemeClr val="accent2">
                    <a:lumMod val="75000"/>
                  </a:schemeClr>
                </a:solidFill>
              </a:rPr>
            </a:br>
            <a:endParaRPr lang="en-US" b="1" u="sng" dirty="0" smtClean="0">
              <a:solidFill>
                <a:schemeClr val="accent2">
                  <a:lumMod val="75000"/>
                </a:schemeClr>
              </a:solidFill>
            </a:endParaRPr>
          </a:p>
          <a:p>
            <a:endParaRPr lang="en-US" b="1" u="sng" dirty="0" smtClean="0">
              <a:solidFill>
                <a:schemeClr val="accent2">
                  <a:lumMod val="75000"/>
                </a:schemeClr>
              </a:solidFill>
            </a:endParaRPr>
          </a:p>
        </p:txBody>
      </p:sp>
      <p:pic>
        <p:nvPicPr>
          <p:cNvPr id="4" name="Picture 3"/>
          <p:cNvPicPr>
            <a:picLocks noChangeAspect="1"/>
          </p:cNvPicPr>
          <p:nvPr/>
        </p:nvPicPr>
        <p:blipFill>
          <a:blip r:embed="rId2"/>
          <a:stretch>
            <a:fillRect/>
          </a:stretch>
        </p:blipFill>
        <p:spPr>
          <a:xfrm>
            <a:off x="6523580" y="1139266"/>
            <a:ext cx="5275952" cy="5137966"/>
          </a:xfrm>
          <a:prstGeom prst="rect">
            <a:avLst/>
          </a:prstGeom>
          <a:ln w="28575" cap="sq">
            <a:solidFill>
              <a:srgbClr val="000000"/>
            </a:solidFill>
            <a:miter lim="800000"/>
          </a:ln>
          <a:effectLst>
            <a:outerShdw blurRad="57150" dist="50800" dir="2700000" algn="tl" rotWithShape="0">
              <a:srgbClr val="000000">
                <a:alpha val="40000"/>
              </a:srgbClr>
            </a:outerShdw>
          </a:effectLst>
        </p:spPr>
      </p:pic>
      <p:sp>
        <p:nvSpPr>
          <p:cNvPr id="5" name="Content Placeholder 2"/>
          <p:cNvSpPr txBox="1">
            <a:spLocks/>
          </p:cNvSpPr>
          <p:nvPr/>
        </p:nvSpPr>
        <p:spPr>
          <a:xfrm>
            <a:off x="550164" y="2109263"/>
            <a:ext cx="5649592" cy="3838455"/>
          </a:xfrm>
          <a:prstGeom prst="rect">
            <a:avLst/>
          </a:prstGeom>
          <a:ln w="28575">
            <a:solidFill>
              <a:srgbClr val="0070C0"/>
            </a:solidFill>
          </a:ln>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u="sng" dirty="0" smtClean="0">
                <a:solidFill>
                  <a:schemeClr val="accent2">
                    <a:lumMod val="75000"/>
                  </a:schemeClr>
                </a:solidFill>
              </a:rPr>
              <a:t>DBA Staff</a:t>
            </a:r>
          </a:p>
          <a:p>
            <a:r>
              <a:rPr lang="en-US" dirty="0" smtClean="0">
                <a:solidFill>
                  <a:schemeClr val="tx1"/>
                </a:solidFill>
              </a:rPr>
              <a:t>Works </a:t>
            </a:r>
            <a:r>
              <a:rPr lang="en-US" dirty="0">
                <a:solidFill>
                  <a:schemeClr val="tx1"/>
                </a:solidFill>
              </a:rPr>
              <a:t>on defining the database and tuning it by </a:t>
            </a:r>
            <a:r>
              <a:rPr lang="en-US" dirty="0" smtClean="0">
                <a:solidFill>
                  <a:schemeClr val="tx1"/>
                </a:solidFill>
              </a:rPr>
              <a:t>making changes </a:t>
            </a:r>
            <a:r>
              <a:rPr lang="en-US" dirty="0">
                <a:solidFill>
                  <a:schemeClr val="tx1"/>
                </a:solidFill>
              </a:rPr>
              <a:t>to its definition using </a:t>
            </a:r>
            <a:r>
              <a:rPr lang="en-US" b="1" dirty="0" smtClean="0">
                <a:solidFill>
                  <a:schemeClr val="accent5"/>
                </a:solidFill>
              </a:rPr>
              <a:t>DDL</a:t>
            </a:r>
            <a:r>
              <a:rPr lang="en-US" dirty="0" smtClean="0">
                <a:solidFill>
                  <a:schemeClr val="tx1"/>
                </a:solidFill>
              </a:rPr>
              <a:t> </a:t>
            </a:r>
            <a:r>
              <a:rPr lang="en-US" dirty="0">
                <a:solidFill>
                  <a:schemeClr val="tx1"/>
                </a:solidFill>
              </a:rPr>
              <a:t>and other </a:t>
            </a:r>
            <a:r>
              <a:rPr lang="en-US" b="1" dirty="0">
                <a:solidFill>
                  <a:schemeClr val="accent5"/>
                </a:solidFill>
              </a:rPr>
              <a:t>privileged commands</a:t>
            </a:r>
            <a:r>
              <a:rPr lang="en-US" dirty="0" smtClean="0">
                <a:solidFill>
                  <a:schemeClr val="tx1"/>
                </a:solidFill>
              </a:rPr>
              <a:t>.</a:t>
            </a:r>
          </a:p>
          <a:p>
            <a:r>
              <a:rPr lang="en-US" u="sng" dirty="0">
                <a:solidFill>
                  <a:schemeClr val="tx1"/>
                </a:solidFill>
              </a:rPr>
              <a:t>DDL </a:t>
            </a:r>
            <a:r>
              <a:rPr lang="en-US" u="sng" dirty="0" smtClean="0">
                <a:solidFill>
                  <a:schemeClr val="tx1"/>
                </a:solidFill>
              </a:rPr>
              <a:t>compiler </a:t>
            </a:r>
            <a:r>
              <a:rPr lang="en-US" dirty="0" smtClean="0">
                <a:solidFill>
                  <a:schemeClr val="tx1"/>
                </a:solidFill>
              </a:rPr>
              <a:t>- processes </a:t>
            </a:r>
            <a:r>
              <a:rPr lang="en-US" dirty="0">
                <a:solidFill>
                  <a:schemeClr val="tx1"/>
                </a:solidFill>
              </a:rPr>
              <a:t>schema definitions, specified in </a:t>
            </a:r>
            <a:r>
              <a:rPr lang="en-US" dirty="0" smtClean="0">
                <a:solidFill>
                  <a:schemeClr val="tx1"/>
                </a:solidFill>
              </a:rPr>
              <a:t>DDL and </a:t>
            </a:r>
            <a:r>
              <a:rPr lang="en-US" b="1" dirty="0" smtClean="0">
                <a:solidFill>
                  <a:schemeClr val="accent5"/>
                </a:solidFill>
              </a:rPr>
              <a:t>stores descriptions </a:t>
            </a:r>
            <a:r>
              <a:rPr lang="en-US" dirty="0">
                <a:solidFill>
                  <a:schemeClr val="tx1"/>
                </a:solidFill>
              </a:rPr>
              <a:t>of the schemas (meta-data) in the DBMS catalog</a:t>
            </a:r>
            <a:r>
              <a:rPr lang="en-US" dirty="0" smtClean="0">
                <a:solidFill>
                  <a:schemeClr val="tx1"/>
                </a:solidFill>
              </a:rPr>
              <a:t>.</a:t>
            </a:r>
          </a:p>
          <a:p>
            <a:r>
              <a:rPr lang="en-US" dirty="0" smtClean="0">
                <a:solidFill>
                  <a:schemeClr val="tx1"/>
                </a:solidFill>
              </a:rPr>
              <a:t>Catalog includes information </a:t>
            </a:r>
            <a:r>
              <a:rPr lang="en-US" dirty="0">
                <a:solidFill>
                  <a:schemeClr val="tx1"/>
                </a:solidFill>
              </a:rPr>
              <a:t>such as the </a:t>
            </a:r>
            <a:endParaRPr lang="en-US" dirty="0" smtClean="0">
              <a:solidFill>
                <a:schemeClr val="tx1"/>
              </a:solidFill>
            </a:endParaRPr>
          </a:p>
          <a:p>
            <a:pPr lvl="1"/>
            <a:r>
              <a:rPr lang="en-US" dirty="0" smtClean="0">
                <a:solidFill>
                  <a:schemeClr val="tx1"/>
                </a:solidFill>
              </a:rPr>
              <a:t>names </a:t>
            </a:r>
            <a:r>
              <a:rPr lang="en-US" dirty="0">
                <a:solidFill>
                  <a:schemeClr val="tx1"/>
                </a:solidFill>
              </a:rPr>
              <a:t>and sizes of files, </a:t>
            </a:r>
            <a:endParaRPr lang="en-US" dirty="0" smtClean="0">
              <a:solidFill>
                <a:schemeClr val="tx1"/>
              </a:solidFill>
            </a:endParaRPr>
          </a:p>
          <a:p>
            <a:pPr lvl="1"/>
            <a:r>
              <a:rPr lang="en-US" dirty="0" smtClean="0">
                <a:solidFill>
                  <a:schemeClr val="tx1"/>
                </a:solidFill>
              </a:rPr>
              <a:t>names </a:t>
            </a:r>
            <a:r>
              <a:rPr lang="en-US" dirty="0">
                <a:solidFill>
                  <a:schemeClr val="tx1"/>
                </a:solidFill>
              </a:rPr>
              <a:t>and data types of data </a:t>
            </a:r>
            <a:r>
              <a:rPr lang="en-US" dirty="0" smtClean="0">
                <a:solidFill>
                  <a:schemeClr val="tx1"/>
                </a:solidFill>
              </a:rPr>
              <a:t>items, </a:t>
            </a:r>
          </a:p>
          <a:p>
            <a:pPr lvl="1"/>
            <a:r>
              <a:rPr lang="en-US" dirty="0" smtClean="0">
                <a:solidFill>
                  <a:schemeClr val="tx1"/>
                </a:solidFill>
              </a:rPr>
              <a:t>storage </a:t>
            </a:r>
            <a:r>
              <a:rPr lang="en-US" dirty="0">
                <a:solidFill>
                  <a:schemeClr val="tx1"/>
                </a:solidFill>
              </a:rPr>
              <a:t>details of each file, </a:t>
            </a:r>
            <a:endParaRPr lang="en-US" dirty="0" smtClean="0">
              <a:solidFill>
                <a:schemeClr val="tx1"/>
              </a:solidFill>
            </a:endParaRPr>
          </a:p>
          <a:p>
            <a:pPr lvl="1"/>
            <a:r>
              <a:rPr lang="en-US" dirty="0" smtClean="0">
                <a:solidFill>
                  <a:schemeClr val="tx1"/>
                </a:solidFill>
              </a:rPr>
              <a:t>mapping </a:t>
            </a:r>
            <a:r>
              <a:rPr lang="en-US" dirty="0">
                <a:solidFill>
                  <a:schemeClr val="tx1"/>
                </a:solidFill>
              </a:rPr>
              <a:t>information among schemas, </a:t>
            </a:r>
            <a:endParaRPr lang="en-US" dirty="0" smtClean="0">
              <a:solidFill>
                <a:schemeClr val="tx1"/>
              </a:solidFill>
            </a:endParaRPr>
          </a:p>
          <a:p>
            <a:pPr lvl="1"/>
            <a:r>
              <a:rPr lang="en-US" dirty="0" smtClean="0">
                <a:solidFill>
                  <a:schemeClr val="tx1"/>
                </a:solidFill>
              </a:rPr>
              <a:t>and </a:t>
            </a:r>
            <a:r>
              <a:rPr lang="en-US" dirty="0">
                <a:solidFill>
                  <a:schemeClr val="tx1"/>
                </a:solidFill>
              </a:rPr>
              <a:t>constraints.</a:t>
            </a:r>
            <a:endParaRPr lang="en-US" dirty="0" smtClean="0">
              <a:solidFill>
                <a:schemeClr val="tx1"/>
              </a:solidFill>
            </a:endParaRPr>
          </a:p>
        </p:txBody>
      </p:sp>
      <p:sp>
        <p:nvSpPr>
          <p:cNvPr id="6" name="Content Placeholder 2"/>
          <p:cNvSpPr txBox="1">
            <a:spLocks/>
          </p:cNvSpPr>
          <p:nvPr/>
        </p:nvSpPr>
        <p:spPr>
          <a:xfrm>
            <a:off x="7183394" y="1235675"/>
            <a:ext cx="873211" cy="329513"/>
          </a:xfrm>
          <a:prstGeom prst="rect">
            <a:avLst/>
          </a:prstGeom>
          <a:ln w="57150">
            <a:solidFill>
              <a:srgbClr val="FF0000"/>
            </a:solidFill>
          </a:ln>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b="1" u="sng" dirty="0" smtClean="0">
              <a:solidFill>
                <a:schemeClr val="accent2">
                  <a:lumMod val="75000"/>
                </a:schemeClr>
              </a:solidFill>
            </a:endParaRPr>
          </a:p>
          <a:p>
            <a:endParaRPr lang="en-US" dirty="0" smtClean="0">
              <a:solidFill>
                <a:schemeClr val="tx1"/>
              </a:solidFill>
            </a:endParaRPr>
          </a:p>
          <a:p>
            <a:endParaRPr lang="en-US" b="1" u="sng" dirty="0" smtClean="0">
              <a:solidFill>
                <a:schemeClr val="accent2">
                  <a:lumMod val="75000"/>
                </a:schemeClr>
              </a:solidFill>
            </a:endParaRPr>
          </a:p>
        </p:txBody>
      </p:sp>
    </p:spTree>
    <p:extLst>
      <p:ext uri="{BB962C8B-B14F-4D97-AF65-F5344CB8AC3E}">
        <p14:creationId xmlns:p14="http://schemas.microsoft.com/office/powerpoint/2010/main" val="2480904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The Database System Environment</a:t>
            </a:r>
          </a:p>
        </p:txBody>
      </p:sp>
      <p:sp>
        <p:nvSpPr>
          <p:cNvPr id="3" name="Content Placeholder 2"/>
          <p:cNvSpPr>
            <a:spLocks noGrp="1"/>
          </p:cNvSpPr>
          <p:nvPr>
            <p:ph idx="1"/>
          </p:nvPr>
        </p:nvSpPr>
        <p:spPr>
          <a:xfrm>
            <a:off x="512577" y="1483569"/>
            <a:ext cx="5097391" cy="891061"/>
          </a:xfrm>
        </p:spPr>
        <p:txBody>
          <a:bodyPr>
            <a:normAutofit/>
          </a:bodyPr>
          <a:lstStyle/>
          <a:p>
            <a:r>
              <a:rPr lang="en-US" b="1" u="sng" dirty="0">
                <a:solidFill>
                  <a:schemeClr val="accent2">
                    <a:lumMod val="75000"/>
                  </a:schemeClr>
                </a:solidFill>
              </a:rPr>
              <a:t>DBMS Component </a:t>
            </a:r>
            <a:r>
              <a:rPr lang="en-US" b="1" u="sng" dirty="0" smtClean="0">
                <a:solidFill>
                  <a:schemeClr val="accent2">
                    <a:lumMod val="75000"/>
                  </a:schemeClr>
                </a:solidFill>
              </a:rPr>
              <a:t>Modules</a:t>
            </a:r>
            <a:br>
              <a:rPr lang="en-US" b="1" u="sng" dirty="0" smtClean="0">
                <a:solidFill>
                  <a:schemeClr val="accent2">
                    <a:lumMod val="75000"/>
                  </a:schemeClr>
                </a:solidFill>
              </a:rPr>
            </a:br>
            <a:endParaRPr lang="en-US" b="1" u="sng" dirty="0" smtClean="0">
              <a:solidFill>
                <a:schemeClr val="accent2">
                  <a:lumMod val="75000"/>
                </a:schemeClr>
              </a:solidFill>
            </a:endParaRPr>
          </a:p>
          <a:p>
            <a:endParaRPr lang="en-US" b="1" u="sng" dirty="0" smtClean="0">
              <a:solidFill>
                <a:schemeClr val="accent2">
                  <a:lumMod val="75000"/>
                </a:schemeClr>
              </a:solidFill>
            </a:endParaRPr>
          </a:p>
        </p:txBody>
      </p:sp>
      <p:pic>
        <p:nvPicPr>
          <p:cNvPr id="4" name="Picture 3"/>
          <p:cNvPicPr>
            <a:picLocks noChangeAspect="1"/>
          </p:cNvPicPr>
          <p:nvPr/>
        </p:nvPicPr>
        <p:blipFill>
          <a:blip r:embed="rId2"/>
          <a:stretch>
            <a:fillRect/>
          </a:stretch>
        </p:blipFill>
        <p:spPr>
          <a:xfrm>
            <a:off x="6523580" y="1139266"/>
            <a:ext cx="5275952" cy="5137966"/>
          </a:xfrm>
          <a:prstGeom prst="rect">
            <a:avLst/>
          </a:prstGeom>
          <a:ln w="28575" cap="sq">
            <a:solidFill>
              <a:srgbClr val="000000"/>
            </a:solidFill>
            <a:miter lim="800000"/>
          </a:ln>
          <a:effectLst>
            <a:outerShdw blurRad="57150" dist="50800" dir="2700000" algn="tl" rotWithShape="0">
              <a:srgbClr val="000000">
                <a:alpha val="40000"/>
              </a:srgbClr>
            </a:outerShdw>
          </a:effectLst>
        </p:spPr>
      </p:pic>
      <p:sp>
        <p:nvSpPr>
          <p:cNvPr id="5" name="Content Placeholder 2"/>
          <p:cNvSpPr txBox="1">
            <a:spLocks/>
          </p:cNvSpPr>
          <p:nvPr/>
        </p:nvSpPr>
        <p:spPr>
          <a:xfrm>
            <a:off x="550164" y="2109263"/>
            <a:ext cx="5649592" cy="4291537"/>
          </a:xfrm>
          <a:prstGeom prst="rect">
            <a:avLst/>
          </a:prstGeom>
          <a:ln w="28575">
            <a:solidFill>
              <a:srgbClr val="0070C0"/>
            </a:solidFill>
          </a:ln>
        </p:spPr>
        <p:txBody>
          <a:bodyPr vert="horz" lIns="91440" tIns="45720" rIns="91440" bIns="45720" rtlCol="0">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u="sng" dirty="0">
                <a:solidFill>
                  <a:schemeClr val="accent2">
                    <a:lumMod val="75000"/>
                  </a:schemeClr>
                </a:solidFill>
              </a:rPr>
              <a:t>Casual </a:t>
            </a:r>
            <a:r>
              <a:rPr lang="en-US" b="1" u="sng" dirty="0" smtClean="0">
                <a:solidFill>
                  <a:schemeClr val="accent2">
                    <a:lumMod val="75000"/>
                  </a:schemeClr>
                </a:solidFill>
              </a:rPr>
              <a:t>users</a:t>
            </a:r>
          </a:p>
          <a:p>
            <a:r>
              <a:rPr lang="en-US" dirty="0" smtClean="0">
                <a:solidFill>
                  <a:schemeClr val="tx1"/>
                </a:solidFill>
              </a:rPr>
              <a:t>Interact </a:t>
            </a:r>
            <a:r>
              <a:rPr lang="en-US" dirty="0">
                <a:solidFill>
                  <a:schemeClr val="tx1"/>
                </a:solidFill>
              </a:rPr>
              <a:t>using the interactive query interface </a:t>
            </a:r>
            <a:r>
              <a:rPr lang="en-US" dirty="0" smtClean="0">
                <a:solidFill>
                  <a:schemeClr val="tx1"/>
                </a:solidFill>
              </a:rPr>
              <a:t>for example </a:t>
            </a:r>
            <a:r>
              <a:rPr lang="en-US" dirty="0">
                <a:solidFill>
                  <a:schemeClr val="tx1"/>
                </a:solidFill>
              </a:rPr>
              <a:t>any </a:t>
            </a:r>
            <a:r>
              <a:rPr lang="en-US" dirty="0" smtClean="0">
                <a:solidFill>
                  <a:schemeClr val="tx1"/>
                </a:solidFill>
              </a:rPr>
              <a:t>menu-based, form-based </a:t>
            </a:r>
            <a:r>
              <a:rPr lang="en-US" dirty="0">
                <a:solidFill>
                  <a:schemeClr val="tx1"/>
                </a:solidFill>
              </a:rPr>
              <a:t>or mobile </a:t>
            </a:r>
            <a:r>
              <a:rPr lang="en-US" dirty="0" smtClean="0">
                <a:solidFill>
                  <a:schemeClr val="tx1"/>
                </a:solidFill>
              </a:rPr>
              <a:t>interactions.</a:t>
            </a:r>
          </a:p>
          <a:p>
            <a:r>
              <a:rPr lang="en-US" u="sng" dirty="0" smtClean="0">
                <a:solidFill>
                  <a:schemeClr val="tx1"/>
                </a:solidFill>
              </a:rPr>
              <a:t>Query compiler </a:t>
            </a:r>
            <a:r>
              <a:rPr lang="en-US" dirty="0" smtClean="0">
                <a:solidFill>
                  <a:schemeClr val="tx1"/>
                </a:solidFill>
              </a:rPr>
              <a:t>- queries </a:t>
            </a:r>
            <a:r>
              <a:rPr lang="en-US" dirty="0">
                <a:solidFill>
                  <a:schemeClr val="tx1"/>
                </a:solidFill>
              </a:rPr>
              <a:t>are parsed and validated for </a:t>
            </a:r>
            <a:r>
              <a:rPr lang="en-US" dirty="0" smtClean="0">
                <a:solidFill>
                  <a:schemeClr val="tx1"/>
                </a:solidFill>
              </a:rPr>
              <a:t>correctness, the names </a:t>
            </a:r>
            <a:r>
              <a:rPr lang="en-US" dirty="0">
                <a:solidFill>
                  <a:schemeClr val="tx1"/>
                </a:solidFill>
              </a:rPr>
              <a:t>of files and data elements, and so on by a query compiler that compiles them into an internal </a:t>
            </a:r>
            <a:r>
              <a:rPr lang="en-US" dirty="0" smtClean="0">
                <a:solidFill>
                  <a:schemeClr val="tx1"/>
                </a:solidFill>
              </a:rPr>
              <a:t>form. This </a:t>
            </a:r>
            <a:r>
              <a:rPr lang="en-US" dirty="0">
                <a:solidFill>
                  <a:schemeClr val="tx1"/>
                </a:solidFill>
              </a:rPr>
              <a:t>internal query is subjected to query </a:t>
            </a:r>
            <a:r>
              <a:rPr lang="en-US" dirty="0" smtClean="0">
                <a:solidFill>
                  <a:schemeClr val="tx1"/>
                </a:solidFill>
              </a:rPr>
              <a:t>optimization.</a:t>
            </a:r>
            <a:endParaRPr lang="en-US" dirty="0">
              <a:solidFill>
                <a:schemeClr val="tx1"/>
              </a:solidFill>
            </a:endParaRPr>
          </a:p>
          <a:p>
            <a:r>
              <a:rPr lang="en-US" u="sng" dirty="0" smtClean="0">
                <a:solidFill>
                  <a:schemeClr val="tx1"/>
                </a:solidFill>
              </a:rPr>
              <a:t>Query optimizer-</a:t>
            </a:r>
            <a:r>
              <a:rPr lang="en-US" dirty="0" smtClean="0">
                <a:solidFill>
                  <a:schemeClr val="tx1"/>
                </a:solidFill>
              </a:rPr>
              <a:t> concerned </a:t>
            </a:r>
            <a:r>
              <a:rPr lang="en-US" dirty="0">
                <a:solidFill>
                  <a:schemeClr val="tx1"/>
                </a:solidFill>
              </a:rPr>
              <a:t>with the </a:t>
            </a:r>
            <a:r>
              <a:rPr lang="en-US" dirty="0" smtClean="0">
                <a:solidFill>
                  <a:schemeClr val="tx1"/>
                </a:solidFill>
              </a:rPr>
              <a:t>possible </a:t>
            </a:r>
            <a:r>
              <a:rPr lang="en-US" dirty="0">
                <a:solidFill>
                  <a:schemeClr val="tx1"/>
                </a:solidFill>
              </a:rPr>
              <a:t>reordering of operations, </a:t>
            </a:r>
            <a:r>
              <a:rPr lang="en-US" dirty="0" smtClean="0">
                <a:solidFill>
                  <a:schemeClr val="tx1"/>
                </a:solidFill>
              </a:rPr>
              <a:t>elimination of </a:t>
            </a:r>
            <a:r>
              <a:rPr lang="en-US" dirty="0">
                <a:solidFill>
                  <a:schemeClr val="tx1"/>
                </a:solidFill>
              </a:rPr>
              <a:t>redundancies, and use of efficient search algorithms during execution</a:t>
            </a:r>
            <a:r>
              <a:rPr lang="en-US" dirty="0" smtClean="0">
                <a:solidFill>
                  <a:schemeClr val="tx1"/>
                </a:solidFill>
              </a:rPr>
              <a:t>.</a:t>
            </a:r>
          </a:p>
          <a:p>
            <a:pPr lvl="1"/>
            <a:r>
              <a:rPr lang="en-US" dirty="0" smtClean="0">
                <a:solidFill>
                  <a:schemeClr val="tx1"/>
                </a:solidFill>
              </a:rPr>
              <a:t>Consults </a:t>
            </a:r>
            <a:r>
              <a:rPr lang="en-US" dirty="0">
                <a:solidFill>
                  <a:schemeClr val="tx1"/>
                </a:solidFill>
              </a:rPr>
              <a:t>the system catalog for </a:t>
            </a:r>
            <a:r>
              <a:rPr lang="en-US" dirty="0" smtClean="0">
                <a:solidFill>
                  <a:schemeClr val="tx1"/>
                </a:solidFill>
              </a:rPr>
              <a:t>physical </a:t>
            </a:r>
            <a:r>
              <a:rPr lang="en-US" dirty="0">
                <a:solidFill>
                  <a:schemeClr val="tx1"/>
                </a:solidFill>
              </a:rPr>
              <a:t>information about </a:t>
            </a:r>
            <a:r>
              <a:rPr lang="en-US" dirty="0" smtClean="0">
                <a:solidFill>
                  <a:schemeClr val="tx1"/>
                </a:solidFill>
              </a:rPr>
              <a:t>the stored data. </a:t>
            </a:r>
          </a:p>
          <a:p>
            <a:pPr lvl="1"/>
            <a:r>
              <a:rPr lang="en-US" dirty="0">
                <a:solidFill>
                  <a:schemeClr val="tx1"/>
                </a:solidFill>
              </a:rPr>
              <a:t>G</a:t>
            </a:r>
            <a:r>
              <a:rPr lang="en-US" dirty="0" smtClean="0">
                <a:solidFill>
                  <a:schemeClr val="tx1"/>
                </a:solidFill>
              </a:rPr>
              <a:t>enerates </a:t>
            </a:r>
            <a:r>
              <a:rPr lang="en-US" dirty="0">
                <a:solidFill>
                  <a:schemeClr val="tx1"/>
                </a:solidFill>
              </a:rPr>
              <a:t>executable code that performs the necessary </a:t>
            </a:r>
            <a:r>
              <a:rPr lang="en-US" dirty="0" smtClean="0">
                <a:solidFill>
                  <a:schemeClr val="tx1"/>
                </a:solidFill>
              </a:rPr>
              <a:t>operations for </a:t>
            </a:r>
            <a:r>
              <a:rPr lang="en-US" dirty="0">
                <a:solidFill>
                  <a:schemeClr val="tx1"/>
                </a:solidFill>
              </a:rPr>
              <a:t>the query and makes calls on the runtime processor.</a:t>
            </a:r>
          </a:p>
        </p:txBody>
      </p:sp>
      <p:sp>
        <p:nvSpPr>
          <p:cNvPr id="6" name="Content Placeholder 2"/>
          <p:cNvSpPr txBox="1">
            <a:spLocks/>
          </p:cNvSpPr>
          <p:nvPr/>
        </p:nvSpPr>
        <p:spPr>
          <a:xfrm>
            <a:off x="8501448" y="1235675"/>
            <a:ext cx="873211" cy="329513"/>
          </a:xfrm>
          <a:prstGeom prst="rect">
            <a:avLst/>
          </a:prstGeom>
          <a:ln w="57150">
            <a:solidFill>
              <a:srgbClr val="FF0000"/>
            </a:solidFill>
          </a:ln>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b="1" u="sng" dirty="0" smtClean="0">
              <a:solidFill>
                <a:schemeClr val="accent2">
                  <a:lumMod val="75000"/>
                </a:schemeClr>
              </a:solidFill>
            </a:endParaRPr>
          </a:p>
          <a:p>
            <a:endParaRPr lang="en-US" dirty="0" smtClean="0">
              <a:solidFill>
                <a:schemeClr val="tx1"/>
              </a:solidFill>
            </a:endParaRPr>
          </a:p>
          <a:p>
            <a:endParaRPr lang="en-US" b="1" u="sng" dirty="0" smtClean="0">
              <a:solidFill>
                <a:schemeClr val="accent2">
                  <a:lumMod val="75000"/>
                </a:schemeClr>
              </a:solidFill>
            </a:endParaRPr>
          </a:p>
        </p:txBody>
      </p:sp>
    </p:spTree>
    <p:extLst>
      <p:ext uri="{BB962C8B-B14F-4D97-AF65-F5344CB8AC3E}">
        <p14:creationId xmlns:p14="http://schemas.microsoft.com/office/powerpoint/2010/main" val="1207760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The Database System Environment</a:t>
            </a:r>
          </a:p>
        </p:txBody>
      </p:sp>
      <p:sp>
        <p:nvSpPr>
          <p:cNvPr id="3" name="Content Placeholder 2"/>
          <p:cNvSpPr>
            <a:spLocks noGrp="1"/>
          </p:cNvSpPr>
          <p:nvPr>
            <p:ph idx="1"/>
          </p:nvPr>
        </p:nvSpPr>
        <p:spPr>
          <a:xfrm>
            <a:off x="564086" y="1038037"/>
            <a:ext cx="5097391" cy="891061"/>
          </a:xfrm>
        </p:spPr>
        <p:txBody>
          <a:bodyPr>
            <a:normAutofit/>
          </a:bodyPr>
          <a:lstStyle/>
          <a:p>
            <a:r>
              <a:rPr lang="en-US" b="1" u="sng" dirty="0">
                <a:solidFill>
                  <a:schemeClr val="accent2">
                    <a:lumMod val="75000"/>
                  </a:schemeClr>
                </a:solidFill>
              </a:rPr>
              <a:t>DBMS Component </a:t>
            </a:r>
            <a:r>
              <a:rPr lang="en-US" b="1" u="sng" dirty="0" smtClean="0">
                <a:solidFill>
                  <a:schemeClr val="accent2">
                    <a:lumMod val="75000"/>
                  </a:schemeClr>
                </a:solidFill>
              </a:rPr>
              <a:t>Modules</a:t>
            </a:r>
            <a:br>
              <a:rPr lang="en-US" b="1" u="sng" dirty="0" smtClean="0">
                <a:solidFill>
                  <a:schemeClr val="accent2">
                    <a:lumMod val="75000"/>
                  </a:schemeClr>
                </a:solidFill>
              </a:rPr>
            </a:br>
            <a:endParaRPr lang="en-US" b="1" u="sng" dirty="0" smtClean="0">
              <a:solidFill>
                <a:schemeClr val="accent2">
                  <a:lumMod val="75000"/>
                </a:schemeClr>
              </a:solidFill>
            </a:endParaRPr>
          </a:p>
          <a:p>
            <a:endParaRPr lang="en-US" b="1" u="sng" dirty="0" smtClean="0">
              <a:solidFill>
                <a:schemeClr val="accent2">
                  <a:lumMod val="75000"/>
                </a:schemeClr>
              </a:solidFill>
            </a:endParaRPr>
          </a:p>
        </p:txBody>
      </p:sp>
      <p:pic>
        <p:nvPicPr>
          <p:cNvPr id="4" name="Picture 3"/>
          <p:cNvPicPr>
            <a:picLocks noChangeAspect="1"/>
          </p:cNvPicPr>
          <p:nvPr/>
        </p:nvPicPr>
        <p:blipFill>
          <a:blip r:embed="rId2"/>
          <a:stretch>
            <a:fillRect/>
          </a:stretch>
        </p:blipFill>
        <p:spPr>
          <a:xfrm>
            <a:off x="6523580" y="1139266"/>
            <a:ext cx="5275952" cy="5137966"/>
          </a:xfrm>
          <a:prstGeom prst="rect">
            <a:avLst/>
          </a:prstGeom>
          <a:ln w="28575" cap="sq">
            <a:solidFill>
              <a:srgbClr val="000000"/>
            </a:solidFill>
            <a:miter lim="800000"/>
          </a:ln>
          <a:effectLst>
            <a:outerShdw blurRad="57150" dist="50800" dir="2700000" algn="tl" rotWithShape="0">
              <a:srgbClr val="000000">
                <a:alpha val="40000"/>
              </a:srgbClr>
            </a:outerShdw>
          </a:effectLst>
        </p:spPr>
      </p:pic>
      <p:sp>
        <p:nvSpPr>
          <p:cNvPr id="5" name="Content Placeholder 2"/>
          <p:cNvSpPr txBox="1">
            <a:spLocks/>
          </p:cNvSpPr>
          <p:nvPr/>
        </p:nvSpPr>
        <p:spPr>
          <a:xfrm>
            <a:off x="534737" y="1632226"/>
            <a:ext cx="5649592" cy="4554390"/>
          </a:xfrm>
          <a:prstGeom prst="rect">
            <a:avLst/>
          </a:prstGeom>
          <a:ln w="28575">
            <a:solidFill>
              <a:srgbClr val="0070C0"/>
            </a:solidFill>
          </a:ln>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u="sng" dirty="0">
                <a:solidFill>
                  <a:schemeClr val="accent2">
                    <a:lumMod val="75000"/>
                  </a:schemeClr>
                </a:solidFill>
              </a:rPr>
              <a:t>Application </a:t>
            </a:r>
            <a:r>
              <a:rPr lang="en-US" b="1" u="sng" dirty="0" smtClean="0">
                <a:solidFill>
                  <a:schemeClr val="accent2">
                    <a:lumMod val="75000"/>
                  </a:schemeClr>
                </a:solidFill>
              </a:rPr>
              <a:t>programmers</a:t>
            </a:r>
          </a:p>
          <a:p>
            <a:r>
              <a:rPr lang="en-US" sz="1700" dirty="0" smtClean="0">
                <a:solidFill>
                  <a:schemeClr val="tx1"/>
                </a:solidFill>
              </a:rPr>
              <a:t>Write </a:t>
            </a:r>
            <a:r>
              <a:rPr lang="en-US" sz="1700" dirty="0">
                <a:solidFill>
                  <a:schemeClr val="tx1"/>
                </a:solidFill>
              </a:rPr>
              <a:t>programs in host languages such as Java, C, or C</a:t>
            </a:r>
            <a:r>
              <a:rPr lang="en-US" sz="1700" dirty="0" smtClean="0">
                <a:solidFill>
                  <a:schemeClr val="tx1"/>
                </a:solidFill>
              </a:rPr>
              <a:t>++ that </a:t>
            </a:r>
            <a:r>
              <a:rPr lang="en-US" sz="1700" dirty="0">
                <a:solidFill>
                  <a:schemeClr val="tx1"/>
                </a:solidFill>
              </a:rPr>
              <a:t>are submitted to a </a:t>
            </a:r>
            <a:r>
              <a:rPr lang="en-US" sz="1700" dirty="0" err="1">
                <a:solidFill>
                  <a:schemeClr val="tx1"/>
                </a:solidFill>
              </a:rPr>
              <a:t>precompiler</a:t>
            </a:r>
            <a:r>
              <a:rPr lang="en-US" sz="1700" dirty="0" smtClean="0">
                <a:solidFill>
                  <a:schemeClr val="tx1"/>
                </a:solidFill>
              </a:rPr>
              <a:t>.</a:t>
            </a:r>
          </a:p>
          <a:p>
            <a:r>
              <a:rPr lang="en-US" sz="1700" u="sng" dirty="0" smtClean="0">
                <a:solidFill>
                  <a:schemeClr val="tx1"/>
                </a:solidFill>
              </a:rPr>
              <a:t>Precompiler</a:t>
            </a:r>
            <a:r>
              <a:rPr lang="en-US" sz="1700" dirty="0">
                <a:solidFill>
                  <a:schemeClr val="tx1"/>
                </a:solidFill>
              </a:rPr>
              <a:t> </a:t>
            </a:r>
            <a:r>
              <a:rPr lang="en-US" sz="1700" dirty="0" smtClean="0">
                <a:solidFill>
                  <a:schemeClr val="tx1"/>
                </a:solidFill>
              </a:rPr>
              <a:t>- extracts </a:t>
            </a:r>
            <a:r>
              <a:rPr lang="en-US" sz="1700" b="1" dirty="0">
                <a:solidFill>
                  <a:schemeClr val="accent5"/>
                </a:solidFill>
              </a:rPr>
              <a:t>DML </a:t>
            </a:r>
            <a:r>
              <a:rPr lang="en-US" sz="1700" b="1" dirty="0" smtClean="0">
                <a:solidFill>
                  <a:schemeClr val="accent5"/>
                </a:solidFill>
              </a:rPr>
              <a:t>commands </a:t>
            </a:r>
            <a:r>
              <a:rPr lang="en-US" sz="1700" dirty="0" smtClean="0">
                <a:solidFill>
                  <a:schemeClr val="tx1"/>
                </a:solidFill>
              </a:rPr>
              <a:t>from </a:t>
            </a:r>
            <a:r>
              <a:rPr lang="en-US" sz="1700" dirty="0">
                <a:solidFill>
                  <a:schemeClr val="tx1"/>
                </a:solidFill>
              </a:rPr>
              <a:t>an </a:t>
            </a:r>
            <a:r>
              <a:rPr lang="en-US" sz="1700" dirty="0" smtClean="0">
                <a:solidFill>
                  <a:schemeClr val="tx1"/>
                </a:solidFill>
              </a:rPr>
              <a:t>application </a:t>
            </a:r>
            <a:r>
              <a:rPr lang="en-US" sz="1700" dirty="0">
                <a:solidFill>
                  <a:schemeClr val="tx1"/>
                </a:solidFill>
              </a:rPr>
              <a:t>program written in a host programming </a:t>
            </a:r>
            <a:r>
              <a:rPr lang="en-US" sz="1700" dirty="0" smtClean="0">
                <a:solidFill>
                  <a:schemeClr val="tx1"/>
                </a:solidFill>
              </a:rPr>
              <a:t>language.</a:t>
            </a:r>
          </a:p>
          <a:p>
            <a:pPr lvl="1"/>
            <a:r>
              <a:rPr lang="en-US" sz="1500" dirty="0" smtClean="0">
                <a:solidFill>
                  <a:schemeClr val="tx1"/>
                </a:solidFill>
              </a:rPr>
              <a:t>Commands are </a:t>
            </a:r>
            <a:r>
              <a:rPr lang="en-US" sz="1500" dirty="0">
                <a:solidFill>
                  <a:schemeClr val="tx1"/>
                </a:solidFill>
              </a:rPr>
              <a:t>sent to the DML compiler for compilation into object code for </a:t>
            </a:r>
            <a:r>
              <a:rPr lang="en-US" sz="1500" dirty="0" smtClean="0">
                <a:solidFill>
                  <a:schemeClr val="tx1"/>
                </a:solidFill>
              </a:rPr>
              <a:t>database access</a:t>
            </a:r>
            <a:r>
              <a:rPr lang="en-US" sz="1500" dirty="0">
                <a:solidFill>
                  <a:schemeClr val="tx1"/>
                </a:solidFill>
              </a:rPr>
              <a:t>. The rest of the program is sent to the host language compiler.</a:t>
            </a:r>
            <a:endParaRPr lang="en-US" sz="1500" dirty="0" smtClean="0">
              <a:solidFill>
                <a:schemeClr val="tx1"/>
              </a:solidFill>
            </a:endParaRPr>
          </a:p>
          <a:p>
            <a:r>
              <a:rPr lang="en-US" sz="1700" dirty="0">
                <a:solidFill>
                  <a:schemeClr val="tx1"/>
                </a:solidFill>
              </a:rPr>
              <a:t>The </a:t>
            </a:r>
            <a:r>
              <a:rPr lang="en-US" sz="1700" dirty="0" smtClean="0">
                <a:solidFill>
                  <a:schemeClr val="tx1"/>
                </a:solidFill>
              </a:rPr>
              <a:t>object codes </a:t>
            </a:r>
            <a:r>
              <a:rPr lang="en-US" sz="1700" dirty="0">
                <a:solidFill>
                  <a:schemeClr val="tx1"/>
                </a:solidFill>
              </a:rPr>
              <a:t>for the DML commands and the rest of the program are linked, forming </a:t>
            </a:r>
            <a:r>
              <a:rPr lang="en-US" sz="1700" dirty="0" smtClean="0">
                <a:solidFill>
                  <a:schemeClr val="tx1"/>
                </a:solidFill>
              </a:rPr>
              <a:t>a canned </a:t>
            </a:r>
            <a:r>
              <a:rPr lang="en-US" sz="1700" dirty="0">
                <a:solidFill>
                  <a:schemeClr val="tx1"/>
                </a:solidFill>
              </a:rPr>
              <a:t>transaction whose executable code includes calls to the runtime </a:t>
            </a:r>
            <a:r>
              <a:rPr lang="en-US" sz="1700" dirty="0" smtClean="0">
                <a:solidFill>
                  <a:schemeClr val="tx1"/>
                </a:solidFill>
              </a:rPr>
              <a:t>database processor.</a:t>
            </a:r>
          </a:p>
          <a:p>
            <a:r>
              <a:rPr lang="en-US" sz="1700" dirty="0">
                <a:solidFill>
                  <a:schemeClr val="tx1"/>
                </a:solidFill>
              </a:rPr>
              <a:t>Each execution is considered to be a </a:t>
            </a:r>
            <a:r>
              <a:rPr lang="en-US" sz="1700" dirty="0" smtClean="0">
                <a:solidFill>
                  <a:schemeClr val="tx1"/>
                </a:solidFill>
              </a:rPr>
              <a:t>separate transaction</a:t>
            </a:r>
            <a:r>
              <a:rPr lang="en-US" sz="1700" dirty="0">
                <a:solidFill>
                  <a:schemeClr val="tx1"/>
                </a:solidFill>
              </a:rPr>
              <a:t>. </a:t>
            </a:r>
            <a:endParaRPr lang="en-US" sz="1700" dirty="0" smtClean="0">
              <a:solidFill>
                <a:schemeClr val="tx1"/>
              </a:solidFill>
            </a:endParaRPr>
          </a:p>
          <a:p>
            <a:pPr lvl="1"/>
            <a:r>
              <a:rPr lang="en-US" sz="1500" dirty="0" smtClean="0">
                <a:solidFill>
                  <a:schemeClr val="tx1"/>
                </a:solidFill>
              </a:rPr>
              <a:t>An </a:t>
            </a:r>
            <a:r>
              <a:rPr lang="en-US" sz="1500" dirty="0">
                <a:solidFill>
                  <a:schemeClr val="tx1"/>
                </a:solidFill>
              </a:rPr>
              <a:t>example is a bank payment transaction where the account </a:t>
            </a:r>
            <a:r>
              <a:rPr lang="en-US" sz="1500" dirty="0" smtClean="0">
                <a:solidFill>
                  <a:schemeClr val="tx1"/>
                </a:solidFill>
              </a:rPr>
              <a:t>number, payee</a:t>
            </a:r>
            <a:r>
              <a:rPr lang="en-US" sz="1500" dirty="0">
                <a:solidFill>
                  <a:schemeClr val="tx1"/>
                </a:solidFill>
              </a:rPr>
              <a:t>, and amount may be supplied as parameters.</a:t>
            </a:r>
            <a:endParaRPr lang="en-US" sz="1500" dirty="0" smtClean="0">
              <a:solidFill>
                <a:schemeClr val="tx1"/>
              </a:solidFill>
            </a:endParaRPr>
          </a:p>
        </p:txBody>
      </p:sp>
      <p:sp>
        <p:nvSpPr>
          <p:cNvPr id="6" name="Content Placeholder 2"/>
          <p:cNvSpPr txBox="1">
            <a:spLocks/>
          </p:cNvSpPr>
          <p:nvPr/>
        </p:nvSpPr>
        <p:spPr>
          <a:xfrm>
            <a:off x="9467823" y="1318812"/>
            <a:ext cx="873211" cy="329513"/>
          </a:xfrm>
          <a:prstGeom prst="rect">
            <a:avLst/>
          </a:prstGeom>
          <a:ln w="57150">
            <a:solidFill>
              <a:srgbClr val="FF0000"/>
            </a:solidFill>
          </a:ln>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b="1" u="sng" dirty="0" smtClean="0">
              <a:solidFill>
                <a:schemeClr val="accent2">
                  <a:lumMod val="75000"/>
                </a:schemeClr>
              </a:solidFill>
            </a:endParaRPr>
          </a:p>
          <a:p>
            <a:endParaRPr lang="en-US" dirty="0" smtClean="0">
              <a:solidFill>
                <a:schemeClr val="tx1"/>
              </a:solidFill>
            </a:endParaRPr>
          </a:p>
          <a:p>
            <a:endParaRPr lang="en-US" b="1" u="sng" dirty="0" smtClean="0">
              <a:solidFill>
                <a:schemeClr val="accent2">
                  <a:lumMod val="75000"/>
                </a:schemeClr>
              </a:solidFill>
            </a:endParaRPr>
          </a:p>
        </p:txBody>
      </p:sp>
    </p:spTree>
    <p:extLst>
      <p:ext uri="{BB962C8B-B14F-4D97-AF65-F5344CB8AC3E}">
        <p14:creationId xmlns:p14="http://schemas.microsoft.com/office/powerpoint/2010/main" val="1942401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The Database System Environment</a:t>
            </a:r>
          </a:p>
        </p:txBody>
      </p:sp>
      <p:sp>
        <p:nvSpPr>
          <p:cNvPr id="3" name="Content Placeholder 2"/>
          <p:cNvSpPr>
            <a:spLocks noGrp="1"/>
          </p:cNvSpPr>
          <p:nvPr>
            <p:ph idx="1"/>
          </p:nvPr>
        </p:nvSpPr>
        <p:spPr>
          <a:xfrm>
            <a:off x="512577" y="925570"/>
            <a:ext cx="5097391" cy="891061"/>
          </a:xfrm>
        </p:spPr>
        <p:txBody>
          <a:bodyPr>
            <a:normAutofit/>
          </a:bodyPr>
          <a:lstStyle/>
          <a:p>
            <a:r>
              <a:rPr lang="en-US" b="1" u="sng" dirty="0">
                <a:solidFill>
                  <a:schemeClr val="accent2">
                    <a:lumMod val="75000"/>
                  </a:schemeClr>
                </a:solidFill>
              </a:rPr>
              <a:t>DBMS Component </a:t>
            </a:r>
            <a:r>
              <a:rPr lang="en-US" b="1" u="sng" dirty="0" smtClean="0">
                <a:solidFill>
                  <a:schemeClr val="accent2">
                    <a:lumMod val="75000"/>
                  </a:schemeClr>
                </a:solidFill>
              </a:rPr>
              <a:t>Modules</a:t>
            </a:r>
            <a:br>
              <a:rPr lang="en-US" b="1" u="sng" dirty="0" smtClean="0">
                <a:solidFill>
                  <a:schemeClr val="accent2">
                    <a:lumMod val="75000"/>
                  </a:schemeClr>
                </a:solidFill>
              </a:rPr>
            </a:br>
            <a:endParaRPr lang="en-US" b="1" u="sng" dirty="0" smtClean="0">
              <a:solidFill>
                <a:schemeClr val="accent2">
                  <a:lumMod val="75000"/>
                </a:schemeClr>
              </a:solidFill>
            </a:endParaRPr>
          </a:p>
          <a:p>
            <a:endParaRPr lang="en-US" b="1" u="sng" dirty="0" smtClean="0">
              <a:solidFill>
                <a:schemeClr val="accent2">
                  <a:lumMod val="75000"/>
                </a:schemeClr>
              </a:solidFill>
            </a:endParaRPr>
          </a:p>
        </p:txBody>
      </p:sp>
      <p:pic>
        <p:nvPicPr>
          <p:cNvPr id="4" name="Picture 3"/>
          <p:cNvPicPr>
            <a:picLocks noChangeAspect="1"/>
          </p:cNvPicPr>
          <p:nvPr/>
        </p:nvPicPr>
        <p:blipFill>
          <a:blip r:embed="rId2"/>
          <a:stretch>
            <a:fillRect/>
          </a:stretch>
        </p:blipFill>
        <p:spPr>
          <a:xfrm>
            <a:off x="6523580" y="1139266"/>
            <a:ext cx="5275952" cy="5137966"/>
          </a:xfrm>
          <a:prstGeom prst="rect">
            <a:avLst/>
          </a:prstGeom>
          <a:ln w="28575" cap="sq">
            <a:solidFill>
              <a:srgbClr val="000000"/>
            </a:solidFill>
            <a:miter lim="800000"/>
          </a:ln>
          <a:effectLst>
            <a:outerShdw blurRad="57150" dist="50800" dir="2700000" algn="tl" rotWithShape="0">
              <a:srgbClr val="000000">
                <a:alpha val="40000"/>
              </a:srgbClr>
            </a:outerShdw>
          </a:effectLst>
        </p:spPr>
      </p:pic>
      <p:sp>
        <p:nvSpPr>
          <p:cNvPr id="5" name="Content Placeholder 2"/>
          <p:cNvSpPr txBox="1">
            <a:spLocks/>
          </p:cNvSpPr>
          <p:nvPr/>
        </p:nvSpPr>
        <p:spPr>
          <a:xfrm>
            <a:off x="512577" y="1441622"/>
            <a:ext cx="5649592" cy="5255740"/>
          </a:xfrm>
          <a:prstGeom prst="rect">
            <a:avLst/>
          </a:prstGeom>
          <a:ln w="28575">
            <a:solidFill>
              <a:srgbClr val="0070C0"/>
            </a:solidFill>
          </a:ln>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100" b="1" i="1" u="sng" dirty="0" smtClean="0">
                <a:solidFill>
                  <a:schemeClr val="accent2">
                    <a:lumMod val="75000"/>
                  </a:schemeClr>
                </a:solidFill>
              </a:rPr>
              <a:t>QUERY AND TRANSACTION EXECUTION (lower part)</a:t>
            </a:r>
          </a:p>
          <a:p>
            <a:r>
              <a:rPr lang="en-US" sz="2100" u="sng" dirty="0" smtClean="0">
                <a:solidFill>
                  <a:schemeClr val="tx1"/>
                </a:solidFill>
              </a:rPr>
              <a:t>Runtime </a:t>
            </a:r>
            <a:r>
              <a:rPr lang="en-US" sz="2100" u="sng" dirty="0">
                <a:solidFill>
                  <a:schemeClr val="tx1"/>
                </a:solidFill>
              </a:rPr>
              <a:t>database processor </a:t>
            </a:r>
            <a:endParaRPr lang="en-US" sz="2100" u="sng" dirty="0" smtClean="0">
              <a:solidFill>
                <a:schemeClr val="tx1"/>
              </a:solidFill>
            </a:endParaRPr>
          </a:p>
          <a:p>
            <a:pPr marL="857250" lvl="1" indent="-457200">
              <a:buClr>
                <a:srgbClr val="FF0000"/>
              </a:buClr>
              <a:buFont typeface="+mj-lt"/>
              <a:buAutoNum type="arabicPeriod"/>
            </a:pPr>
            <a:r>
              <a:rPr lang="en-US" sz="1700" dirty="0" smtClean="0">
                <a:solidFill>
                  <a:schemeClr val="tx1"/>
                </a:solidFill>
              </a:rPr>
              <a:t>executes privileged </a:t>
            </a:r>
            <a:r>
              <a:rPr lang="en-US" sz="1700" dirty="0">
                <a:solidFill>
                  <a:schemeClr val="tx1"/>
                </a:solidFill>
              </a:rPr>
              <a:t>commands, </a:t>
            </a:r>
            <a:endParaRPr lang="en-US" sz="1700" dirty="0" smtClean="0">
              <a:solidFill>
                <a:schemeClr val="tx1"/>
              </a:solidFill>
            </a:endParaRPr>
          </a:p>
          <a:p>
            <a:pPr marL="857250" lvl="1" indent="-457200">
              <a:buClr>
                <a:srgbClr val="FF0000"/>
              </a:buClr>
              <a:buFont typeface="+mj-lt"/>
              <a:buAutoNum type="arabicPeriod"/>
            </a:pPr>
            <a:r>
              <a:rPr lang="en-US" sz="1700" dirty="0" smtClean="0">
                <a:solidFill>
                  <a:schemeClr val="tx1"/>
                </a:solidFill>
              </a:rPr>
              <a:t>executes the </a:t>
            </a:r>
            <a:r>
              <a:rPr lang="en-US" sz="1700" dirty="0">
                <a:solidFill>
                  <a:schemeClr val="tx1"/>
                </a:solidFill>
              </a:rPr>
              <a:t>executable </a:t>
            </a:r>
            <a:r>
              <a:rPr lang="en-US" sz="1700" dirty="0" smtClean="0">
                <a:solidFill>
                  <a:schemeClr val="tx1"/>
                </a:solidFill>
              </a:rPr>
              <a:t>queries, </a:t>
            </a:r>
            <a:endParaRPr lang="en-US" sz="1700" dirty="0">
              <a:solidFill>
                <a:schemeClr val="tx1"/>
              </a:solidFill>
            </a:endParaRPr>
          </a:p>
          <a:p>
            <a:pPr marL="857250" lvl="1" indent="-457200">
              <a:buClr>
                <a:srgbClr val="FF0000"/>
              </a:buClr>
              <a:buFont typeface="+mj-lt"/>
              <a:buAutoNum type="arabicPeriod"/>
            </a:pPr>
            <a:r>
              <a:rPr lang="en-US" sz="1700" dirty="0" smtClean="0">
                <a:solidFill>
                  <a:schemeClr val="tx1"/>
                </a:solidFill>
              </a:rPr>
              <a:t>executes the </a:t>
            </a:r>
            <a:r>
              <a:rPr lang="en-US" sz="1700" b="1" dirty="0">
                <a:solidFill>
                  <a:srgbClr val="FF0000"/>
                </a:solidFill>
              </a:rPr>
              <a:t>canned </a:t>
            </a:r>
            <a:r>
              <a:rPr lang="en-US" sz="1700" b="1" dirty="0" smtClean="0">
                <a:solidFill>
                  <a:srgbClr val="FF0000"/>
                </a:solidFill>
              </a:rPr>
              <a:t>transactions </a:t>
            </a:r>
            <a:r>
              <a:rPr lang="en-US" sz="1700" dirty="0" smtClean="0">
                <a:solidFill>
                  <a:schemeClr val="tx1"/>
                </a:solidFill>
              </a:rPr>
              <a:t>with </a:t>
            </a:r>
            <a:r>
              <a:rPr lang="en-US" sz="1700" dirty="0">
                <a:solidFill>
                  <a:schemeClr val="tx1"/>
                </a:solidFill>
              </a:rPr>
              <a:t>runtime </a:t>
            </a:r>
            <a:r>
              <a:rPr lang="en-US" sz="1700" dirty="0" smtClean="0">
                <a:solidFill>
                  <a:schemeClr val="tx1"/>
                </a:solidFill>
              </a:rPr>
              <a:t>parameters.</a:t>
            </a:r>
            <a:endParaRPr lang="en-US" sz="1900" dirty="0" smtClean="0">
              <a:solidFill>
                <a:schemeClr val="tx1"/>
              </a:solidFill>
            </a:endParaRPr>
          </a:p>
          <a:p>
            <a:pPr marL="857250" lvl="1" indent="-457200">
              <a:buClr>
                <a:srgbClr val="FF0000"/>
              </a:buClr>
              <a:buFont typeface="+mj-lt"/>
              <a:buAutoNum type="arabicPeriod"/>
            </a:pPr>
            <a:r>
              <a:rPr lang="en-US" sz="1700" dirty="0">
                <a:solidFill>
                  <a:schemeClr val="tx1"/>
                </a:solidFill>
              </a:rPr>
              <a:t>W</a:t>
            </a:r>
            <a:r>
              <a:rPr lang="en-US" sz="1700" dirty="0" smtClean="0">
                <a:solidFill>
                  <a:schemeClr val="tx1"/>
                </a:solidFill>
              </a:rPr>
              <a:t>orks </a:t>
            </a:r>
            <a:r>
              <a:rPr lang="en-US" sz="1700" dirty="0">
                <a:solidFill>
                  <a:schemeClr val="tx1"/>
                </a:solidFill>
              </a:rPr>
              <a:t>with the system </a:t>
            </a:r>
            <a:r>
              <a:rPr lang="en-US" sz="1700" dirty="0" smtClean="0">
                <a:solidFill>
                  <a:schemeClr val="tx1"/>
                </a:solidFill>
              </a:rPr>
              <a:t>catalog. </a:t>
            </a:r>
            <a:endParaRPr lang="en-US" sz="1700" dirty="0">
              <a:solidFill>
                <a:schemeClr val="tx1"/>
              </a:solidFill>
            </a:endParaRPr>
          </a:p>
          <a:p>
            <a:pPr marL="857250" lvl="1" indent="-457200">
              <a:buClr>
                <a:srgbClr val="FF0000"/>
              </a:buClr>
              <a:buFont typeface="+mj-lt"/>
              <a:buAutoNum type="arabicPeriod"/>
            </a:pPr>
            <a:r>
              <a:rPr lang="en-US" sz="1700" dirty="0">
                <a:solidFill>
                  <a:schemeClr val="tx1"/>
                </a:solidFill>
              </a:rPr>
              <a:t>W</a:t>
            </a:r>
            <a:r>
              <a:rPr lang="en-US" sz="1700" dirty="0" smtClean="0">
                <a:solidFill>
                  <a:schemeClr val="tx1"/>
                </a:solidFill>
              </a:rPr>
              <a:t>orks </a:t>
            </a:r>
            <a:r>
              <a:rPr lang="en-US" sz="1700" dirty="0">
                <a:solidFill>
                  <a:schemeClr val="tx1"/>
                </a:solidFill>
              </a:rPr>
              <a:t>with the stored data manager, which in turn uses </a:t>
            </a:r>
            <a:r>
              <a:rPr lang="en-US" sz="1700" dirty="0" smtClean="0">
                <a:solidFill>
                  <a:schemeClr val="tx1"/>
                </a:solidFill>
              </a:rPr>
              <a:t>basic operating </a:t>
            </a:r>
            <a:r>
              <a:rPr lang="en-US" sz="1700" dirty="0">
                <a:solidFill>
                  <a:schemeClr val="tx1"/>
                </a:solidFill>
              </a:rPr>
              <a:t>system services for carrying out low-level </a:t>
            </a:r>
            <a:r>
              <a:rPr lang="en-US" sz="1700" dirty="0" smtClean="0">
                <a:solidFill>
                  <a:schemeClr val="tx1"/>
                </a:solidFill>
              </a:rPr>
              <a:t>input/output (read/write) operations </a:t>
            </a:r>
            <a:r>
              <a:rPr lang="en-US" sz="1700" dirty="0">
                <a:solidFill>
                  <a:schemeClr val="tx1"/>
                </a:solidFill>
              </a:rPr>
              <a:t>between the disk and main memory</a:t>
            </a:r>
            <a:r>
              <a:rPr lang="en-US" sz="1700" dirty="0" smtClean="0">
                <a:solidFill>
                  <a:schemeClr val="tx1"/>
                </a:solidFill>
              </a:rPr>
              <a:t>.</a:t>
            </a:r>
          </a:p>
          <a:p>
            <a:pPr marL="857250" lvl="1" indent="-457200">
              <a:buClr>
                <a:srgbClr val="FF0000"/>
              </a:buClr>
              <a:buFont typeface="+mj-lt"/>
              <a:buAutoNum type="arabicPeriod"/>
            </a:pPr>
            <a:r>
              <a:rPr lang="en-US" sz="1700" u="sng" dirty="0" smtClean="0">
                <a:solidFill>
                  <a:schemeClr val="tx1"/>
                </a:solidFill>
              </a:rPr>
              <a:t>Concurrency control/Backup/Recovery </a:t>
            </a:r>
            <a:r>
              <a:rPr lang="en-US" sz="1700" u="sng" dirty="0">
                <a:solidFill>
                  <a:schemeClr val="tx1"/>
                </a:solidFill>
              </a:rPr>
              <a:t>systems </a:t>
            </a:r>
            <a:r>
              <a:rPr lang="en-US" sz="1700" dirty="0" smtClean="0">
                <a:solidFill>
                  <a:schemeClr val="tx1"/>
                </a:solidFill>
              </a:rPr>
              <a:t>integrated </a:t>
            </a:r>
            <a:r>
              <a:rPr lang="en-US" sz="1700" dirty="0">
                <a:solidFill>
                  <a:schemeClr val="tx1"/>
                </a:solidFill>
              </a:rPr>
              <a:t>into the working of the runtime database processor for purposes </a:t>
            </a:r>
            <a:r>
              <a:rPr lang="en-US" sz="1700" dirty="0" smtClean="0">
                <a:solidFill>
                  <a:schemeClr val="tx1"/>
                </a:solidFill>
              </a:rPr>
              <a:t>of transaction </a:t>
            </a:r>
            <a:r>
              <a:rPr lang="en-US" sz="1700" dirty="0">
                <a:solidFill>
                  <a:schemeClr val="tx1"/>
                </a:solidFill>
              </a:rPr>
              <a:t>management</a:t>
            </a:r>
            <a:endParaRPr lang="en-US" sz="1700" dirty="0" smtClean="0">
              <a:solidFill>
                <a:schemeClr val="tx1"/>
              </a:solidFill>
            </a:endParaRPr>
          </a:p>
        </p:txBody>
      </p:sp>
      <p:sp>
        <p:nvSpPr>
          <p:cNvPr id="6" name="Content Placeholder 2"/>
          <p:cNvSpPr txBox="1">
            <a:spLocks/>
          </p:cNvSpPr>
          <p:nvPr/>
        </p:nvSpPr>
        <p:spPr>
          <a:xfrm>
            <a:off x="6417277" y="3772930"/>
            <a:ext cx="5469924" cy="2183027"/>
          </a:xfrm>
          <a:prstGeom prst="rect">
            <a:avLst/>
          </a:prstGeom>
          <a:ln w="57150">
            <a:solidFill>
              <a:srgbClr val="FF0000"/>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b="1" u="sng" dirty="0" smtClean="0">
              <a:solidFill>
                <a:schemeClr val="accent2">
                  <a:lumMod val="75000"/>
                </a:schemeClr>
              </a:solidFill>
            </a:endParaRPr>
          </a:p>
          <a:p>
            <a:endParaRPr lang="en-US" dirty="0" smtClean="0">
              <a:solidFill>
                <a:schemeClr val="tx1"/>
              </a:solidFill>
            </a:endParaRPr>
          </a:p>
          <a:p>
            <a:endParaRPr lang="en-US" b="1" u="sng" dirty="0" smtClean="0">
              <a:solidFill>
                <a:schemeClr val="accent2">
                  <a:lumMod val="75000"/>
                </a:schemeClr>
              </a:solidFill>
            </a:endParaRPr>
          </a:p>
        </p:txBody>
      </p:sp>
    </p:spTree>
    <p:extLst>
      <p:ext uri="{BB962C8B-B14F-4D97-AF65-F5344CB8AC3E}">
        <p14:creationId xmlns:p14="http://schemas.microsoft.com/office/powerpoint/2010/main" val="956249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The Database System Environment</a:t>
            </a:r>
          </a:p>
        </p:txBody>
      </p:sp>
      <p:sp>
        <p:nvSpPr>
          <p:cNvPr id="3" name="Content Placeholder 2"/>
          <p:cNvSpPr>
            <a:spLocks noGrp="1"/>
          </p:cNvSpPr>
          <p:nvPr>
            <p:ph idx="1"/>
          </p:nvPr>
        </p:nvSpPr>
        <p:spPr>
          <a:xfrm>
            <a:off x="512577" y="925570"/>
            <a:ext cx="9422255" cy="5932430"/>
          </a:xfrm>
        </p:spPr>
        <p:txBody>
          <a:bodyPr>
            <a:normAutofit/>
          </a:bodyPr>
          <a:lstStyle/>
          <a:p>
            <a:r>
              <a:rPr lang="en-US" b="1" u="sng" dirty="0">
                <a:solidFill>
                  <a:schemeClr val="accent2">
                    <a:lumMod val="75000"/>
                  </a:schemeClr>
                </a:solidFill>
              </a:rPr>
              <a:t>DBMS Component </a:t>
            </a:r>
            <a:r>
              <a:rPr lang="en-US" b="1" u="sng" dirty="0" smtClean="0">
                <a:solidFill>
                  <a:schemeClr val="accent2">
                    <a:lumMod val="75000"/>
                  </a:schemeClr>
                </a:solidFill>
              </a:rPr>
              <a:t>Modules</a:t>
            </a:r>
          </a:p>
          <a:p>
            <a:endParaRPr lang="en-US" b="1" u="sng" dirty="0">
              <a:solidFill>
                <a:schemeClr val="accent2">
                  <a:lumMod val="75000"/>
                </a:schemeClr>
              </a:solidFill>
            </a:endParaRPr>
          </a:p>
          <a:p>
            <a:endParaRPr lang="en-US" b="1" u="sng" dirty="0" smtClean="0">
              <a:solidFill>
                <a:schemeClr val="accent2">
                  <a:lumMod val="75000"/>
                </a:schemeClr>
              </a:solidFill>
            </a:endParaRPr>
          </a:p>
          <a:p>
            <a:endParaRPr lang="en-US" b="1" u="sng" dirty="0">
              <a:solidFill>
                <a:schemeClr val="accent2">
                  <a:lumMod val="75000"/>
                </a:schemeClr>
              </a:solidFill>
            </a:endParaRPr>
          </a:p>
          <a:p>
            <a:endParaRPr lang="en-US" b="1" u="sng" dirty="0" smtClean="0">
              <a:solidFill>
                <a:schemeClr val="accent2">
                  <a:lumMod val="75000"/>
                </a:schemeClr>
              </a:solidFill>
            </a:endParaRPr>
          </a:p>
          <a:p>
            <a:endParaRPr lang="en-US" b="1" u="sng" dirty="0">
              <a:solidFill>
                <a:schemeClr val="accent2">
                  <a:lumMod val="75000"/>
                </a:schemeClr>
              </a:solidFill>
            </a:endParaRPr>
          </a:p>
          <a:p>
            <a:pPr marL="0" indent="0">
              <a:buNone/>
            </a:pPr>
            <a:endParaRPr lang="en-US" b="1" u="sng" dirty="0" smtClean="0">
              <a:solidFill>
                <a:schemeClr val="accent2">
                  <a:lumMod val="75000"/>
                </a:schemeClr>
              </a:solidFill>
            </a:endParaRPr>
          </a:p>
          <a:p>
            <a:pPr marL="0" indent="0">
              <a:buNone/>
            </a:pPr>
            <a:endParaRPr lang="en-US" b="1" u="sng" dirty="0">
              <a:solidFill>
                <a:schemeClr val="accent2">
                  <a:lumMod val="75000"/>
                </a:schemeClr>
              </a:solidFill>
            </a:endParaRPr>
          </a:p>
          <a:p>
            <a:pPr marL="0" indent="0">
              <a:buNone/>
            </a:pPr>
            <a:endParaRPr lang="en-US" b="1" u="sng" dirty="0" smtClean="0">
              <a:solidFill>
                <a:schemeClr val="accent2">
                  <a:lumMod val="75000"/>
                </a:schemeClr>
              </a:solidFill>
            </a:endParaRPr>
          </a:p>
          <a:p>
            <a:r>
              <a:rPr lang="en-US" dirty="0">
                <a:solidFill>
                  <a:schemeClr val="tx1"/>
                </a:solidFill>
              </a:rPr>
              <a:t>It is common to have the client program that accesses the DBMS running on </a:t>
            </a:r>
            <a:r>
              <a:rPr lang="en-US" dirty="0" smtClean="0">
                <a:solidFill>
                  <a:schemeClr val="tx1"/>
                </a:solidFill>
              </a:rPr>
              <a:t>a separate </a:t>
            </a:r>
            <a:r>
              <a:rPr lang="en-US" dirty="0">
                <a:solidFill>
                  <a:schemeClr val="tx1"/>
                </a:solidFill>
              </a:rPr>
              <a:t>computer or device from the computer on which the database resides. </a:t>
            </a:r>
            <a:endParaRPr lang="en-US" dirty="0" smtClean="0">
              <a:solidFill>
                <a:schemeClr val="tx1"/>
              </a:solidFill>
            </a:endParaRPr>
          </a:p>
          <a:p>
            <a:r>
              <a:rPr lang="en-US" dirty="0" smtClean="0">
                <a:solidFill>
                  <a:schemeClr val="tx1"/>
                </a:solidFill>
              </a:rPr>
              <a:t>The former </a:t>
            </a:r>
            <a:r>
              <a:rPr lang="en-US" dirty="0">
                <a:solidFill>
                  <a:schemeClr val="tx1"/>
                </a:solidFill>
              </a:rPr>
              <a:t>is called the </a:t>
            </a:r>
            <a:r>
              <a:rPr lang="en-US" b="1" dirty="0">
                <a:solidFill>
                  <a:schemeClr val="accent5"/>
                </a:solidFill>
              </a:rPr>
              <a:t>client computer</a:t>
            </a:r>
            <a:r>
              <a:rPr lang="en-US" dirty="0">
                <a:solidFill>
                  <a:schemeClr val="tx1"/>
                </a:solidFill>
              </a:rPr>
              <a:t> running DBMS client software and the latter </a:t>
            </a:r>
            <a:r>
              <a:rPr lang="en-US" dirty="0" smtClean="0">
                <a:solidFill>
                  <a:schemeClr val="tx1"/>
                </a:solidFill>
              </a:rPr>
              <a:t>is called </a:t>
            </a:r>
            <a:r>
              <a:rPr lang="en-US" dirty="0">
                <a:solidFill>
                  <a:schemeClr val="tx1"/>
                </a:solidFill>
              </a:rPr>
              <a:t>the </a:t>
            </a:r>
            <a:r>
              <a:rPr lang="en-US" b="1" dirty="0">
                <a:solidFill>
                  <a:schemeClr val="accent5"/>
                </a:solidFill>
              </a:rPr>
              <a:t>database server</a:t>
            </a:r>
            <a:r>
              <a:rPr lang="en-US" dirty="0">
                <a:solidFill>
                  <a:schemeClr val="tx1"/>
                </a:solidFill>
              </a:rPr>
              <a:t>. </a:t>
            </a:r>
            <a:endParaRPr lang="en-US" dirty="0" smtClean="0">
              <a:solidFill>
                <a:schemeClr val="tx1"/>
              </a:solidFill>
            </a:endParaRPr>
          </a:p>
          <a:p>
            <a:r>
              <a:rPr lang="en-US" dirty="0" smtClean="0">
                <a:solidFill>
                  <a:schemeClr val="tx1"/>
                </a:solidFill>
              </a:rPr>
              <a:t>In </a:t>
            </a:r>
            <a:r>
              <a:rPr lang="en-US" dirty="0">
                <a:solidFill>
                  <a:schemeClr val="tx1"/>
                </a:solidFill>
              </a:rPr>
              <a:t>many cases, the client accesses a middle </a:t>
            </a:r>
            <a:r>
              <a:rPr lang="en-US" dirty="0" smtClean="0">
                <a:solidFill>
                  <a:schemeClr val="tx1"/>
                </a:solidFill>
              </a:rPr>
              <a:t>computer, called </a:t>
            </a:r>
            <a:r>
              <a:rPr lang="en-US" dirty="0">
                <a:solidFill>
                  <a:schemeClr val="tx1"/>
                </a:solidFill>
              </a:rPr>
              <a:t>the </a:t>
            </a:r>
            <a:r>
              <a:rPr lang="en-US" b="1" dirty="0">
                <a:solidFill>
                  <a:schemeClr val="accent5"/>
                </a:solidFill>
              </a:rPr>
              <a:t>application server</a:t>
            </a:r>
            <a:r>
              <a:rPr lang="en-US" dirty="0">
                <a:solidFill>
                  <a:schemeClr val="tx1"/>
                </a:solidFill>
              </a:rPr>
              <a:t>, which in turn accesses the database server.</a:t>
            </a:r>
            <a:r>
              <a:rPr lang="en-US" b="1" u="sng" dirty="0" smtClean="0">
                <a:solidFill>
                  <a:schemeClr val="accent2">
                    <a:lumMod val="75000"/>
                  </a:schemeClr>
                </a:solidFill>
              </a:rPr>
              <a:t/>
            </a:r>
            <a:br>
              <a:rPr lang="en-US" b="1" u="sng" dirty="0" smtClean="0">
                <a:solidFill>
                  <a:schemeClr val="accent2">
                    <a:lumMod val="75000"/>
                  </a:schemeClr>
                </a:solidFill>
              </a:rPr>
            </a:br>
            <a:endParaRPr lang="en-US" b="1" u="sng" dirty="0" smtClean="0">
              <a:solidFill>
                <a:schemeClr val="accent2">
                  <a:lumMod val="75000"/>
                </a:schemeClr>
              </a:solidFill>
            </a:endParaRPr>
          </a:p>
          <a:p>
            <a:endParaRPr lang="en-US" b="1" u="sng" dirty="0" smtClean="0">
              <a:solidFill>
                <a:schemeClr val="accent2">
                  <a:lumMod val="75000"/>
                </a:schemeClr>
              </a:solidFill>
            </a:endParaRPr>
          </a:p>
        </p:txBody>
      </p:sp>
      <p:pic>
        <p:nvPicPr>
          <p:cNvPr id="5126" name="Picture 6" descr="Client-Server Model Definition"/>
          <p:cNvPicPr>
            <a:picLocks noChangeAspect="1" noChangeArrowheads="1"/>
          </p:cNvPicPr>
          <p:nvPr/>
        </p:nvPicPr>
        <p:blipFill rotWithShape="1">
          <a:blip r:embed="rId2">
            <a:extLst>
              <a:ext uri="{28A0092B-C50C-407E-A947-70E740481C1C}">
                <a14:useLocalDpi xmlns:a14="http://schemas.microsoft.com/office/drawing/2010/main" val="0"/>
              </a:ext>
            </a:extLst>
          </a:blip>
          <a:srcRect t="24315"/>
          <a:stretch/>
        </p:blipFill>
        <p:spPr bwMode="auto">
          <a:xfrm>
            <a:off x="1226407" y="1664629"/>
            <a:ext cx="4177528" cy="2371321"/>
          </a:xfrm>
          <a:prstGeom prst="rect">
            <a:avLst/>
          </a:prstGeom>
          <a:ln w="285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stretch>
            <a:fillRect/>
          </a:stretch>
        </p:blipFill>
        <p:spPr>
          <a:xfrm>
            <a:off x="6117765" y="1664629"/>
            <a:ext cx="2305050" cy="2371321"/>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67331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9068028" cy="1320800"/>
          </a:xfrm>
        </p:spPr>
        <p:txBody>
          <a:bodyPr/>
          <a:lstStyle/>
          <a:p>
            <a:r>
              <a:rPr lang="en-US" dirty="0"/>
              <a:t>The Database System Environment</a:t>
            </a:r>
          </a:p>
        </p:txBody>
      </p:sp>
      <p:sp>
        <p:nvSpPr>
          <p:cNvPr id="3" name="Content Placeholder 2"/>
          <p:cNvSpPr>
            <a:spLocks noGrp="1"/>
          </p:cNvSpPr>
          <p:nvPr>
            <p:ph idx="1"/>
          </p:nvPr>
        </p:nvSpPr>
        <p:spPr>
          <a:xfrm>
            <a:off x="512577" y="925570"/>
            <a:ext cx="9422255" cy="5932430"/>
          </a:xfrm>
        </p:spPr>
        <p:txBody>
          <a:bodyPr>
            <a:normAutofit/>
          </a:bodyPr>
          <a:lstStyle/>
          <a:p>
            <a:r>
              <a:rPr lang="en-US" b="1" u="sng" dirty="0">
                <a:solidFill>
                  <a:schemeClr val="accent2">
                    <a:lumMod val="75000"/>
                  </a:schemeClr>
                </a:solidFill>
              </a:rPr>
              <a:t>Database System </a:t>
            </a:r>
            <a:r>
              <a:rPr lang="en-US" b="1" u="sng" dirty="0" smtClean="0">
                <a:solidFill>
                  <a:schemeClr val="accent2">
                    <a:lumMod val="75000"/>
                  </a:schemeClr>
                </a:solidFill>
              </a:rPr>
              <a:t>Utilities</a:t>
            </a:r>
          </a:p>
          <a:p>
            <a:r>
              <a:rPr lang="en-US" dirty="0">
                <a:solidFill>
                  <a:schemeClr val="tx1"/>
                </a:solidFill>
              </a:rPr>
              <a:t>M</a:t>
            </a:r>
            <a:r>
              <a:rPr lang="en-US" dirty="0" smtClean="0">
                <a:solidFill>
                  <a:schemeClr val="tx1"/>
                </a:solidFill>
              </a:rPr>
              <a:t>ost </a:t>
            </a:r>
            <a:r>
              <a:rPr lang="en-US" dirty="0">
                <a:solidFill>
                  <a:schemeClr val="tx1"/>
                </a:solidFill>
              </a:rPr>
              <a:t>DBMSs </a:t>
            </a:r>
            <a:r>
              <a:rPr lang="en-US" dirty="0" smtClean="0">
                <a:solidFill>
                  <a:schemeClr val="tx1"/>
                </a:solidFill>
              </a:rPr>
              <a:t>have database </a:t>
            </a:r>
            <a:r>
              <a:rPr lang="en-US" dirty="0">
                <a:solidFill>
                  <a:schemeClr val="tx1"/>
                </a:solidFill>
              </a:rPr>
              <a:t>utilities that help the DBA manage the database </a:t>
            </a:r>
            <a:r>
              <a:rPr lang="en-US" dirty="0" smtClean="0">
                <a:solidFill>
                  <a:schemeClr val="tx1"/>
                </a:solidFill>
              </a:rPr>
              <a:t>system.</a:t>
            </a:r>
          </a:p>
          <a:p>
            <a:r>
              <a:rPr lang="en-US" b="1" u="sng" dirty="0" smtClean="0">
                <a:solidFill>
                  <a:schemeClr val="tx1"/>
                </a:solidFill>
              </a:rPr>
              <a:t>Loading</a:t>
            </a:r>
            <a:r>
              <a:rPr lang="en-US" dirty="0">
                <a:solidFill>
                  <a:schemeClr val="tx1"/>
                </a:solidFill>
              </a:rPr>
              <a:t> </a:t>
            </a:r>
            <a:r>
              <a:rPr lang="en-US" dirty="0" smtClean="0">
                <a:solidFill>
                  <a:schemeClr val="tx1"/>
                </a:solidFill>
              </a:rPr>
              <a:t>- used </a:t>
            </a:r>
            <a:r>
              <a:rPr lang="en-US" dirty="0">
                <a:solidFill>
                  <a:schemeClr val="tx1"/>
                </a:solidFill>
              </a:rPr>
              <a:t>to load existing data files—such as </a:t>
            </a:r>
            <a:r>
              <a:rPr lang="en-US" dirty="0" smtClean="0">
                <a:solidFill>
                  <a:schemeClr val="tx1"/>
                </a:solidFill>
              </a:rPr>
              <a:t>text files </a:t>
            </a:r>
            <a:r>
              <a:rPr lang="en-US" dirty="0">
                <a:solidFill>
                  <a:schemeClr val="tx1"/>
                </a:solidFill>
              </a:rPr>
              <a:t>or sequential files—into the database. Usually, the current (source) </a:t>
            </a:r>
            <a:r>
              <a:rPr lang="en-US" dirty="0" smtClean="0">
                <a:solidFill>
                  <a:schemeClr val="tx1"/>
                </a:solidFill>
              </a:rPr>
              <a:t>format of </a:t>
            </a:r>
            <a:r>
              <a:rPr lang="en-US" dirty="0">
                <a:solidFill>
                  <a:schemeClr val="tx1"/>
                </a:solidFill>
              </a:rPr>
              <a:t>the data file and the desired (target) database file structure are </a:t>
            </a:r>
            <a:r>
              <a:rPr lang="en-US" dirty="0" smtClean="0">
                <a:solidFill>
                  <a:schemeClr val="tx1"/>
                </a:solidFill>
              </a:rPr>
              <a:t>specified to </a:t>
            </a:r>
            <a:r>
              <a:rPr lang="en-US" dirty="0">
                <a:solidFill>
                  <a:schemeClr val="tx1"/>
                </a:solidFill>
              </a:rPr>
              <a:t>the </a:t>
            </a:r>
            <a:r>
              <a:rPr lang="en-US" dirty="0" smtClean="0">
                <a:solidFill>
                  <a:schemeClr val="tx1"/>
                </a:solidFill>
              </a:rPr>
              <a:t>utility</a:t>
            </a:r>
            <a:r>
              <a:rPr lang="en-US" dirty="0">
                <a:solidFill>
                  <a:schemeClr val="tx1"/>
                </a:solidFill>
              </a:rPr>
              <a:t>.</a:t>
            </a:r>
            <a:endParaRPr lang="en-US" dirty="0" smtClean="0">
              <a:solidFill>
                <a:schemeClr val="tx1"/>
              </a:solidFill>
            </a:endParaRPr>
          </a:p>
          <a:p>
            <a:r>
              <a:rPr lang="en-US" b="1" u="sng" dirty="0" smtClean="0">
                <a:solidFill>
                  <a:schemeClr val="tx1"/>
                </a:solidFill>
              </a:rPr>
              <a:t>Backup </a:t>
            </a:r>
            <a:r>
              <a:rPr lang="en-US" b="1" dirty="0" smtClean="0">
                <a:solidFill>
                  <a:schemeClr val="tx1"/>
                </a:solidFill>
              </a:rPr>
              <a:t>- </a:t>
            </a:r>
            <a:r>
              <a:rPr lang="en-US" dirty="0" smtClean="0">
                <a:solidFill>
                  <a:schemeClr val="tx1"/>
                </a:solidFill>
              </a:rPr>
              <a:t>creates </a:t>
            </a:r>
            <a:r>
              <a:rPr lang="en-US" dirty="0">
                <a:solidFill>
                  <a:schemeClr val="tx1"/>
                </a:solidFill>
              </a:rPr>
              <a:t>a backup copy of the database, usually </a:t>
            </a:r>
            <a:r>
              <a:rPr lang="en-US" dirty="0" smtClean="0">
                <a:solidFill>
                  <a:schemeClr val="tx1"/>
                </a:solidFill>
              </a:rPr>
              <a:t>by dumping </a:t>
            </a:r>
            <a:r>
              <a:rPr lang="en-US" dirty="0">
                <a:solidFill>
                  <a:schemeClr val="tx1"/>
                </a:solidFill>
              </a:rPr>
              <a:t>the entire database onto tape or other mass storage medium. </a:t>
            </a:r>
            <a:endParaRPr lang="en-US" dirty="0" smtClean="0">
              <a:solidFill>
                <a:schemeClr val="tx1"/>
              </a:solidFill>
            </a:endParaRPr>
          </a:p>
          <a:p>
            <a:pPr lvl="1"/>
            <a:r>
              <a:rPr lang="en-US" dirty="0" smtClean="0">
                <a:solidFill>
                  <a:schemeClr val="tx1"/>
                </a:solidFill>
              </a:rPr>
              <a:t>The backup </a:t>
            </a:r>
            <a:r>
              <a:rPr lang="en-US" dirty="0">
                <a:solidFill>
                  <a:schemeClr val="tx1"/>
                </a:solidFill>
              </a:rPr>
              <a:t>copy can be used to restore the database in case of catastrophic </a:t>
            </a:r>
            <a:r>
              <a:rPr lang="en-US" dirty="0" smtClean="0">
                <a:solidFill>
                  <a:schemeClr val="tx1"/>
                </a:solidFill>
              </a:rPr>
              <a:t>disk failure</a:t>
            </a:r>
            <a:r>
              <a:rPr lang="en-US" dirty="0">
                <a:solidFill>
                  <a:schemeClr val="tx1"/>
                </a:solidFill>
              </a:rPr>
              <a:t>. Incremental backups are also often used, where only changes </a:t>
            </a:r>
            <a:r>
              <a:rPr lang="en-US" dirty="0" smtClean="0">
                <a:solidFill>
                  <a:schemeClr val="tx1"/>
                </a:solidFill>
              </a:rPr>
              <a:t>since the </a:t>
            </a:r>
            <a:r>
              <a:rPr lang="en-US" dirty="0">
                <a:solidFill>
                  <a:schemeClr val="tx1"/>
                </a:solidFill>
              </a:rPr>
              <a:t>previous backup are recorded. </a:t>
            </a:r>
            <a:endParaRPr lang="en-US" dirty="0" smtClean="0">
              <a:solidFill>
                <a:schemeClr val="tx1"/>
              </a:solidFill>
            </a:endParaRPr>
          </a:p>
          <a:p>
            <a:r>
              <a:rPr lang="en-US" b="1" u="sng" dirty="0">
                <a:solidFill>
                  <a:schemeClr val="tx1"/>
                </a:solidFill>
              </a:rPr>
              <a:t>Database storage </a:t>
            </a:r>
            <a:r>
              <a:rPr lang="en-US" b="1" u="sng" dirty="0" smtClean="0">
                <a:solidFill>
                  <a:schemeClr val="tx1"/>
                </a:solidFill>
              </a:rPr>
              <a:t>reorganization </a:t>
            </a:r>
            <a:r>
              <a:rPr lang="en-US" b="1" dirty="0" smtClean="0">
                <a:solidFill>
                  <a:schemeClr val="tx1"/>
                </a:solidFill>
              </a:rPr>
              <a:t>- </a:t>
            </a:r>
            <a:r>
              <a:rPr lang="en-US" dirty="0" smtClean="0">
                <a:solidFill>
                  <a:schemeClr val="tx1"/>
                </a:solidFill>
              </a:rPr>
              <a:t>used </a:t>
            </a:r>
            <a:r>
              <a:rPr lang="en-US" dirty="0">
                <a:solidFill>
                  <a:schemeClr val="tx1"/>
                </a:solidFill>
              </a:rPr>
              <a:t>to reorganize </a:t>
            </a:r>
            <a:r>
              <a:rPr lang="en-US" dirty="0" smtClean="0">
                <a:solidFill>
                  <a:schemeClr val="tx1"/>
                </a:solidFill>
              </a:rPr>
              <a:t>a set </a:t>
            </a:r>
            <a:r>
              <a:rPr lang="en-US" dirty="0">
                <a:solidFill>
                  <a:schemeClr val="tx1"/>
                </a:solidFill>
              </a:rPr>
              <a:t>of database files into different file organizations and create new </a:t>
            </a:r>
            <a:r>
              <a:rPr lang="en-US" dirty="0" smtClean="0">
                <a:solidFill>
                  <a:schemeClr val="tx1"/>
                </a:solidFill>
              </a:rPr>
              <a:t>access paths </a:t>
            </a:r>
            <a:r>
              <a:rPr lang="en-US" dirty="0">
                <a:solidFill>
                  <a:schemeClr val="tx1"/>
                </a:solidFill>
              </a:rPr>
              <a:t>to improve performance</a:t>
            </a:r>
            <a:r>
              <a:rPr lang="en-US" dirty="0" smtClean="0">
                <a:solidFill>
                  <a:schemeClr val="tx1"/>
                </a:solidFill>
              </a:rPr>
              <a:t>.</a:t>
            </a:r>
          </a:p>
          <a:p>
            <a:r>
              <a:rPr lang="en-US" b="1" u="sng" dirty="0">
                <a:solidFill>
                  <a:schemeClr val="tx1"/>
                </a:solidFill>
              </a:rPr>
              <a:t>Performance </a:t>
            </a:r>
            <a:r>
              <a:rPr lang="en-US" b="1" u="sng" dirty="0" smtClean="0">
                <a:solidFill>
                  <a:schemeClr val="tx1"/>
                </a:solidFill>
              </a:rPr>
              <a:t>monitoring </a:t>
            </a:r>
            <a:r>
              <a:rPr lang="en-US" b="1" dirty="0" smtClean="0">
                <a:solidFill>
                  <a:schemeClr val="tx1"/>
                </a:solidFill>
              </a:rPr>
              <a:t>- </a:t>
            </a:r>
            <a:r>
              <a:rPr lang="en-US" dirty="0" smtClean="0">
                <a:solidFill>
                  <a:schemeClr val="tx1"/>
                </a:solidFill>
              </a:rPr>
              <a:t>monitors </a:t>
            </a:r>
            <a:r>
              <a:rPr lang="en-US" dirty="0">
                <a:solidFill>
                  <a:schemeClr val="tx1"/>
                </a:solidFill>
              </a:rPr>
              <a:t>database usage and </a:t>
            </a:r>
            <a:r>
              <a:rPr lang="en-US" dirty="0" smtClean="0">
                <a:solidFill>
                  <a:schemeClr val="tx1"/>
                </a:solidFill>
              </a:rPr>
              <a:t>provides statistics </a:t>
            </a:r>
            <a:r>
              <a:rPr lang="en-US" dirty="0">
                <a:solidFill>
                  <a:schemeClr val="tx1"/>
                </a:solidFill>
              </a:rPr>
              <a:t>to the DBA. </a:t>
            </a:r>
          </a:p>
          <a:p>
            <a:r>
              <a:rPr lang="en-US" dirty="0">
                <a:solidFill>
                  <a:schemeClr val="tx1"/>
                </a:solidFill>
              </a:rPr>
              <a:t>Other utilities may be available for sorting files, handling data </a:t>
            </a:r>
            <a:r>
              <a:rPr lang="en-US" dirty="0" smtClean="0">
                <a:solidFill>
                  <a:schemeClr val="tx1"/>
                </a:solidFill>
              </a:rPr>
              <a:t>compression, monitoring </a:t>
            </a:r>
            <a:r>
              <a:rPr lang="en-US" dirty="0">
                <a:solidFill>
                  <a:schemeClr val="tx1"/>
                </a:solidFill>
              </a:rPr>
              <a:t>access by users, </a:t>
            </a:r>
            <a:r>
              <a:rPr lang="en-US" dirty="0" smtClean="0">
                <a:solidFill>
                  <a:schemeClr val="tx1"/>
                </a:solidFill>
              </a:rPr>
              <a:t>and </a:t>
            </a:r>
            <a:r>
              <a:rPr lang="en-US" dirty="0">
                <a:solidFill>
                  <a:schemeClr val="tx1"/>
                </a:solidFill>
              </a:rPr>
              <a:t>performing </a:t>
            </a:r>
            <a:r>
              <a:rPr lang="en-US" dirty="0" smtClean="0">
                <a:solidFill>
                  <a:schemeClr val="tx1"/>
                </a:solidFill>
              </a:rPr>
              <a:t>other functions</a:t>
            </a:r>
            <a:r>
              <a:rPr lang="en-US" dirty="0">
                <a:solidFill>
                  <a:schemeClr val="tx1"/>
                </a:solidFill>
              </a:rPr>
              <a:t>.</a:t>
            </a:r>
          </a:p>
        </p:txBody>
      </p:sp>
    </p:spTree>
    <p:extLst>
      <p:ext uri="{BB962C8B-B14F-4D97-AF65-F5344CB8AC3E}">
        <p14:creationId xmlns:p14="http://schemas.microsoft.com/office/powerpoint/2010/main" val="4126527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6489586" cy="1320800"/>
          </a:xfrm>
        </p:spPr>
        <p:txBody>
          <a:bodyPr>
            <a:normAutofit/>
          </a:bodyPr>
          <a:lstStyle/>
          <a:p>
            <a:r>
              <a:rPr lang="en-US" sz="3200" dirty="0"/>
              <a:t>Classification of Database</a:t>
            </a:r>
            <a:br>
              <a:rPr lang="en-US" sz="3200" dirty="0"/>
            </a:br>
            <a:r>
              <a:rPr lang="en-US" sz="3200" dirty="0"/>
              <a:t>Management Systems</a:t>
            </a:r>
          </a:p>
        </p:txBody>
      </p:sp>
      <p:sp>
        <p:nvSpPr>
          <p:cNvPr id="3" name="Content Placeholder 2"/>
          <p:cNvSpPr>
            <a:spLocks noGrp="1"/>
          </p:cNvSpPr>
          <p:nvPr>
            <p:ph idx="1"/>
          </p:nvPr>
        </p:nvSpPr>
        <p:spPr>
          <a:xfrm>
            <a:off x="430199" y="1477505"/>
            <a:ext cx="9422255" cy="5030387"/>
          </a:xfrm>
        </p:spPr>
        <p:txBody>
          <a:bodyPr>
            <a:normAutofit fontScale="92500" lnSpcReduction="20000"/>
          </a:bodyPr>
          <a:lstStyle/>
          <a:p>
            <a:r>
              <a:rPr lang="en-US" dirty="0">
                <a:solidFill>
                  <a:schemeClr val="tx1"/>
                </a:solidFill>
              </a:rPr>
              <a:t>Several criteria can be used to classify DBMSs</a:t>
            </a:r>
            <a:r>
              <a:rPr lang="en-US" dirty="0" smtClean="0">
                <a:solidFill>
                  <a:schemeClr val="tx1"/>
                </a:solidFill>
              </a:rPr>
              <a:t>.</a:t>
            </a:r>
          </a:p>
          <a:p>
            <a:pPr lvl="1">
              <a:buClr>
                <a:srgbClr val="FF0000"/>
              </a:buClr>
              <a:buFont typeface="+mj-lt"/>
              <a:buAutoNum type="arabicPeriod"/>
            </a:pPr>
            <a:r>
              <a:rPr lang="en-US" dirty="0" smtClean="0">
                <a:solidFill>
                  <a:schemeClr val="tx1"/>
                </a:solidFill>
              </a:rPr>
              <a:t>Data </a:t>
            </a:r>
            <a:r>
              <a:rPr lang="en-US" dirty="0">
                <a:solidFill>
                  <a:schemeClr val="tx1"/>
                </a:solidFill>
              </a:rPr>
              <a:t>model </a:t>
            </a:r>
            <a:r>
              <a:rPr lang="en-US" dirty="0" smtClean="0">
                <a:solidFill>
                  <a:schemeClr val="tx1"/>
                </a:solidFill>
              </a:rPr>
              <a:t>on which </a:t>
            </a:r>
            <a:r>
              <a:rPr lang="en-US" dirty="0">
                <a:solidFill>
                  <a:schemeClr val="tx1"/>
                </a:solidFill>
              </a:rPr>
              <a:t>the DBMS is </a:t>
            </a:r>
            <a:r>
              <a:rPr lang="en-US" dirty="0" smtClean="0">
                <a:solidFill>
                  <a:schemeClr val="tx1"/>
                </a:solidFill>
              </a:rPr>
              <a:t>based</a:t>
            </a:r>
          </a:p>
          <a:p>
            <a:pPr lvl="1">
              <a:buClr>
                <a:srgbClr val="FF0000"/>
              </a:buClr>
              <a:buFont typeface="+mj-lt"/>
              <a:buAutoNum type="arabicPeriod"/>
            </a:pPr>
            <a:r>
              <a:rPr lang="en-US" dirty="0" smtClean="0">
                <a:solidFill>
                  <a:schemeClr val="tx1"/>
                </a:solidFill>
              </a:rPr>
              <a:t>Number </a:t>
            </a:r>
            <a:r>
              <a:rPr lang="en-US" dirty="0">
                <a:solidFill>
                  <a:schemeClr val="tx1"/>
                </a:solidFill>
              </a:rPr>
              <a:t>of users supported </a:t>
            </a:r>
            <a:r>
              <a:rPr lang="en-US" dirty="0" smtClean="0">
                <a:solidFill>
                  <a:schemeClr val="tx1"/>
                </a:solidFill>
              </a:rPr>
              <a:t>by the system</a:t>
            </a:r>
          </a:p>
          <a:p>
            <a:pPr lvl="1">
              <a:buClr>
                <a:srgbClr val="FF0000"/>
              </a:buClr>
              <a:buFont typeface="+mj-lt"/>
              <a:buAutoNum type="arabicPeriod"/>
            </a:pPr>
            <a:r>
              <a:rPr lang="en-US" dirty="0" smtClean="0">
                <a:solidFill>
                  <a:schemeClr val="tx1"/>
                </a:solidFill>
              </a:rPr>
              <a:t>Number </a:t>
            </a:r>
            <a:r>
              <a:rPr lang="en-US" dirty="0">
                <a:solidFill>
                  <a:schemeClr val="tx1"/>
                </a:solidFill>
              </a:rPr>
              <a:t>of sites over which the database is </a:t>
            </a:r>
            <a:r>
              <a:rPr lang="en-US" dirty="0" smtClean="0">
                <a:solidFill>
                  <a:schemeClr val="tx1"/>
                </a:solidFill>
              </a:rPr>
              <a:t>distributed</a:t>
            </a:r>
          </a:p>
          <a:p>
            <a:pPr lvl="1">
              <a:buClr>
                <a:srgbClr val="FF0000"/>
              </a:buClr>
              <a:buFont typeface="+mj-lt"/>
              <a:buAutoNum type="arabicPeriod"/>
            </a:pPr>
            <a:r>
              <a:rPr lang="en-US" dirty="0" smtClean="0">
                <a:solidFill>
                  <a:schemeClr val="tx1"/>
                </a:solidFill>
              </a:rPr>
              <a:t>Cost</a:t>
            </a:r>
          </a:p>
          <a:p>
            <a:pPr lvl="1">
              <a:buClr>
                <a:srgbClr val="FF0000"/>
              </a:buClr>
              <a:buFont typeface="+mj-lt"/>
              <a:buAutoNum type="arabicPeriod"/>
            </a:pPr>
            <a:r>
              <a:rPr lang="en-US" dirty="0" smtClean="0">
                <a:solidFill>
                  <a:schemeClr val="tx1"/>
                </a:solidFill>
              </a:rPr>
              <a:t>Types </a:t>
            </a:r>
            <a:r>
              <a:rPr lang="en-US" dirty="0">
                <a:solidFill>
                  <a:schemeClr val="tx1"/>
                </a:solidFill>
              </a:rPr>
              <a:t>of access path </a:t>
            </a:r>
          </a:p>
          <a:p>
            <a:pPr lvl="1">
              <a:buClr>
                <a:srgbClr val="FF0000"/>
              </a:buClr>
              <a:buFont typeface="+mj-lt"/>
              <a:buAutoNum type="arabicPeriod"/>
            </a:pPr>
            <a:r>
              <a:rPr lang="en-US" dirty="0" smtClean="0">
                <a:solidFill>
                  <a:schemeClr val="tx1"/>
                </a:solidFill>
              </a:rPr>
              <a:t>Types of DBMS</a:t>
            </a:r>
          </a:p>
          <a:p>
            <a:pPr marL="57150" indent="0">
              <a:buClr>
                <a:srgbClr val="FF0000"/>
              </a:buClr>
              <a:buNone/>
            </a:pPr>
            <a:r>
              <a:rPr lang="en-US" b="1" u="sng" dirty="0" smtClean="0">
                <a:solidFill>
                  <a:schemeClr val="tx1"/>
                </a:solidFill>
              </a:rPr>
              <a:t>1. Data model </a:t>
            </a:r>
          </a:p>
          <a:p>
            <a:r>
              <a:rPr lang="en-US" dirty="0" smtClean="0">
                <a:solidFill>
                  <a:schemeClr val="tx1"/>
                </a:solidFill>
              </a:rPr>
              <a:t>Main </a:t>
            </a:r>
            <a:r>
              <a:rPr lang="en-US" dirty="0">
                <a:solidFill>
                  <a:schemeClr val="tx1"/>
                </a:solidFill>
              </a:rPr>
              <a:t>data model used </a:t>
            </a:r>
            <a:r>
              <a:rPr lang="en-US" dirty="0" smtClean="0">
                <a:solidFill>
                  <a:schemeClr val="tx1"/>
                </a:solidFill>
              </a:rPr>
              <a:t>widely is </a:t>
            </a:r>
            <a:r>
              <a:rPr lang="en-US" dirty="0">
                <a:solidFill>
                  <a:schemeClr val="tx1"/>
                </a:solidFill>
              </a:rPr>
              <a:t>the </a:t>
            </a:r>
            <a:r>
              <a:rPr lang="en-US" b="1" dirty="0">
                <a:solidFill>
                  <a:schemeClr val="accent5"/>
                </a:solidFill>
              </a:rPr>
              <a:t>relational data </a:t>
            </a:r>
            <a:r>
              <a:rPr lang="en-US" b="1" dirty="0" smtClean="0">
                <a:solidFill>
                  <a:schemeClr val="accent5"/>
                </a:solidFill>
              </a:rPr>
              <a:t>model </a:t>
            </a:r>
            <a:r>
              <a:rPr lang="en-US" dirty="0" smtClean="0">
                <a:solidFill>
                  <a:schemeClr val="tx1"/>
                </a:solidFill>
              </a:rPr>
              <a:t>and </a:t>
            </a:r>
            <a:r>
              <a:rPr lang="en-US" dirty="0">
                <a:solidFill>
                  <a:schemeClr val="tx1"/>
                </a:solidFill>
              </a:rPr>
              <a:t>the systems based on this model </a:t>
            </a:r>
            <a:r>
              <a:rPr lang="en-US" dirty="0" smtClean="0">
                <a:solidFill>
                  <a:schemeClr val="tx1"/>
                </a:solidFill>
              </a:rPr>
              <a:t>are known </a:t>
            </a:r>
            <a:r>
              <a:rPr lang="en-US" dirty="0">
                <a:solidFill>
                  <a:schemeClr val="tx1"/>
                </a:solidFill>
              </a:rPr>
              <a:t>as </a:t>
            </a:r>
            <a:r>
              <a:rPr lang="en-US" b="1" dirty="0">
                <a:solidFill>
                  <a:schemeClr val="accent5"/>
                </a:solidFill>
              </a:rPr>
              <a:t>SQL </a:t>
            </a:r>
            <a:r>
              <a:rPr lang="en-US" b="1" dirty="0" smtClean="0">
                <a:solidFill>
                  <a:schemeClr val="accent5"/>
                </a:solidFill>
              </a:rPr>
              <a:t>systems.</a:t>
            </a:r>
          </a:p>
          <a:p>
            <a:r>
              <a:rPr lang="en-US" b="1" dirty="0" smtClean="0">
                <a:solidFill>
                  <a:schemeClr val="accent5"/>
                </a:solidFill>
              </a:rPr>
              <a:t>Object </a:t>
            </a:r>
            <a:r>
              <a:rPr lang="en-US" b="1" dirty="0">
                <a:solidFill>
                  <a:schemeClr val="accent5"/>
                </a:solidFill>
              </a:rPr>
              <a:t>data model </a:t>
            </a:r>
            <a:r>
              <a:rPr lang="en-US" dirty="0">
                <a:solidFill>
                  <a:schemeClr val="tx1"/>
                </a:solidFill>
              </a:rPr>
              <a:t>has been implemented in </a:t>
            </a:r>
            <a:r>
              <a:rPr lang="en-US" dirty="0" smtClean="0">
                <a:solidFill>
                  <a:schemeClr val="tx1"/>
                </a:solidFill>
              </a:rPr>
              <a:t>some commercial </a:t>
            </a:r>
            <a:r>
              <a:rPr lang="en-US" dirty="0">
                <a:solidFill>
                  <a:schemeClr val="tx1"/>
                </a:solidFill>
              </a:rPr>
              <a:t>systems but has not had widespread </a:t>
            </a:r>
            <a:r>
              <a:rPr lang="en-US" dirty="0" smtClean="0">
                <a:solidFill>
                  <a:schemeClr val="tx1"/>
                </a:solidFill>
              </a:rPr>
              <a:t>use.</a:t>
            </a:r>
          </a:p>
          <a:p>
            <a:r>
              <a:rPr lang="en-US" dirty="0">
                <a:solidFill>
                  <a:schemeClr val="tx1"/>
                </a:solidFill>
              </a:rPr>
              <a:t>Recently, so-called big </a:t>
            </a:r>
            <a:r>
              <a:rPr lang="en-US" dirty="0" smtClean="0">
                <a:solidFill>
                  <a:schemeClr val="tx1"/>
                </a:solidFill>
              </a:rPr>
              <a:t>data systems</a:t>
            </a:r>
            <a:r>
              <a:rPr lang="en-US" dirty="0">
                <a:solidFill>
                  <a:schemeClr val="tx1"/>
                </a:solidFill>
              </a:rPr>
              <a:t>, also known as key-value storage systems and NOSQL systems, use </a:t>
            </a:r>
            <a:r>
              <a:rPr lang="en-US" dirty="0" smtClean="0">
                <a:solidFill>
                  <a:schemeClr val="tx1"/>
                </a:solidFill>
              </a:rPr>
              <a:t>various data </a:t>
            </a:r>
            <a:r>
              <a:rPr lang="en-US" dirty="0">
                <a:solidFill>
                  <a:schemeClr val="tx1"/>
                </a:solidFill>
              </a:rPr>
              <a:t>models: document-based, graph-based, column-based, and </a:t>
            </a:r>
            <a:r>
              <a:rPr lang="en-US" dirty="0" smtClean="0">
                <a:solidFill>
                  <a:schemeClr val="tx1"/>
                </a:solidFill>
              </a:rPr>
              <a:t>key-value data models.</a:t>
            </a:r>
          </a:p>
          <a:p>
            <a:r>
              <a:rPr lang="en-US" dirty="0">
                <a:solidFill>
                  <a:schemeClr val="tx1"/>
                </a:solidFill>
              </a:rPr>
              <a:t>Some experimental DBMSs are based on the XML (</a:t>
            </a:r>
            <a:r>
              <a:rPr lang="en-US" dirty="0" err="1">
                <a:solidFill>
                  <a:schemeClr val="tx1"/>
                </a:solidFill>
              </a:rPr>
              <a:t>eXtended</a:t>
            </a:r>
            <a:r>
              <a:rPr lang="en-US" dirty="0">
                <a:solidFill>
                  <a:schemeClr val="tx1"/>
                </a:solidFill>
              </a:rPr>
              <a:t> Markup </a:t>
            </a:r>
            <a:r>
              <a:rPr lang="en-US" dirty="0" smtClean="0">
                <a:solidFill>
                  <a:schemeClr val="tx1"/>
                </a:solidFill>
              </a:rPr>
              <a:t>Language) model</a:t>
            </a:r>
            <a:r>
              <a:rPr lang="en-US" dirty="0">
                <a:solidFill>
                  <a:schemeClr val="tx1"/>
                </a:solidFill>
              </a:rPr>
              <a:t>, which is a tree-structured data model.</a:t>
            </a:r>
            <a:endParaRPr lang="en-US" dirty="0" smtClean="0">
              <a:solidFill>
                <a:schemeClr val="tx1"/>
              </a:solidFill>
            </a:endParaRPr>
          </a:p>
        </p:txBody>
      </p:sp>
    </p:spTree>
    <p:extLst>
      <p:ext uri="{BB962C8B-B14F-4D97-AF65-F5344CB8AC3E}">
        <p14:creationId xmlns:p14="http://schemas.microsoft.com/office/powerpoint/2010/main" val="2020546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6489586" cy="1320800"/>
          </a:xfrm>
        </p:spPr>
        <p:txBody>
          <a:bodyPr>
            <a:normAutofit/>
          </a:bodyPr>
          <a:lstStyle/>
          <a:p>
            <a:r>
              <a:rPr lang="en-US" sz="3200" dirty="0"/>
              <a:t>Classification of Database</a:t>
            </a:r>
            <a:br>
              <a:rPr lang="en-US" sz="3200" dirty="0"/>
            </a:br>
            <a:r>
              <a:rPr lang="en-US" sz="3200" dirty="0"/>
              <a:t>Management Systems</a:t>
            </a:r>
          </a:p>
        </p:txBody>
      </p:sp>
      <p:sp>
        <p:nvSpPr>
          <p:cNvPr id="3" name="Content Placeholder 2"/>
          <p:cNvSpPr>
            <a:spLocks noGrp="1"/>
          </p:cNvSpPr>
          <p:nvPr>
            <p:ph idx="1"/>
          </p:nvPr>
        </p:nvSpPr>
        <p:spPr>
          <a:xfrm>
            <a:off x="430199" y="1477505"/>
            <a:ext cx="9422255" cy="5030387"/>
          </a:xfrm>
        </p:spPr>
        <p:txBody>
          <a:bodyPr>
            <a:normAutofit fontScale="92500" lnSpcReduction="20000"/>
          </a:bodyPr>
          <a:lstStyle/>
          <a:p>
            <a:pPr marL="0" indent="0">
              <a:buNone/>
            </a:pPr>
            <a:r>
              <a:rPr lang="en-US" b="1" u="sng" dirty="0" smtClean="0">
                <a:solidFill>
                  <a:schemeClr val="tx1"/>
                </a:solidFill>
              </a:rPr>
              <a:t>2. Number </a:t>
            </a:r>
            <a:r>
              <a:rPr lang="en-US" b="1" u="sng" dirty="0">
                <a:solidFill>
                  <a:schemeClr val="tx1"/>
                </a:solidFill>
              </a:rPr>
              <a:t>of users </a:t>
            </a:r>
            <a:endParaRPr lang="en-US" b="1" u="sng" dirty="0" smtClean="0">
              <a:solidFill>
                <a:schemeClr val="tx1"/>
              </a:solidFill>
            </a:endParaRPr>
          </a:p>
          <a:p>
            <a:r>
              <a:rPr lang="en-US" dirty="0">
                <a:solidFill>
                  <a:schemeClr val="tx1"/>
                </a:solidFill>
              </a:rPr>
              <a:t>Single-user systems support only one user at a time and are </a:t>
            </a:r>
            <a:r>
              <a:rPr lang="en-US" dirty="0" smtClean="0">
                <a:solidFill>
                  <a:schemeClr val="tx1"/>
                </a:solidFill>
              </a:rPr>
              <a:t>mostly used </a:t>
            </a:r>
            <a:r>
              <a:rPr lang="en-US" dirty="0">
                <a:solidFill>
                  <a:schemeClr val="tx1"/>
                </a:solidFill>
              </a:rPr>
              <a:t>with </a:t>
            </a:r>
            <a:r>
              <a:rPr lang="en-US" dirty="0" smtClean="0">
                <a:solidFill>
                  <a:schemeClr val="tx1"/>
                </a:solidFill>
              </a:rPr>
              <a:t>PCs.</a:t>
            </a:r>
          </a:p>
          <a:p>
            <a:r>
              <a:rPr lang="en-US" dirty="0">
                <a:solidFill>
                  <a:schemeClr val="tx1"/>
                </a:solidFill>
              </a:rPr>
              <a:t>Multiuser systems, which include the majority of DBMSs, </a:t>
            </a:r>
            <a:r>
              <a:rPr lang="en-US" dirty="0" smtClean="0">
                <a:solidFill>
                  <a:schemeClr val="tx1"/>
                </a:solidFill>
              </a:rPr>
              <a:t>support concurrent </a:t>
            </a:r>
            <a:r>
              <a:rPr lang="en-US" dirty="0">
                <a:solidFill>
                  <a:schemeClr val="tx1"/>
                </a:solidFill>
              </a:rPr>
              <a:t>multiple users</a:t>
            </a:r>
            <a:r>
              <a:rPr lang="en-US" dirty="0" smtClean="0">
                <a:solidFill>
                  <a:schemeClr val="tx1"/>
                </a:solidFill>
              </a:rPr>
              <a:t>.</a:t>
            </a:r>
            <a:endParaRPr lang="en-US" dirty="0">
              <a:solidFill>
                <a:schemeClr val="tx1"/>
              </a:solidFill>
            </a:endParaRPr>
          </a:p>
          <a:p>
            <a:pPr marL="0" indent="0">
              <a:buNone/>
            </a:pPr>
            <a:r>
              <a:rPr lang="en-US" b="1" u="sng" dirty="0" smtClean="0">
                <a:solidFill>
                  <a:schemeClr val="tx1"/>
                </a:solidFill>
              </a:rPr>
              <a:t>3</a:t>
            </a:r>
            <a:r>
              <a:rPr lang="en-US" b="1" u="sng" dirty="0">
                <a:solidFill>
                  <a:schemeClr val="tx1"/>
                </a:solidFill>
              </a:rPr>
              <a:t>. Number of </a:t>
            </a:r>
            <a:r>
              <a:rPr lang="en-US" b="1" u="sng" dirty="0" smtClean="0">
                <a:solidFill>
                  <a:schemeClr val="tx1"/>
                </a:solidFill>
              </a:rPr>
              <a:t>sites</a:t>
            </a:r>
          </a:p>
          <a:p>
            <a:r>
              <a:rPr lang="en-US" dirty="0" smtClean="0">
                <a:solidFill>
                  <a:schemeClr val="tx1"/>
                </a:solidFill>
              </a:rPr>
              <a:t>A DBMS </a:t>
            </a:r>
            <a:r>
              <a:rPr lang="en-US" dirty="0">
                <a:solidFill>
                  <a:schemeClr val="tx1"/>
                </a:solidFill>
              </a:rPr>
              <a:t>is </a:t>
            </a:r>
            <a:r>
              <a:rPr lang="en-US" b="1" dirty="0">
                <a:solidFill>
                  <a:schemeClr val="tx1"/>
                </a:solidFill>
              </a:rPr>
              <a:t>centralized </a:t>
            </a:r>
            <a:r>
              <a:rPr lang="en-US" dirty="0">
                <a:solidFill>
                  <a:schemeClr val="tx1"/>
                </a:solidFill>
              </a:rPr>
              <a:t>if the data is stored at a single computer site. A </a:t>
            </a:r>
            <a:r>
              <a:rPr lang="en-US" dirty="0" smtClean="0">
                <a:solidFill>
                  <a:schemeClr val="tx1"/>
                </a:solidFill>
              </a:rPr>
              <a:t>centralized DBMS </a:t>
            </a:r>
            <a:r>
              <a:rPr lang="en-US" dirty="0">
                <a:solidFill>
                  <a:schemeClr val="tx1"/>
                </a:solidFill>
              </a:rPr>
              <a:t>can support multiple users, but the DBMS and the database reside </a:t>
            </a:r>
            <a:r>
              <a:rPr lang="en-US" dirty="0" smtClean="0">
                <a:solidFill>
                  <a:schemeClr val="tx1"/>
                </a:solidFill>
              </a:rPr>
              <a:t>at a </a:t>
            </a:r>
            <a:r>
              <a:rPr lang="en-US" dirty="0">
                <a:solidFill>
                  <a:schemeClr val="tx1"/>
                </a:solidFill>
              </a:rPr>
              <a:t>single computer </a:t>
            </a:r>
            <a:r>
              <a:rPr lang="en-US" dirty="0" smtClean="0">
                <a:solidFill>
                  <a:schemeClr val="tx1"/>
                </a:solidFill>
              </a:rPr>
              <a:t>site.</a:t>
            </a:r>
          </a:p>
          <a:p>
            <a:r>
              <a:rPr lang="en-US" dirty="0">
                <a:solidFill>
                  <a:schemeClr val="tx1"/>
                </a:solidFill>
              </a:rPr>
              <a:t>A distributed DBMS (DDBMS) can have the actual </a:t>
            </a:r>
            <a:r>
              <a:rPr lang="en-US" dirty="0" smtClean="0">
                <a:solidFill>
                  <a:schemeClr val="tx1"/>
                </a:solidFill>
              </a:rPr>
              <a:t>database and </a:t>
            </a:r>
            <a:r>
              <a:rPr lang="en-US" dirty="0">
                <a:solidFill>
                  <a:schemeClr val="tx1"/>
                </a:solidFill>
              </a:rPr>
              <a:t>DBMS software distributed over many sites connected by a computer network</a:t>
            </a:r>
            <a:r>
              <a:rPr lang="en-US" dirty="0" smtClean="0">
                <a:solidFill>
                  <a:schemeClr val="tx1"/>
                </a:solidFill>
              </a:rPr>
              <a:t>.</a:t>
            </a:r>
          </a:p>
          <a:p>
            <a:pPr marL="0" indent="0">
              <a:buNone/>
            </a:pPr>
            <a:r>
              <a:rPr lang="en-US" b="1" u="sng" dirty="0" smtClean="0">
                <a:solidFill>
                  <a:schemeClr val="tx1"/>
                </a:solidFill>
              </a:rPr>
              <a:t>4. Cost</a:t>
            </a:r>
          </a:p>
          <a:p>
            <a:r>
              <a:rPr lang="en-US" dirty="0" smtClean="0">
                <a:solidFill>
                  <a:schemeClr val="tx1"/>
                </a:solidFill>
              </a:rPr>
              <a:t>It is difficult to propose a classification of DBMSs based on cost. </a:t>
            </a:r>
          </a:p>
          <a:p>
            <a:r>
              <a:rPr lang="en-US" dirty="0">
                <a:solidFill>
                  <a:schemeClr val="tx1"/>
                </a:solidFill>
              </a:rPr>
              <a:t>Open source (free) DBMS products like MySQL and </a:t>
            </a:r>
            <a:r>
              <a:rPr lang="en-US" dirty="0" err="1">
                <a:solidFill>
                  <a:schemeClr val="tx1"/>
                </a:solidFill>
              </a:rPr>
              <a:t>PostgreSQL</a:t>
            </a:r>
            <a:r>
              <a:rPr lang="en-US" dirty="0">
                <a:solidFill>
                  <a:schemeClr val="tx1"/>
                </a:solidFill>
              </a:rPr>
              <a:t> that are supported by third-party vendors with additional services</a:t>
            </a:r>
            <a:r>
              <a:rPr lang="en-US" dirty="0" smtClean="0">
                <a:solidFill>
                  <a:schemeClr val="tx1"/>
                </a:solidFill>
              </a:rPr>
              <a:t>.</a:t>
            </a:r>
          </a:p>
          <a:p>
            <a:r>
              <a:rPr lang="en-US" dirty="0">
                <a:solidFill>
                  <a:schemeClr val="tx1"/>
                </a:solidFill>
              </a:rPr>
              <a:t>Some license limits the number of concurrent users or the number of user seats at a location</a:t>
            </a:r>
            <a:r>
              <a:rPr lang="en-US" dirty="0" smtClean="0">
                <a:solidFill>
                  <a:schemeClr val="tx1"/>
                </a:solidFill>
              </a:rPr>
              <a:t>.</a:t>
            </a:r>
          </a:p>
          <a:p>
            <a:r>
              <a:rPr lang="en-US" dirty="0">
                <a:solidFill>
                  <a:schemeClr val="tx1"/>
                </a:solidFill>
              </a:rPr>
              <a:t>Standalone single-user versions of some systems like Microsoft Access are sold per copy or included in the overall configuration of a desktop or laptop. </a:t>
            </a:r>
          </a:p>
          <a:p>
            <a:endParaRPr lang="en-US" dirty="0">
              <a:solidFill>
                <a:schemeClr val="tx1"/>
              </a:solidFill>
            </a:endParaRPr>
          </a:p>
        </p:txBody>
      </p:sp>
    </p:spTree>
    <p:extLst>
      <p:ext uri="{BB962C8B-B14F-4D97-AF65-F5344CB8AC3E}">
        <p14:creationId xmlns:p14="http://schemas.microsoft.com/office/powerpoint/2010/main" val="2842371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577" y="244388"/>
            <a:ext cx="6489586" cy="1320800"/>
          </a:xfrm>
        </p:spPr>
        <p:txBody>
          <a:bodyPr>
            <a:normAutofit/>
          </a:bodyPr>
          <a:lstStyle/>
          <a:p>
            <a:r>
              <a:rPr lang="en-US" sz="3200" dirty="0"/>
              <a:t>Classification of Database</a:t>
            </a:r>
            <a:br>
              <a:rPr lang="en-US" sz="3200" dirty="0"/>
            </a:br>
            <a:r>
              <a:rPr lang="en-US" sz="3200" dirty="0"/>
              <a:t>Management Systems</a:t>
            </a:r>
          </a:p>
        </p:txBody>
      </p:sp>
      <p:sp>
        <p:nvSpPr>
          <p:cNvPr id="3" name="Content Placeholder 2"/>
          <p:cNvSpPr>
            <a:spLocks noGrp="1"/>
          </p:cNvSpPr>
          <p:nvPr>
            <p:ph idx="1"/>
          </p:nvPr>
        </p:nvSpPr>
        <p:spPr>
          <a:xfrm>
            <a:off x="430199" y="1477505"/>
            <a:ext cx="9422255" cy="5030387"/>
          </a:xfrm>
        </p:spPr>
        <p:txBody>
          <a:bodyPr>
            <a:normAutofit/>
          </a:bodyPr>
          <a:lstStyle/>
          <a:p>
            <a:pPr marL="0" indent="0">
              <a:buNone/>
            </a:pPr>
            <a:r>
              <a:rPr lang="en-US" b="1" u="sng" dirty="0">
                <a:solidFill>
                  <a:schemeClr val="tx1"/>
                </a:solidFill>
              </a:rPr>
              <a:t>5. </a:t>
            </a:r>
            <a:r>
              <a:rPr lang="en-US" b="1" u="sng" dirty="0" smtClean="0">
                <a:solidFill>
                  <a:schemeClr val="tx1"/>
                </a:solidFill>
              </a:rPr>
              <a:t>Types </a:t>
            </a:r>
            <a:r>
              <a:rPr lang="en-US" b="1" u="sng" dirty="0">
                <a:solidFill>
                  <a:schemeClr val="tx1"/>
                </a:solidFill>
              </a:rPr>
              <a:t>of access </a:t>
            </a:r>
            <a:r>
              <a:rPr lang="en-US" b="1" u="sng" dirty="0" smtClean="0">
                <a:solidFill>
                  <a:schemeClr val="tx1"/>
                </a:solidFill>
              </a:rPr>
              <a:t>path</a:t>
            </a:r>
          </a:p>
          <a:p>
            <a:r>
              <a:rPr lang="en-US" dirty="0">
                <a:solidFill>
                  <a:schemeClr val="tx1"/>
                </a:solidFill>
              </a:rPr>
              <a:t>Options used for storing files</a:t>
            </a:r>
            <a:r>
              <a:rPr lang="en-US" dirty="0" smtClean="0">
                <a:solidFill>
                  <a:schemeClr val="tx1"/>
                </a:solidFill>
              </a:rPr>
              <a:t>.</a:t>
            </a:r>
            <a:endParaRPr lang="en-US" dirty="0">
              <a:solidFill>
                <a:schemeClr val="tx1"/>
              </a:solidFill>
            </a:endParaRPr>
          </a:p>
          <a:p>
            <a:pPr marL="0" indent="0">
              <a:buNone/>
            </a:pPr>
            <a:r>
              <a:rPr lang="en-US" b="1" u="sng" dirty="0" smtClean="0">
                <a:solidFill>
                  <a:schemeClr val="tx1"/>
                </a:solidFill>
              </a:rPr>
              <a:t>6. Types </a:t>
            </a:r>
            <a:r>
              <a:rPr lang="en-US" b="1" u="sng" dirty="0">
                <a:solidFill>
                  <a:schemeClr val="tx1"/>
                </a:solidFill>
              </a:rPr>
              <a:t>of </a:t>
            </a:r>
            <a:r>
              <a:rPr lang="en-US" b="1" u="sng" dirty="0" smtClean="0">
                <a:solidFill>
                  <a:schemeClr val="tx1"/>
                </a:solidFill>
              </a:rPr>
              <a:t>DBMS</a:t>
            </a:r>
            <a:endParaRPr lang="en-US" dirty="0" smtClean="0">
              <a:solidFill>
                <a:schemeClr val="tx1"/>
              </a:solidFill>
            </a:endParaRPr>
          </a:p>
          <a:p>
            <a:r>
              <a:rPr lang="en-US" dirty="0" smtClean="0">
                <a:solidFill>
                  <a:schemeClr val="tx1"/>
                </a:solidFill>
              </a:rPr>
              <a:t>A </a:t>
            </a:r>
            <a:r>
              <a:rPr lang="en-US" dirty="0">
                <a:solidFill>
                  <a:schemeClr val="tx1"/>
                </a:solidFill>
              </a:rPr>
              <a:t>DBMS can be general purpose or special </a:t>
            </a:r>
            <a:r>
              <a:rPr lang="en-US" dirty="0" smtClean="0">
                <a:solidFill>
                  <a:schemeClr val="tx1"/>
                </a:solidFill>
              </a:rPr>
              <a:t>purpose.</a:t>
            </a:r>
          </a:p>
          <a:p>
            <a:r>
              <a:rPr lang="en-US" dirty="0">
                <a:solidFill>
                  <a:schemeClr val="tx1"/>
                </a:solidFill>
              </a:rPr>
              <a:t>When performance </a:t>
            </a:r>
            <a:r>
              <a:rPr lang="en-US" dirty="0" smtClean="0">
                <a:solidFill>
                  <a:schemeClr val="tx1"/>
                </a:solidFill>
              </a:rPr>
              <a:t>is a </a:t>
            </a:r>
            <a:r>
              <a:rPr lang="en-US" dirty="0">
                <a:solidFill>
                  <a:schemeClr val="tx1"/>
                </a:solidFill>
              </a:rPr>
              <a:t>primary consideration, a special-purpose DBMS can be designed and built for </a:t>
            </a:r>
            <a:r>
              <a:rPr lang="en-US" dirty="0" smtClean="0">
                <a:solidFill>
                  <a:schemeClr val="tx1"/>
                </a:solidFill>
              </a:rPr>
              <a:t>a specific </a:t>
            </a:r>
            <a:r>
              <a:rPr lang="en-US" dirty="0">
                <a:solidFill>
                  <a:schemeClr val="tx1"/>
                </a:solidFill>
              </a:rPr>
              <a:t>application; such a system cannot be used for other applications </a:t>
            </a:r>
            <a:r>
              <a:rPr lang="en-US" dirty="0" smtClean="0">
                <a:solidFill>
                  <a:schemeClr val="tx1"/>
                </a:solidFill>
              </a:rPr>
              <a:t>without major </a:t>
            </a:r>
            <a:r>
              <a:rPr lang="en-US" dirty="0">
                <a:solidFill>
                  <a:schemeClr val="tx1"/>
                </a:solidFill>
              </a:rPr>
              <a:t>changes. </a:t>
            </a:r>
            <a:endParaRPr lang="en-US" dirty="0" smtClean="0">
              <a:solidFill>
                <a:schemeClr val="tx1"/>
              </a:solidFill>
            </a:endParaRPr>
          </a:p>
          <a:p>
            <a:r>
              <a:rPr lang="en-US" dirty="0" smtClean="0">
                <a:solidFill>
                  <a:schemeClr val="tx1"/>
                </a:solidFill>
              </a:rPr>
              <a:t>Many </a:t>
            </a:r>
            <a:r>
              <a:rPr lang="en-US" dirty="0">
                <a:solidFill>
                  <a:schemeClr val="tx1"/>
                </a:solidFill>
              </a:rPr>
              <a:t>airline reservations and telephone directory systems </a:t>
            </a:r>
            <a:r>
              <a:rPr lang="en-US" dirty="0" smtClean="0">
                <a:solidFill>
                  <a:schemeClr val="tx1"/>
                </a:solidFill>
              </a:rPr>
              <a:t>developed in </a:t>
            </a:r>
            <a:r>
              <a:rPr lang="en-US" dirty="0">
                <a:solidFill>
                  <a:schemeClr val="tx1"/>
                </a:solidFill>
              </a:rPr>
              <a:t>the past are special-purpose DBMSs. These fall into the category of </a:t>
            </a:r>
            <a:r>
              <a:rPr lang="en-US" b="1" dirty="0" smtClean="0">
                <a:solidFill>
                  <a:schemeClr val="accent5"/>
                </a:solidFill>
              </a:rPr>
              <a:t>online transaction </a:t>
            </a:r>
            <a:r>
              <a:rPr lang="en-US" b="1" dirty="0">
                <a:solidFill>
                  <a:schemeClr val="accent5"/>
                </a:solidFill>
              </a:rPr>
              <a:t>processing (OLTP) systems</a:t>
            </a:r>
            <a:r>
              <a:rPr lang="en-US" dirty="0">
                <a:solidFill>
                  <a:schemeClr val="tx1"/>
                </a:solidFill>
              </a:rPr>
              <a:t>, which must support a large number </a:t>
            </a:r>
            <a:r>
              <a:rPr lang="en-US" dirty="0" smtClean="0">
                <a:solidFill>
                  <a:schemeClr val="tx1"/>
                </a:solidFill>
              </a:rPr>
              <a:t>of concurrent transactions.</a:t>
            </a:r>
          </a:p>
          <a:p>
            <a:endParaRPr lang="en-US" dirty="0" smtClean="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1970306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5748</TotalTime>
  <Words>3001</Words>
  <Application>Microsoft Office PowerPoint</Application>
  <PresentationFormat>Widescreen</PresentationFormat>
  <Paragraphs>215</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Trebuchet MS</vt:lpstr>
      <vt:lpstr>Wingdings 3</vt:lpstr>
      <vt:lpstr>Facet</vt:lpstr>
      <vt:lpstr>Chapter 2 – Database System Concepts and Architecture</vt:lpstr>
      <vt:lpstr>- Data Model, Schema and Instance  - Three schema architecture and data independence  - Database languages &amp; Interfaces   - Database systems environment  - Classification of DBMS       </vt:lpstr>
      <vt:lpstr>Data Models, Schemas, and Instances</vt:lpstr>
      <vt:lpstr>Data Models, Schemas, and Instances</vt:lpstr>
      <vt:lpstr>Data Models, Schemas, and Instances</vt:lpstr>
      <vt:lpstr>Data Models, Schemas, and Instances</vt:lpstr>
      <vt:lpstr>Data Models, Schemas, and Instances</vt:lpstr>
      <vt:lpstr>Three schema architecture and data independence</vt:lpstr>
      <vt:lpstr>Three schema architecture and data independence</vt:lpstr>
      <vt:lpstr>Three schema architecture and data independence</vt:lpstr>
      <vt:lpstr>Three schema architecture and data independence</vt:lpstr>
      <vt:lpstr>Three schema architecture and data independence</vt:lpstr>
      <vt:lpstr>Database Languages and Interfaces</vt:lpstr>
      <vt:lpstr>Database Languages and Interfaces</vt:lpstr>
      <vt:lpstr>Database Languages and Interfaces</vt:lpstr>
      <vt:lpstr>Database Languages and Interfaces</vt:lpstr>
      <vt:lpstr>The Database System Environment</vt:lpstr>
      <vt:lpstr>The Database System Environment</vt:lpstr>
      <vt:lpstr>The Database System Environment</vt:lpstr>
      <vt:lpstr>The Database System Environment</vt:lpstr>
      <vt:lpstr>The Database System Environment</vt:lpstr>
      <vt:lpstr>The Database System Environment</vt:lpstr>
      <vt:lpstr>The Database System Environment</vt:lpstr>
      <vt:lpstr>The Database System Environment</vt:lpstr>
      <vt:lpstr>Classification of Database Management Systems</vt:lpstr>
      <vt:lpstr>Classification of Database Management Systems</vt:lpstr>
      <vt:lpstr>Classification of Database Management Systems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databases</dc:title>
  <dc:creator>lab4</dc:creator>
  <cp:lastModifiedBy>Ms. Abeer Gauher</cp:lastModifiedBy>
  <cp:revision>280</cp:revision>
  <dcterms:created xsi:type="dcterms:W3CDTF">2021-08-16T04:03:32Z</dcterms:created>
  <dcterms:modified xsi:type="dcterms:W3CDTF">2024-08-28T03:33:58Z</dcterms:modified>
</cp:coreProperties>
</file>