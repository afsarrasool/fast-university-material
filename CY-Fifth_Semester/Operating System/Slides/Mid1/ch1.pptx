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3"/>
  </p:handoutMasterIdLst>
  <p:sldIdLst>
    <p:sldId id="330" r:id="rId3"/>
    <p:sldId id="347" r:id="rId5"/>
    <p:sldId id="348" r:id="rId6"/>
    <p:sldId id="417" r:id="rId7"/>
    <p:sldId id="349" r:id="rId8"/>
    <p:sldId id="350" r:id="rId9"/>
    <p:sldId id="411" r:id="rId10"/>
    <p:sldId id="352" r:id="rId11"/>
    <p:sldId id="353" r:id="rId12"/>
    <p:sldId id="354" r:id="rId13"/>
    <p:sldId id="421" r:id="rId14"/>
    <p:sldId id="356" r:id="rId15"/>
    <p:sldId id="357" r:id="rId16"/>
    <p:sldId id="358" r:id="rId17"/>
    <p:sldId id="360" r:id="rId18"/>
    <p:sldId id="359" r:id="rId19"/>
    <p:sldId id="413" r:id="rId20"/>
    <p:sldId id="420" r:id="rId21"/>
    <p:sldId id="361" r:id="rId22"/>
    <p:sldId id="419" r:id="rId23"/>
    <p:sldId id="422" r:id="rId24"/>
    <p:sldId id="423" r:id="rId25"/>
    <p:sldId id="363" r:id="rId26"/>
    <p:sldId id="393" r:id="rId27"/>
    <p:sldId id="364" r:id="rId28"/>
    <p:sldId id="408" r:id="rId29"/>
    <p:sldId id="404" r:id="rId30"/>
    <p:sldId id="403" r:id="rId31"/>
    <p:sldId id="375" r:id="rId32"/>
    <p:sldId id="426" r:id="rId33"/>
    <p:sldId id="427" r:id="rId34"/>
    <p:sldId id="374" r:id="rId35"/>
    <p:sldId id="429" r:id="rId36"/>
    <p:sldId id="430" r:id="rId37"/>
    <p:sldId id="376" r:id="rId38"/>
    <p:sldId id="424" r:id="rId39"/>
    <p:sldId id="367" r:id="rId40"/>
    <p:sldId id="369" r:id="rId41"/>
    <p:sldId id="370" r:id="rId42"/>
    <p:sldId id="371" r:id="rId43"/>
    <p:sldId id="372" r:id="rId44"/>
    <p:sldId id="416" r:id="rId45"/>
    <p:sldId id="425" r:id="rId46"/>
    <p:sldId id="386" r:id="rId47"/>
    <p:sldId id="432" r:id="rId48"/>
    <p:sldId id="398" r:id="rId49"/>
    <p:sldId id="389" r:id="rId50"/>
    <p:sldId id="390" r:id="rId51"/>
    <p:sldId id="401" r:id="rId52"/>
    <p:sldId id="431" r:id="rId53"/>
    <p:sldId id="402" r:id="rId54"/>
    <p:sldId id="387" r:id="rId55"/>
    <p:sldId id="392" r:id="rId56"/>
    <p:sldId id="412" r:id="rId57"/>
    <p:sldId id="436" r:id="rId58"/>
    <p:sldId id="394" r:id="rId59"/>
    <p:sldId id="395" r:id="rId60"/>
    <p:sldId id="396" r:id="rId61"/>
    <p:sldId id="331" r:id="rId62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4667"/>
  </p:normalViewPr>
  <p:slideViewPr>
    <p:cSldViewPr snapToGrid="0" showGuides="1">
      <p:cViewPr varScale="1">
        <p:scale>
          <a:sx n="71" d="100"/>
          <a:sy n="71" d="100"/>
        </p:scale>
        <p:origin x="787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commentAuthors" Target="commentAuthors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701675"/>
            <a:ext cx="4681537" cy="3511550"/>
          </a:xfrm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025" y="4448175"/>
            <a:ext cx="5662613" cy="4213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926" tIns="46963" rIns="93926" bIns="46963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ACA46D-0338-463B-AD68-EE5177F9CE6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Chapter 1:  Introduction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3200"/>
            <a:ext cx="8034338" cy="576263"/>
          </a:xfrm>
        </p:spPr>
        <p:txBody>
          <a:bodyPr/>
          <a:lstStyle/>
          <a:p>
            <a:pPr eaLnBrk="1" hangingPunct="1"/>
            <a:r>
              <a:rPr lang="en-US" altLang="en-US"/>
              <a:t>Chapter 1: Introduction</a:t>
            </a:r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What Operating Systems Do</a:t>
            </a:r>
            <a:endParaRPr lang="en-US" altLang="en-US"/>
          </a:p>
          <a:p>
            <a:r>
              <a:rPr lang="en-US" altLang="en-US"/>
              <a:t>Computer-System Organization</a:t>
            </a:r>
            <a:endParaRPr lang="en-US" altLang="en-US"/>
          </a:p>
          <a:p>
            <a:r>
              <a:rPr lang="en-US" altLang="en-US"/>
              <a:t>Computer-System Architecture</a:t>
            </a:r>
            <a:endParaRPr lang="en-US" altLang="en-US"/>
          </a:p>
          <a:p>
            <a:r>
              <a:rPr lang="en-US" altLang="en-US"/>
              <a:t>Operating-System Operations</a:t>
            </a:r>
            <a:endParaRPr lang="en-US" altLang="en-US"/>
          </a:p>
          <a:p>
            <a:r>
              <a:rPr lang="en-US" altLang="en-US"/>
              <a:t>Resource Management</a:t>
            </a:r>
            <a:endParaRPr lang="en-US" altLang="en-US"/>
          </a:p>
          <a:p>
            <a:r>
              <a:rPr lang="en-US" altLang="en-US"/>
              <a:t>Security and Protection</a:t>
            </a:r>
            <a:endParaRPr lang="en-US" altLang="en-US"/>
          </a:p>
          <a:p>
            <a:r>
              <a:rPr lang="en-US" altLang="en-US"/>
              <a:t>Virtualization</a:t>
            </a:r>
            <a:endParaRPr lang="en-US" altLang="en-US"/>
          </a:p>
          <a:p>
            <a:r>
              <a:rPr lang="en-US" altLang="en-US"/>
              <a:t>Distributed Systems</a:t>
            </a:r>
            <a:endParaRPr lang="en-US" altLang="en-US"/>
          </a:p>
          <a:p>
            <a:r>
              <a:rPr lang="en-US" altLang="en-US"/>
              <a:t>Kernel Data Structures</a:t>
            </a:r>
            <a:endParaRPr lang="en-US" altLang="en-US"/>
          </a:p>
          <a:p>
            <a:r>
              <a:rPr lang="en-US" altLang="en-US"/>
              <a:t>Computing Environments</a:t>
            </a:r>
            <a:endParaRPr lang="en-US" altLang="en-US"/>
          </a:p>
          <a:p>
            <a:r>
              <a:rPr lang="en-US" altLang="en-US"/>
              <a:t>Free/Libre and Open-Source Operating Systems</a:t>
            </a: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66688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66038" cy="4530725"/>
          </a:xfrm>
        </p:spPr>
        <p:txBody>
          <a:bodyPr/>
          <a:lstStyle/>
          <a:p>
            <a:r>
              <a:rPr lang="en-US" altLang="en-US"/>
              <a:t>Describe the general organization of a computer system and the role of interrupts</a:t>
            </a:r>
            <a:endParaRPr lang="en-US" altLang="en-US"/>
          </a:p>
          <a:p>
            <a:r>
              <a:rPr lang="en-US" altLang="en-US"/>
              <a:t>Describe the components in a modern, multiprocessor computer system</a:t>
            </a:r>
            <a:endParaRPr lang="en-US" altLang="en-US"/>
          </a:p>
          <a:p>
            <a:r>
              <a:rPr lang="en-US" altLang="en-US"/>
              <a:t>Illustrate the transition from user mode to kernel mode</a:t>
            </a:r>
            <a:endParaRPr lang="en-US" altLang="en-US"/>
          </a:p>
          <a:p>
            <a:r>
              <a:rPr lang="en-US" altLang="en-US"/>
              <a:t>Discuss how operating systems are used in various computing environments</a:t>
            </a:r>
            <a:endParaRPr lang="en-US" altLang="en-US"/>
          </a:p>
          <a:p>
            <a:r>
              <a:rPr lang="en-US" altLang="en-US"/>
              <a:t>Provide examples of free and open-source operating systems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1856" y="123144"/>
            <a:ext cx="8015288" cy="61753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What Does the Term Operating System Mean?</a:t>
            </a:r>
            <a:endParaRPr lang="en-US" altLang="en-US" sz="26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7666038" cy="4530725"/>
          </a:xfrm>
        </p:spPr>
        <p:txBody>
          <a:bodyPr/>
          <a:lstStyle/>
          <a:p>
            <a:r>
              <a:rPr lang="en-US" altLang="en-US" dirty="0"/>
              <a:t>An operating system is “fill in the blanks”</a:t>
            </a:r>
            <a:endParaRPr lang="en-US" altLang="en-US" dirty="0"/>
          </a:p>
          <a:p>
            <a:r>
              <a:rPr lang="en-US" altLang="en-US" dirty="0"/>
              <a:t>What about:</a:t>
            </a:r>
            <a:endParaRPr lang="en-US" altLang="en-US" dirty="0"/>
          </a:p>
          <a:p>
            <a:pPr lvl="1"/>
            <a:r>
              <a:rPr lang="en-US" altLang="en-US" dirty="0"/>
              <a:t>Car </a:t>
            </a:r>
            <a:endParaRPr lang="en-US" altLang="en-US" dirty="0"/>
          </a:p>
          <a:p>
            <a:pPr lvl="1"/>
            <a:r>
              <a:rPr lang="en-US" altLang="en-US" dirty="0"/>
              <a:t>Airplane</a:t>
            </a:r>
            <a:endParaRPr lang="en-US" altLang="en-US" dirty="0"/>
          </a:p>
          <a:p>
            <a:pPr lvl="1"/>
            <a:r>
              <a:rPr lang="en-US" altLang="en-US" dirty="0"/>
              <a:t>Printer</a:t>
            </a:r>
            <a:endParaRPr lang="en-US" altLang="en-US" dirty="0"/>
          </a:p>
          <a:p>
            <a:pPr lvl="1"/>
            <a:r>
              <a:rPr lang="en-US" altLang="en-US" dirty="0"/>
              <a:t>Washing Machine</a:t>
            </a:r>
            <a:endParaRPr lang="en-US" altLang="en-US" dirty="0"/>
          </a:p>
          <a:p>
            <a:pPr lvl="1"/>
            <a:r>
              <a:rPr lang="en-US" altLang="en-US" dirty="0"/>
              <a:t>Toaster</a:t>
            </a:r>
            <a:endParaRPr lang="en-US" altLang="en-US" dirty="0"/>
          </a:p>
          <a:p>
            <a:pPr lvl="1"/>
            <a:r>
              <a:rPr lang="en-US" altLang="en-US" dirty="0"/>
              <a:t>Compiler</a:t>
            </a:r>
            <a:endParaRPr lang="en-US" altLang="en-US" dirty="0"/>
          </a:p>
          <a:p>
            <a:pPr lvl="1"/>
            <a:r>
              <a:rPr lang="en-US" altLang="en-US" dirty="0"/>
              <a:t>Etc.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63613" y="19843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/>
              <a:t>What is an Operating System?</a:t>
            </a: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5513" y="1268413"/>
            <a:ext cx="7121525" cy="4159250"/>
          </a:xfrm>
        </p:spPr>
        <p:txBody>
          <a:bodyPr/>
          <a:lstStyle/>
          <a:p>
            <a:r>
              <a:rPr lang="en-US" altLang="en-US"/>
              <a:t>A program that acts as an intermediary between a user of a computer and the computer hardware</a:t>
            </a:r>
            <a:endParaRPr lang="en-US" altLang="en-US"/>
          </a:p>
          <a:p>
            <a:r>
              <a:rPr lang="en-US" altLang="en-US"/>
              <a:t>Operating system goals:</a:t>
            </a:r>
            <a:endParaRPr lang="en-US" altLang="en-US"/>
          </a:p>
          <a:p>
            <a:pPr lvl="1"/>
            <a:r>
              <a:rPr lang="en-US" altLang="en-US"/>
              <a:t>Execute user programs and make solving user problems easier</a:t>
            </a:r>
            <a:endParaRPr lang="en-US" altLang="en-US"/>
          </a:p>
          <a:p>
            <a:pPr lvl="1"/>
            <a:r>
              <a:rPr lang="en-US" altLang="en-US"/>
              <a:t>Make the computer system convenient to use</a:t>
            </a:r>
            <a:endParaRPr lang="en-US" altLang="en-US"/>
          </a:p>
          <a:p>
            <a:pPr lvl="1"/>
            <a:r>
              <a:rPr lang="en-US" altLang="en-US"/>
              <a:t>Use the computer hardware in an efficient manner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201613"/>
            <a:ext cx="7532688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Structure</a:t>
            </a: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1688" y="1204913"/>
            <a:ext cx="7772400" cy="4483100"/>
          </a:xfrm>
        </p:spPr>
        <p:txBody>
          <a:bodyPr/>
          <a:lstStyle/>
          <a:p>
            <a:r>
              <a:rPr lang="en-US" altLang="en-US"/>
              <a:t>Computer system can be divided into four components:</a:t>
            </a:r>
            <a:endParaRPr lang="en-US" altLang="en-US"/>
          </a:p>
          <a:p>
            <a:pPr lvl="1"/>
            <a:r>
              <a:rPr lang="en-US" altLang="en-US"/>
              <a:t>Hardware – provides basic computing resources</a:t>
            </a:r>
            <a:endParaRPr lang="en-US" altLang="en-US"/>
          </a:p>
          <a:p>
            <a:pPr lvl="2"/>
            <a:r>
              <a:rPr lang="en-US" altLang="en-US"/>
              <a:t>CPU, memory, I/O devices</a:t>
            </a:r>
            <a:endParaRPr lang="en-US" altLang="en-US"/>
          </a:p>
          <a:p>
            <a:pPr lvl="1"/>
            <a:r>
              <a:rPr lang="en-US" altLang="en-US"/>
              <a:t>Operating system</a:t>
            </a:r>
            <a:endParaRPr lang="en-US" altLang="en-US"/>
          </a:p>
          <a:p>
            <a:pPr lvl="2"/>
            <a:r>
              <a:rPr lang="en-US" altLang="en-US"/>
              <a:t>Controls and coordinates use of hardware among various applications and users</a:t>
            </a:r>
            <a:endParaRPr lang="en-US" altLang="en-US"/>
          </a:p>
          <a:p>
            <a:pPr lvl="1"/>
            <a:r>
              <a:rPr lang="en-US" altLang="en-US"/>
              <a:t>Application programs – define the ways in which the system resources are used to solve the computing problems of the users</a:t>
            </a:r>
            <a:endParaRPr lang="en-US" altLang="en-US"/>
          </a:p>
          <a:p>
            <a:pPr lvl="2"/>
            <a:r>
              <a:rPr lang="en-US" altLang="en-US"/>
              <a:t>Word processors, compilers, web browsers, database systems, video games</a:t>
            </a:r>
            <a:endParaRPr lang="en-US" altLang="en-US"/>
          </a:p>
          <a:p>
            <a:pPr lvl="1"/>
            <a:r>
              <a:rPr lang="en-US" altLang="en-US"/>
              <a:t>Users</a:t>
            </a:r>
            <a:endParaRPr lang="en-US" altLang="en-US"/>
          </a:p>
          <a:p>
            <a:pPr lvl="2"/>
            <a:r>
              <a:rPr lang="en-US" altLang="en-US"/>
              <a:t>People, machines, other computers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1400" y="182563"/>
            <a:ext cx="76454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Abstract View of Components of Computer</a:t>
            </a:r>
            <a:endParaRPr lang="en-US" altLang="en-US" sz="2800"/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1871663"/>
            <a:ext cx="4621212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126413" cy="576262"/>
          </a:xfrm>
        </p:spPr>
        <p:txBody>
          <a:bodyPr/>
          <a:lstStyle/>
          <a:p>
            <a:r>
              <a:rPr lang="en-US" altLang="en-US" dirty="0"/>
              <a:t>What Operating Systems Do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746125" y="1120775"/>
            <a:ext cx="7940675" cy="4530725"/>
          </a:xfrm>
        </p:spPr>
        <p:txBody>
          <a:bodyPr/>
          <a:lstStyle/>
          <a:p>
            <a:r>
              <a:rPr lang="en-US" altLang="en-US" dirty="0"/>
              <a:t>Depends on the point of view</a:t>
            </a:r>
            <a:endParaRPr lang="en-US" altLang="en-US" dirty="0"/>
          </a:p>
          <a:p>
            <a:r>
              <a:rPr lang="en-US" altLang="en-US" dirty="0"/>
              <a:t>Users want convenience,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ease of use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good performance 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care about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resource utilization</a:t>
            </a:r>
            <a:endParaRPr lang="en-US" altLang="ja-JP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But shared computer such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mainframe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minicomputer</a:t>
            </a:r>
            <a:r>
              <a:rPr lang="en-US" altLang="en-US" dirty="0"/>
              <a:t> must keep all users happy</a:t>
            </a:r>
            <a:endParaRPr lang="en-US" altLang="en-US" dirty="0"/>
          </a:p>
          <a:p>
            <a:pPr lvl="1"/>
            <a:r>
              <a:rPr lang="en-US" altLang="en-US" dirty="0"/>
              <a:t>Operating system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resource allocator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control program </a:t>
            </a:r>
            <a:r>
              <a:rPr lang="en-US" altLang="en-US" dirty="0"/>
              <a:t>making efficient use of HW and managing execution of user programs</a:t>
            </a:r>
            <a:endParaRPr lang="en-US" altLang="en-US" dirty="0"/>
          </a:p>
          <a:p>
            <a:r>
              <a:rPr lang="en-US" altLang="en-US" dirty="0"/>
              <a:t>Users of dedicate systems such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workstations</a:t>
            </a:r>
            <a:r>
              <a:rPr lang="en-US" altLang="en-US" dirty="0"/>
              <a:t> have dedicated resources but frequently use shared resources from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servers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Mobile devices like smartphones and tables are resource poor,  optimized for usability and battery life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Mobile user interfaces such as touch screens, voice recognition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Some computers have little or no user interface, such as embedded computers in devices and automobiles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Run primarily without user intervention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6338" y="195263"/>
            <a:ext cx="7342187" cy="576262"/>
          </a:xfrm>
        </p:spPr>
        <p:txBody>
          <a:bodyPr/>
          <a:lstStyle/>
          <a:p>
            <a:pPr eaLnBrk="1" hangingPunct="1"/>
            <a:r>
              <a:rPr lang="en-US" altLang="en-US"/>
              <a:t>Defining Operating Systems</a:t>
            </a:r>
            <a:endParaRPr lang="en-US" alt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028700"/>
            <a:ext cx="7441293" cy="4196443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Term OS covers many roles</a:t>
            </a:r>
            <a:endParaRPr lang="en-US" altLang="en-US" dirty="0"/>
          </a:p>
          <a:p>
            <a:pPr lvl="1"/>
            <a:r>
              <a:rPr lang="en-US" altLang="en-US" dirty="0"/>
              <a:t>Because of myriad designs and uses of OSes</a:t>
            </a:r>
            <a:endParaRPr lang="en-US" altLang="en-US" dirty="0"/>
          </a:p>
          <a:p>
            <a:pPr lvl="1"/>
            <a:r>
              <a:rPr lang="en-US" altLang="en-US" dirty="0"/>
              <a:t>Present in toasters through ships, spacecraft, game machines, TVs and industrial control systems</a:t>
            </a:r>
            <a:endParaRPr lang="en-US" altLang="en-US" dirty="0"/>
          </a:p>
          <a:p>
            <a:pPr lvl="1"/>
            <a:r>
              <a:rPr lang="en-US" altLang="en-US" dirty="0"/>
              <a:t>Born when fixed use computers for military became more general purpose and needed resource management and program control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75326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</a:t>
            </a:r>
            <a:r>
              <a:rPr kumimoji="1" lang="en-US" altLang="en-US" dirty="0"/>
              <a:t>st</a:t>
            </a:r>
            <a:r>
              <a:rPr lang="en-US" altLang="en-US" dirty="0"/>
              <a:t>em Definition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84225" y="1247775"/>
            <a:ext cx="7989661" cy="4728482"/>
          </a:xfrm>
        </p:spPr>
        <p:txBody>
          <a:bodyPr/>
          <a:lstStyle/>
          <a:p>
            <a:r>
              <a:rPr lang="en-US" altLang="en-US" dirty="0"/>
              <a:t>No universally accepted definition</a:t>
            </a:r>
            <a:endParaRPr lang="en-US" altLang="en-US" dirty="0"/>
          </a:p>
          <a:p>
            <a:r>
              <a:rPr lang="ja-JP" altLang="en-US" dirty="0"/>
              <a:t>“</a:t>
            </a:r>
            <a:r>
              <a:rPr lang="en-US" altLang="ja-JP" dirty="0"/>
              <a:t>Everything a vendor ships when you order an operating system</a:t>
            </a:r>
            <a:r>
              <a:rPr lang="ja-JP" altLang="en-US" dirty="0"/>
              <a:t>”</a:t>
            </a:r>
            <a:r>
              <a:rPr lang="en-US" altLang="ja-JP" dirty="0"/>
              <a:t> is a good approximation</a:t>
            </a:r>
            <a:endParaRPr lang="en-US" altLang="ja-JP" dirty="0"/>
          </a:p>
          <a:p>
            <a:pPr lvl="1"/>
            <a:r>
              <a:rPr lang="en-US" altLang="en-US" dirty="0"/>
              <a:t>But varies wildly</a:t>
            </a:r>
            <a:endParaRPr lang="en-US" altLang="en-US" dirty="0"/>
          </a:p>
          <a:p>
            <a:r>
              <a:rPr lang="ja-JP" altLang="en-US" dirty="0"/>
              <a:t>“</a:t>
            </a:r>
            <a:r>
              <a:rPr lang="en-US" altLang="ja-JP" dirty="0"/>
              <a:t>The one program running at all times on the computer</a:t>
            </a:r>
            <a:r>
              <a:rPr lang="ja-JP" altLang="en-US" dirty="0"/>
              <a:t>”</a:t>
            </a:r>
            <a:r>
              <a:rPr lang="en-US" altLang="ja-JP" dirty="0"/>
              <a:t> is the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kernel, </a:t>
            </a:r>
            <a:r>
              <a:rPr lang="en-US" altLang="ja-JP" dirty="0"/>
              <a:t>part of the operating system</a:t>
            </a:r>
            <a:endParaRPr lang="en-US" altLang="ja-JP" dirty="0"/>
          </a:p>
          <a:p>
            <a:r>
              <a:rPr lang="en-US" altLang="ja-JP" dirty="0"/>
              <a:t>Everything else is either</a:t>
            </a:r>
            <a:endParaRPr lang="en-US" altLang="ja-JP" dirty="0"/>
          </a:p>
          <a:p>
            <a:pPr lvl="1"/>
            <a:r>
              <a:rPr lang="en-US" altLang="ja-JP" dirty="0"/>
              <a:t>A </a:t>
            </a:r>
            <a:r>
              <a:rPr lang="en-US" altLang="ja-JP" b="1" i="1" dirty="0">
                <a:solidFill>
                  <a:srgbClr val="006699"/>
                </a:solidFill>
                <a:latin typeface="+mj-lt"/>
              </a:rPr>
              <a:t>system program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(ships with the operating system, but not part of the kernel) , or</a:t>
            </a:r>
            <a:endParaRPr lang="en-US" altLang="ja-JP" dirty="0"/>
          </a:p>
          <a:p>
            <a:pPr lvl="1"/>
            <a:r>
              <a:rPr lang="en-US" altLang="ja-JP" dirty="0"/>
              <a:t>An </a:t>
            </a:r>
            <a:r>
              <a:rPr lang="en-US" altLang="ja-JP" b="1" i="1" dirty="0">
                <a:solidFill>
                  <a:srgbClr val="006699"/>
                </a:solidFill>
                <a:latin typeface="+mj-lt"/>
              </a:rPr>
              <a:t>application program</a:t>
            </a:r>
            <a:r>
              <a:rPr lang="en-US" altLang="ja-JP" dirty="0"/>
              <a:t>, all programs not associated with the operating system</a:t>
            </a:r>
            <a:endParaRPr lang="en-US" altLang="ja-JP" dirty="0"/>
          </a:p>
          <a:p>
            <a:r>
              <a:rPr lang="en-US" altLang="en-US" dirty="0"/>
              <a:t>Today’s OSes for general purpose and mobile computing also include 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middleware</a:t>
            </a:r>
            <a:r>
              <a:rPr lang="en-US" altLang="en-US" dirty="0"/>
              <a:t> – a set of software frameworks that provide additional services to application developers such as databases, multimedia, graphics </a:t>
            </a:r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2100" y="2897302"/>
            <a:ext cx="8813800" cy="1063396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Overview of Computer System Structure 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68363" y="214313"/>
            <a:ext cx="7639050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System Organization</a:t>
            </a: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4700" y="1233488"/>
            <a:ext cx="7639050" cy="4530725"/>
          </a:xfrm>
        </p:spPr>
        <p:txBody>
          <a:bodyPr/>
          <a:lstStyle/>
          <a:p>
            <a:r>
              <a:rPr lang="en-US" altLang="en-US" dirty="0"/>
              <a:t>Computer-system operation</a:t>
            </a:r>
            <a:endParaRPr lang="en-US" altLang="en-US" dirty="0"/>
          </a:p>
          <a:p>
            <a:pPr lvl="1"/>
            <a:r>
              <a:rPr lang="en-US" altLang="en-US" dirty="0"/>
              <a:t>One or more CPUs, device controllers connect through common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bus</a:t>
            </a:r>
            <a:r>
              <a:rPr lang="en-US" altLang="en-US" dirty="0"/>
              <a:t> providing access to shared memory</a:t>
            </a:r>
            <a:endParaRPr lang="en-US" altLang="en-US" dirty="0"/>
          </a:p>
          <a:p>
            <a:pPr lvl="1"/>
            <a:r>
              <a:rPr lang="en-US" altLang="en-US" dirty="0"/>
              <a:t>Concurrent execution of CPUs and devices competing for memory cycles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8" y="3098800"/>
            <a:ext cx="621665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20663"/>
            <a:ext cx="7605713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Computer-System Operation</a:t>
            </a:r>
            <a:endParaRPr lang="en-US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9"/>
            <a:ext cx="7390099" cy="4528334"/>
          </a:xfrm>
        </p:spPr>
        <p:txBody>
          <a:bodyPr/>
          <a:lstStyle/>
          <a:p>
            <a:r>
              <a:rPr lang="en-US" altLang="en-US" dirty="0"/>
              <a:t>I/O devices and the CPU can execute concurrently</a:t>
            </a:r>
            <a:endParaRPr lang="en-US" altLang="en-US" sz="800" dirty="0"/>
          </a:p>
          <a:p>
            <a:r>
              <a:rPr lang="en-US" altLang="en-US" dirty="0"/>
              <a:t>Each device controller is in charge of a particular device type</a:t>
            </a:r>
            <a:endParaRPr lang="en-US" altLang="en-US" sz="800" dirty="0"/>
          </a:p>
          <a:p>
            <a:r>
              <a:rPr lang="en-US" altLang="en-US" dirty="0"/>
              <a:t>Each device controller has a local buffer</a:t>
            </a:r>
            <a:endParaRPr lang="en-US" altLang="en-US" dirty="0"/>
          </a:p>
          <a:p>
            <a:r>
              <a:rPr lang="en-US" altLang="en-US" dirty="0"/>
              <a:t>Each device controller type has an operating system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 driver</a:t>
            </a:r>
            <a:r>
              <a:rPr lang="en-US" altLang="en-US" dirty="0"/>
              <a:t> to manage it</a:t>
            </a:r>
            <a:endParaRPr lang="en-US" altLang="en-US" sz="800" dirty="0"/>
          </a:p>
          <a:p>
            <a:r>
              <a:rPr lang="en-US" altLang="en-US" dirty="0"/>
              <a:t>CPU moves data from/to main memory to/from local buffers</a:t>
            </a:r>
            <a:endParaRPr lang="en-US" altLang="en-US" sz="800" dirty="0"/>
          </a:p>
          <a:p>
            <a:r>
              <a:rPr lang="en-US" altLang="en-US" dirty="0"/>
              <a:t>I/O is from the device to local buffer of controller</a:t>
            </a:r>
            <a:endParaRPr lang="en-US" altLang="en-US" sz="800" dirty="0"/>
          </a:p>
          <a:p>
            <a:r>
              <a:rPr lang="en-US" altLang="en-US" dirty="0"/>
              <a:t>Device controller informs CPU that it has finished its operation by causing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46150" y="195263"/>
            <a:ext cx="7591425" cy="576262"/>
          </a:xfrm>
        </p:spPr>
        <p:txBody>
          <a:bodyPr/>
          <a:lstStyle/>
          <a:p>
            <a:pPr eaLnBrk="1" hangingPunct="1"/>
            <a:r>
              <a:rPr lang="en-US" altLang="en-US"/>
              <a:t>Common Functions of Interrupts</a:t>
            </a:r>
            <a:endParaRPr lang="en-US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1" y="1233489"/>
            <a:ext cx="6993492" cy="4385114"/>
          </a:xfrm>
        </p:spPr>
        <p:txBody>
          <a:bodyPr/>
          <a:lstStyle/>
          <a:p>
            <a:r>
              <a:rPr lang="en-US" altLang="en-US" dirty="0"/>
              <a:t>Interrupt transfers control to the interrupt service routine generally, through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 vector</a:t>
            </a:r>
            <a:r>
              <a:rPr lang="en-US" altLang="en-US" dirty="0"/>
              <a:t>, which contains the addresses of all the service routines</a:t>
            </a:r>
            <a:endParaRPr lang="en-US" altLang="en-US" sz="800" dirty="0"/>
          </a:p>
          <a:p>
            <a:r>
              <a:rPr lang="en-US" altLang="en-US" dirty="0"/>
              <a:t>Interrupt architecture must save the address of the interrupted instruction</a:t>
            </a:r>
            <a:endParaRPr lang="en-US" altLang="en-US" sz="800" i="1" dirty="0"/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exception </a:t>
            </a:r>
            <a:r>
              <a:rPr lang="en-US" altLang="en-US" dirty="0"/>
              <a:t>is a software-generated interrupt caused either by an error or a user request</a:t>
            </a:r>
            <a:endParaRPr lang="en-US" altLang="en-US" sz="800" dirty="0"/>
          </a:p>
          <a:p>
            <a:r>
              <a:rPr lang="en-US" altLang="en-US" dirty="0"/>
              <a:t>An operating system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 driven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5263"/>
            <a:ext cx="8051800" cy="576262"/>
          </a:xfrm>
        </p:spPr>
        <p:txBody>
          <a:bodyPr/>
          <a:lstStyle/>
          <a:p>
            <a:pPr eaLnBrk="1" hangingPunct="1"/>
            <a:r>
              <a:rPr lang="en-US" altLang="en-US"/>
              <a:t>Interrupt Timeline</a:t>
            </a:r>
            <a:endParaRPr lang="en-US" altLang="en-US"/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1908175"/>
            <a:ext cx="8355012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3625" y="-57150"/>
            <a:ext cx="7515225" cy="844550"/>
          </a:xfrm>
        </p:spPr>
        <p:txBody>
          <a:bodyPr/>
          <a:lstStyle/>
          <a:p>
            <a:pPr eaLnBrk="1" hangingPunct="1"/>
            <a:r>
              <a:rPr lang="en-US" altLang="en-US"/>
              <a:t>Interrupt Handling</a:t>
            </a:r>
            <a:endParaRPr lang="en-US" alt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9"/>
            <a:ext cx="6609234" cy="4192621"/>
          </a:xfrm>
        </p:spPr>
        <p:txBody>
          <a:bodyPr/>
          <a:lstStyle/>
          <a:p>
            <a:r>
              <a:rPr lang="en-US" altLang="en-US" dirty="0"/>
              <a:t>The operating system preserves the state of the CPU by storing the registers and the program counter</a:t>
            </a:r>
            <a:endParaRPr lang="en-US" altLang="en-US" dirty="0"/>
          </a:p>
          <a:p>
            <a:r>
              <a:rPr lang="en-US" altLang="en-US" dirty="0"/>
              <a:t>Determines which type of interrupt has occurred:</a:t>
            </a:r>
            <a:endParaRPr lang="en-US" altLang="en-US" dirty="0"/>
          </a:p>
          <a:p>
            <a:r>
              <a:rPr lang="en-US" altLang="en-US" dirty="0"/>
              <a:t>Separate segments of code determine what action should be taken for each type of interrupt</a:t>
            </a:r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4313"/>
            <a:ext cx="8116888" cy="576262"/>
          </a:xfrm>
        </p:spPr>
        <p:txBody>
          <a:bodyPr/>
          <a:lstStyle/>
          <a:p>
            <a:pPr eaLnBrk="1" hangingPunct="1"/>
            <a:r>
              <a:rPr lang="en-US" altLang="en-US"/>
              <a:t>Interrupt-drive I/O Cycle</a:t>
            </a:r>
            <a:endParaRPr lang="en-US" alt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179513"/>
            <a:ext cx="5084762" cy="501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725"/>
            <a:ext cx="8099425" cy="576263"/>
          </a:xfrm>
        </p:spPr>
        <p:txBody>
          <a:bodyPr/>
          <a:lstStyle/>
          <a:p>
            <a:pPr eaLnBrk="1" hangingPunct="1"/>
            <a:r>
              <a:rPr lang="en-US" altLang="en-US"/>
              <a:t>I/O Structure</a:t>
            </a:r>
            <a:endParaRPr lang="en-US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5351" y="1244600"/>
            <a:ext cx="6618153" cy="43519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Two methods for handling I/O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After I/O starts, control returns to user program only upon I/O completion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After I/O starts, control returns to user program without waiting for I/O completion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725"/>
            <a:ext cx="8099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I/O Structure </a:t>
            </a:r>
            <a:r>
              <a:rPr lang="en-US" altLang="en-US"/>
              <a:t>(Cont.)</a:t>
            </a:r>
            <a:endParaRPr lang="en-US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5351" y="1244600"/>
            <a:ext cx="7202048" cy="452823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After I/O starts, control returns to user program only upon I/O completion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Wait instruction idles the CPU until the next interrupt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Wait loop (contention for memory access)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At most one I/O request is outstanding at a time, no simultaneous I/O processing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After I/O starts, control returns to user program without waiting for I/O completion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 call </a:t>
            </a:r>
            <a:r>
              <a:rPr lang="en-US" altLang="en-US" dirty="0"/>
              <a:t>– request to the OS to allow user to wait for I/O completion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Device-status table </a:t>
            </a:r>
            <a:r>
              <a:rPr lang="en-US" altLang="en-US" dirty="0"/>
              <a:t>contains entry for each I/O device indicating its type, address, and state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OS indexes into I/O device table to determine device status and to modify table entry to include interrupt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1613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/>
              <a:t>Computer Startup</a:t>
            </a:r>
            <a:endParaRPr lang="en-US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1" y="1233489"/>
            <a:ext cx="6432550" cy="441619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Bootstrap program </a:t>
            </a:r>
            <a:r>
              <a:rPr lang="en-US" altLang="en-US" dirty="0"/>
              <a:t>is loaded at power-up or reboot</a:t>
            </a:r>
            <a:endParaRPr lang="en-US" altLang="en-US" dirty="0"/>
          </a:p>
          <a:p>
            <a:pPr lvl="1"/>
            <a:r>
              <a:rPr lang="en-US" altLang="en-US" dirty="0"/>
              <a:t>Typically stored in ROM or EPROM, generally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firmware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Initializes all aspects of system</a:t>
            </a:r>
            <a:endParaRPr lang="en-US" altLang="en-US" dirty="0"/>
          </a:p>
          <a:p>
            <a:pPr lvl="1"/>
            <a:r>
              <a:rPr lang="en-US" altLang="en-US" dirty="0"/>
              <a:t>Loads operating system kernel and starts execution</a:t>
            </a: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44488" y="2888119"/>
            <a:ext cx="5116286" cy="10307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Storage Structure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Structure</a:t>
            </a:r>
            <a:endParaRPr lang="en-US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1688" y="1143002"/>
            <a:ext cx="6744624" cy="4393640"/>
          </a:xfrm>
        </p:spPr>
        <p:txBody>
          <a:bodyPr/>
          <a:lstStyle/>
          <a:p>
            <a:r>
              <a:rPr lang="en-US" altLang="en-US" sz="1700" dirty="0"/>
              <a:t>Main memory – only large storage media that the CPU can access directly</a:t>
            </a:r>
            <a:endParaRPr lang="en-US" altLang="en-US" sz="17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Random access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1600" dirty="0"/>
              <a:t>Typically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volatile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Typically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random-access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the form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Dynamic Random-access Memory (DRAM)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1700" dirty="0"/>
              <a:t>Secondary storage – extension of main memory that provides large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nonvolatile </a:t>
            </a:r>
            <a:r>
              <a:rPr lang="en-US" altLang="en-US" sz="1700" dirty="0"/>
              <a:t>storage capacity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 (Cont.)</a:t>
            </a:r>
            <a:endParaRPr lang="en-US" alt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1688" y="1099455"/>
            <a:ext cx="6905398" cy="444137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Hard Disk Drives </a:t>
            </a:r>
            <a:r>
              <a:rPr lang="en-US" altLang="en-US" sz="1700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HDD</a:t>
            </a:r>
            <a:r>
              <a:rPr lang="en-US" altLang="en-US" sz="1700" dirty="0"/>
              <a:t>) – rigid metal or glass platters covered with magnetic recording material </a:t>
            </a:r>
            <a:endParaRPr lang="en-US" altLang="en-US" sz="1700" dirty="0"/>
          </a:p>
          <a:p>
            <a:pPr lvl="1"/>
            <a:r>
              <a:rPr lang="en-US" altLang="en-US" sz="1600" dirty="0"/>
              <a:t>Disk surface is logically divided into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 tracks</a:t>
            </a:r>
            <a:r>
              <a:rPr lang="en-US" altLang="en-US" sz="1600" dirty="0"/>
              <a:t>, which are subdivided into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sectors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1600" dirty="0"/>
              <a:t>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disk controller </a:t>
            </a:r>
            <a:r>
              <a:rPr lang="en-US" altLang="en-US" sz="1600" dirty="0"/>
              <a:t>determines the logical interaction between the device and the computer </a:t>
            </a:r>
            <a:endParaRPr lang="en-US" altLang="en-US" sz="16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Non-volatile memory</a:t>
            </a:r>
            <a:r>
              <a:rPr lang="en-US" altLang="en-US" sz="1700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NVM</a:t>
            </a:r>
            <a:r>
              <a:rPr lang="en-US" altLang="en-US" sz="1700" dirty="0"/>
              <a:t>)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sz="1700" dirty="0"/>
              <a:t>devices– faster than hard disks, nonvolatile</a:t>
            </a:r>
            <a:endParaRPr lang="en-US" altLang="en-US" sz="1700" dirty="0"/>
          </a:p>
          <a:p>
            <a:pPr lvl="1"/>
            <a:r>
              <a:rPr lang="en-US" altLang="en-US" sz="1600" dirty="0"/>
              <a:t>Various technologies</a:t>
            </a:r>
            <a:endParaRPr lang="en-US" altLang="en-US" sz="1600" dirty="0"/>
          </a:p>
          <a:p>
            <a:pPr lvl="1"/>
            <a:r>
              <a:rPr lang="en-US" altLang="en-US" sz="1600" dirty="0"/>
              <a:t>Becoming more popular as capacity and performance increases, price drops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3"/>
          <p:cNvSpPr>
            <a:spLocks noGrp="1" noChangeArrowheads="1"/>
          </p:cNvSpPr>
          <p:nvPr>
            <p:ph type="title"/>
          </p:nvPr>
        </p:nvSpPr>
        <p:spPr>
          <a:xfrm>
            <a:off x="947738" y="203200"/>
            <a:ext cx="7851775" cy="576263"/>
          </a:xfrm>
        </p:spPr>
        <p:txBody>
          <a:bodyPr/>
          <a:lstStyle/>
          <a:p>
            <a:r>
              <a:rPr lang="en-US" altLang="en-US" sz="3000"/>
              <a:t>Storage Definitions and Notation Review</a:t>
            </a:r>
            <a:endParaRPr lang="en-US" altLang="en-US" sz="3000"/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1079500"/>
            <a:ext cx="73533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 bwMode="auto">
          <a:xfrm>
            <a:off x="842962" y="1079500"/>
            <a:ext cx="8039100" cy="4953000"/>
          </a:xfrm>
          <a:prstGeom prst="rect">
            <a:avLst/>
          </a:prstGeom>
          <a:solidFill>
            <a:srgbClr val="CEEBF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r>
              <a:rPr lang="en-US" sz="1400" dirty="0"/>
              <a:t> The basic unit of computer storage is the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sz="1400" dirty="0"/>
              <a:t>. A bit can contain one of two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values, 0 and 1. All other storage in a computer is based on collections of bits.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Given enough bits, it is amazing how many things a computer can represent: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numbers, letters, images, movies, sounds, documents, and programs, to name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a few.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byte</a:t>
            </a:r>
            <a:r>
              <a:rPr lang="en-US" sz="1400" dirty="0"/>
              <a:t> is 8 bits, and on most computers it is the smallest convenient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chunk of storage. For example, most computers don’t have an instruction to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move a bit but do have one to move a byte. A less common term is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word</a:t>
            </a:r>
            <a:r>
              <a:rPr lang="en-US" sz="1400" dirty="0"/>
              <a:t>,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which is a given computer architecture’s native unit of data. A word is made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up of one or more bytes. For example, a computer that has 64-bit registers and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64-bit memory addressing typically has 64-bit (8-byte) words. A computer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executes many operations in its native word size rather than a byte at a time.</a:t>
            </a:r>
            <a:endParaRPr lang="en-US" sz="1400" dirty="0"/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Computer storage, along with most computer throughput, is generally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measured and manipulated in bytes and collections of bytes.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kilobyte</a:t>
            </a:r>
            <a:r>
              <a:rPr lang="en-US" sz="1400" dirty="0"/>
              <a:t>, or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KB , is 1,024 bytes;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megabyte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MB</a:t>
            </a:r>
            <a:r>
              <a:rPr lang="en-US" sz="1400" dirty="0"/>
              <a:t>, is 1,024</a:t>
            </a:r>
            <a:r>
              <a:rPr lang="en-US" sz="1400" baseline="30000" dirty="0"/>
              <a:t>2</a:t>
            </a:r>
            <a:r>
              <a:rPr lang="en-US" sz="1400" dirty="0"/>
              <a:t>  bytes;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gigabyte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GB</a:t>
            </a:r>
            <a:r>
              <a:rPr lang="en-US" sz="1400" dirty="0"/>
              <a:t>, is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1,024</a:t>
            </a:r>
            <a:r>
              <a:rPr lang="en-US" sz="1400" baseline="30000" dirty="0"/>
              <a:t>3</a:t>
            </a:r>
            <a:r>
              <a:rPr lang="en-US" sz="1400" dirty="0"/>
              <a:t>  bytes;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terabyte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TB</a:t>
            </a:r>
            <a:r>
              <a:rPr lang="en-US" sz="1400" dirty="0"/>
              <a:t>, is 1,024</a:t>
            </a:r>
            <a:r>
              <a:rPr lang="en-US" sz="1400" baseline="30000" dirty="0"/>
              <a:t>4</a:t>
            </a:r>
            <a:r>
              <a:rPr lang="en-US" sz="1400" dirty="0"/>
              <a:t>  bytes; and a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petabyte</a:t>
            </a:r>
            <a:r>
              <a:rPr lang="en-US" sz="1400" dirty="0"/>
              <a:t>, or </a:t>
            </a:r>
            <a:r>
              <a:rPr kumimoji="1" lang="en-US" sz="1500" b="1" dirty="0">
                <a:solidFill>
                  <a:srgbClr val="006699"/>
                </a:solidFill>
                <a:latin typeface="+mj-lt"/>
              </a:rPr>
              <a:t>PB</a:t>
            </a:r>
            <a:r>
              <a:rPr lang="en-US" sz="1400" dirty="0"/>
              <a:t>, is 1,024</a:t>
            </a:r>
            <a:r>
              <a:rPr lang="en-US" sz="1400" baseline="30000" dirty="0"/>
              <a:t>5</a:t>
            </a:r>
            <a:endParaRPr lang="en-US" sz="1400" baseline="30000" dirty="0"/>
          </a:p>
          <a:p>
            <a:pPr>
              <a:defRPr/>
            </a:pPr>
            <a:r>
              <a:rPr lang="en-US" sz="1400" dirty="0"/>
              <a:t>bytes. Computer manufacturers often round off these numbers and say that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a megabyte is 1 million bytes and a gigabyte is 1 billion bytes. Networking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measurements are an exception to this general rule; they are given in bits</a:t>
            </a:r>
            <a:endParaRPr lang="en-US" sz="1400" dirty="0"/>
          </a:p>
          <a:p>
            <a:pPr>
              <a:defRPr/>
            </a:pPr>
            <a:r>
              <a:rPr lang="en-US" sz="1400" dirty="0"/>
              <a:t>(because networks move data a bit at a time).</a:t>
            </a:r>
            <a:endParaRPr lang="en-US" sz="1400" dirty="0"/>
          </a:p>
          <a:p>
            <a:pPr>
              <a:defRPr/>
            </a:pPr>
            <a:endParaRPr lang="en-US" sz="1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211138"/>
            <a:ext cx="7661275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 Hierarchy</a:t>
            </a:r>
            <a:endParaRPr lang="en-US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124628"/>
            <a:ext cx="7810500" cy="4530725"/>
          </a:xfrm>
        </p:spPr>
        <p:txBody>
          <a:bodyPr/>
          <a:lstStyle/>
          <a:p>
            <a:r>
              <a:rPr lang="en-US" altLang="en-US" dirty="0"/>
              <a:t>Storage systems organized in hierarchy</a:t>
            </a:r>
            <a:endParaRPr lang="en-US" altLang="en-US" dirty="0"/>
          </a:p>
          <a:p>
            <a:pPr lvl="1"/>
            <a:r>
              <a:rPr lang="en-US" altLang="en-US" dirty="0"/>
              <a:t>Speed</a:t>
            </a:r>
            <a:endParaRPr lang="en-US" altLang="en-US" dirty="0"/>
          </a:p>
          <a:p>
            <a:pPr lvl="1"/>
            <a:r>
              <a:rPr lang="en-US" altLang="en-US" dirty="0"/>
              <a:t>Cost</a:t>
            </a:r>
            <a:endParaRPr lang="en-US" altLang="en-US" dirty="0"/>
          </a:p>
          <a:p>
            <a:pPr lvl="1"/>
            <a:r>
              <a:rPr lang="en-US" altLang="en-US" dirty="0"/>
              <a:t>Volatility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Caching</a:t>
            </a:r>
            <a:r>
              <a:rPr lang="en-US" altLang="en-US" dirty="0"/>
              <a:t> – copying information into faster storage system; main memory can be viewed as a cache for secondary storage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Device Driver </a:t>
            </a:r>
            <a:r>
              <a:rPr lang="en-US" altLang="en-US" dirty="0"/>
              <a:t>for each device controller to manage I/O</a:t>
            </a:r>
            <a:endParaRPr lang="en-US" altLang="en-US" dirty="0"/>
          </a:p>
          <a:p>
            <a:pPr lvl="1"/>
            <a:r>
              <a:rPr lang="en-US" altLang="en-US" dirty="0"/>
              <a:t>Provides uniform interface between controller and kernel</a:t>
            </a: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126413" cy="576262"/>
          </a:xfrm>
        </p:spPr>
        <p:txBody>
          <a:bodyPr/>
          <a:lstStyle/>
          <a:p>
            <a:pPr eaLnBrk="1" hangingPunct="1"/>
            <a:r>
              <a:rPr lang="en-US" altLang="en-US"/>
              <a:t>Storage-Device Hierarchy</a:t>
            </a:r>
            <a:endParaRPr lang="en-US" altLang="en-US"/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3" y="1455738"/>
            <a:ext cx="7483475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835025" y="212725"/>
            <a:ext cx="7702550" cy="576263"/>
          </a:xfrm>
        </p:spPr>
        <p:txBody>
          <a:bodyPr/>
          <a:lstStyle/>
          <a:p>
            <a:r>
              <a:rPr lang="en-US" altLang="en-US"/>
              <a:t>How a Modern Computer Works</a:t>
            </a:r>
            <a:endParaRPr lang="en-US" altLang="en-US"/>
          </a:p>
        </p:txBody>
      </p:sp>
      <p:sp>
        <p:nvSpPr>
          <p:cNvPr id="44035" name="TextBox 3"/>
          <p:cNvSpPr txBox="1">
            <a:spLocks noChangeArrowheads="1"/>
          </p:cNvSpPr>
          <p:nvPr/>
        </p:nvSpPr>
        <p:spPr bwMode="auto">
          <a:xfrm>
            <a:off x="4787900" y="5637213"/>
            <a:ext cx="2874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i="1">
                <a:latin typeface="Verdana" panose="020B0604030504040204" pitchFamily="34" charset="0"/>
              </a:rPr>
              <a:t>A von Neumann architecture</a:t>
            </a:r>
            <a:endParaRPr kumimoji="0" lang="en-US" altLang="en-US" sz="1400" i="1">
              <a:latin typeface="Verdana" panose="020B0604030504040204" pitchFamily="34" charset="0"/>
            </a:endParaRPr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025" y="1352550"/>
            <a:ext cx="5122863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0763" y="212725"/>
            <a:ext cx="7553325" cy="576263"/>
          </a:xfrm>
        </p:spPr>
        <p:txBody>
          <a:bodyPr/>
          <a:lstStyle/>
          <a:p>
            <a:pPr eaLnBrk="1" hangingPunct="1"/>
            <a:r>
              <a:rPr lang="en-US" altLang="en-US"/>
              <a:t>Direct Memory Access Structure</a:t>
            </a:r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6813550" cy="4056969"/>
          </a:xfrm>
        </p:spPr>
        <p:txBody>
          <a:bodyPr/>
          <a:lstStyle/>
          <a:p>
            <a:r>
              <a:rPr lang="en-US" altLang="en-US" dirty="0"/>
              <a:t>Used for high-speed I/O devices able to transmit information at close to memory speeds</a:t>
            </a:r>
            <a:endParaRPr lang="en-US" altLang="en-US" dirty="0"/>
          </a:p>
          <a:p>
            <a:r>
              <a:rPr lang="en-US" altLang="en-US" dirty="0"/>
              <a:t>Device controller transfers blocks of data from buffer storage directly to main memory without CPU intervention</a:t>
            </a:r>
            <a:endParaRPr lang="en-US" altLang="en-US" dirty="0"/>
          </a:p>
          <a:p>
            <a:r>
              <a:rPr lang="en-US" altLang="en-US" dirty="0"/>
              <a:t>Only one interrupt is generated per block, rather than the one interrupt per byte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95350" y="195263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Operating-System Operations</a:t>
            </a:r>
            <a:endParaRPr lang="en-US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154113"/>
            <a:ext cx="7670800" cy="49387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Bootstrap program – simple code to initialize the system, load the kernel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Kernel loads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Starts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 daemons </a:t>
            </a:r>
            <a:r>
              <a:rPr lang="en-US" altLang="en-US" dirty="0"/>
              <a:t>(services provided outside of the kernel)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Kernel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interrupt driven </a:t>
            </a:r>
            <a:r>
              <a:rPr lang="en-US" altLang="en-US" dirty="0"/>
              <a:t>(hardware and software)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interrupt by one of the devices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Software interrupt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exception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trap</a:t>
            </a:r>
            <a:r>
              <a:rPr lang="en-US" altLang="en-US" dirty="0"/>
              <a:t>):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Software error (e.g., division by zero)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en-US" dirty="0"/>
              <a:t>Request for operating system service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 call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/>
              <a:t>Other process problems include infinite loop, processes modifying each other or the operating system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Multiprogramming (Batch system)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835025"/>
            <a:ext cx="6337387" cy="5193986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Single user cannot always keep CPU and I/O devices busy </a:t>
            </a: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Multiprogramming organizes jobs (code and data) so CPU always has one to execute</a:t>
            </a: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A subset of total jobs in system is kept in memory</a:t>
            </a: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One job selected and run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job scheduling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When job has to wait (for I/O for example), OS switches to another job</a:t>
            </a:r>
            <a:endParaRPr lang="en-US" altLang="en-US" sz="1600" dirty="0"/>
          </a:p>
          <a:p>
            <a:pPr lvl="1">
              <a:lnSpc>
                <a:spcPct val="90000"/>
              </a:lnSpc>
            </a:pPr>
            <a:endParaRPr lang="en-US" altLang="en-US" sz="800" dirty="0"/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Multitasking (Timesharing)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835026"/>
            <a:ext cx="6207218" cy="4872503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sz="1600" dirty="0"/>
              <a:t>A logical extension of Batch systems– the CPU switches jobs so frequently that users can interact with each job while it is running, creating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interactive</a:t>
            </a:r>
            <a:r>
              <a:rPr lang="en-US" altLang="en-US" sz="1600" dirty="0"/>
              <a:t> computing</a:t>
            </a:r>
            <a:endParaRPr lang="en-US" altLang="en-US" sz="1600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Response time </a:t>
            </a:r>
            <a:r>
              <a:rPr lang="en-US" altLang="en-US" sz="1600" dirty="0"/>
              <a:t>should be &lt; 1 second</a:t>
            </a:r>
            <a:endParaRPr lang="en-US" altLang="en-US" sz="1600" dirty="0"/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Each user has at least one program executing in memory </a:t>
            </a:r>
            <a:r>
              <a:rPr lang="en-US" altLang="en-US" sz="1600" dirty="0">
                <a:sym typeface="Wingdings 3" panose="05040102010807070707" pitchFamily="18" charset="2"/>
              </a:rPr>
              <a:t>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Wingdings 3" panose="05040102010807070707" pitchFamily="18" charset="2"/>
              </a:rPr>
              <a:t>process</a:t>
            </a:r>
            <a:endParaRPr lang="en-US" altLang="en-US" b="1" dirty="0">
              <a:solidFill>
                <a:srgbClr val="006699"/>
              </a:solidFill>
              <a:latin typeface="+mj-lt"/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Wingdings 3" panose="05040102010807070707" pitchFamily="18" charset="2"/>
              </a:rPr>
              <a:t>If several jobs ready to run at the same time 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Wingdings 3" panose="05040102010807070707" pitchFamily="18" charset="2"/>
              </a:rPr>
              <a:t>CPU scheduling</a:t>
            </a:r>
            <a:endParaRPr lang="en-US" altLang="en-US" b="1" dirty="0">
              <a:solidFill>
                <a:srgbClr val="006699"/>
              </a:solidFill>
              <a:latin typeface="+mj-lt"/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1600" dirty="0">
                <a:sym typeface="Wingdings 3" panose="05040102010807070707" pitchFamily="18" charset="2"/>
              </a:rPr>
              <a:t>If processes don</a:t>
            </a:r>
            <a:r>
              <a:rPr lang="ja-JP" altLang="en-US" sz="1600" dirty="0">
                <a:sym typeface="Wingdings 3" panose="05040102010807070707" pitchFamily="18" charset="2"/>
              </a:rPr>
              <a:t>’</a:t>
            </a:r>
            <a:r>
              <a:rPr lang="en-US" altLang="ja-JP" sz="1600" dirty="0">
                <a:sym typeface="Wingdings 3" panose="05040102010807070707" pitchFamily="18" charset="2"/>
              </a:rPr>
              <a:t>t fit in memory, </a:t>
            </a:r>
            <a:r>
              <a:rPr lang="en-US" altLang="ja-JP" b="1" dirty="0">
                <a:solidFill>
                  <a:srgbClr val="006699"/>
                </a:solidFill>
                <a:latin typeface="+mj-lt"/>
                <a:sym typeface="Wingdings 3" panose="05040102010807070707" pitchFamily="18" charset="2"/>
              </a:rPr>
              <a:t>swapping</a:t>
            </a:r>
            <a:r>
              <a:rPr lang="en-US" altLang="ja-JP" sz="1600" dirty="0">
                <a:sym typeface="Wingdings 3" panose="05040102010807070707" pitchFamily="18" charset="2"/>
              </a:rPr>
              <a:t> moves them in and out to run</a:t>
            </a:r>
            <a:endParaRPr lang="en-US" altLang="ja-JP" sz="1600" dirty="0">
              <a:sym typeface="Wingdings 3" panose="050401020108070707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Wingdings 3" panose="05040102010807070707" pitchFamily="18" charset="2"/>
              </a:rPr>
              <a:t>Virtual memory </a:t>
            </a:r>
            <a:r>
              <a:rPr lang="en-US" altLang="en-US" sz="1600" dirty="0">
                <a:sym typeface="Wingdings 3" panose="05040102010807070707" pitchFamily="18" charset="2"/>
              </a:rPr>
              <a:t>allows execution of processes not completely in memory</a:t>
            </a:r>
            <a:endParaRPr lang="en-US" altLang="en-US" sz="1600" dirty="0">
              <a:sym typeface="Wingdings 3" panose="05040102010807070707" pitchFamily="18" charset="2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Memory Layout for Multiprogrammed System</a:t>
            </a:r>
            <a:endParaRPr lang="en-US" altLang="en-US" sz="2800"/>
          </a:p>
        </p:txBody>
      </p:sp>
      <p:pic>
        <p:nvPicPr>
          <p:cNvPr id="6349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488" y="1327603"/>
            <a:ext cx="2270125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9513" y="19843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Dual-mode Operation</a:t>
            </a:r>
            <a:endParaRPr lang="en-US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1" y="1233488"/>
            <a:ext cx="7011168" cy="46247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Dual-mode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operation allows OS to protect itself and other system components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kernel mode 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 bit </a:t>
            </a:r>
            <a:r>
              <a:rPr lang="en-US" altLang="en-US" dirty="0"/>
              <a:t>provided by hardware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Provides ability to distinguish when system is running user code or kernel code.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When a user is running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“user”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When kernel code is executing </a:t>
            </a:r>
            <a:r>
              <a:rPr lang="en-US" altLang="en-US" dirty="0">
                <a:sym typeface="Wingdings 3" panose="05040102010807070707" pitchFamily="18" charset="2"/>
              </a:rPr>
              <a:t> </a:t>
            </a:r>
            <a:r>
              <a:rPr lang="en-US" altLang="en-US" dirty="0">
                <a:sym typeface="Wingdings" panose="05000000000000000000" pitchFamily="2" charset="2"/>
              </a:rPr>
              <a:t>mode bit is “kernel”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Wingdings" panose="05000000000000000000" pitchFamily="2" charset="2"/>
              </a:rPr>
              <a:t>How do we guarantee that user does not explicitly set the mode bit to “kernel”?</a:t>
            </a:r>
            <a:endParaRPr lang="en-US" altLang="en-US" dirty="0"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System call changes mode to kernel, return from call resets it to user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Some instructions designated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privileged</a:t>
            </a:r>
            <a:r>
              <a:rPr lang="en-US" altLang="en-US" dirty="0"/>
              <a:t>, only executable in kernel mode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/>
              <a:t>Transition from User to Kernel Mode</a:t>
            </a:r>
            <a:endParaRPr lang="en-US" altLang="en-US"/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512" y="1305890"/>
            <a:ext cx="7053262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82650" y="136525"/>
            <a:ext cx="7924800" cy="647700"/>
          </a:xfrm>
        </p:spPr>
        <p:txBody>
          <a:bodyPr/>
          <a:lstStyle/>
          <a:p>
            <a:pPr eaLnBrk="1" hangingPunct="1"/>
            <a:r>
              <a:rPr lang="en-US" altLang="en-US" dirty="0"/>
              <a:t>Timer</a:t>
            </a:r>
            <a:endParaRPr lang="en-US" altLang="en-US" dirty="0"/>
          </a:p>
        </p:txBody>
      </p:sp>
      <p:sp>
        <p:nvSpPr>
          <p:cNvPr id="67587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93750" y="1060450"/>
            <a:ext cx="7781925" cy="2817813"/>
          </a:xfrm>
        </p:spPr>
        <p:txBody>
          <a:bodyPr/>
          <a:lstStyle/>
          <a:p>
            <a:r>
              <a:rPr lang="en-US" altLang="en-US" dirty="0"/>
              <a:t>Timer to prevent infinite loop (or process hogging resources)</a:t>
            </a:r>
            <a:endParaRPr lang="en-US" altLang="en-US" dirty="0"/>
          </a:p>
          <a:p>
            <a:pPr lvl="1"/>
            <a:r>
              <a:rPr lang="en-US" altLang="en-US" dirty="0"/>
              <a:t>Timer is set to interrupt the computer after some time period</a:t>
            </a:r>
            <a:endParaRPr lang="en-US" altLang="en-US" dirty="0"/>
          </a:p>
          <a:p>
            <a:pPr lvl="1"/>
            <a:r>
              <a:rPr lang="en-US" altLang="en-US" dirty="0"/>
              <a:t>Keep a counter that is decremented by the physical clock</a:t>
            </a:r>
            <a:endParaRPr lang="en-US" altLang="en-US" dirty="0"/>
          </a:p>
          <a:p>
            <a:pPr lvl="1"/>
            <a:r>
              <a:rPr lang="en-US" altLang="en-US" dirty="0"/>
              <a:t>Operating system set the counter (privileged instruction)</a:t>
            </a:r>
            <a:endParaRPr lang="en-US" altLang="en-US" dirty="0"/>
          </a:p>
          <a:p>
            <a:pPr lvl="1"/>
            <a:r>
              <a:rPr lang="en-US" altLang="en-US" dirty="0"/>
              <a:t>When counter zero generate an interrupt</a:t>
            </a:r>
            <a:endParaRPr lang="en-US" altLang="en-US" dirty="0"/>
          </a:p>
          <a:p>
            <a:pPr lvl="1"/>
            <a:r>
              <a:rPr lang="en-US" altLang="en-US" dirty="0"/>
              <a:t>Set up before scheduling process to regain control or terminate program that exceeds allotted time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76400" y="2888119"/>
            <a:ext cx="6660776" cy="10307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Computer System Architecture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00138" y="227013"/>
            <a:ext cx="7399337" cy="558800"/>
          </a:xfrm>
        </p:spPr>
        <p:txBody>
          <a:bodyPr/>
          <a:lstStyle/>
          <a:p>
            <a:r>
              <a:rPr lang="en-US" altLang="en-US"/>
              <a:t>Computer-System Architecture</a:t>
            </a:r>
            <a:endParaRPr lang="en-US" altLang="en-US"/>
          </a:p>
        </p:txBody>
      </p:sp>
      <p:sp>
        <p:nvSpPr>
          <p:cNvPr id="48131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806450" y="1233488"/>
            <a:ext cx="7693025" cy="4867275"/>
          </a:xfrm>
        </p:spPr>
        <p:txBody>
          <a:bodyPr/>
          <a:lstStyle/>
          <a:p>
            <a:r>
              <a:rPr lang="en-US" altLang="en-US" dirty="0"/>
              <a:t>Most systems use a single general-purpose processor</a:t>
            </a:r>
            <a:endParaRPr lang="en-US" altLang="en-US" dirty="0"/>
          </a:p>
          <a:p>
            <a:pPr lvl="1"/>
            <a:r>
              <a:rPr lang="en-US" altLang="en-US" dirty="0"/>
              <a:t>Most systems have special-purpose processors as well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Multiprocessors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systems growing in use and importance</a:t>
            </a:r>
            <a:endParaRPr lang="en-US" altLang="en-US" dirty="0"/>
          </a:p>
          <a:p>
            <a:pPr lvl="1"/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 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tightly-coupled systems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Advantages include:</a:t>
            </a:r>
            <a:endParaRPr lang="en-US" altLang="en-US" dirty="0"/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Increased throughput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Economy of scale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Increased reliability </a:t>
            </a:r>
            <a:r>
              <a:rPr lang="en-US" altLang="en-US" dirty="0"/>
              <a:t>– graceful degradation or fault tolerance</a:t>
            </a:r>
            <a:endParaRPr lang="en-US" altLang="en-US" dirty="0"/>
          </a:p>
          <a:p>
            <a:pPr lvl="1"/>
            <a:r>
              <a:rPr lang="en-US" altLang="en-US" dirty="0"/>
              <a:t>Two types:</a:t>
            </a:r>
            <a:endParaRPr lang="en-US" altLang="en-US" dirty="0"/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Asymmetric Multiprocessing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processor is assigned a specie task.</a:t>
            </a:r>
            <a:endParaRPr lang="en-US" altLang="en-US" dirty="0"/>
          </a:p>
          <a:p>
            <a:pPr marL="1200150" lvl="2" indent="-342900">
              <a:buFont typeface="Arial" panose="020B0604020202020204" pitchFamily="34" charset="0"/>
              <a:buAutoNum type="arabicPeriod"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Symmetric Multiprocessing </a:t>
            </a:r>
            <a:r>
              <a:rPr lang="en-US" altLang="en-US" dirty="0"/>
              <a:t>– each processor performs all tasks</a:t>
            </a:r>
            <a:endParaRPr lang="en-US" altLang="en-US" dirty="0"/>
          </a:p>
          <a:p>
            <a:pPr marL="1200150" lvl="2" indent="-342900">
              <a:buFont typeface="Webdings" panose="05030102010509060703" pitchFamily="18" charset="2"/>
              <a:buNone/>
            </a:pPr>
            <a:endParaRPr lang="en-US" altLang="en-US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939800" y="133350"/>
            <a:ext cx="8229600" cy="641350"/>
          </a:xfrm>
        </p:spPr>
        <p:txBody>
          <a:bodyPr/>
          <a:lstStyle/>
          <a:p>
            <a:r>
              <a:rPr lang="en-US" altLang="en-US" sz="3000"/>
              <a:t>Symmetric Multiprocessing Architecture</a:t>
            </a:r>
            <a:endParaRPr lang="en-US" altLang="en-US" sz="3000"/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1822450"/>
            <a:ext cx="5051425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070850" cy="576262"/>
          </a:xfrm>
        </p:spPr>
        <p:txBody>
          <a:bodyPr/>
          <a:lstStyle/>
          <a:p>
            <a:r>
              <a:rPr lang="en-US" altLang="en-US" dirty="0"/>
              <a:t>Dual-Core Design</a:t>
            </a:r>
            <a:endParaRPr lang="en-US" altLang="en-US" dirty="0"/>
          </a:p>
        </p:txBody>
      </p:sp>
      <p:sp>
        <p:nvSpPr>
          <p:cNvPr id="52227" name="Content Placeholder 1"/>
          <p:cNvSpPr>
            <a:spLocks noGrp="1" noChangeArrowheads="1"/>
          </p:cNvSpPr>
          <p:nvPr>
            <p:ph sz="half" idx="1"/>
          </p:nvPr>
        </p:nvSpPr>
        <p:spPr>
          <a:xfrm>
            <a:off x="854075" y="1108076"/>
            <a:ext cx="6921313" cy="1216772"/>
          </a:xfrm>
        </p:spPr>
        <p:txBody>
          <a:bodyPr/>
          <a:lstStyle/>
          <a:p>
            <a:r>
              <a:rPr lang="en-US" altLang="en-US" sz="1800" dirty="0"/>
              <a:t>Multi-chip and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multicore</a:t>
            </a:r>
            <a:endParaRPr lang="en-US" altLang="en-US" sz="18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1800" dirty="0"/>
              <a:t>Systems containing all  chips</a:t>
            </a:r>
            <a:endParaRPr lang="en-US" altLang="en-US" sz="1800" b="1" dirty="0">
              <a:solidFill>
                <a:srgbClr val="3366FF"/>
              </a:solidFill>
            </a:endParaRPr>
          </a:p>
          <a:p>
            <a:pPr lvl="1"/>
            <a:r>
              <a:rPr lang="en-US" altLang="en-US" sz="1800" dirty="0"/>
              <a:t>Chassis containing multiple separate systems</a:t>
            </a:r>
            <a:endParaRPr lang="en-US" altLang="en-US" sz="1800" dirty="0"/>
          </a:p>
          <a:p>
            <a:pPr lvl="1"/>
            <a:endParaRPr lang="en-US" altLang="en-US" dirty="0"/>
          </a:p>
        </p:txBody>
      </p:sp>
      <p:pic>
        <p:nvPicPr>
          <p:cNvPr id="5222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056" y="2388259"/>
            <a:ext cx="4039281" cy="3601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1138"/>
            <a:ext cx="8034338" cy="576262"/>
          </a:xfrm>
        </p:spPr>
        <p:txBody>
          <a:bodyPr/>
          <a:lstStyle/>
          <a:p>
            <a:r>
              <a:rPr lang="en-US" altLang="en-US"/>
              <a:t>Clustered Systems</a:t>
            </a:r>
            <a:endParaRPr lang="en-US" altLang="en-US"/>
          </a:p>
        </p:txBody>
      </p:sp>
      <p:sp>
        <p:nvSpPr>
          <p:cNvPr id="55299" name="Content Placeholder 2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r>
              <a:rPr lang="en-US" altLang="en-US" dirty="0"/>
              <a:t>Like multiprocessor systems, but multiple systems working together</a:t>
            </a:r>
            <a:endParaRPr lang="en-US" altLang="en-US" dirty="0"/>
          </a:p>
          <a:p>
            <a:pPr lvl="1"/>
            <a:r>
              <a:rPr lang="en-US" altLang="en-US" dirty="0"/>
              <a:t>Usually sharing storage via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storage-area network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SAN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Provides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high-availability</a:t>
            </a:r>
            <a:r>
              <a:rPr lang="en-US" altLang="en-US" b="1" dirty="0"/>
              <a:t> </a:t>
            </a:r>
            <a:r>
              <a:rPr lang="en-US" altLang="en-US" dirty="0"/>
              <a:t>service which survives failures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Asymmetric clustering </a:t>
            </a:r>
            <a:r>
              <a:rPr lang="en-US" altLang="en-US" dirty="0"/>
              <a:t>has one machine in hot-standby mode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Symmetric clustering </a:t>
            </a:r>
            <a:r>
              <a:rPr lang="en-US" altLang="en-US" dirty="0"/>
              <a:t>has multiple nodes running applications, monitoring each other</a:t>
            </a:r>
            <a:endParaRPr lang="en-US" altLang="en-US" dirty="0"/>
          </a:p>
          <a:p>
            <a:pPr lvl="1"/>
            <a:r>
              <a:rPr lang="en-US" altLang="en-US" dirty="0"/>
              <a:t>Some clusters are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high-performance computing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HPC</a:t>
            </a:r>
            <a:r>
              <a:rPr lang="en-US" altLang="en-US" dirty="0"/>
              <a:t>)</a:t>
            </a:r>
            <a:endParaRPr lang="en-US" altLang="en-US" dirty="0"/>
          </a:p>
          <a:p>
            <a:pPr lvl="2"/>
            <a:r>
              <a:rPr lang="en-US" altLang="en-US" dirty="0"/>
              <a:t>Applications must be written to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parallelization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Some have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distributed lock manager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DLM</a:t>
            </a:r>
            <a:r>
              <a:rPr lang="en-US" altLang="en-US" dirty="0"/>
              <a:t>) to avoid conflicting operations</a:t>
            </a:r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7963"/>
            <a:ext cx="8061325" cy="576262"/>
          </a:xfrm>
        </p:spPr>
        <p:txBody>
          <a:bodyPr/>
          <a:lstStyle/>
          <a:p>
            <a:r>
              <a:rPr lang="en-US" altLang="en-US"/>
              <a:t>Clustered Systems</a:t>
            </a:r>
            <a:endParaRPr lang="en-US" altLang="en-US"/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275" y="2058988"/>
            <a:ext cx="5148263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015288" cy="576263"/>
          </a:xfrm>
        </p:spPr>
        <p:txBody>
          <a:bodyPr/>
          <a:lstStyle/>
          <a:p>
            <a:r>
              <a:rPr lang="en-US" altLang="en-US"/>
              <a:t>PC Motherboard</a:t>
            </a:r>
            <a:endParaRPr lang="en-US" altLang="en-US"/>
          </a:p>
        </p:txBody>
      </p:sp>
      <p:pic>
        <p:nvPicPr>
          <p:cNvPr id="5837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0738" y="1046163"/>
            <a:ext cx="6867525" cy="5349875"/>
          </a:xfr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46306" y="2888119"/>
            <a:ext cx="7016376" cy="10307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Computer System Environments</a:t>
            </a:r>
            <a:endParaRPr lang="en-US" altLang="en-US" sz="32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960668" y="171450"/>
            <a:ext cx="8016875" cy="622300"/>
          </a:xfrm>
        </p:spPr>
        <p:txBody>
          <a:bodyPr/>
          <a:lstStyle/>
          <a:p>
            <a:r>
              <a:rPr lang="en-US" altLang="en-US" sz="3000" dirty="0"/>
              <a:t>Computing Environments</a:t>
            </a:r>
            <a:endParaRPr lang="en-US" altLang="en-US" sz="3000" dirty="0"/>
          </a:p>
        </p:txBody>
      </p:sp>
      <p:sp>
        <p:nvSpPr>
          <p:cNvPr id="100355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819151" y="1296988"/>
            <a:ext cx="6506936" cy="4145869"/>
          </a:xfrm>
        </p:spPr>
        <p:txBody>
          <a:bodyPr/>
          <a:lstStyle/>
          <a:p>
            <a:r>
              <a:rPr lang="en-US" altLang="en-US" dirty="0"/>
              <a:t>Traditional</a:t>
            </a:r>
            <a:endParaRPr lang="en-US" altLang="en-US" dirty="0"/>
          </a:p>
          <a:p>
            <a:r>
              <a:rPr lang="en-US" altLang="en-US" dirty="0"/>
              <a:t>Mobile</a:t>
            </a:r>
            <a:endParaRPr lang="en-US" altLang="en-US" dirty="0"/>
          </a:p>
          <a:p>
            <a:r>
              <a:rPr lang="en-US" altLang="en-US" dirty="0"/>
              <a:t>Client Server</a:t>
            </a:r>
            <a:endParaRPr lang="en-US" altLang="en-US" dirty="0"/>
          </a:p>
          <a:p>
            <a:r>
              <a:rPr lang="en-US" altLang="en-US" dirty="0"/>
              <a:t>Peer-to-Peer</a:t>
            </a:r>
            <a:endParaRPr lang="en-US" altLang="en-US" dirty="0"/>
          </a:p>
          <a:p>
            <a:r>
              <a:rPr lang="en-US" altLang="en-US" dirty="0"/>
              <a:t>Cloud computing</a:t>
            </a:r>
            <a:endParaRPr lang="en-US" altLang="en-US" dirty="0"/>
          </a:p>
          <a:p>
            <a:r>
              <a:rPr lang="en-US" altLang="en-US" dirty="0"/>
              <a:t>Real-time Embedded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960668" y="171450"/>
            <a:ext cx="8016875" cy="622300"/>
          </a:xfrm>
        </p:spPr>
        <p:txBody>
          <a:bodyPr/>
          <a:lstStyle/>
          <a:p>
            <a:r>
              <a:rPr lang="en-US" altLang="en-US" sz="3000" dirty="0"/>
              <a:t>Traditional</a:t>
            </a:r>
            <a:endParaRPr lang="en-US" altLang="en-US" sz="3000" dirty="0"/>
          </a:p>
        </p:txBody>
      </p:sp>
      <p:sp>
        <p:nvSpPr>
          <p:cNvPr id="100355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819151" y="1296988"/>
            <a:ext cx="6506936" cy="4145869"/>
          </a:xfrm>
        </p:spPr>
        <p:txBody>
          <a:bodyPr/>
          <a:lstStyle/>
          <a:p>
            <a:r>
              <a:rPr lang="en-US" altLang="en-US" dirty="0"/>
              <a:t>Stand-alone general-purpose machines</a:t>
            </a:r>
            <a:endParaRPr lang="en-US" altLang="en-US" dirty="0"/>
          </a:p>
          <a:p>
            <a:r>
              <a:rPr lang="en-US" altLang="en-US" dirty="0"/>
              <a:t>But blurred as most systems interconnect with others (i.e., the Internet)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Portals</a:t>
            </a:r>
            <a:r>
              <a:rPr lang="en-US" altLang="en-US" dirty="0"/>
              <a:t> provide web access to internal systems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Network computers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thin clients</a:t>
            </a:r>
            <a:r>
              <a:rPr lang="en-US" altLang="en-US" dirty="0"/>
              <a:t>) are like Web terminals</a:t>
            </a:r>
            <a:endParaRPr lang="en-US" altLang="en-US" dirty="0"/>
          </a:p>
          <a:p>
            <a:r>
              <a:rPr lang="en-US" altLang="en-US" dirty="0"/>
              <a:t>Mobile computers interconnect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wireless networks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Networking becoming ubiquitous – even home systems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firewalls</a:t>
            </a:r>
            <a:r>
              <a:rPr lang="en-US" altLang="en-US" dirty="0"/>
              <a:t> to protect home computers from Internet attacks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476250" y="217488"/>
            <a:ext cx="8537575" cy="576262"/>
          </a:xfrm>
        </p:spPr>
        <p:txBody>
          <a:bodyPr/>
          <a:lstStyle/>
          <a:p>
            <a:r>
              <a:rPr lang="en-US" altLang="en-US" dirty="0"/>
              <a:t>Mobile</a:t>
            </a:r>
            <a:endParaRPr lang="en-US" altLang="en-US" dirty="0"/>
          </a:p>
        </p:txBody>
      </p:sp>
      <p:sp>
        <p:nvSpPr>
          <p:cNvPr id="101379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811213" y="1209674"/>
            <a:ext cx="7026501" cy="4178756"/>
          </a:xfrm>
        </p:spPr>
        <p:txBody>
          <a:bodyPr/>
          <a:lstStyle/>
          <a:p>
            <a:r>
              <a:rPr lang="en-US" altLang="en-US" dirty="0"/>
              <a:t>Handheld smartphones, tablets, etc.</a:t>
            </a:r>
            <a:endParaRPr lang="en-US" altLang="en-US" dirty="0"/>
          </a:p>
          <a:p>
            <a:r>
              <a:rPr lang="en-US" altLang="en-US" dirty="0"/>
              <a:t>What is the functional difference between them and a “traditional” laptop?</a:t>
            </a:r>
            <a:endParaRPr lang="en-US" altLang="en-US" dirty="0"/>
          </a:p>
          <a:p>
            <a:r>
              <a:rPr lang="en-US" altLang="en-US" dirty="0"/>
              <a:t>Extra feature – more OS features (GPS, gyroscope)</a:t>
            </a:r>
            <a:endParaRPr lang="en-US" altLang="en-US" dirty="0"/>
          </a:p>
          <a:p>
            <a:r>
              <a:rPr lang="en-US" altLang="en-US" dirty="0"/>
              <a:t>Allows new types of apps like </a:t>
            </a:r>
            <a:r>
              <a:rPr lang="en-US" altLang="en-US" b="1" i="1" dirty="0"/>
              <a:t>augmented reality</a:t>
            </a:r>
            <a:endParaRPr lang="en-US" altLang="en-US" b="1" i="1" dirty="0"/>
          </a:p>
          <a:p>
            <a:r>
              <a:rPr lang="en-US" altLang="en-US" dirty="0"/>
              <a:t>Use IEEE 802.11 wireless, or cellular data networks for connectivity</a:t>
            </a:r>
            <a:endParaRPr lang="en-US" altLang="en-US" dirty="0"/>
          </a:p>
          <a:p>
            <a:r>
              <a:rPr lang="en-US" altLang="en-US" dirty="0"/>
              <a:t>Leaders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Apple iOS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Google Android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6988" y="207963"/>
            <a:ext cx="7192962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Client Server</a:t>
            </a:r>
            <a:endParaRPr lang="en-US" altLang="en-US" sz="2800" dirty="0"/>
          </a:p>
        </p:txBody>
      </p:sp>
      <p:sp>
        <p:nvSpPr>
          <p:cNvPr id="102403" name="Rectangle 4"/>
          <p:cNvSpPr>
            <a:spLocks noChangeArrowheads="1"/>
          </p:cNvSpPr>
          <p:nvPr/>
        </p:nvSpPr>
        <p:spPr bwMode="auto">
          <a:xfrm>
            <a:off x="755650" y="1166813"/>
            <a:ext cx="7734300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SzPct val="90000"/>
            </a:pPr>
            <a:r>
              <a:rPr lang="en-US" altLang="en-US" dirty="0"/>
              <a:t>Client-Server Computing</a:t>
            </a:r>
            <a:endParaRPr lang="en-US" altLang="en-US" dirty="0"/>
          </a:p>
          <a:p>
            <a:pPr lvl="1">
              <a:lnSpc>
                <a:spcPct val="90000"/>
              </a:lnSpc>
              <a:buSzPct val="80000"/>
            </a:pPr>
            <a:r>
              <a:rPr lang="en-US" altLang="en-US" dirty="0"/>
              <a:t>Dumb terminals supplanted by smart PCs</a:t>
            </a:r>
            <a:endParaRPr lang="en-US" altLang="en-US" dirty="0"/>
          </a:p>
          <a:p>
            <a:pPr lvl="1">
              <a:lnSpc>
                <a:spcPct val="90000"/>
              </a:lnSpc>
              <a:buSzPct val="80000"/>
            </a:pPr>
            <a:r>
              <a:rPr lang="en-US" altLang="en-US" dirty="0"/>
              <a:t>Many systems now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servers</a:t>
            </a:r>
            <a:r>
              <a:rPr lang="en-US" altLang="en-US" dirty="0"/>
              <a:t>, responding to requests generated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clients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Compute-server system </a:t>
            </a:r>
            <a:r>
              <a:rPr lang="en-US" altLang="en-US" dirty="0"/>
              <a:t>provides an interface to client to request services (i.e., database)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File-server system </a:t>
            </a:r>
            <a:r>
              <a:rPr lang="en-US" altLang="en-US" dirty="0"/>
              <a:t>provides interface for clients to store and retrieve files</a:t>
            </a:r>
            <a:endParaRPr lang="en-US" altLang="en-US" dirty="0"/>
          </a:p>
        </p:txBody>
      </p:sp>
      <p:pic>
        <p:nvPicPr>
          <p:cNvPr id="102404" name="Picture 1" descr="1_18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3805238"/>
            <a:ext cx="4610100" cy="200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2525" y="212725"/>
            <a:ext cx="7394575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Peer-to-Peer</a:t>
            </a:r>
            <a:endParaRPr lang="en-US" altLang="en-US" sz="2800" dirty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233488"/>
            <a:ext cx="5057775" cy="4530725"/>
          </a:xfrm>
        </p:spPr>
        <p:txBody>
          <a:bodyPr/>
          <a:lstStyle/>
          <a:p>
            <a:r>
              <a:rPr lang="en-US" altLang="en-US" dirty="0"/>
              <a:t>Another model of distributed system</a:t>
            </a:r>
            <a:endParaRPr lang="en-US" altLang="en-US" dirty="0"/>
          </a:p>
          <a:p>
            <a:r>
              <a:rPr lang="en-US" altLang="en-US" dirty="0"/>
              <a:t>P2P does not distinguish clients and servers</a:t>
            </a:r>
            <a:endParaRPr lang="en-US" altLang="en-US" dirty="0"/>
          </a:p>
          <a:p>
            <a:pPr lvl="1"/>
            <a:r>
              <a:rPr lang="en-US" altLang="en-US" dirty="0"/>
              <a:t>Instead all nodes are considered peers</a:t>
            </a:r>
            <a:endParaRPr lang="en-US" altLang="en-US" dirty="0"/>
          </a:p>
          <a:p>
            <a:pPr lvl="1"/>
            <a:r>
              <a:rPr lang="en-US" altLang="en-US" dirty="0"/>
              <a:t>May each act as client, server or both</a:t>
            </a:r>
            <a:endParaRPr lang="en-US" altLang="en-US" dirty="0"/>
          </a:p>
          <a:p>
            <a:pPr lvl="1"/>
            <a:r>
              <a:rPr lang="en-US" altLang="en-US" dirty="0"/>
              <a:t>Node must join P2P network</a:t>
            </a:r>
            <a:endParaRPr lang="en-US" altLang="en-US" dirty="0"/>
          </a:p>
          <a:p>
            <a:pPr lvl="2"/>
            <a:r>
              <a:rPr lang="en-US" altLang="en-US" dirty="0"/>
              <a:t>Registers its service with central lookup service on network, or</a:t>
            </a:r>
            <a:endParaRPr lang="en-US" altLang="en-US" dirty="0"/>
          </a:p>
          <a:p>
            <a:pPr lvl="2"/>
            <a:r>
              <a:rPr lang="en-US" altLang="en-US" dirty="0"/>
              <a:t>Broadcast request for service and respond to requests for service via </a:t>
            </a:r>
            <a:r>
              <a:rPr lang="en-US" altLang="en-US" b="1" i="1" dirty="0"/>
              <a:t>discovery protocol</a:t>
            </a:r>
            <a:endParaRPr lang="en-US" altLang="en-US" b="1" i="1" dirty="0"/>
          </a:p>
          <a:p>
            <a:pPr lvl="1"/>
            <a:r>
              <a:rPr lang="en-US" altLang="en-US" dirty="0"/>
              <a:t>Examples include</a:t>
            </a:r>
            <a:r>
              <a:rPr lang="en-US" altLang="en-US" i="1" dirty="0"/>
              <a:t> </a:t>
            </a:r>
            <a:r>
              <a:rPr lang="en-US" altLang="en-US" dirty="0"/>
              <a:t>Napster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</a:t>
            </a:r>
            <a:r>
              <a:rPr lang="en-US" altLang="en-US" dirty="0"/>
              <a:t>Gnutella</a:t>
            </a:r>
            <a:r>
              <a:rPr lang="en-US" altLang="en-US" i="1" dirty="0"/>
              <a:t>,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Voice over IP </a:t>
            </a:r>
            <a:r>
              <a:rPr lang="en-US" altLang="en-US" dirty="0"/>
              <a:t>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VoIP</a:t>
            </a:r>
            <a:r>
              <a:rPr lang="en-US" altLang="en-US" dirty="0"/>
              <a:t>)</a:t>
            </a:r>
            <a:r>
              <a:rPr lang="en-US" altLang="en-US" i="1" dirty="0"/>
              <a:t> </a:t>
            </a:r>
            <a:r>
              <a:rPr lang="en-US" altLang="en-US" dirty="0"/>
              <a:t>such as Skype </a:t>
            </a:r>
            <a:endParaRPr lang="en-US" altLang="en-US" dirty="0"/>
          </a:p>
        </p:txBody>
      </p:sp>
      <p:pic>
        <p:nvPicPr>
          <p:cNvPr id="104452" name="Picture 1" descr="1_1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8" y="1984375"/>
            <a:ext cx="2668587" cy="202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55675" y="198438"/>
            <a:ext cx="8123238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Cloud Computing</a:t>
            </a:r>
            <a:endParaRPr lang="en-US" altLang="en-US" sz="2800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1" y="1060450"/>
            <a:ext cx="6347976" cy="4807787"/>
          </a:xfrm>
        </p:spPr>
        <p:txBody>
          <a:bodyPr/>
          <a:lstStyle/>
          <a:p>
            <a:r>
              <a:rPr lang="en-US" altLang="en-US" dirty="0"/>
              <a:t>Delivers computing, storage, even apps as a service across a network</a:t>
            </a:r>
            <a:endParaRPr lang="en-US" altLang="en-US" dirty="0"/>
          </a:p>
          <a:p>
            <a:r>
              <a:rPr lang="en-US" altLang="en-US" dirty="0"/>
              <a:t>Logical extension of virtualization because it uses virtualization as the base for it functionality.</a:t>
            </a:r>
            <a:endParaRPr lang="en-US" altLang="en-US" dirty="0"/>
          </a:p>
          <a:p>
            <a:pPr lvl="1"/>
            <a:r>
              <a:rPr lang="en-US" altLang="en-US" dirty="0"/>
              <a:t>Amazon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EC2</a:t>
            </a:r>
            <a:r>
              <a:rPr lang="en-US" altLang="en-US" dirty="0"/>
              <a:t>  has thousands of servers, millions of virtual machines, petabytes of storage available across the Internet, pay based on usage</a:t>
            </a: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55675" y="198438"/>
            <a:ext cx="8123238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Cloud Computing (Cont.)</a:t>
            </a:r>
            <a:endParaRPr lang="en-US" altLang="en-US" sz="2800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6450" y="1060450"/>
            <a:ext cx="7712075" cy="5103813"/>
          </a:xfrm>
        </p:spPr>
        <p:txBody>
          <a:bodyPr/>
          <a:lstStyle/>
          <a:p>
            <a:r>
              <a:rPr lang="en-US" altLang="en-US" dirty="0"/>
              <a:t>Many types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Public cloud </a:t>
            </a:r>
            <a:r>
              <a:rPr lang="en-US" altLang="en-US" dirty="0"/>
              <a:t>– available via Internet to anyone willing to pay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Private cloud </a:t>
            </a:r>
            <a:r>
              <a:rPr lang="en-US" altLang="en-US" dirty="0"/>
              <a:t>– run by a company for the company’s own use</a:t>
            </a:r>
            <a:endParaRPr lang="en-US" altLang="en-US" dirty="0"/>
          </a:p>
          <a:p>
            <a:pPr lvl="1"/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Hybrid cloud </a:t>
            </a:r>
            <a:r>
              <a:rPr lang="en-US" altLang="en-US" dirty="0"/>
              <a:t>– includes both public and private cloud components</a:t>
            </a:r>
            <a:endParaRPr lang="en-US" altLang="en-US" dirty="0"/>
          </a:p>
          <a:p>
            <a:pPr lvl="1"/>
            <a:r>
              <a:rPr lang="en-US" altLang="en-US" dirty="0"/>
              <a:t>Software as a Service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SaaS</a:t>
            </a:r>
            <a:r>
              <a:rPr lang="en-US" altLang="en-US" dirty="0"/>
              <a:t>) – one or more applications available via the Internet (i.e., word processor)</a:t>
            </a:r>
            <a:endParaRPr lang="en-US" altLang="en-US" dirty="0"/>
          </a:p>
          <a:p>
            <a:pPr lvl="1"/>
            <a:r>
              <a:rPr lang="en-US" altLang="en-US" dirty="0"/>
              <a:t>Platform as a Service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PaaS</a:t>
            </a:r>
            <a:r>
              <a:rPr lang="en-US" altLang="en-US" dirty="0"/>
              <a:t>) – software stack ready for application use via the Internet (i.e., a database server)</a:t>
            </a:r>
            <a:endParaRPr lang="en-US" altLang="en-US" dirty="0"/>
          </a:p>
          <a:p>
            <a:pPr lvl="1"/>
            <a:r>
              <a:rPr lang="en-US" altLang="en-US" dirty="0"/>
              <a:t>Infrastructure as a Service 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IaaS</a:t>
            </a:r>
            <a:r>
              <a:rPr lang="en-US" altLang="en-US" dirty="0"/>
              <a:t>) – servers or storage available over Internet (i.e., storage available for backup use)</a:t>
            </a:r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1688" y="1092200"/>
            <a:ext cx="7645400" cy="1571625"/>
          </a:xfrm>
        </p:spPr>
        <p:txBody>
          <a:bodyPr/>
          <a:lstStyle/>
          <a:p>
            <a:r>
              <a:rPr lang="en-US" altLang="en-US" dirty="0"/>
              <a:t>Cloud computing environments composed of traditional OSes, plus VMMs, plus cloud management tools</a:t>
            </a:r>
            <a:endParaRPr lang="en-US" altLang="en-US" dirty="0"/>
          </a:p>
          <a:p>
            <a:pPr lvl="1"/>
            <a:r>
              <a:rPr lang="en-US" altLang="en-US" dirty="0"/>
              <a:t>Internet connectivity requires security like firewalls</a:t>
            </a:r>
            <a:endParaRPr lang="en-US" altLang="en-US" sz="800" dirty="0"/>
          </a:p>
          <a:p>
            <a:pPr lvl="1"/>
            <a:r>
              <a:rPr lang="en-US" altLang="en-US" dirty="0"/>
              <a:t>Load balancers spread traffic across multiple applications</a:t>
            </a:r>
            <a:endParaRPr lang="en-US" altLang="en-US" dirty="0"/>
          </a:p>
        </p:txBody>
      </p:sp>
      <p:pic>
        <p:nvPicPr>
          <p:cNvPr id="108547" name="Picture 1" descr="1_21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2800350"/>
            <a:ext cx="4119562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020762" y="220663"/>
            <a:ext cx="812323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Cloud Computing (cont.)</a:t>
            </a:r>
            <a:endParaRPr lang="en-US" altLang="en-US" sz="2800" kern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1058863" y="73025"/>
            <a:ext cx="8229600" cy="711200"/>
          </a:xfrm>
        </p:spPr>
        <p:txBody>
          <a:bodyPr/>
          <a:lstStyle/>
          <a:p>
            <a:r>
              <a:rPr lang="en-US" altLang="en-US" sz="2800" dirty="0"/>
              <a:t>Real-Time Embedded Systems</a:t>
            </a:r>
            <a:endParaRPr lang="en-US" altLang="en-US" sz="2800" dirty="0"/>
          </a:p>
        </p:txBody>
      </p:sp>
      <p:sp>
        <p:nvSpPr>
          <p:cNvPr id="110595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820738" y="1154113"/>
            <a:ext cx="7688262" cy="4530725"/>
          </a:xfrm>
        </p:spPr>
        <p:txBody>
          <a:bodyPr/>
          <a:lstStyle/>
          <a:p>
            <a:r>
              <a:rPr lang="en-US" altLang="en-US" dirty="0"/>
              <a:t>Real-time embedded systems most prevalent form of computers</a:t>
            </a:r>
            <a:endParaRPr lang="en-US" altLang="en-US" dirty="0"/>
          </a:p>
          <a:p>
            <a:pPr lvl="1"/>
            <a:r>
              <a:rPr lang="en-US" altLang="en-US" dirty="0"/>
              <a:t>Vary considerable, special purpose, limited purpose OS, 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real-time OS</a:t>
            </a:r>
            <a:endParaRPr lang="en-US" altLang="en-US" b="1" kern="1200" dirty="0">
              <a:solidFill>
                <a:srgbClr val="006699"/>
              </a:solidFill>
              <a:latin typeface="+mj-lt"/>
              <a:cs typeface="+mn-cs"/>
            </a:endParaRPr>
          </a:p>
          <a:p>
            <a:pPr lvl="1"/>
            <a:r>
              <a:rPr lang="en-US" altLang="en-US" dirty="0"/>
              <a:t>Use expanding</a:t>
            </a:r>
            <a:endParaRPr lang="en-US" altLang="en-US" dirty="0"/>
          </a:p>
          <a:p>
            <a:r>
              <a:rPr lang="en-US" altLang="en-US" dirty="0"/>
              <a:t>Many other special computing environments as well</a:t>
            </a:r>
            <a:endParaRPr lang="en-US" altLang="en-US" dirty="0"/>
          </a:p>
          <a:p>
            <a:pPr lvl="1"/>
            <a:r>
              <a:rPr lang="en-US" altLang="en-US" dirty="0"/>
              <a:t>Some have OSes, some perform tasks without an OS</a:t>
            </a:r>
            <a:endParaRPr lang="en-US" altLang="en-US" dirty="0"/>
          </a:p>
          <a:p>
            <a:r>
              <a:rPr lang="en-US" altLang="en-US" dirty="0"/>
              <a:t>Real-time OS has well-defined fixed time constraints</a:t>
            </a:r>
            <a:endParaRPr lang="en-US" altLang="en-US" dirty="0"/>
          </a:p>
          <a:p>
            <a:pPr lvl="1"/>
            <a:r>
              <a:rPr lang="en-US" altLang="en-US" dirty="0"/>
              <a:t>Processing </a:t>
            </a:r>
            <a:r>
              <a:rPr lang="en-US" altLang="en-US" b="1" i="1" dirty="0"/>
              <a:t>must</a:t>
            </a:r>
            <a:r>
              <a:rPr lang="en-US" altLang="en-US" dirty="0"/>
              <a:t> be done within constraint</a:t>
            </a:r>
            <a:endParaRPr lang="en-US" altLang="en-US" dirty="0"/>
          </a:p>
          <a:p>
            <a:pPr lvl="1"/>
            <a:r>
              <a:rPr lang="en-US" altLang="en-US" dirty="0"/>
              <a:t>Correct operation only if constraints met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 noChangeArrowheads="1"/>
          </p:cNvSpPr>
          <p:nvPr>
            <p:ph type="title" idx="4294967295"/>
          </p:nvPr>
        </p:nvSpPr>
        <p:spPr>
          <a:xfrm>
            <a:off x="982663" y="201613"/>
            <a:ext cx="7704137" cy="576262"/>
          </a:xfrm>
        </p:spPr>
        <p:txBody>
          <a:bodyPr/>
          <a:lstStyle/>
          <a:p>
            <a:r>
              <a:rPr lang="en-US" altLang="en-US" sz="2800"/>
              <a:t>Free and Open-Source Operating Systems</a:t>
            </a:r>
            <a:endParaRPr lang="en-US" altLang="en-US" sz="2800"/>
          </a:p>
        </p:txBody>
      </p:sp>
      <p:sp>
        <p:nvSpPr>
          <p:cNvPr id="111619" name="Content Placeholder 2"/>
          <p:cNvSpPr>
            <a:spLocks noGrp="1" noChangeArrowheads="1"/>
          </p:cNvSpPr>
          <p:nvPr>
            <p:ph idx="4294967295"/>
          </p:nvPr>
        </p:nvSpPr>
        <p:spPr>
          <a:xfrm>
            <a:off x="830263" y="961113"/>
            <a:ext cx="7704137" cy="4530725"/>
          </a:xfrm>
        </p:spPr>
        <p:txBody>
          <a:bodyPr/>
          <a:lstStyle/>
          <a:p>
            <a:r>
              <a:rPr lang="en-US" altLang="en-US" dirty="0"/>
              <a:t>Operating systems made available in source-code format rather than just binary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closed-source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proprietary</a:t>
            </a:r>
            <a:endParaRPr lang="en-US" altLang="en-US" b="1" kern="1200" dirty="0">
              <a:solidFill>
                <a:srgbClr val="006699"/>
              </a:solidFill>
              <a:latin typeface="+mj-lt"/>
              <a:cs typeface="+mn-cs"/>
            </a:endParaRPr>
          </a:p>
          <a:p>
            <a:r>
              <a:rPr lang="en-US" altLang="en-US" dirty="0"/>
              <a:t>Counter to the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copy protection </a:t>
            </a:r>
            <a:r>
              <a:rPr lang="en-US" altLang="en-US" dirty="0">
                <a:solidFill>
                  <a:srgbClr val="000000"/>
                </a:solidFill>
              </a:rPr>
              <a:t>and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Digital Rights Management </a:t>
            </a:r>
            <a:r>
              <a:rPr lang="en-US" altLang="en-US" dirty="0"/>
              <a:t>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DRM</a:t>
            </a:r>
            <a:r>
              <a:rPr lang="en-US" altLang="en-US" dirty="0"/>
              <a:t>) </a:t>
            </a:r>
            <a:r>
              <a:rPr lang="en-US" altLang="en-US" dirty="0">
                <a:solidFill>
                  <a:srgbClr val="000000"/>
                </a:solidFill>
              </a:rPr>
              <a:t>movement</a:t>
            </a:r>
            <a:endParaRPr lang="en-US" altLang="en-US" sz="800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Started by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Free Software Foundation </a:t>
            </a:r>
            <a:r>
              <a:rPr lang="en-US" altLang="en-US" dirty="0">
                <a:solidFill>
                  <a:srgbClr val="000000"/>
                </a:solidFill>
              </a:rPr>
              <a:t>(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FSF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000000"/>
                </a:solidFill>
              </a:rPr>
              <a:t>, which has </a:t>
            </a:r>
            <a:r>
              <a:rPr lang="ja-JP" altLang="en-US" dirty="0">
                <a:solidFill>
                  <a:srgbClr val="000000"/>
                </a:solidFill>
              </a:rPr>
              <a:t>“</a:t>
            </a:r>
            <a:r>
              <a:rPr lang="en-US" altLang="ja-JP" dirty="0">
                <a:solidFill>
                  <a:srgbClr val="000000"/>
                </a:solidFill>
              </a:rPr>
              <a:t>copyleft</a:t>
            </a:r>
            <a:r>
              <a:rPr lang="ja-JP" altLang="en-US" dirty="0">
                <a:solidFill>
                  <a:srgbClr val="000000"/>
                </a:solidFill>
              </a:rPr>
              <a:t>”</a:t>
            </a:r>
            <a:r>
              <a:rPr lang="en-US" altLang="ja-JP" dirty="0">
                <a:solidFill>
                  <a:srgbClr val="000000"/>
                </a:solidFill>
              </a:rPr>
              <a:t> 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  <a:cs typeface="+mn-cs"/>
              </a:rPr>
              <a:t>GNU Public License </a:t>
            </a:r>
            <a:r>
              <a:rPr lang="en-US" altLang="ja-JP" dirty="0"/>
              <a:t>(</a:t>
            </a:r>
            <a:r>
              <a:rPr lang="en-US" altLang="ja-JP" b="1" kern="1200" dirty="0">
                <a:solidFill>
                  <a:srgbClr val="006699"/>
                </a:solidFill>
                <a:latin typeface="+mj-lt"/>
                <a:cs typeface="+mn-cs"/>
              </a:rPr>
              <a:t>GPL</a:t>
            </a:r>
            <a:r>
              <a:rPr lang="en-US" altLang="ja-JP" dirty="0"/>
              <a:t>)</a:t>
            </a:r>
            <a:endParaRPr lang="en-US" altLang="ja-JP" dirty="0"/>
          </a:p>
          <a:p>
            <a:pPr lvl="1"/>
            <a:r>
              <a:rPr lang="en-US" altLang="en-US" sz="1600" dirty="0"/>
              <a:t>Free software and open-source software are two different ideas championed by different groups of people</a:t>
            </a:r>
            <a:endParaRPr lang="en-US" altLang="en-US" sz="1600" dirty="0"/>
          </a:p>
          <a:p>
            <a:pPr lvl="2"/>
            <a:r>
              <a:rPr lang="en-US" altLang="en-US" sz="1600" b="1" dirty="0">
                <a:solidFill>
                  <a:srgbClr val="663300"/>
                </a:solidFill>
              </a:rPr>
              <a:t>https://www.gnu.org/philosophy/open-source-misses-the-point.en.html</a:t>
            </a:r>
            <a:endParaRPr lang="en-US" altLang="en-US" sz="1600" b="1" dirty="0">
              <a:solidFill>
                <a:srgbClr val="6633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Examples include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GNU/Linux </a:t>
            </a:r>
            <a:r>
              <a:rPr lang="en-US" altLang="en-US" dirty="0"/>
              <a:t>and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BSD UNIX </a:t>
            </a:r>
            <a:r>
              <a:rPr lang="en-US" altLang="en-US" dirty="0">
                <a:solidFill>
                  <a:srgbClr val="000000"/>
                </a:solidFill>
              </a:rPr>
              <a:t>(including core of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Mac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kern="1200" dirty="0">
                <a:solidFill>
                  <a:srgbClr val="006699"/>
                </a:solidFill>
                <a:latin typeface="+mj-lt"/>
                <a:cs typeface="+mn-cs"/>
              </a:rPr>
              <a:t>OS X</a:t>
            </a:r>
            <a:r>
              <a:rPr lang="en-US" altLang="en-US" dirty="0">
                <a:solidFill>
                  <a:srgbClr val="000000"/>
                </a:solidFill>
              </a:rPr>
              <a:t>), and many more</a:t>
            </a:r>
            <a:endParaRPr lang="en-US" altLang="en-US" dirty="0">
              <a:solidFill>
                <a:srgbClr val="000000"/>
              </a:solidFill>
            </a:endParaRPr>
          </a:p>
          <a:p>
            <a:r>
              <a:rPr lang="en-US" altLang="en-US" dirty="0">
                <a:solidFill>
                  <a:srgbClr val="000000"/>
                </a:solidFill>
              </a:rPr>
              <a:t>Can use VMM like VMware Player (Free on Windows), </a:t>
            </a:r>
            <a:r>
              <a:rPr lang="en-US" altLang="en-US" dirty="0" err="1">
                <a:solidFill>
                  <a:srgbClr val="000000"/>
                </a:solidFill>
              </a:rPr>
              <a:t>Virtualbox</a:t>
            </a:r>
            <a:r>
              <a:rPr lang="en-US" altLang="en-US" dirty="0">
                <a:solidFill>
                  <a:srgbClr val="000000"/>
                </a:solidFill>
              </a:rPr>
              <a:t> (open source and free on many platforms - </a:t>
            </a:r>
            <a:r>
              <a:rPr lang="en-US" altLang="en-US" dirty="0"/>
              <a:t>http://www.virtualbox.com) 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Use to run guest operating systems for exploration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7534275" cy="576262"/>
          </a:xfrm>
        </p:spPr>
        <p:txBody>
          <a:bodyPr/>
          <a:lstStyle/>
          <a:p>
            <a:pPr eaLnBrk="1" hangingPunct="1"/>
            <a:r>
              <a:rPr lang="en-US" altLang="en-US"/>
              <a:t>The Study of Operating Systems</a:t>
            </a:r>
            <a:endParaRPr lang="en-US" altLang="en-US"/>
          </a:p>
        </p:txBody>
      </p:sp>
      <p:sp>
        <p:nvSpPr>
          <p:cNvPr id="113667" name="Rectangle 1"/>
          <p:cNvSpPr>
            <a:spLocks noChangeArrowheads="1"/>
          </p:cNvSpPr>
          <p:nvPr/>
        </p:nvSpPr>
        <p:spPr bwMode="auto">
          <a:xfrm>
            <a:off x="647700" y="1222375"/>
            <a:ext cx="7920038" cy="4703763"/>
          </a:xfrm>
          <a:prstGeom prst="rect">
            <a:avLst/>
          </a:prstGeom>
          <a:solidFill>
            <a:srgbClr val="CEEBFA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There has never been a more interesting time to study operating systems, and it has never been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easier. The open-source movement has overtaken operating systems, causing many of them to be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made available in both source and binary (executable) format. The list of operating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systems available in both formats includes Linux, BUSD UNIX, Solaris, and part of macOS.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The availability of source code allows us to study operating systems from the inside out.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Questions that we could once answer only by looking at documentation or the behavior of an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operating system we can now answer by examining the code itself.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Operating systems that are no longer commercially viable have been open-sourced as well, enabling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us to study how systems operated in a time of fewer CPU, memory, and storage resources.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An extensive but incomplete list of open-source operating-system projects is available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from https://curlie.org/Computers/Software/Operating_Systems/Open_Source/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In addition, the rise of virtualization as a mainstream (and frequently free) computer function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makes it possible to run many operating systems on top of one core system. For example, VMware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(http://www.vmware.com) provides a free “player” for Windows on which hundreds of free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“virtual appliances” can run. </a:t>
            </a:r>
            <a:r>
              <a:rPr kumimoji="0" lang="en-US" altLang="en-US" sz="1200" dirty="0" err="1">
                <a:latin typeface="Verdana" panose="020B0604030504040204" pitchFamily="34" charset="0"/>
              </a:rPr>
              <a:t>Virtualbox</a:t>
            </a:r>
            <a:r>
              <a:rPr kumimoji="0" lang="en-US" altLang="en-US" sz="1200" dirty="0">
                <a:latin typeface="Verdana" panose="020B0604030504040204" pitchFamily="34" charset="0"/>
              </a:rPr>
              <a:t> (http://www.virtualbox.com) provides a free, open-source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virtual machine manager on many operating systems. Using such tools, students can try out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hundreds of operating systems without dedicated hardware.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The advent of open-source operating systems has also made it easier to make the move from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student to operating-system developer. With some knowledge, some effort, and an Internet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connection, a student can even create a new operating-system distribution. Just a few years ago, 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it was difficult or impossible to get access to source code. Now, such access is limited only by</a:t>
            </a:r>
            <a:endParaRPr kumimoji="0" lang="en-US" altLang="en-US" sz="120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Verdana" panose="020B0604030504040204" pitchFamily="34" charset="0"/>
              </a:rPr>
              <a:t>how much interest, time, and disk space a student has.</a:t>
            </a:r>
            <a:endParaRPr kumimoji="0" lang="en-US" altLang="en-US" sz="1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Kernel Data Structure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20663"/>
            <a:ext cx="8229600" cy="576262"/>
          </a:xfrm>
        </p:spPr>
        <p:txBody>
          <a:bodyPr/>
          <a:lstStyle/>
          <a:p>
            <a:r>
              <a:rPr lang="en-US" altLang="en-US"/>
              <a:t>Kernel Data Structures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MS PGothic" panose="020B0600070205080204" pitchFamily="34" charset="-128"/>
              </a:rPr>
              <a:t>Many similar to standard programming data structures</a:t>
            </a:r>
            <a:endParaRPr lang="en-US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b="1" i="1" dirty="0">
                <a:ea typeface="MS PGothic" panose="020B0600070205080204" pitchFamily="34" charset="-128"/>
              </a:rPr>
              <a:t>Singly linked list</a:t>
            </a:r>
            <a:endParaRPr lang="en-US" b="1" i="1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b="1" i="1" dirty="0">
                <a:ea typeface="MS PGothic" panose="020B0600070205080204" pitchFamily="34" charset="-128"/>
              </a:rPr>
              <a:t>Doubly linked list</a:t>
            </a:r>
            <a:endParaRPr lang="en-US" b="1" i="1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b="1" i="1" dirty="0">
                <a:ea typeface="MS PGothic" panose="020B0600070205080204" pitchFamily="34" charset="-128"/>
              </a:rPr>
              <a:t>Circular linked list</a:t>
            </a:r>
            <a:endParaRPr lang="en-US" b="1" i="1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MS PGothic" panose="020B0600070205080204" pitchFamily="34" charset="-128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MS PGothic" panose="020B0600070205080204" pitchFamily="34" charset="-128"/>
            </a:endParaRPr>
          </a:p>
        </p:txBody>
      </p:sp>
      <p:pic>
        <p:nvPicPr>
          <p:cNvPr id="97284" name="Picture 3" descr="1_13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068513"/>
            <a:ext cx="6932613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5" name="Picture 4" descr="1_14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3632200"/>
            <a:ext cx="7026275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Picture 5" descr="1_1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5099050"/>
            <a:ext cx="68421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r>
              <a:rPr lang="en-US" altLang="en-US"/>
              <a:t>Kernel Data Structures</a:t>
            </a:r>
            <a:endParaRPr lang="en-US" altLang="en-US"/>
          </a:p>
        </p:txBody>
      </p:sp>
      <p:sp>
        <p:nvSpPr>
          <p:cNvPr id="98307" name="Content Placeholder 2"/>
          <p:cNvSpPr>
            <a:spLocks noGrp="1" noChangeArrowheads="1"/>
          </p:cNvSpPr>
          <p:nvPr>
            <p:ph sz="half" idx="1"/>
          </p:nvPr>
        </p:nvSpPr>
        <p:spPr>
          <a:xfrm>
            <a:off x="806450" y="1233488"/>
            <a:ext cx="5468938" cy="1604962"/>
          </a:xfrm>
        </p:spPr>
        <p:txBody>
          <a:bodyPr/>
          <a:lstStyle/>
          <a:p>
            <a:r>
              <a:rPr lang="en-US" altLang="en-US" sz="1800" b="1">
                <a:solidFill>
                  <a:srgbClr val="3366FF"/>
                </a:solidFill>
              </a:rPr>
              <a:t>Binary search tree</a:t>
            </a:r>
            <a:br>
              <a:rPr lang="en-US" altLang="en-US" sz="1800"/>
            </a:br>
            <a:r>
              <a:rPr lang="en-US" altLang="en-US" sz="1800"/>
              <a:t>left &lt;= right</a:t>
            </a:r>
            <a:endParaRPr lang="en-US" altLang="en-US" sz="1800"/>
          </a:p>
          <a:p>
            <a:pPr lvl="1"/>
            <a:r>
              <a:rPr lang="en-US" altLang="en-US" sz="1800"/>
              <a:t>Search performance is </a:t>
            </a:r>
            <a:r>
              <a:rPr lang="en-US" altLang="en-US" sz="1800" i="1"/>
              <a:t>O(n)</a:t>
            </a:r>
            <a:endParaRPr lang="en-US" altLang="en-US" sz="1800" i="1"/>
          </a:p>
          <a:p>
            <a:pPr lvl="1"/>
            <a:r>
              <a:rPr lang="en-US" altLang="en-US" sz="1800" b="1">
                <a:solidFill>
                  <a:srgbClr val="3366FF"/>
                </a:solidFill>
              </a:rPr>
              <a:t>Balanced binary search tree </a:t>
            </a:r>
            <a:r>
              <a:rPr lang="en-US" altLang="en-US" sz="1800"/>
              <a:t>is </a:t>
            </a:r>
            <a:r>
              <a:rPr lang="en-US" altLang="en-US" sz="1800" i="1"/>
              <a:t>O(lg n)</a:t>
            </a:r>
            <a:endParaRPr lang="en-US" altLang="en-US" sz="1800" i="1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  <p:pic>
        <p:nvPicPr>
          <p:cNvPr id="98308" name="Picture 1" descr="1_1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3" y="2979738"/>
            <a:ext cx="2755900" cy="215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229600" cy="576262"/>
          </a:xfrm>
        </p:spPr>
        <p:txBody>
          <a:bodyPr/>
          <a:lstStyle/>
          <a:p>
            <a:r>
              <a:rPr lang="en-US" altLang="en-US"/>
              <a:t>Kernel Data Structures</a:t>
            </a:r>
            <a:endParaRPr lang="en-US" altLang="en-US"/>
          </a:p>
        </p:txBody>
      </p:sp>
      <p:sp>
        <p:nvSpPr>
          <p:cNvPr id="99331" name="Content Placeholder 2"/>
          <p:cNvSpPr>
            <a:spLocks noGrp="1" noChangeArrowheads="1"/>
          </p:cNvSpPr>
          <p:nvPr>
            <p:ph sz="half" idx="1"/>
          </p:nvPr>
        </p:nvSpPr>
        <p:spPr>
          <a:xfrm>
            <a:off x="806450" y="1233488"/>
            <a:ext cx="7726363" cy="4983162"/>
          </a:xfrm>
        </p:spPr>
        <p:txBody>
          <a:bodyPr/>
          <a:lstStyle/>
          <a:p>
            <a:r>
              <a:rPr lang="en-US" altLang="en-US" sz="1800" b="1">
                <a:solidFill>
                  <a:srgbClr val="3366FF"/>
                </a:solidFill>
              </a:rPr>
              <a:t>Hash function </a:t>
            </a:r>
            <a:r>
              <a:rPr lang="en-US" altLang="en-US" sz="1800"/>
              <a:t>can create a</a:t>
            </a:r>
            <a:r>
              <a:rPr lang="en-US" altLang="en-US" sz="1800" b="1">
                <a:solidFill>
                  <a:srgbClr val="3366FF"/>
                </a:solidFill>
              </a:rPr>
              <a:t> hash map</a:t>
            </a:r>
            <a:endParaRPr lang="en-US" altLang="en-US" sz="1800" b="1">
              <a:solidFill>
                <a:srgbClr val="3366FF"/>
              </a:solidFill>
            </a:endParaRPr>
          </a:p>
          <a:p>
            <a:endParaRPr lang="en-US" altLang="en-US" sz="1800" b="1" i="1">
              <a:solidFill>
                <a:srgbClr val="3366FF"/>
              </a:solidFill>
            </a:endParaRPr>
          </a:p>
          <a:p>
            <a:endParaRPr lang="en-US" altLang="en-US" sz="1800" b="1" i="1">
              <a:solidFill>
                <a:srgbClr val="3366FF"/>
              </a:solidFill>
            </a:endParaRPr>
          </a:p>
          <a:p>
            <a:endParaRPr lang="en-US" altLang="en-US" sz="1800" b="1" i="1">
              <a:solidFill>
                <a:srgbClr val="3366FF"/>
              </a:solidFill>
            </a:endParaRPr>
          </a:p>
          <a:p>
            <a:endParaRPr lang="en-US" altLang="en-US" sz="1800" b="1" i="1">
              <a:solidFill>
                <a:srgbClr val="3366FF"/>
              </a:solidFill>
            </a:endParaRPr>
          </a:p>
          <a:p>
            <a:endParaRPr lang="en-US" altLang="en-US" sz="1800" b="1" i="1">
              <a:solidFill>
                <a:srgbClr val="3366FF"/>
              </a:solidFill>
            </a:endParaRPr>
          </a:p>
          <a:p>
            <a:endParaRPr lang="en-US" altLang="en-US" sz="1800" b="1" i="1">
              <a:solidFill>
                <a:srgbClr val="3366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sz="1800" b="1" i="1">
              <a:solidFill>
                <a:srgbClr val="3366FF"/>
              </a:solidFill>
            </a:endParaRPr>
          </a:p>
          <a:p>
            <a:r>
              <a:rPr lang="en-US" altLang="en-US" sz="1800" b="1">
                <a:solidFill>
                  <a:srgbClr val="3366FF"/>
                </a:solidFill>
              </a:rPr>
              <a:t>Bitmap</a:t>
            </a:r>
            <a:r>
              <a:rPr lang="en-US" altLang="en-US" sz="1800"/>
              <a:t> – string of </a:t>
            </a:r>
            <a:r>
              <a:rPr lang="en-US" altLang="en-US" sz="1800" i="1"/>
              <a:t>n</a:t>
            </a:r>
            <a:r>
              <a:rPr lang="en-US" altLang="en-US" sz="1800"/>
              <a:t> binary digits representing the status of </a:t>
            </a:r>
            <a:r>
              <a:rPr lang="en-US" altLang="en-US" sz="1800" i="1"/>
              <a:t>n</a:t>
            </a:r>
            <a:r>
              <a:rPr lang="en-US" altLang="en-US" sz="1800"/>
              <a:t> items</a:t>
            </a:r>
            <a:endParaRPr lang="en-US" altLang="en-US" sz="1800"/>
          </a:p>
          <a:p>
            <a:r>
              <a:rPr lang="en-US" altLang="en-US" sz="1800"/>
              <a:t>Linux data structures defined in </a:t>
            </a:r>
            <a:r>
              <a:rPr lang="en-US" altLang="en-US" sz="1800" b="1" i="1"/>
              <a:t>include</a:t>
            </a:r>
            <a:r>
              <a:rPr lang="en-US" altLang="en-US" sz="1800"/>
              <a:t> files </a:t>
            </a:r>
            <a:r>
              <a:rPr lang="en-US" alt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&lt;linux/list.h&gt;, &lt;linux/kfifo.h&gt;, &lt;linux/rbtree.h&gt;</a:t>
            </a: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endParaRPr lang="en-US" altLang="en-US"/>
          </a:p>
        </p:txBody>
      </p:sp>
      <p:pic>
        <p:nvPicPr>
          <p:cNvPr id="99332" name="Picture 3" descr="1_1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1863725"/>
            <a:ext cx="48736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18456</Words>
  <Application>WPS Presentation</Application>
  <PresentationFormat>On-screen Show (4:3)</PresentationFormat>
  <Paragraphs>497</Paragraphs>
  <Slides>59</Slides>
  <Notes>61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6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Microsoft YaHei</vt:lpstr>
      <vt:lpstr>Arial Unicode MS</vt:lpstr>
      <vt:lpstr>Wingdings 3</vt:lpstr>
      <vt:lpstr>Symbol</vt:lpstr>
      <vt:lpstr>Wingdings</vt:lpstr>
      <vt:lpstr>Monotype Sorts</vt:lpstr>
      <vt:lpstr>Courier New</vt:lpstr>
      <vt:lpstr>os-8</vt:lpstr>
      <vt:lpstr>Chapter 1:  Introduction</vt:lpstr>
      <vt:lpstr>Chapter 1: Introduction</vt:lpstr>
      <vt:lpstr>Objectives</vt:lpstr>
      <vt:lpstr>What Does the Term Operating System Mean?</vt:lpstr>
      <vt:lpstr>What is an Operating System?</vt:lpstr>
      <vt:lpstr>Computer System Structure</vt:lpstr>
      <vt:lpstr>Abstract View of Components of Computer</vt:lpstr>
      <vt:lpstr>What Operating Systems Do</vt:lpstr>
      <vt:lpstr>Defining Operating Systems</vt:lpstr>
      <vt:lpstr>Operating System Definition</vt:lpstr>
      <vt:lpstr>PowerPoint 演示文稿</vt:lpstr>
      <vt:lpstr>Computer System Organization</vt:lpstr>
      <vt:lpstr>Computer-System Operation</vt:lpstr>
      <vt:lpstr>Common Functions of Interrupts</vt:lpstr>
      <vt:lpstr>Interrupt Timeline</vt:lpstr>
      <vt:lpstr>Interrupt Handling</vt:lpstr>
      <vt:lpstr>Interrupt-drive I/O Cycle</vt:lpstr>
      <vt:lpstr>I/O Structure</vt:lpstr>
      <vt:lpstr>I/O Structure (Cont.)</vt:lpstr>
      <vt:lpstr>Computer Startup</vt:lpstr>
      <vt:lpstr>PowerPoint 演示文稿</vt:lpstr>
      <vt:lpstr>Storage Structure</vt:lpstr>
      <vt:lpstr>Storage Structure (Cont.)</vt:lpstr>
      <vt:lpstr>Storage Definitions and Notation Review</vt:lpstr>
      <vt:lpstr>Storage Hierarchy</vt:lpstr>
      <vt:lpstr>Storage-Device Hierarchy</vt:lpstr>
      <vt:lpstr>How a Modern Computer Works</vt:lpstr>
      <vt:lpstr>Direct Memory Access Structure</vt:lpstr>
      <vt:lpstr>Operating-System Operations</vt:lpstr>
      <vt:lpstr>Multiprogramming (Batch system)</vt:lpstr>
      <vt:lpstr>Multitasking (Timesharing)</vt:lpstr>
      <vt:lpstr>Memory Layout for Multiprogrammed System</vt:lpstr>
      <vt:lpstr>Dual-mode Operation</vt:lpstr>
      <vt:lpstr>Transition from User to Kernel Mode</vt:lpstr>
      <vt:lpstr>Timer</vt:lpstr>
      <vt:lpstr>PowerPoint 演示文稿</vt:lpstr>
      <vt:lpstr>Computer-System Architecture</vt:lpstr>
      <vt:lpstr>Symmetric Multiprocessing Architecture</vt:lpstr>
      <vt:lpstr>Dual-Core Design</vt:lpstr>
      <vt:lpstr>Clustered Systems</vt:lpstr>
      <vt:lpstr>Clustered Systems</vt:lpstr>
      <vt:lpstr>PC Motherboard</vt:lpstr>
      <vt:lpstr>PowerPoint 演示文稿</vt:lpstr>
      <vt:lpstr>Computing Environments</vt:lpstr>
      <vt:lpstr>Traditional</vt:lpstr>
      <vt:lpstr>Mobile</vt:lpstr>
      <vt:lpstr>Client Server</vt:lpstr>
      <vt:lpstr>Peer-to-Peer</vt:lpstr>
      <vt:lpstr>Cloud Computing</vt:lpstr>
      <vt:lpstr>Cloud Computing (Cont.)</vt:lpstr>
      <vt:lpstr>PowerPoint 演示文稿</vt:lpstr>
      <vt:lpstr>Real-Time Embedded Systems</vt:lpstr>
      <vt:lpstr>Free and Open-Source Operating Systems</vt:lpstr>
      <vt:lpstr>The Study of Operating Systems</vt:lpstr>
      <vt:lpstr>Kernel Data Structure</vt:lpstr>
      <vt:lpstr>Kernel Data Structures</vt:lpstr>
      <vt:lpstr>Kernel Data Structures</vt:lpstr>
      <vt:lpstr>Kernel Data Structures</vt:lpstr>
      <vt:lpstr>End of Chapter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Muhammad Minhal Raxa</cp:lastModifiedBy>
  <cp:revision>257</cp:revision>
  <cp:lastPrinted>2001-06-14T13:58:00Z</cp:lastPrinted>
  <dcterms:created xsi:type="dcterms:W3CDTF">2011-01-13T23:43:00Z</dcterms:created>
  <dcterms:modified xsi:type="dcterms:W3CDTF">2024-02-22T04:07:54Z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8E03266C346F410EBD2BC25A1D3AF95D_12</vt:lpwstr>
  </property>
  <property fmtid="{D5CDD505-2E9C-101B-9397-08002B2CF9AE}" pid="3" name="KSOProductBuildVer">
    <vt:lpwstr>1033-12.2.0.13431</vt:lpwstr>
  </property>
</Properties>
</file>