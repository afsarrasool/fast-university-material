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82" r:id="rId2"/>
    <p:sldId id="286" r:id="rId3"/>
    <p:sldId id="285" r:id="rId4"/>
    <p:sldId id="290" r:id="rId5"/>
    <p:sldId id="292" r:id="rId6"/>
    <p:sldId id="288" r:id="rId7"/>
    <p:sldId id="289" r:id="rId8"/>
    <p:sldId id="430" r:id="rId9"/>
    <p:sldId id="432" r:id="rId10"/>
    <p:sldId id="431" r:id="rId11"/>
    <p:sldId id="435" r:id="rId12"/>
    <p:sldId id="437" r:id="rId13"/>
    <p:sldId id="287" r:id="rId14"/>
    <p:sldId id="297" r:id="rId15"/>
    <p:sldId id="296" r:id="rId16"/>
    <p:sldId id="300" r:id="rId17"/>
    <p:sldId id="299" r:id="rId18"/>
    <p:sldId id="298" r:id="rId19"/>
    <p:sldId id="301" r:id="rId20"/>
    <p:sldId id="3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87DD-C0A4-4C9C-80F7-8672C7422A1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8385F-8D62-453E-AF48-0848A605D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8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3217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490E8C-AEDE-44CF-8125-2ACF50235D92}" type="slidenum">
              <a:rPr lang="en-US" altLang="en-US" sz="1200" b="0">
                <a:latin typeface="Times New Roman" panose="02020603050405020304" pitchFamily="18" charset="0"/>
              </a:rPr>
              <a:pPr/>
              <a:t>9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781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42EDA5-6A8D-4793-813F-C3D3FA777F51}" type="slidenum">
              <a:rPr lang="en-US" altLang="en-US" sz="1200" b="0">
                <a:latin typeface="Times New Roman" panose="02020603050405020304" pitchFamily="18" charset="0"/>
              </a:rPr>
              <a:pPr/>
              <a:t>12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23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4908-CC23-48C0-976B-10CC20990EB2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A864-45E6-4FF3-9F56-3B20DBBFC3C2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8996E-E0E0-40F4-841D-9F1A9F67B603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E4FC-E453-477B-A66B-F03CC82B7056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B869-8361-44D0-BD83-AE35A5C3BED5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8ED7-1120-47C5-9976-8F42E2F562CF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1BB-02EA-4FD2-BB64-1808DDE74F74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72C61-A4AD-4435-B830-F4B215C43EE3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04A30-163A-4F79-B404-FE5245FD6953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448FC-326D-4210-9B7F-1F78F2B0ABA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8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85A1-B715-4328-ADC9-B20C16CF4F32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298C-E6C4-409D-9160-EEEEF8DB9D31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3956" y="702949"/>
            <a:ext cx="10946674" cy="1496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700" dirty="0"/>
              <a:t>CS 3002 Information Security</a:t>
            </a:r>
            <a:endParaRPr lang="en-US" sz="5400" dirty="0"/>
          </a:p>
          <a:p>
            <a:pPr algn="ctr"/>
            <a:r>
              <a:rPr lang="en-US" sz="4600" dirty="0">
                <a:solidFill>
                  <a:srgbClr val="FF0000"/>
                </a:solidFill>
              </a:rPr>
              <a:t>                                                                   Fall 2026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295708" y="3525988"/>
            <a:ext cx="5264922" cy="26523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sz="3200" dirty="0"/>
              <a:t>Week # 4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09" y="1771385"/>
            <a:ext cx="5286336" cy="150148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502463" y="3418245"/>
            <a:ext cx="2953265" cy="3120667"/>
            <a:chOff x="8830020" y="2751654"/>
            <a:chExt cx="2953265" cy="312066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0020" y="2751654"/>
              <a:ext cx="2953265" cy="287298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387" y="5624636"/>
              <a:ext cx="1638529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599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2704999"/>
            <a:ext cx="896427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3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03" y="999353"/>
            <a:ext cx="10934700" cy="22875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428" y="3768812"/>
            <a:ext cx="9238170" cy="246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1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399627"/>
            <a:ext cx="8259328" cy="6058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465756-38E0-F422-D3B8-52FF7891ECCA}"/>
              </a:ext>
            </a:extLst>
          </p:cNvPr>
          <p:cNvSpPr txBox="1"/>
          <p:nvPr/>
        </p:nvSpPr>
        <p:spPr>
          <a:xfrm>
            <a:off x="4295196" y="1150567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b="1" i="1" dirty="0">
                <a:solidFill>
                  <a:srgbClr val="FF0000"/>
                </a:solidFill>
              </a:rPr>
              <a:t>Fixed size=128 bit </a:t>
            </a:r>
            <a:r>
              <a:rPr lang="en-US" sz="1600" b="1" i="1" dirty="0" err="1">
                <a:solidFill>
                  <a:srgbClr val="FF0000"/>
                </a:solidFill>
              </a:rPr>
              <a:t>i</a:t>
            </a:r>
            <a:r>
              <a:rPr lang="en-US" sz="1600" b="1" i="1" dirty="0">
                <a:solidFill>
                  <a:srgbClr val="FF0000"/>
                </a:solidFill>
              </a:rPr>
              <a:t>-e., 16bytes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71C1B-63FF-5632-B423-430224603A66}"/>
              </a:ext>
            </a:extLst>
          </p:cNvPr>
          <p:cNvSpPr txBox="1"/>
          <p:nvPr/>
        </p:nvSpPr>
        <p:spPr>
          <a:xfrm>
            <a:off x="5236834" y="5945846"/>
            <a:ext cx="5029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sz="1600" b="1" i="1" dirty="0">
                <a:solidFill>
                  <a:srgbClr val="FF0000"/>
                </a:solidFill>
              </a:rPr>
              <a:t>No: of key generated =no: of round+1(extra for pre-round transformation)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39771-47B5-05D4-E17F-9C6BF379360A}"/>
              </a:ext>
            </a:extLst>
          </p:cNvPr>
          <p:cNvCxnSpPr>
            <a:cxnSpLocks/>
          </p:cNvCxnSpPr>
          <p:nvPr/>
        </p:nvCxnSpPr>
        <p:spPr>
          <a:xfrm>
            <a:off x="6230180" y="5468471"/>
            <a:ext cx="0" cy="4773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0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213864"/>
            <a:ext cx="7325747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6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285311"/>
            <a:ext cx="8116433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5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36" y="441793"/>
            <a:ext cx="8397045" cy="34246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30" y="4116038"/>
            <a:ext cx="3584371" cy="240193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288" y="4116038"/>
            <a:ext cx="3873232" cy="240193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6" name="Straight Connector 5"/>
          <p:cNvCxnSpPr/>
          <p:nvPr/>
        </p:nvCxnSpPr>
        <p:spPr>
          <a:xfrm>
            <a:off x="605481" y="3954166"/>
            <a:ext cx="10985157" cy="247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03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b="1" smtClean="0"/>
              <a:pPr/>
              <a:t>8</a:t>
            </a:fld>
            <a:endParaRPr lang="en-US" b="1" dirty="0"/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2351585" y="980728"/>
            <a:ext cx="411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7.2  </a:t>
            </a:r>
            <a:r>
              <a:rPr lang="en-US" altLang="en-US" sz="2000" i="1" dirty="0">
                <a:latin typeface="Times New Roman" panose="02020603050405020304" pitchFamily="18" charset="0"/>
              </a:rPr>
              <a:t>Data units used in AES</a:t>
            </a:r>
          </a:p>
        </p:txBody>
      </p:sp>
      <p:pic>
        <p:nvPicPr>
          <p:cNvPr id="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468381"/>
            <a:ext cx="8680250" cy="531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16080" y="6397782"/>
            <a:ext cx="3541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State: it told intermediate result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026261" y="99120"/>
            <a:ext cx="8641739" cy="1169640"/>
          </a:xfrm>
        </p:spPr>
        <p:txBody>
          <a:bodyPr>
            <a:normAutofit fontScale="90000"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</a:rPr>
              <a:t> Data Units.</a:t>
            </a:r>
            <a:br>
              <a:rPr lang="en-US" altLang="en-US" b="1" i="1" dirty="0">
                <a:latin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400257" y="4941169"/>
            <a:ext cx="2938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4×4=16 bytes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-e </a:t>
            </a:r>
          </a:p>
          <a:p>
            <a:r>
              <a:rPr lang="en-US" b="1" dirty="0">
                <a:solidFill>
                  <a:srgbClr val="FF0000"/>
                </a:solidFill>
              </a:rPr>
              <a:t>128 bits or 4 words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539112" y="5376592"/>
            <a:ext cx="576064" cy="4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28746" y="5157192"/>
            <a:ext cx="19230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1 byte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b="1" dirty="0">
                <a:solidFill>
                  <a:srgbClr val="FF0000"/>
                </a:solidFill>
              </a:rPr>
              <a:t>S</a:t>
            </a:r>
            <a:r>
              <a:rPr lang="en-US" sz="1400" b="1" baseline="-25000" dirty="0">
                <a:solidFill>
                  <a:srgbClr val="FF0000"/>
                </a:solidFill>
              </a:rPr>
              <a:t>0,0 =</a:t>
            </a:r>
            <a:r>
              <a:rPr lang="en-US" sz="1400" b="1" dirty="0">
                <a:solidFill>
                  <a:srgbClr val="FF0000"/>
                </a:solidFill>
              </a:rPr>
              <a:t>1st byte of 0th word </a:t>
            </a:r>
          </a:p>
          <a:p>
            <a:r>
              <a:rPr lang="en-US" b="1" dirty="0"/>
              <a:t> </a:t>
            </a:r>
          </a:p>
        </p:txBody>
      </p:sp>
      <p:sp>
        <p:nvSpPr>
          <p:cNvPr id="16" name="Oval 15"/>
          <p:cNvSpPr/>
          <p:nvPr/>
        </p:nvSpPr>
        <p:spPr>
          <a:xfrm>
            <a:off x="4079777" y="5229201"/>
            <a:ext cx="523695" cy="137713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539113" y="6397782"/>
            <a:ext cx="66725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58477" y="6237005"/>
            <a:ext cx="150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 word</a:t>
            </a:r>
          </a:p>
        </p:txBody>
      </p:sp>
      <p:sp>
        <p:nvSpPr>
          <p:cNvPr id="21" name="Oval 20"/>
          <p:cNvSpPr/>
          <p:nvPr/>
        </p:nvSpPr>
        <p:spPr>
          <a:xfrm>
            <a:off x="4060138" y="5177139"/>
            <a:ext cx="523695" cy="398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079776" y="5206254"/>
            <a:ext cx="2591564" cy="1518461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603004" y="5229201"/>
            <a:ext cx="357092" cy="18250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26742" y="4940642"/>
            <a:ext cx="13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4 word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118892D4-706A-7739-BA94-3D990326FCC3}"/>
              </a:ext>
            </a:extLst>
          </p:cNvPr>
          <p:cNvSpPr txBox="1"/>
          <p:nvPr/>
        </p:nvSpPr>
        <p:spPr>
          <a:xfrm>
            <a:off x="9186049" y="196434"/>
            <a:ext cx="3005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1 byte= group of 8 bit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1 word=4 bytes=32 bit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Block size=128 bit data</a:t>
            </a:r>
          </a:p>
        </p:txBody>
      </p:sp>
    </p:spTree>
    <p:extLst>
      <p:ext uri="{BB962C8B-B14F-4D97-AF65-F5344CB8AC3E}">
        <p14:creationId xmlns:p14="http://schemas.microsoft.com/office/powerpoint/2010/main" val="1563997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</a:rPr>
              <a:t>7.</a:t>
            </a:r>
            <a:fld id="{421754FC-D64A-4D18-A096-7EF195318587}" type="slidenum">
              <a:rPr lang="en-US" altLang="en-US" sz="1200">
                <a:solidFill>
                  <a:schemeClr val="bg2"/>
                </a:solidFill>
              </a:rPr>
              <a:pPr/>
              <a:t>9</a:t>
            </a:fld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22538" name="Text Box 9"/>
          <p:cNvSpPr txBox="1">
            <a:spLocks noChangeArrowheads="1"/>
          </p:cNvSpPr>
          <p:nvPr/>
        </p:nvSpPr>
        <p:spPr bwMode="auto">
          <a:xfrm>
            <a:off x="2667000" y="0"/>
            <a:ext cx="27574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7.1.4</a:t>
            </a:r>
            <a:r>
              <a:rPr lang="en-US" altLang="en-US" i="1">
                <a:solidFill>
                  <a:schemeClr val="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i="1">
                <a:latin typeface="Times New Roman" panose="02020603050405020304" pitchFamily="18" charset="0"/>
              </a:rPr>
              <a:t>Continue</a:t>
            </a:r>
          </a:p>
        </p:txBody>
      </p:sp>
      <p:sp>
        <p:nvSpPr>
          <p:cNvPr id="22539" name="Text Box 10"/>
          <p:cNvSpPr txBox="1">
            <a:spLocks noChangeArrowheads="1"/>
          </p:cNvSpPr>
          <p:nvPr/>
        </p:nvSpPr>
        <p:spPr bwMode="auto">
          <a:xfrm>
            <a:off x="2441575" y="641350"/>
            <a:ext cx="1792288" cy="4572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Example 7.1</a:t>
            </a:r>
            <a:endParaRPr lang="en-US" altLang="en-US" sz="2000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816351" y="1344705"/>
            <a:ext cx="4479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7.4  </a:t>
            </a:r>
            <a:r>
              <a:rPr lang="en-US" altLang="en-US" sz="2000" i="1" dirty="0">
                <a:latin typeface="Times New Roman" panose="02020603050405020304" pitchFamily="18" charset="0"/>
              </a:rPr>
              <a:t>Changing plaintext to state</a:t>
            </a:r>
          </a:p>
        </p:txBody>
      </p:sp>
      <p:pic>
        <p:nvPicPr>
          <p:cNvPr id="2254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604" y="1995831"/>
            <a:ext cx="8851397" cy="241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Text Box 15"/>
          <p:cNvSpPr txBox="1">
            <a:spLocks noChangeArrowheads="1"/>
          </p:cNvSpPr>
          <p:nvPr/>
        </p:nvSpPr>
        <p:spPr bwMode="auto">
          <a:xfrm>
            <a:off x="4203956" y="697164"/>
            <a:ext cx="1547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dirty="0">
                <a:latin typeface="Times New Roman" panose="02020603050405020304" pitchFamily="18" charset="0"/>
              </a:rPr>
              <a:t>Continue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E5BF0-5A81-4D47-BE7D-0CBD6217E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557" y="4757870"/>
            <a:ext cx="7959861" cy="210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6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6261" y="99120"/>
            <a:ext cx="8641739" cy="1169640"/>
          </a:xfrm>
        </p:spPr>
        <p:txBody>
          <a:bodyPr>
            <a:normAutofit fontScale="90000"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</a:rPr>
              <a:t>7.1.4  Data Units.</a:t>
            </a:r>
            <a:br>
              <a:rPr lang="en-US" altLang="en-US" b="1" i="1" dirty="0">
                <a:latin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2273914" y="1040160"/>
            <a:ext cx="667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7.3  </a:t>
            </a:r>
            <a:r>
              <a:rPr lang="en-US" altLang="en-US" sz="2000" i="1" dirty="0">
                <a:latin typeface="Times New Roman" panose="02020603050405020304" pitchFamily="18" charset="0"/>
              </a:rPr>
              <a:t>Block-to-state and state-to-block transformation</a:t>
            </a:r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260" y="1577571"/>
            <a:ext cx="8100102" cy="404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34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752" y="260649"/>
            <a:ext cx="7647756" cy="726976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AES - steps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752" y="987624"/>
            <a:ext cx="11062448" cy="5538681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KeyExpansion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— round keys are derived from the cipher key using Rijndael's key schedule.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Initial Round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AddRoundKey</a:t>
            </a:r>
            <a:r>
              <a:rPr lang="en-US" sz="1600" dirty="0">
                <a:latin typeface="Times New Roman" panose="02020603050405020304" pitchFamily="18" charset="0"/>
                <a:cs typeface="Times New Roman" pitchFamily="18" charset="0"/>
              </a:rPr>
              <a:t>—each byte of the state is combined with the round key using bitwise </a:t>
            </a:r>
            <a:r>
              <a:rPr lang="en-US" sz="1600" dirty="0" err="1">
                <a:latin typeface="Times New Roman" panose="02020603050405020304" pitchFamily="18" charset="0"/>
                <a:cs typeface="Times New Roman" pitchFamily="18" charset="0"/>
              </a:rPr>
              <a:t>xor</a:t>
            </a:r>
            <a:r>
              <a:rPr lang="en-US" sz="1600" dirty="0">
                <a:latin typeface="Times New Roman" panose="02020603050405020304" pitchFamily="18" charset="0"/>
                <a:cs typeface="Times New Roman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different stages are used, one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permutation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of substitution: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Bytes: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table, referred to as an S-box,3 to perform a byte-by-byte substitution of the block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Rows: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permutation that is performed row by row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Columns: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that alters each byte in a column as a function of all of the bytes in the column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Round key: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bitwise XOR of the current block with a portion of the expanded key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Final Round (no Mix-Columns)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SubBytes</a:t>
            </a:r>
          </a:p>
          <a:p>
            <a:pPr lvl="1"/>
            <a:r>
              <a:rPr lang="en-US" sz="2000" b="1" dirty="0" err="1">
                <a:latin typeface="Times New Roman" panose="02020603050405020304" pitchFamily="18" charset="0"/>
                <a:cs typeface="Times New Roman" pitchFamily="18" charset="0"/>
              </a:rPr>
              <a:t>ShiftRows</a:t>
            </a: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AddRoundKey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</a:t>
            </a: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different stages are used, one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permutation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of substitution: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Bytes: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table, referred to as an S-box,3 to perform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byteby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-byte substitution of the block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Rows: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permutation that is performed row by row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Columns: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that alters each byte in a column as a function of all of the bytes in the column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key: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bitwise XOR of the current block with a portion of the expanded key</a:t>
            </a:r>
          </a:p>
          <a:p>
            <a:pPr marL="987552" lvl="2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598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</a:rPr>
              <a:t>7.</a:t>
            </a:r>
            <a:fld id="{48048398-A961-4392-A960-D67EAAD7B424}" type="slidenum">
              <a:rPr lang="en-US" altLang="en-US" sz="1200">
                <a:solidFill>
                  <a:schemeClr val="bg2"/>
                </a:solidFill>
              </a:rPr>
              <a:pPr/>
              <a:t>12</a:t>
            </a:fld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28682" name="Text Box 9"/>
          <p:cNvSpPr txBox="1">
            <a:spLocks noChangeArrowheads="1"/>
          </p:cNvSpPr>
          <p:nvPr/>
        </p:nvSpPr>
        <p:spPr bwMode="auto">
          <a:xfrm>
            <a:off x="2667001" y="1"/>
            <a:ext cx="3350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7.2.1  Substitution</a:t>
            </a:r>
          </a:p>
        </p:txBody>
      </p:sp>
      <p:sp>
        <p:nvSpPr>
          <p:cNvPr id="1015818" name="Rectangle 10"/>
          <p:cNvSpPr>
            <a:spLocks noChangeArrowheads="1"/>
          </p:cNvSpPr>
          <p:nvPr/>
        </p:nvSpPr>
        <p:spPr bwMode="auto">
          <a:xfrm>
            <a:off x="838200" y="537517"/>
            <a:ext cx="8610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just" eaLnBrk="1" hangingPunct="1">
              <a:defRPr/>
            </a:pP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AES, like DES, uses substitution. AES uses two invertible transformations.</a:t>
            </a:r>
          </a:p>
        </p:txBody>
      </p:sp>
      <p:sp>
        <p:nvSpPr>
          <p:cNvPr id="28684" name="Rectangle 11"/>
          <p:cNvSpPr>
            <a:spLocks noChangeArrowheads="1"/>
          </p:cNvSpPr>
          <p:nvPr/>
        </p:nvSpPr>
        <p:spPr bwMode="auto">
          <a:xfrm>
            <a:off x="838200" y="1628775"/>
            <a:ext cx="9829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SubBytes</a:t>
            </a:r>
          </a:p>
          <a:p>
            <a:pPr algn="just"/>
            <a:r>
              <a:rPr lang="en-US" altLang="en-US" sz="2800" i="1" dirty="0">
                <a:latin typeface="Times New Roman" panose="02020603050405020304" pitchFamily="18" charset="0"/>
              </a:rPr>
              <a:t>The first transformation, SubBytes, is used at the encryption site. To substitute a byte, we interpret the byte as two hexadecimal digits.</a:t>
            </a:r>
          </a:p>
        </p:txBody>
      </p:sp>
      <p:sp>
        <p:nvSpPr>
          <p:cNvPr id="28685" name="Line 12"/>
          <p:cNvSpPr>
            <a:spLocks noChangeShapeType="1"/>
          </p:cNvSpPr>
          <p:nvPr/>
        </p:nvSpPr>
        <p:spPr bwMode="auto">
          <a:xfrm>
            <a:off x="1066800" y="4995303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>
            <a:off x="1068388" y="6062103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Rectangle 14"/>
          <p:cNvSpPr>
            <a:spLocks noChangeArrowheads="1"/>
          </p:cNvSpPr>
          <p:nvPr/>
        </p:nvSpPr>
        <p:spPr bwMode="auto">
          <a:xfrm>
            <a:off x="1104900" y="5087378"/>
            <a:ext cx="8077200" cy="9461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dirty="0"/>
              <a:t>The SubBytes operation involves 16 independent byte-to-byte transformations.</a:t>
            </a:r>
          </a:p>
        </p:txBody>
      </p:sp>
      <p:grpSp>
        <p:nvGrpSpPr>
          <p:cNvPr id="28688" name="Group 15"/>
          <p:cNvGrpSpPr>
            <a:grpSpLocks/>
          </p:cNvGrpSpPr>
          <p:nvPr/>
        </p:nvGrpSpPr>
        <p:grpSpPr bwMode="auto">
          <a:xfrm>
            <a:off x="1066800" y="4352365"/>
            <a:ext cx="1143000" cy="566738"/>
            <a:chOff x="1200" y="1248"/>
            <a:chExt cx="720" cy="357"/>
          </a:xfrm>
        </p:grpSpPr>
        <p:pic>
          <p:nvPicPr>
            <p:cNvPr id="28689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90" name="Text Box 17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5658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08" y="544753"/>
            <a:ext cx="5751215" cy="375539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60708" y="4567810"/>
            <a:ext cx="6225748" cy="1908897"/>
            <a:chOff x="2232148" y="4460789"/>
            <a:chExt cx="6225748" cy="190889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4852" y="4574002"/>
              <a:ext cx="6073044" cy="1795684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232148" y="4460789"/>
              <a:ext cx="3095438" cy="407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200560" y="489906"/>
            <a:ext cx="5263536" cy="4004263"/>
            <a:chOff x="6200560" y="489906"/>
            <a:chExt cx="5263536" cy="400426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560" y="489906"/>
              <a:ext cx="5263536" cy="204322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3505" y="2471350"/>
              <a:ext cx="5192826" cy="2022819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31479F9-1F99-36CB-3DB0-5F9F5D263782}"/>
              </a:ext>
            </a:extLst>
          </p:cNvPr>
          <p:cNvSpPr/>
          <p:nvPr/>
        </p:nvSpPr>
        <p:spPr>
          <a:xfrm>
            <a:off x="6947647" y="4733365"/>
            <a:ext cx="50234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i="1" dirty="0">
                <a:solidFill>
                  <a:srgbClr val="000000"/>
                </a:solidFill>
                <a:latin typeface="ff9"/>
              </a:rPr>
              <a:t>SubBytes is simply a table lookup using a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16</a:t>
            </a:r>
            <a:r>
              <a:rPr lang="en-US" i="1" dirty="0">
                <a:solidFill>
                  <a:srgbClr val="000000"/>
                </a:solidFill>
                <a:latin typeface="ff0"/>
              </a:rPr>
              <a:t>×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16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ff9"/>
              </a:rPr>
              <a:t>matrix of byte values called an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ff7"/>
              </a:rPr>
              <a:t>s-box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. </a:t>
            </a:r>
          </a:p>
          <a:p>
            <a:pPr algn="just"/>
            <a:r>
              <a:rPr lang="en-US" i="1" dirty="0">
                <a:solidFill>
                  <a:srgbClr val="000000"/>
                </a:solidFill>
                <a:latin typeface="ff9"/>
              </a:rPr>
              <a:t>This matrix consists of all the possible combinations of an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8</a:t>
            </a:r>
            <a:r>
              <a:rPr lang="en-US" i="1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ff9"/>
              </a:rPr>
              <a:t>bit sequence (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2</a:t>
            </a:r>
            <a:r>
              <a:rPr lang="en-US" i="1" dirty="0">
                <a:solidFill>
                  <a:srgbClr val="000000"/>
                </a:solidFill>
                <a:latin typeface="ff4"/>
              </a:rPr>
              <a:t>8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= 16</a:t>
            </a:r>
            <a:r>
              <a:rPr lang="en-US" i="1" dirty="0">
                <a:solidFill>
                  <a:srgbClr val="000000"/>
                </a:solidFill>
                <a:latin typeface="ff0"/>
              </a:rPr>
              <a:t>×</a:t>
            </a:r>
            <a:r>
              <a:rPr lang="en-US" i="1" dirty="0">
                <a:solidFill>
                  <a:srgbClr val="000000"/>
                </a:solidFill>
                <a:latin typeface="ff5"/>
              </a:rPr>
              <a:t>16 = 256</a:t>
            </a:r>
            <a:r>
              <a:rPr lang="en-US" i="1" dirty="0">
                <a:solidFill>
                  <a:srgbClr val="000000"/>
                </a:solidFill>
                <a:latin typeface="ff9"/>
              </a:rPr>
              <a:t>).</a:t>
            </a:r>
            <a:endParaRPr lang="en-US" i="1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50E5C-6140-04ED-BDB0-194B68DE591E}"/>
              </a:ext>
            </a:extLst>
          </p:cNvPr>
          <p:cNvSpPr txBox="1"/>
          <p:nvPr/>
        </p:nvSpPr>
        <p:spPr>
          <a:xfrm>
            <a:off x="4088912" y="1160718"/>
            <a:ext cx="29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</a:rPr>
              <a:t>16×16= S-box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E88F72-D66D-3CC9-9C8B-A95EE6B0AFD7}"/>
              </a:ext>
            </a:extLst>
          </p:cNvPr>
          <p:cNvCxnSpPr>
            <a:cxnSpLocks/>
          </p:cNvCxnSpPr>
          <p:nvPr/>
        </p:nvCxnSpPr>
        <p:spPr>
          <a:xfrm flipH="1">
            <a:off x="3731819" y="1335741"/>
            <a:ext cx="499522" cy="2460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77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523" y="4315702"/>
            <a:ext cx="6887185" cy="2040648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435338" y="502262"/>
            <a:ext cx="5263536" cy="4004263"/>
            <a:chOff x="6200560" y="489906"/>
            <a:chExt cx="5263536" cy="400426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00560" y="489906"/>
              <a:ext cx="5263536" cy="204322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43505" y="2471350"/>
              <a:ext cx="5192826" cy="2022819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523" y="502262"/>
            <a:ext cx="5132720" cy="728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7BE41-DBA5-9733-5D2D-B319096D2265}"/>
              </a:ext>
            </a:extLst>
          </p:cNvPr>
          <p:cNvSpPr txBox="1"/>
          <p:nvPr/>
        </p:nvSpPr>
        <p:spPr>
          <a:xfrm>
            <a:off x="9136778" y="344163"/>
            <a:ext cx="29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16×16= S-box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909726-0B33-1D3A-6AD4-DFEC31EBD9A4}"/>
              </a:ext>
            </a:extLst>
          </p:cNvPr>
          <p:cNvCxnSpPr/>
          <p:nvPr/>
        </p:nvCxnSpPr>
        <p:spPr>
          <a:xfrm flipH="1">
            <a:off x="8911609" y="619782"/>
            <a:ext cx="410709" cy="11297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89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1" y="519645"/>
            <a:ext cx="8691809" cy="58187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4" y="2539076"/>
            <a:ext cx="4984074" cy="1939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212A34-527A-44D5-C3E5-5BC7646C1F10}"/>
              </a:ext>
            </a:extLst>
          </p:cNvPr>
          <p:cNvSpPr txBox="1"/>
          <p:nvPr/>
        </p:nvSpPr>
        <p:spPr>
          <a:xfrm>
            <a:off x="7908250" y="5432954"/>
            <a:ext cx="4086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Permutation perform on a byte level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Shift is done to the left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Shift depends on the </a:t>
            </a:r>
            <a:r>
              <a:rPr lang="en-US" dirty="0" err="1"/>
              <a:t>nrow</a:t>
            </a:r>
            <a:r>
              <a:rPr lang="en-US" dirty="0"/>
              <a:t> of the matrix</a:t>
            </a:r>
          </a:p>
        </p:txBody>
      </p:sp>
    </p:spTree>
    <p:extLst>
      <p:ext uri="{BB962C8B-B14F-4D97-AF65-F5344CB8AC3E}">
        <p14:creationId xmlns:p14="http://schemas.microsoft.com/office/powerpoint/2010/main" val="788016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50" b="446"/>
          <a:stretch/>
        </p:blipFill>
        <p:spPr>
          <a:xfrm>
            <a:off x="268941" y="437662"/>
            <a:ext cx="8957436" cy="59900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19851F-B97A-0D71-8811-C7818806C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846" y="1720038"/>
            <a:ext cx="5047906" cy="123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29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41" y="501650"/>
            <a:ext cx="2248214" cy="4382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1805" y="5552873"/>
            <a:ext cx="10917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MR12"/>
              </a:rPr>
              <a:t>* The multiplications implied by the word ‘times’ and the additions implied by the word ‘plus’ are meant to be carried out in </a:t>
            </a:r>
            <a:r>
              <a:rPr lang="en-US" dirty="0">
                <a:solidFill>
                  <a:srgbClr val="FF0000"/>
                </a:solidFill>
                <a:latin typeface="CMMI12"/>
              </a:rPr>
              <a:t>GF</a:t>
            </a:r>
            <a:r>
              <a:rPr lang="en-US" dirty="0">
                <a:solidFill>
                  <a:srgbClr val="FF0000"/>
                </a:solidFill>
                <a:latin typeface="CMR12"/>
              </a:rPr>
              <a:t>(2</a:t>
            </a:r>
            <a:r>
              <a:rPr lang="en-US" sz="2400" baseline="30000" dirty="0">
                <a:solidFill>
                  <a:srgbClr val="FF0000"/>
                </a:solidFill>
                <a:latin typeface="CMR12"/>
              </a:rPr>
              <a:t>8</a:t>
            </a:r>
            <a:r>
              <a:rPr lang="en-US" dirty="0">
                <a:solidFill>
                  <a:srgbClr val="FF0000"/>
                </a:solidFill>
                <a:latin typeface="CMR12"/>
              </a:rPr>
              <a:t>) arithmetic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29229" y="843784"/>
            <a:ext cx="7301874" cy="52091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020321" y="1476301"/>
            <a:ext cx="7809470" cy="3362395"/>
            <a:chOff x="1020321" y="1476301"/>
            <a:chExt cx="7809470" cy="3362395"/>
          </a:xfrm>
        </p:grpSpPr>
        <p:grpSp>
          <p:nvGrpSpPr>
            <p:cNvPr id="6" name="Group 5"/>
            <p:cNvGrpSpPr/>
            <p:nvPr/>
          </p:nvGrpSpPr>
          <p:grpSpPr>
            <a:xfrm>
              <a:off x="1138241" y="1476301"/>
              <a:ext cx="7573630" cy="3362395"/>
              <a:chOff x="1138241" y="1151996"/>
              <a:chExt cx="7573630" cy="3362395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8241" y="1151996"/>
                <a:ext cx="7573630" cy="3362395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1138241" y="1151996"/>
                <a:ext cx="1926235" cy="3184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020321" y="2078871"/>
              <a:ext cx="7809470" cy="402217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 flipV="1">
            <a:off x="8711871" y="1364694"/>
            <a:ext cx="0" cy="9142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449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4691600" y="8086677"/>
            <a:ext cx="1796908" cy="267789"/>
          </a:xfrm>
        </p:spPr>
        <p:txBody>
          <a:bodyPr/>
          <a:lstStyle/>
          <a:p>
            <a:fld id="{A2A50C4D-0BA1-4E54-8DFC-01810EC97B99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8" y="291611"/>
            <a:ext cx="7950949" cy="3773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14" y="4346917"/>
            <a:ext cx="4420217" cy="2095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011" y="5080444"/>
            <a:ext cx="6382641" cy="1362265"/>
          </a:xfrm>
          <a:prstGeom prst="rect">
            <a:avLst/>
          </a:prstGeom>
        </p:spPr>
      </p:pic>
      <p:pic>
        <p:nvPicPr>
          <p:cNvPr id="6" name="Picture 2" descr="File:AES-AddRoundKey.svg - Wikipedia">
            <a:extLst>
              <a:ext uri="{FF2B5EF4-FFF2-40B4-BE49-F238E27FC236}">
                <a16:creationId xmlns:a16="http://schemas.microsoft.com/office/drawing/2014/main" id="{A7886D7A-6025-D9DD-135C-23706A3EB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331" y="1984558"/>
            <a:ext cx="3215697" cy="25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64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0184"/>
            <a:ext cx="10515600" cy="895264"/>
          </a:xfrm>
          <a:solidFill>
            <a:srgbClr val="FF0000">
              <a:alpha val="18000"/>
            </a:srgbClr>
          </a:solidFill>
        </p:spPr>
        <p:txBody>
          <a:bodyPr>
            <a:noAutofit/>
          </a:bodyPr>
          <a:lstStyle/>
          <a:p>
            <a:r>
              <a:rPr lang="en-US" sz="2400" dirty="0">
                <a:latin typeface="TimesNewRomanPSMT"/>
              </a:rPr>
              <a:t>Claude Shannon (1949) gave two properties that a good cryptosystem should have to hinder statistical analysis: </a:t>
            </a:r>
            <a:r>
              <a:rPr lang="en-US" sz="2400" b="1" dirty="0">
                <a:solidFill>
                  <a:srgbClr val="FF0000"/>
                </a:solidFill>
                <a:latin typeface="TimesNewRomanPS-BoldMT"/>
              </a:rPr>
              <a:t>diffusion</a:t>
            </a:r>
            <a:r>
              <a:rPr lang="en-US" sz="2400" b="1" dirty="0">
                <a:latin typeface="TimesNewRomanPS-BoldMT"/>
              </a:rPr>
              <a:t> </a:t>
            </a:r>
            <a:r>
              <a:rPr lang="en-US" sz="2400" dirty="0">
                <a:latin typeface="TimesNewRomanPSMT"/>
              </a:rPr>
              <a:t>and </a:t>
            </a:r>
            <a:r>
              <a:rPr lang="en-US" sz="2400" b="1" dirty="0">
                <a:solidFill>
                  <a:srgbClr val="FF0000"/>
                </a:solidFill>
                <a:latin typeface="TimesNewRomanPS-BoldMT"/>
              </a:rPr>
              <a:t>confusion</a:t>
            </a:r>
            <a:r>
              <a:rPr lang="en-US" sz="2400" dirty="0">
                <a:latin typeface="TimesNewRomanPSMT"/>
              </a:rPr>
              <a:t>.</a:t>
            </a:r>
            <a:r>
              <a:rPr lang="en-US" sz="24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028" y="1556951"/>
            <a:ext cx="10515600" cy="4799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Diffusion</a:t>
            </a:r>
            <a:r>
              <a:rPr lang="en-US" dirty="0"/>
              <a:t> means that if we change a character of the plaintext, then several characters of the </a:t>
            </a:r>
            <a:r>
              <a:rPr lang="en-US" dirty="0" err="1"/>
              <a:t>ciphertext</a:t>
            </a:r>
            <a:r>
              <a:rPr lang="en-US" dirty="0"/>
              <a:t> should change, and similarly, if we change a character of the </a:t>
            </a:r>
            <a:r>
              <a:rPr lang="en-US" dirty="0" err="1"/>
              <a:t>ciphertext</a:t>
            </a:r>
            <a:r>
              <a:rPr lang="en-US" dirty="0"/>
              <a:t>, then several characters of the plaintext should change.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Confusion</a:t>
            </a:r>
            <a:r>
              <a:rPr lang="en-US" dirty="0"/>
              <a:t> means that the key does not relate in a simple way to the</a:t>
            </a:r>
            <a:br>
              <a:rPr lang="en-US" dirty="0"/>
            </a:br>
            <a:r>
              <a:rPr lang="en-US" dirty="0" err="1"/>
              <a:t>ciphertext</a:t>
            </a:r>
            <a:r>
              <a:rPr lang="en-US" dirty="0"/>
              <a:t>. In particular, each character of the </a:t>
            </a:r>
            <a:r>
              <a:rPr lang="en-US" dirty="0" err="1"/>
              <a:t>ciphertext</a:t>
            </a:r>
            <a:r>
              <a:rPr lang="en-US" dirty="0"/>
              <a:t> should depend on several parts of the key.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098" y="3186242"/>
            <a:ext cx="8769670" cy="1399313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34531" y="6091591"/>
            <a:ext cx="9874498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Confusion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Substitution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a --&gt; b,</a:t>
            </a:r>
            <a:r>
              <a:rPr kumimoji="0" lang="en-US" altLang="en-US" sz="1600" b="0" i="0" u="none" strike="noStrike" cap="none" normalizeH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Diffusion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Transposition or Permutation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abcd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--&gt;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dacb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594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31" y="697375"/>
            <a:ext cx="10641569" cy="57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2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20708</TotalTime>
  <Words>636</Words>
  <Application>Microsoft Office PowerPoint</Application>
  <PresentationFormat>Widescreen</PresentationFormat>
  <Paragraphs>88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9" baseType="lpstr">
      <vt:lpstr>Arial</vt:lpstr>
      <vt:lpstr>Calibri</vt:lpstr>
      <vt:lpstr>Calibri Light</vt:lpstr>
      <vt:lpstr>CMMI12</vt:lpstr>
      <vt:lpstr>CMR12</vt:lpstr>
      <vt:lpstr>Consolas</vt:lpstr>
      <vt:lpstr>ff0</vt:lpstr>
      <vt:lpstr>ff4</vt:lpstr>
      <vt:lpstr>ff5</vt:lpstr>
      <vt:lpstr>ff7</vt:lpstr>
      <vt:lpstr>ff9</vt:lpstr>
      <vt:lpstr>Roboto</vt:lpstr>
      <vt:lpstr>Tahoma</vt:lpstr>
      <vt:lpstr>Times</vt:lpstr>
      <vt:lpstr>Times New Roman</vt:lpstr>
      <vt:lpstr>TimesNewRomanPS-BoldMT</vt:lpstr>
      <vt:lpstr>TimesNewRomanPSMT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Units. </vt:lpstr>
      <vt:lpstr>PowerPoint Presentation</vt:lpstr>
      <vt:lpstr>7.1.4  Data Units. </vt:lpstr>
      <vt:lpstr>AES - steps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Claude Shannon (1949) gave two properties that a good cryptosystem should have to hinder statistical analysis: diffusion and confusion.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InfoSec CLOs and Topic List</dc:title>
  <dc:creator>NU FAST</dc:creator>
  <cp:lastModifiedBy>Rabia Ahmed Ansari</cp:lastModifiedBy>
  <cp:revision>237</cp:revision>
  <cp:lastPrinted>2022-08-31T10:35:52Z</cp:lastPrinted>
  <dcterms:created xsi:type="dcterms:W3CDTF">2022-08-11T15:54:49Z</dcterms:created>
  <dcterms:modified xsi:type="dcterms:W3CDTF">2026-09-12T10:57:41Z</dcterms:modified>
</cp:coreProperties>
</file>