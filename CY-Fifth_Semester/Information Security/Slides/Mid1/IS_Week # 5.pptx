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9"/>
  </p:notesMasterIdLst>
  <p:sldIdLst>
    <p:sldId id="282" r:id="rId2"/>
    <p:sldId id="294" r:id="rId3"/>
    <p:sldId id="293" r:id="rId4"/>
    <p:sldId id="307" r:id="rId5"/>
    <p:sldId id="305" r:id="rId6"/>
    <p:sldId id="304" r:id="rId7"/>
    <p:sldId id="308" r:id="rId8"/>
    <p:sldId id="314" r:id="rId9"/>
    <p:sldId id="363" r:id="rId10"/>
    <p:sldId id="310" r:id="rId11"/>
    <p:sldId id="315" r:id="rId12"/>
    <p:sldId id="319" r:id="rId13"/>
    <p:sldId id="313" r:id="rId14"/>
    <p:sldId id="311" r:id="rId15"/>
    <p:sldId id="312" r:id="rId16"/>
    <p:sldId id="333" r:id="rId17"/>
    <p:sldId id="334" r:id="rId18"/>
    <p:sldId id="316" r:id="rId19"/>
    <p:sldId id="317" r:id="rId20"/>
    <p:sldId id="318" r:id="rId21"/>
    <p:sldId id="335" r:id="rId22"/>
    <p:sldId id="320" r:id="rId23"/>
    <p:sldId id="321" r:id="rId24"/>
    <p:sldId id="322" r:id="rId25"/>
    <p:sldId id="323" r:id="rId26"/>
    <p:sldId id="324" r:id="rId27"/>
    <p:sldId id="325" r:id="rId28"/>
    <p:sldId id="326" r:id="rId29"/>
    <p:sldId id="327" r:id="rId30"/>
    <p:sldId id="438" r:id="rId31"/>
    <p:sldId id="328" r:id="rId32"/>
    <p:sldId id="427" r:id="rId33"/>
    <p:sldId id="428" r:id="rId34"/>
    <p:sldId id="439" r:id="rId35"/>
    <p:sldId id="429" r:id="rId36"/>
    <p:sldId id="430" r:id="rId37"/>
    <p:sldId id="440" r:id="rId38"/>
    <p:sldId id="283" r:id="rId39"/>
    <p:sldId id="416" r:id="rId40"/>
    <p:sldId id="285" r:id="rId41"/>
    <p:sldId id="286" r:id="rId42"/>
    <p:sldId id="287" r:id="rId43"/>
    <p:sldId id="431" r:id="rId44"/>
    <p:sldId id="444" r:id="rId45"/>
    <p:sldId id="288" r:id="rId46"/>
    <p:sldId id="447" r:id="rId47"/>
    <p:sldId id="451"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78" autoAdjust="0"/>
    <p:restoredTop sz="94660"/>
  </p:normalViewPr>
  <p:slideViewPr>
    <p:cSldViewPr snapToGrid="0">
      <p:cViewPr varScale="1">
        <p:scale>
          <a:sx n="79" d="100"/>
          <a:sy n="79" d="100"/>
        </p:scale>
        <p:origin x="81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1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21481 17190 0,'49'0'156,"75"0"-156,-99 0 16,199 0-1,-51 0 1,1 0 0,-50 0-1,-50 0 17,25 0-17,25 0 1,1 0-1,48 0 1,26 0 0,-51 0-1,-73 0-15,-26 0 16,51-25-16,-76 25 0,51 0 16,49 0-1,-25 0 1,-24 0-1,24 0 17,-25 0-17,-24 0 1,49 0 0,0 0-1,-24 0 1,24 0-1,-74 0-15,24 0 16,-24 0-16,0 0 0,0 0 16,24 0-1,-24 0 1,99 0 0,-25 0-1,25 0 1,-49 0-1,-1 0 1,-24 0 0,-1 0-16,1 0 15,-25 0-15,24 0 32,26 0-17,-26 0-15,-24 0 16,25 0-1,-1 0 17,-24 0-32,0 0 15,0 0 1,49 0 0,26 0-1,-51 0 1,50 0-1,-74 0-15,0 0 32,25 0-32,-26 0 15,1 0 1,0 0-16,49 0 16,-49 0-1,0 0-15,25 0 16,-26 0-1,1 0 1,0 0 0,74 0-1,-74 0 1,25 0 0,-26 0 15,1 0-16,0 0 1,25 0 15,-26 0 1,1 0-17,0 0 32,25 0 31</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4614 15677 0,'49'0'140,"1"0"-140,24 0 16,-24 0-16,148 0 31,-98 0-15,24 0-1,0 0 1,-50 0 0,25 0-1,0 0 16,25 0-31,-24 0 16,-75 0-16,24 0 16,50-25-1,1 25 1,-26 0 0,25 0-1,0 0 1,1-50-1,-1 50 1,-50 0 0,75 0 15,-99 0-15,99 0-1,-49 0-15,-50 0 16,173-25-1,-148 25 1,74 0 0,-25 0-16,0-24 15,25 24 1,0-25 0,25-25-1,0 50 1,-25 0 15,0 0-15,-25 0-1,-74 0-15,49 0 16,-49 0-16,25 0 16,24 0-16,50 0 15,25 0 1,49 0-1,-49 0 1,-50 0 0,-49 0-1,24 0 1,-24 0 15,49 0-15,-49 0-16,-1 0 15,-24 0-15,25 0 16,-1 0-16,26 0 16,24 0-1,0 0 1,-49 0 0,74 0-1,-50 0 1,-49 0-1,0 0 1,25 0 0,-1 0-1,50 0 1,-49 0-16,24 0 16,-49 0-16,25 0 15,-1 0-15,1 0 16,49 0 15,-74 0-15,50 0-1,-51 0 1,26 0 0,0 0-1,-26 0 1,1 0-1,50 0 1,-51 0-16,1 0 16,25 0-1,-25 0-15,-1 0 47,1 0 16,25 0-48,-25 0 1,-1 0-16,26 25 31,-25-25-31,0 0 16,-1 0-16,1 0 15,25 0 1,-25 25 78,-25 24 15,24-24-93,-24 0-16,0 0 109,-24 0-78,24-1-15,-25 1-16,0-25 31,-25 25-31,-24-25 16,-25 25 0,-100-25-1,125 25 1,-25-25-1,74 0 1,0 0 15,0 0-15,-24 0 0,24 0-16,-50 0 15,51 0-15,-51 0 16,50 0-16,-24 0 15,-1 0 1,25 0 0,-74 0-1,50 0 1,-51 0 0,1 0-1,25 0 1,-1 0-1,-49 0 1,50 0-16,-25 0 16,24 0-16,-24 0 0,49 0 15,-148 0 1,124 0 15,-50 0-15,0 0-1,-50 0 1,50 0 0,-25 0-1,25 0 1,-25 0 0,0 0-1,25 0 1,50 0-16,-75 0 15,75 0-15,24 0 16,-99 0 15,25 0-15,0 0 0,0 0-1,25 0 1,25 0-1,49 0 1,-74 0 0,24 0-1,26 0-15,-1 0 16,25 0-16,-24 0 0,24 0 16,-25 0-1,0 0 16,26 0-31,-1 0 16,0 0 0,-25 0-1,26 0 1,-26-25 15,0 25-15,26 0-1,-26-50-15,0 50 32,26 0-17,-1 0 1,0 0 0,-49 0-1,24 0 1,-24 0-1,24 0 1,-49 0 15,24 0-15,51 0 0,-26 0-1,0 0 1,25 0-1,-24 0 1,-1 0 0,1 0-1,-26 0 1,26 0 0,-26 0-1,26 0 1,24 0 15,-25 0-31,25 0 0,1 0 0,-1 0 16,-25 0-1,25 0-15,-24 0 16,-26 0 15,51 0-15,-1 0-1,-50 0 1,51 0 0,-76 0-1,75-25 1,-49 25 0,49 0-1,0 0 1,1 0-1,-51-24 1</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14536 15577 0,'49'0'140,"1"0"-124,49 0-16,-25 0 15,100 0 1,-25 25 0,-50-25 15,25 0-15,-25 0-1,-74 0-15,74 0 16,-74 0-16,0 0 0,49 0 15,50 0 1,-74 0 0,24 0-1,-24 0 1,49 0 0,0 0-1,1 0 1,24 0 15,-75 0-15,51 0-1,-51 0-15,1 0 16,-25 0-16,-1 0 0,1 0 16,74 0-1,1 0 1,-1 0-1,25 0 1,-75 0 0,51 0-1,-1 0 1,25 0 0,0 0-1,-74 0-15,49 0 16,-50 0-16,51 0 0,-26 0 15,100 0 1,-26 0 0,51 0 15,-50 0-15,-25 0-1,0 0 1,-50 0-1,1 0 1,24 0 0,-25 0-1,-24 0 1,24 0-16,-49 0 16,25 0-16,-1 0 0,-24 0 15,99 0 16,-74 0-15,24 0 0,-49 0-1,49 0 1,-24 0 0,24 0-1,1 0 1,-1 0-1,25 0 1,-24 0 0,-26 0-16,26 0 15,-26 0-15,1 0 16,24 0 0,-24 0-1,25 0 1,-1 0-1,0 0 1,-24 0 0,49 0 15,-24 0-15,-26 0-1,26 0 1,-51 0-16,76 0 15,-51 0-15,26 0 16,-51 0 0,76 0-1,-76 0 1,26 0 0,25 25-1,-51-25 1,1 0 15,25 0-15,-25 0-1,24 25 1,26-25 0,-51 0-1,1 0 1,50 25-1,-51-25 1,1 0 0,25 0-1,-1 0 1,1 24 0,-25 1-1,0-25 1,-1 0-16,1 0 15,25 0 1,-25 25 0,-1-25 15,26 0-15,0 0-1,-26 0 1,1-25 624,-74-24-265,24 49-281,-25 0-78,1 0-1,-1 0-15,-24 0 16,24 0 0,-24-25-16,24 25 15,-49 0-15,24 0 16,26 0-16,24 0 16,-25 0-16,26 0 15,-1 0-15,0 0 0,-25 0 16,26 0-16,-1 0 15,0 0-15,-50 0 16,51 0-16,-1 0 16,-50 0-16,51 0 15,-1 0-15,-25 0 16,1 0-16,24 0 0,-25 0 16,25 0-1,1 0-15,-1 0 16,-25 0-16,1 0 15,24 0-15,-50 0 16,26 0-16,-26 0 16,51 0-1,-51 0-15,50 0 16,-24 0-16,-26 0 16,50 0-16,-49 0 15,49 0-15,-24 0 16,-1 0-16,0 0 15,-24 0-15,24 0 16,-24 0-16,24 0 0,-49 0 16,50 0-1,-26 0-15,26 0 16,-26 0-16,50 0 16,-49 0-16,0 0 15,-1 0-15,25 0 16,-24 0-1,24 0-15,-24 0 16,0 0-16,-1 0 16,1 0-16,24 0 15,-49 0-15,49 0 16,-24 0-16,0 0 16,-1 0-16,1 0 15,24 0-15,-49 0 0,74 0 16,-49 0-1,24 0-15,-24 0 16,-1-50-16,1 50 16,49 0-16,-49-25 15,24 25-15,-24 0 16,49 0-16,0-24 0,-49 24 16,49 0-16,0 0 15,0 0-15,-24 0 16,24 0-16,-25 0 15,-24 0-15,49 0 16,-50 0-16,26 0 16,-26 0-1,51 0-15,-26 0 16,0 0-16,26 0 16,-1 0-1,0 0 1,-25 0-1,26 0-15,-1 0 16,0 0-16,-49 0 16,49 0-16,0 0 15,-49 0-15,-26 0 16,76 0 0,-1 0-16,0 0 15,-25 0-15,1 0 16,24 0-1,-50 0-15,26 0 16,-1 0-16,1 49 16,-26-49-1,50 0-15,-24 0 16,-26 25-16,51-25 31,-1 0-31,-25 0 16,25 25-16,-49 0 15,49-25-15,0 0 16,1 0-16,-1 0 16,-25 0-1,25 0-15,1 0 16,-1 0-16,-50 24 16,51 1-16,-51-25 31,50 0-31,0 0 15,1 0-15,-26 0 16,25 0 0,-24 0-1,-1 0-15,0 0 16,26 0 0,-26 0-16,0 0 15,26 0 1,-26 0-16,25 0 0,0 0 15,1 0-15,-26 0 16,25 0-16,0 0 0,1 0 16,-26 0-1,25 0 1,0 25 0</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22547 15602 0,'100'0'140,"-1"0"-124,0 0-16,124 0 16,25 0-1,-24 0 1,-76 0-1,-24 0 17,1 0-17,-26 0 1,25 0 0,-25 0-1,-49 0-15,24 0 31,25 0-31,-49 0 0,74 0 16,0 0 0,0 0-1,0 0 1,0 0 0,-50 0-1,-49 0 1,0 0-1,74 0 1,0 0 0,-49 0-16,24 0 15,-24 0 1,24 0 0,-24 0-16,74 0 15,-25 0 1,1 0-1,-76 0 1,76 0 0,-76 0-1,76 0 1,-51 0 0,26 0-1,-1 0 1,-24 0-16,-1 0 15,26 0 1,-51 0 0,26 0-16,74 0 15,-50 0 1,-49 0 0,50 0-1,-26 0 1,-24 0-1,74 0 1,-24 0 0,-50 0-1,24 0 1,1 0-16,-25 0 16,-1 0-1,1 0 1,25 0-16,-25 0 15,-1 0 1,51 0 0,-26 0-1,26 0 17,-50 0-17,24 0 1,1 0-1,-25 0-15,-1 0 16,1 0-16,25 0 16,-25 0-1,0 0 1,-1 0 0,26 0-1,-25 0 1,0 0 31,-1 0 187,26 0-218,-25 0-1,-75 0 470,-24 0-470,-50 0-15,24 0 16,-98 0 0,24 0-1,100 0 1,-25 0-1,74 0-15,-49 0 16,24 0-16,-24 0 16,24 0-16,-149 0 15,26 0 1,49 0 0,25 0-1,-1 0 1,51 0-1,-50 0 17,-1 0-17,-24 0 1,0 0 0,25 0-1,74 0-15,0 0 16,-49 0-16,49 0 15,-24 0-15,-75 0 16,24 0 0,-48 0-1,24 0 1,-50 0 0,25 0 15,25 0-16,0 0 1,-25 0 0,50 0-1,49 0-15,-24 0 16,49 0-16,-49 0 16,-1 0-16,-49 0 15,0 0 1,0 0-1,0 0 1,0 0 0,0 0-1,0 0 1,50 0 0,24 0-1,-24 0 1,49 0-1,-25 0-15,1 0 32,24 0-32,0 0 15,-24 0 1,-1 0 0,-25 0-16,26 0 15,-26 25 16,26-25-15,24 0 0,-49 0-1,49 0 17</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3"/>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28724 15652 0,'25'0'125,"-1"0"-109,26 0-16,0 0 15,49 0 1,50 0 0,-25 0-1,-50 0-15,-24 0 16,99 0-16,-50 25 15,25-25 1,25 0 0,-50 0-1,0 0 1,-49 0 0,24 0-1,25 0 1,-74 0-1,74 0 1,-24 0 15,-26 0-31,1 0 16,24 0-16,-24 0 16,49 0-1,25 49 1,0-24-1,-25-25 1,-24 25 0,-1-25-1,-24 0 1,0 0 0,-26 0-16,1 0 15,0 0 16,25 0-15,-26 0 15,1 0-31,0 0 16,25 0 15,-26 0 63</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4"/>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1885 16346 0,'75'0'94,"24"0"-79,0 0-15,25 0 16,50 0-1,49 0 1,-124 0-16,25 25 16,-49-25-16,24 0 0,25 0 15,74 0 1,-24 0 0,49 25-1,-49-25 16,-1 0-15,-49 0 0,0 0-1,25 0 1,0-25 0,-25 0-1,-49 0-15,-26 25 16,50 0-16,-49 0 0,24 0 15,75 0 1,-25-24 0,0 24-1,-25 0 17,1 0-17,-1 0 1,-49 0-16,-26 0 15,51 0-15,-50 0 16,99 0 0,0 0-1,-25 0-15,-50 0 16,26 0-16,-26 0 0,26 0 16,49 0-1,-50 0 1,100 0-1,0 0 1,24 0 0,0 0-1,50 0 1,-49 0 0,-50 0-1,-50 0 16,-49 0-15,-1 0 0,26 0-16,73 0 15,-48 0-15,-1 0 16,99 0 0,-123 0-1,24 0 1,-25 0-1,1 0 1,24 0 0,50 0-1,49 0 17,-49 0-17,-75 0-15,1 0 16,24 0-16,-24 0 15,-26 0 1,26 0 0,-26 0-1,75 0 1,0 49 0,25-49-1,49 25 1,-24 0-1,0 0 1,-1 24 0,-98-49-16,-26 0 15,75 0-15,-24 0 16,24 0 0,0 0-1,49 0 16,26 0-15,-50 0 0,-1 0-1,51 0 1,-50 0 0,0 0-1,-50 0-15,25 0 16,0 0-16,0 25 0,-25-25 15,149 0 1,-25 0 0,-24 0-1,-1 0 17,50 0-17,0 0 1,0 0-1,25 0 1,-50 25 0,-49-25-1,0 0 1,-100 0-16,1 0 16,49 0-16,-25 0 15,50 0 1,-1 0-1,51 0 1,-26 0 0,-24 0-1,25 0 1,-25 0 0,0 0-1,-50 0 16,50 0-15,-125 0-16,150 0 16,-100 0-16,26 0 15,123 0 1,-74 0 0,-25 0-1,25 0 1,-50 0-1,-25 0 1,-24 0 0,24 0-1,-24 0 17,-75 0 436,0 0 314,0 0-767,-24 0-15,24 0 0,0 0 31,0 0 1,-24 0-17,24 0 1,0 0 0,0-25-1,1 0-15,-26 1 16,25-1-1,0 0 1,-24 25 0,24 0-1,-25-50 1,1 50 0,-1-25-16,25 25 15,-24 0-15,-1 0 16,25 0-16,-24 0 15,24 0-15,0 0 16,0-24-16,-49 24 16,49 0-1,0 0 1,-24 0-16,24 0 16,0 0-1,-49 0-15,49 0 0,-25 0 16,1 0-1,24 0-15,-25 0 0,-24 0 16,49 0 0,0 0-16,-24 0 15,24 0-15,0 0 16,0 0-16,-49 0 16,24 0-16,-49 0 15,25 0-15,-1 0 16,-24 0-16,0 0 15,-1 0-15,-24 0 16,50 0-16,-50 0 16,25 0-16,0 0 15,-1 0-15,51 0 16,-50 0-16,-1 0 16,26 0-16,-25 0 15,-1 0-15,-24 0 0,0 0 16,0 0-16,25 0 15,-25 0-15,50 0 16,-50 0-16,24 0 16,26 0-16,24 0 15,-24 0-15,24 0 32,-24 0-32,24 0 15,26 0-15,-26 0 16,0 0-16,-24 0 15,49 0-15,-24 0 16,-1 0-16,0 0 16,26 0-16,-26 0 15,0 0-15,25 0 0,-49 0 16,24 0-16,1 0 16,24 0-16,0 0 15,-49 0-15,24 0 16,25 0-16,-24 0 15,-1 0-15,-24 0 16,49 0 0,0 0-1,0 0-15,-49 0 16,49 0-16,0 0 31</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5"/>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13568 16272 0,'-25'0'0,"-49"0"15,24 0 1,-49 25 0,-25-25-1,0 49 1,-99 1 0,74-25-1,50-25 1,0 0-1,49 0-15,25 0 16,-24 49 0,-1-49-1,-49 0-15,-1 0 16,1 0 15,25 0-15,-25 0-1,49 0 1,-24 0 0,49 0-1,0 0 1,-49 0 0,49 0-16,-50 0 15,1 0 1,-25 0-1,0 0-15,49 0 16,-25 0 15,51 0-15,-1 0 0,-25 0-1,25 0 1,1 0-16,-51 0 15,50 0 1,-74 0-16,74 0 16,-24 0-1,-26 0 1,-24 0 0,25 0-1,-50 0 16,25 0-15,-1 0 0,76 0-1,-51 0-15,50 25 16,-24-25 0,-1 0-16,0 0 15,-24 25 1,24-25-16,-49 25 31,50-25-15,-51 0-1,1 0 17,25 49-17,-1-49 1,-24 0-1,50 0-15,-26 0 16,50 0 0,0 0-1,-49 0-15,49 0 16,-74 0 0,-25 0-1,25 0-15,49 0 16,-24 0 15,24 0-15,-24 0-1,-1 0 1,-49 0 0,0 0-1,50 0 1,49 0-1,-49 0-15,49 0 0,0 0 16,-49 0 0,24 0-1,-74 0-15,50 0 16,-1 0 15,-24 0-15,0 0-1,74 0 1,-49 0 0,24 0-1,25 0 1,-74 0 0,74 0-16,-49 0 15,24 0 1,-49 0-1,0 0-15,-50 0 16,25 0 15,0 0-15,-25 0 0,25 0-1,0 0-15,49 0 16,26 0 15,-26 0-31,26 0 16,-1 0-16,25 0 15,-74 0 1,-25 0 0,-25 0-1,50 0 16,-50 0-15,25 0 0,0 0-1,25 0-15,-25 0 16,50 0 15,24 0-31,25 0 16,-74 0-16,49 0 15,-24 0 1,-50 0 0,50 0-1,-51 0 17,1 0-17,50 0 1,0 0-1,-1 0-15,-24 0 16,49 0 0,-24 0-1,24 0-15,-24 0 0,24-24 16,-24 24 0,49-25-1,-49 25-15,24-25 16,-49 0-1,49-24 17,-74 24-17,75 25 1,-26-25 0,26 25-1,-1-50-15,25 50 31,-24 0-15,24-25 0,0 25-1,0 0 17,-24 0-17,24 0 16,0 0 188,0 0-203</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6"/>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30138 15602 0,'49'0'47,"-24"0"46,0 0-77,0 0 0,0 0-16,49 0 15,25 0 1,-74 0-16,49 0 15,1 0 1,-26 0-16,1 0 16,-25 0 15,24 0-15,-24 0-1,25 0 1,24 0-1,-24 0 1,24 0 0,-49 0-1,0 0 17,24 0-17,-24-25 1,0 25-1,0 0 1,25 0 15,-26 0-15,1-24-16,0 24 47,25 0 0,-26 0-32,1 0 17,0 0-32,25 0 31,-26 0 0,1 0-15,0 0 15,25 0 110,-26 0-95,1 0-14,25 24-32</inkml:trace>
</inkml:ink>
</file>

<file path=ppt/ink/ink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7"/>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22324 16446 0,'25'-25'78,"25"25"-47,-26 0-31,100 0 16,25 0 15,25 0-15,-50 0-1,0 0 1,-50 0-16,1 0 0,-26 0 15,51 0-15,-26-25 16,50 25 0,0 0-1,0 0 1,-49 0 0,-1 0-1,-24 0 1,-1 0 15,1 0-15,49 0-1,-74 0-15,49 0 16,-49 0-16,49 0 0,-24 0 0,0 0 31,24 0-15,-49 0-1,49 0 1,-49 0 0,124-50-16,-75 50 15,1-25 17,49 25-17,-50 0 1,25 0 15,-74 0-31,25 0 16,24 0-16,-24 0 0,24 0 15,100 0 1,0 0 0,-50 0-1,24 0 1,-98 0-16,49 0 15,25 0 17,0 0-17,0 0 1,0 0 0,-49 0-16,-51 0 15,1 0 1,50 0-16,-26 0 15,-24 0 1,74 0-16,25 0 16,-24 0-1,24 0 1,-25 0 0,-25 0 15,50 0-16,-25 0 1,26 0 0,-51 0-16,-24 0 0,-1 0 15,26 0-15,-1 0 0,75 0 32,0 0-17,-1 0 1,-48 0-1,-1 0 1,-49 0 0,49 0 15,-25 0-15,1 0-1,49 0 1,-75 0-16,-24 0 0,0 0 15,49 0-15,-49 0 0,25 0 32,24 0-17,100-24 1,49 24 0,25 0-1,-124 0 1,-50 0 15,-49 0-15,0 0-1,0 0 1,24 0-16,-24 0 0,0 0 16,0 0-16,24 0 15,-24 0 1,0 0-1,0 0 1,24 0 0,-24 0-1,0 0 1,0 0 0,24 0-1,-24 0 1,0 0-1,0 0 1,25 0 15,-26 0 1,1 0-1,0 0 16,25 0 15,-26 0-31,1 0-15,0 0 0,25 0-1,-26 24 17,1 1-17,0-25 79,25 0-63,-26 25-15,1-25 46</inkml:trace>
</inkml:ink>
</file>

<file path=ppt/ink/ink1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8"/>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1885 17140 0,'25'0'172,"0"0"-156,0 0-16,-1 0 16,26 0-1,-25 0 1,0 0-16,-1 0 15,51 0 1,-26 0 0,26 0 15,24 0-15,-49 0-1,24 0 1,-49 0-1,24 0 1,26 0 0,-25 0-1,49 0 1,-74 0-16,24 0 16,1 0-1,-25 0-15,49 0 16,-24 0 15,-1 0-15,-24 0-1,0 0 1,49 0 0,-49 0-1,25 0 1,-1 0-1,1 0-15,-25 0 16,24 0 0,-24 0-16,25 0 15,49 0 1,0 0 0,0 0-1,-24 0 1,-1 0-1,-24 0 1,24 0 0,25 0 15,-49 0-15,-25 0-16,49 0 15,-49 0-15,0 0 16,49 0-1,-49 0-15,0 0 16,24 0 0,1 0-1,24 0 1,-24 0 0,25 0-1,-26 0 1,-24 0 15,49 0-15,-24 0-1,0 0-15,-26 0 16,26 0-16,0 0 16,-1 0-16,26 0 15,-26 0 1,50 0-1,-49 0 1,49 0 0,-24 0-1,-1 0 1,25 0 15,-74 0-15,74 0-1,-74 0-15,50 0 16,-26 0 0,1 0-16,-1 0 15,75 0 1,-24 0 0,24 0-1,-25 0 1,-50 0-1,-24 0 1,25 0 0,0 0-1,49 0 1,-74 0-16,49 0 16,-24 0-16,-26 0 15,51 0-15,24 0 16,-49 0 15,24 0-15,-24 0-1,-26 0 1,51 0 0,24 0-1,-25 0 1,26 0-1,-1 0 1,-49 0-16,-1 0 16,1 0-1,-25 0-15,74 0 16,-25 0 15,1 0-15,24 0-1,0 0 1,25 0 0,0 0-1,-25 0 1,-24 0 0,24 0-1,-74 0-15,24 0 16,-24 0-16,0 0 0,0 0 15,49 0 1,-24 0 0,24 0-1,-24 0 1,24 0 0,-24 0-1,-1 0 1,1 0 15,24 0-15,-24 0-16,-25 0 15,24 0-15,1 0 0,-25 0 16,99 0 0,-25 0-1,0 0 1,-49 0-1,49 0 1,0 0 0,25 0-1,-24 0 1,24 0 15,-50 0-15,25 0-1,-74 0-15,25 0 16,-25 0-16,-1 0 0,51 0 16,-26 0-1,26 0 1,-50 0 0,-1 0-1,51 0 1,-26 0-1,51 0 1,-51 0 15,26 0-15,24 0 0,-74 0-16,-1 0 15,1 0-15,25 0 0,-25 0 16,74 0-1,-49 0 1,49 0 0,0 0-1,-25 0 1,50 0 0,0 0-1,-24 0 1,-1 0-1,25 0 1,-99 0-16,-1 0 16,26 0-16,-25 0 0,25 0 15,49 0 1,0 0 15,-49 0-15,24 0-1,-24 0 1,24 0 0,-24 0-1,-1 0 1,1 0 0,24 0-1,-49 0-15,25 0 16,-1 0-16,1 0 0,-25 0 15,49 0 1,25 0 15,-49 0-15,24 0 0,1 0-1,24 0 1,0 0-1,0 0 1,-49 0-16,-25 0 16,49 0-16,-49 0 15,99 0 1,0 0 0,-25 0-1,1 0 1,-26 0-1,25-50 1,-24 50 0,-26 0-1,26 0 1,-26-24 15,-24 24-15,25 0-1,-26 0 17,1 0-1,0 0-15,25 0 62,-26 0-16,1 0-46,0 0-1,25 0 1,-26 0 0</inkml:trace>
</inkml:ink>
</file>

<file path=ppt/ink/ink1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28.63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14585 7069 0,'25'-24'62,"49"24"-46,1 0-16,-1 0 15,174 0 1,75 0 0,24 0-1,0 0 17,-148 0-32,123 0 15,-198 0-15,50 0 16,123 0-1,26 0 1,-1 0 0,1 0-1,-50 0 1,0 0 0,-1 0-1,-48 0 1,-1 0-1,0 0 1,-124 0-16,75 24 16,-50 1-1,-99-25-15,198 0 16,0 0 15,25 0-15,-74 0-1,49 0 1,0 0 0,1 0-1,-51 0 1,26 0 0,-26 0-1,-73 0-15,123 0 16,-149 0-1,50 0-15,75 25 16,-26 25 0,1-50-1,24 0 1,1 24 15,24-24-15,-74 25-1,99-25 1,-25 0 0,-24 0-1,-100 0-15,124 0 16,-173 0-16,49 0 16,99 0-1,1 0 1,-1 0-1,-24 0 1,24 0 0,-24 0-1,24 0 17,-24 0-17,0 0 1,-1 0-1,-73 0-15,73 0 16,-98 0-16,24 0 16,50 0-1,-25 0 1,24 0 0,1 0-1,0 0 1,25 0-1,-1 0 1,-24 0 0,25 0-1,-25 0 17,-50 0-32,75 0 15,-75 0-15,0 0 16,124 0-1,-49 0 1,24 0 0,-24 0-1,-50 0 1,0 0 0,-25 0-1,0 0 1,-24 0-1,-1 25 1,-49-25-16,49 0 16,-49 0-1,0 0-15,49 0 32,-24 0-17,24 0 1,-49 0-1,0 0 1,0 0 0,25 0-1,-26 0 1</inkml:trace>
</inkml:ink>
</file>

<file path=ppt/ink/ink1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31.10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14660 7268 0,'24'0'63,"26"0"-48,99 0 1,99 0 0,0 0-1,0 0 1,0 0 0,-25 0-1,-24 0 1,-26 0-1,-24 0 1,25 0 0,-50 0-1,25 0 1,99 0 15,-124 0-15,0 0-1,0 0 1,25 0 0,-1 0-1,51 0 1,24 0 0,-24 0-1,-1 0 1,-24 0-1,24 0 1,-148 0-16,148 0 16,-148 0-1,49 0-15,50 0 16,49 0 15,-24 0-15,-1 0-1,-49 0 1,25 0 0,-25 0-1,-49 0 1,24 0 0,25 0-1,-50 0-15,50 0 16,-74 0-1,49 0-15,0 0 16,25 0 0,0 0-1,1 0 1,-1 0 15,24 0-15,1 0-1,-25 0 1,25 0 0,0 0-1,-100 0-15,100 0 16,-74 0-16,-26 0 16,125 0-1,-25 0 1,-25 0-1,0 0 1,-25 0 0,-25 0-1,1 0 1,24 0 15,-24 0-15,-1 0-1,-24 0-15,49 0 16,-50 0-16,1 0 16,49 0-1,-24 0 1,49 0 0,-50 0-1,-24 0 1,24 0-1,-24 0 1,-1 0 0,-24 0-1</inkml:trace>
</inkml:ink>
</file>

<file path=ppt/ink/ink1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33.69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22250 6995 0,'0'0'0,"25"0"0,-1 0 16,100 0 0,-24 0-1,24 0 1,0 0 0,25 0-1,-25 0 1,0 0-1,-25 0 1,-50 0-16,26 0 16,-50 0-16,74 0 15,-50 0-15,75 0 16,0 0 15,50 0-15,-75 0-1,50 0 1,-25 0 0,-49 0-1,49 0 1,-25 0 0,0 0-1,0 0 1,-49 0-16,49 0 15,-74 0 1,49 0-16,1 0 16,49 0-1,0 0 1,0 0 15,0 0-15,-50 0-1,75 0 1,-25 0 0,0 0-1,25 0 1,-75 0-16,75 0 16,-50 0-16,1 0 15,24 0 1,49 0-1,-24 0 1,25 0 0,-25 0-1,-1 0 1,-24 0 15,25 0-15,25 0-1,-25 0 1,-100 0-16,125 0 16,-124 0-16,-1 0 15,50 0 1,25 0 0,0 0-1,0 0 1,1 0-1,-1 0 1,0 0 0,0 0-1,-25 0 1,0 0 15,-49 0-31,74 0 16,-50 0-16,-24 0 15,74 0 1,-25 0 0,0 0-1,-49 0 1,49 0 0,-74 0-1,49 0 1,-49 0-1,49 0 1,-24 0 0,-25 0-16,24 0 15,1 0 1,-25 0-16,74 0 31,0 0-15,-49 0-1,24 0 1,-49 0 31</inkml:trace>
</inkml:ink>
</file>

<file path=ppt/ink/ink1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38.36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2183 7913 0,'25'0'63,"-1"0"-48,26 0 1,-25 0-16,24 0 15,26 0 1,24 0 15,-25 0-15,51 0 0,-1 0-1,-25 0 1,-25 0-16,50 0 15,-99 0-15,0 0 16,74 0 0,25 0-1,-25 0 1,25 0 0,0 0-1,-49 0 1,24 0-1,0 0 1,0 0 15,-24 0-15,24 0-16,25 0 16,-25 0-16,-49 0 15,148 0 1,-49 0-1,50 0 1,-26 0 0,26 0-1,-26 0 1,-24 0 0,50 0-1,-75 0 1,24 0-1,-98 0-15,49 0 16,-24 0 0,-26 0-1,75 0 1,0 0 0,50 0-1,-25 0 1,24 0-1,26 0 1,-26 0 0,51 0-1,-1 0 1,-49 0 0,-50 0-16,99 0 15,-124 0 1,0 0-16,100 0 15,24 0 1,0 0 15,-49 0-15,49 0 0,-74 0-1,49 0 1,-49 0-1,0 0 1,74 0 0,-99 0-16,99 0 15,-123 0 1,-26 0-16,174 0 16,-49 0-1,-26 0 1,26 0-1,24 0 1,-49 0 15,24 0-15,-49 0 0,24 0-1,-73 0-15,-26 0 16,25 0-16,1 0 0,-1 0 15,50 0 1,49 0 0,-24 0-1,-1 0 1,-24 0 0,0 0-1,0 0 1,24 0-1,-24 0 1,0 0 15,74 0-15,-99 0-16,100 0 16,-150 0-16,25 0 15,50 0 1,49 0-1,-49 0 1,0 0 0,-25 0-1,0 0 1,0 0 0,0 0-1,0-25 1,0 25-1,-49 0-15,49 0 32,-50 0-32,1 0 15,73 0 1,1 0 0,0 0-1,25 0 1,24 0-1,-24 0 1,24 0 0,-24 0-1,-25 0 1,24 0 0,-123 0-16,74 0 15,-50 0 1,-24 0-16,99 0 15,-25 0 1,0 0 15,25 0-15,-1 0 0,-24 0-1,0 0 1,0 0-1,1 0 1,-51 0 0,-24 0-16,24 0 15,0 0 1,-49 0-16,74 0 16,-49 0-1,0 0 1,-1 0-1,26 0 1,-51 0 15,1 0-15,0 0 15,25 0 16,-26 0 31</inkml:trace>
</inkml:ink>
</file>

<file path=ppt/ink/ink1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42.70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2282 8037 0,'0'0'0,"25"0"0,0 0 16,-1 25 0,26-25-1,0 24 1,49-24-1,50 25 1,0-25 15,-25 0-15,49 0 0,-24 0-1,-25 0 1,25 0-1,-25 25 1,0 0 0,74-25-1,-148 0-15,99 0 16,-50 0 0,-25 0-16,100 0 15,-25 0 1,25 0-1,-1 0 1,50 0 15,25 0-15,-49 0 0,-1 0-1,26 0 1,-76 0-1,-48 0-15,48 0 16,-73 0-16,-1 0 16,100 0-1,-25 0 1,0 0 0,-1 0-1,51 0 1,-26 0-1,26 0 1,24 0 15,-49 0-15,99 0 0,-75 0-1,-24 0 1,24 0-1,-49 0 1,74 0 0,0 0-1,-74 25 1,25-25 0,24 0-1,-49 0 1,74 0-1,-49 0 17,-50 0-32,99 0 15,-123 0-15,-1 0 16,149 0 0,-50 0-1,1 0 1,24 0-1,-25 0 1,1 0 0,24 0-1,-49 0 1,24 0 0,1 0-1,-100 0-15,124 0 16,-99 0-1,0 0-15,50 0 16,49 0 15,-25 0-15,1 0 0,24 0-1,25 0 1,25 0-1,49 0 1,1 0 0,-25 0-1,-150 0-15,100 0 16,-124 0 0,0 0-16,75 0 15,-50 0 1,-50 0-1,25 0 1,0 0 15,0 0-15,25 0 0,24 0-1,51 0 1,-26 0-1,-123 0-15,148 0 16,-99 0-16,-25 0 16,99 0-1,-24 0 1,-25 0 0,0 0-1,24 0 1,-24 0-1,0 0 17,-50 0-17,-49 0 1,24 0 0,-49 0-16,49 0 15,-24 0 1,-25 0-16,49 0 15,-24 0 1,49 0 0,-24 0-1,-51 0 1,1 0 15,0 0 32,25 0-48,-26 0 1,1 0 0,0 0-1,25 0 1,-26 0-1,1 0 1,0 0 15,25 0-15,-26 0 0,1 24-1,0-24-15,25 0 16,-26 0-1,1 0 142,0 0 171</inkml:trace>
</inkml:ink>
</file>

<file path=ppt/ink/ink1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47.71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2257 8260 0,'25'25'31,"0"-25"-15,24 0 0,75 0-1,-24 25 1,49-25-1,24 0 1,26 0 0,-26 0-1,1 0 1,-100 0-16,50 0 16,-99 0-1,25 0-15,49 0 16,0 0-1,25 0 1,25 0 0,0 0 15,49 0-15,-74 0-1,25 0 1,-25 0-1,-25 0 1,-49 0-16,49 0 16,-24 0-16,-26 0 15,75 0 1,25 0 0,49 0-1,-49 0 1,25 0-1,-25 0 1,0 0 0,-1 0 15,1 0-15,50 0-1,-100 0-15,50 0 16,-50 0-16,-49 0 15,98 0 1,-48 0 0,24 0-1,-50 0 1,0 0 0,26 0-1,24 0 1,0 0-1,25 0 1,24 0 0,-98 0-1,98 0 1,-98 0-16,-1 0 16,75 0-1,74 0 1,-49 0-1,49 0 1,0 0 0,25 0-1,-74 0 1,49 0 0,-24 0-1,-51 0 1,-48 0-16,-26 0 15,25 0 1,-24 0-16,49 0 16,25 0 15,-1 0-15,-24 0-1,25 0 1,25 0-1,-50 0 1,25 24 0,-25-24-1,0 0 1,-75 0-16,150 0 16,-150 0-1,26 0-15,74 0 16,-50 0-1,50 0 1,-50 0 0,25 0 15,25 0-15,0 0-1,24 0 1,-24 0-1,-25 0 1,-74 0-16,49 0 16,-25 25-16,-24-25 15,49 0 1,25 0 0,0 0-1,0 0 1,0 0-1,-25 0 1,-49 0 0,74 0 15,-25 0-15,25 0-1,-99 0-15,99 0 16,-49 0-16,-26 0 15,75 0 1,-25 0 0,25 0-1,-24 0 1,24 0 15,0 0-31,25 0 16,24 0 15,1 0-15,-25 0-1,-100 0-15,75 0 16,-74 0-16,24 0 16,50 0-1,50 0 1,-25 0-1,-25 0 1,0 0 0,0 0-1,0 0 1,-25 0 0,25 0-1,25 0 1,-99 0-1,123 0 1,-123 0-16,24 0 16,75 0-1,0 0-15,0 0 16,-50 0 0,0 0-1,0 0 1,-49 0-1,0 0 17,-26 0-17,51 0 1,-1 0 0,-49 0-1,49 0 1,-24 0-1,24 0 1,-24 0 0,49 0-1,-49 0 1,24 0 0,26 0-1,-51 0 1,26 0-1,-1 0 17,0 0-17,26 0 1,-76 0 0,1 0-1,50 0 1,-51 0-1,1 0 1,0 0 0,25 0 31,-26 0-32,1 0 1,0 0 15,25 0-15,-26 0-1,1 0 63</inkml:trace>
</inkml:ink>
</file>

<file path=ppt/ink/ink1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56.59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16570 9227 0,'24'0'78,"1"0"-63,50 0-15,24 0 16,50 0 0,24 0-1,50 0 1,1 0 15,24 0-15,-25 0-1,50 0 1,-25 0 0,-149 0-16,100 0 15,-75 0-15,-25 0 16,149 0 0,-50 0-16,-49 0 31,74 0-16,-49 0 1,49 0 0,-49 0-1,49 0 1,-24 0 0,-26 0-1,-74 0-15,50 0 16,-74 0-1,-1 0-15,100 0 16,-50 0 0,25 0-1,-1 0 1,51 0 0,-26 0 15,51 0-16,-51 0 1,51 0 0,-26 0-1,-124 0-15,50 0 16,-49 0-16,-26 0 16,75 0-1,0 0 1,-24 0-1,49 0 1,24 0 0,-24 0-1,25 0 1,-1 0 0,-24 0 15,-25 0-16,-74 0-15,123 0 16,-123 0-16,49 0 16,50 0-1,-25 0 1,25 0 0,-25 0-1,50 0 1,-50 0-1,24 0 1,-24 0 0,0 0-1,25 0 1,124 0 0,-74 0 15,-51 0-16,1 0 1,25 0 0,-100 0-1,100 0 1,-100 0 0,100 0-1,-50 0 1,0 0-1,-50 0 1,1 0-16,-50 0 16,99 0-1,-100 0-15,76 0 16,24 0 0,-25 0 15,25 0-16,0 0 1,0 0 0,-25 0-1,-24 0 1,24 0 0,0 0-1,0 0 1,-74 0-16,74 0 15,-49 0 1,-25 0-16,74 0 16,-25 0-1,-24 0 1,-25 0 0,24 0 15,1 0-16,-25 0 1,49 0 0,-24 0-1,24 0 1,-49 0-16,0 0 16,24 0-16,-24 0 15,0 0 1,0 0-1,49 0 1,-49 0 15,0 0-15,24 0 0,1 0-1,-25 0 1,24 0-1,-24 0 1,0 0 0</inkml:trace>
</inkml:ink>
</file>

<file path=ppt/ink/ink1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59.21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16669 9475 0,'25'0'125,"74"0"-110,149 0 1,0 0 0,50 0-1,-26 0 1,51 0-1,-26 0 1,1 0 0,0 0-1,24 0 1,1 0 0,24 0-1,-25 0 1,-198 0-16,149 0 31,-173 0-31,24 0 16,49 0-1,-24 0 1,74 0 0,50 0-1,50 0 1,24 0-1,-25 0 1,1 0 0,-50 0-1,-25 0 1,-100 0-16,101 0 16,-125 0-1,0 0-15,124 0 16,-25 0-1,0 0 17,-49 0-17,74 0 1,-25 0 0,25 0-1,0 0 1,0 0-1,25 0 1,-149 0-16,199 0 16,-125 0-16,-24 0 15,173 0 1,-25 0 0,-24 0-1,-25 0 1,-25 0-1,-25 0 1,-24 0 0,-1 0-1,-24 0 1,-1 0 0,-98 0-16,49 0 15,-50 0 1,-24 0-16,74 0 31,0 0-15,0 0-1,-25 0 1,0 0 0,0 0-1,-74 0 1,25 0-1,-1 0 1,-24 0 15,0 0 16,0 0-16,24 0 1,-24 0-17,0 0 17,0 0-17,25 0 1,-26 0 31,-73-24 125,-150 24-157</inkml:trace>
</inkml:ink>
</file>

<file path=ppt/ink/ink1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6:02.02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2158 10517 0,'25'0'0,"0"0"15,-1 0-15,76 0 16,-1 0-1,50 0 1,-25 0 0,74 0 15,1 0-15,24 0-1,0 0 1,-24 0-1,-100 0-15,99 0 16,-123 0-16,24 0 16,74 0-1,1 0 1,49 0 0,1 0-1,-51 0 1,-24 0-1,49 0 1,-49 0 0,0 0 15,-50 0-31,1 0 16,-26 0-16,25 0 0,0 0 15,125 0 1,-26 0-1,1 0 1,-51 0 0,51 0-1,-50 0 1,74 0 0,0 0-1,-24 0 1,24 0-1,-25 0 1,-148 0-16,99 0 16,-50 0-1,0 0 1,50 0 0,49 0-1,50 0 1,25 0-1,-25 0 1,-24 0 0,-76 0-1,-24 0 1,-24 0 0,-51 0-1,-24 0-15,49 0 16,-49 0-1,0 0 1,25 0-16,-26 0 16,26 0 15,24 0-15,-24 0-1,24 0 1,-49 0-1,0 0 64</inkml:trace>
</inkml:ink>
</file>

<file path=ppt/ink/ink2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6:04.75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11162 10294 0,'-25'-25'16,"0"25"-16,-74 0 31,-25 0-16,50 0 1,-100 0 0,25 0-1,25 0 1,-49 0 0,98 0-16,-74 0 15,25 0 1,25 0-16,-149 0 15,0 0 1,75 0 0,-26 0-1,75 0 1,-25 0 0,25 0 15,-25 0-16,-24 0 1,-1 0 0,25 0-1,50 0-15,-99 0 16,148 0-16,-24 0 16,-50 0-1,0 0 1,-25 0-1,25 0 1,-25 0 0,-74 0-1,-1 0 1,26 0 0,-25 0 15,-25 0-16,148 0-15,-73 0 16,74 0-16,-1 0 16,-48 0-1,-1 25 1,25-25 0,-50 25-1,50-25 1,0 0-1,74 0 1,-49 0 0,50 0-1,-75 0 1,24 0 0,-24 0 15,50 0-16,-1 0 1,-24 0 0,0 0-1,49 0 1,-49 0 0,25 0-1,-1 0 1,-24 0-1,25 0 1,49 0-16,0 0 16,0 0-1,-24 0 1,24 0 0,-25 0 15,-24 0-16,-25 0 1,24 0 0,1 0-1,24 0 1,1 0 0,24 0-1,0 0 16,0 0 16,-24 0 16,24 0-1,0 0-46,0 0 0</inkml:trace>
</inkml:ink>
</file>

<file path=ppt/ink/ink2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6:10.26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17190 11088 0,'0'0'0,"49"0"16,1 0-1,-25 0-15,24 0 16,75 0 0,0 0-1,50 0 17,-25 0-17,49 0 1,75 0-1,-25 0 1,-99 0-16,99 0 16,-124 0-16,-25 0 15,75 0 1,24 0 0,-49 0-1,25 0 1,49 0-1,25 0 1,0 0 0,25 49-1,-50-49 17,-99 0-32,0 0 15,25 0-15,-50 0 16,100 0-1,-26 0 1,51 0 0,-51 0-1,50 0 1,-74 0 0,75 0-1,-26 0 1,-24 0-1,-26 0 1,51 0 0,-150 0-16,150 0 15,-149 0 1,49 0 0,50 0-1,49 0 1,-49 0-1,49 0 1,1 0 0,49 0-1,-25 0 1,25 0 0,-99 0-1,-50 0-15,25 0 16,-25 0-16,1 0 15,-26 0-15,149 0 16,25 0 0,-49 0-1,-26 0 17,51 0-17,-76 0 1,51 0-1,-26 0 1,-48 0 0,23 0-1,-24 0 1,-49 0-16,74 0 16,-125 0-1,51 0-15,74 0 16,-50 0-1,25 0 1,-25 0 0,-24 0-1,49 0 17,0 0-17,-25 0 1,25 0-1,-25 0 1,-49 0-16,74 0 16,-75 0-16,1 0 15,74 0 1,0 0 0,-25 0-1,-49 0 1,24 0-1,25 0 1,-74 0 0,25 0-1,-1 0 1,-24 0 15,0 0-31,0 0 16,24 0-1,-24 0 1,0 0 0,0 0-16,24 0 15,-24 0 1,0 0 0,0 0-1,24 0 16,-24 0-31,0 0 32,0 0-17,25 0 1,-26 0 0</inkml:trace>
</inkml:ink>
</file>

<file path=ppt/ink/ink2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6:13.13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17016 11361 0,'25'24'31,"0"-24"-15,24 0-1,26 25-15,24-25 16,-25 0 15,100 0-15,0 0-1,24 0 1,0 0 0,26 0-1,-1 0 1,0 0 0,-24 0-1,24 0 1,-25 0-1,100 0 1,-75 0 0,-74 0-1,0 0 1,24 0 15,-24 0-15,75 0-1,24 0 1,0 0 0,49 0-1,1 0 1,0 0 15,-150 0-31,150 0 16,-149 0-1,0 0-15,124 0 16,-25 0 0,-25 0-1,0 0 1,0 0 0,1 0-1,-1 0 16,0 0-15,-49 0 0,49 0-1,-25 0 1,-123 0-16,123 0 16,-99 0-16,-24 0 15,148 0 1,25 0-1,0 0 1,25 0 0,-25 0-1,0 0 1,0 0 0,0 0-1,50 0 16,-50 0-15,50 0 0,-150 0-1,1 0 1,-50 0 0,26 0-1,-26 0 1,25 0-1,-25 0 1,25 0 0,-25 0-1,25 0 1,-49 0 0,-26 0-16,75 0 15,-99 0 1,0 0-1,49 0 1,1 0 0,-1 0-1,-24 0 1,24 0 0,-24 0-1,24 0 1,-24 0-1,49 0 1,-25 0 0,-49 0-16,74 0 15,-74 0 1,0 0-16,25 0 16,-1 0-1,-24 0 16,0 0-15,24 0 0,-24 25-1,0-25 63,0 0-46,25 0-1</inkml:trace>
</inkml:ink>
</file>

<file path=ppt/ink/ink2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6:17.43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2208 12080 0,'24'0'78,"26"0"-62,0 0-16,24 0 16,50 0-1,-74 0-15,99 0 16,-50 0-1,25 0-15,124 0 32,25 0-17,24 0 1,-49 0 0,-49 0-1,-1 0 1,50 0-1,-24 0 1,-26 0 0,0 0-1,-148 0-15,74 0 16,-25 0-16,-74 0 16,99 0-1,-25 0 1,25 0-1,-24 0 1,-1 0 0,-25 0-1,1 0 1,-51 0 15,76 0-15,-76 0-1,1 0-15,25 0 16,-25 0 15,-1 0-15,1 0 0,25 0-1,-1 0 1,26 0-1,-26 0 1,26 0 0,-25 0-1,49 0 1,-74 0 0,49 0-1,-49 0-15,0 0 31,-1 0 1,26 0-1</inkml:trace>
</inkml:ink>
</file>

<file path=ppt/ink/ink2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6:19.59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2208 12427 0,'24'0'94,"26"0"-78,0 0-16,49 0 15,25 0 1,0 0 15,25 0-15,0 0-1,24 0 1,1 0 0,24 0-1,-123 0-15,173 0 16,-124 0-16,-25 0 16,124 0-1,0 0 1,-99 0-1,50 0 1,-25 0 0,25 0-1,-1 0 1,26 0 15,-26 0-15,26 0-1,-150 0-15,100 0 16,-50 0-16,-24 0 16,49 0-1,-50 0 1,25 0 0,-24 0-1,-1 0 1,25 0-1,-24 0 1,-25 0 0,-26 0-1,26 0 1,-25 0 0,0 0-1,-1 0-15,26-49 31,-25 49-31,0 0 16,-1 0 0,26 0 109,-25-25-125</inkml:trace>
</inkml:ink>
</file>

<file path=ppt/ink/ink2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6:48.81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1761 13295 0,'25'0'125,"0"0"-125,0 0 15,-1 0 1,26 0 46,-25 25 32,0-25-94,24 25 156,-24 0-140,0 0 0,0-25 46,-1 0 16,-48 0 188,-1 0-250,0 0 15,0 24-16,-24-24 1,24 0 0,0 0 15,0 25 94,25 0-94,-25 0-31,1 24 94,-1-24-47,0 0 187,50 25-203,24-26-15,1-24 15,-25 0-31,0 25 32,-1-25 14,26 0-14,-25 25-32,0 0 15,-1-25 79,-48 25 172,-26-25-251,25 0 1,-24 0-16,24 0 16,0 0-1,-25 24 1,26-24 31,-1 0-32,0 0 48,0 25-32,0 0 94,25 0-94,0 0-15,0-1 0,25 26-1,0-25 1,25 0-1,-26-1 17,26-24 30,-25 0-31,0 0 48,-1 0-64,26 0 1,-25 0-1,0 25 1,-1-25 0,26 0 93,-75 25 63,0 0-172,1-25 16,-26 25 15,25-25-16,-24 24 1,24-24 0,-99 25-1,99-25 17,0 0-32,-24 0 15,-1 50 1,50-25 140,25 24-140,0-49-1,24 25 1,1 25 0,-25-25-1,-1-25 1,26 0-1,0 24 1,-26-24 0,26 0 15,0 50-15,-1-50 15,-24 0-31,0 0 31,24 25-15,-73-25 218,-26 0-203,25 0-31,-49 25 16,49-25 0,0 0-1,-24 0 1,-1 24-1,25-24 1,-24 0 0,24 0-1,0 0 220,0 0-220,-24 50 1,24-50 0,0 0-16,0 0 15,-25 25 1,26-25 15,48 25 110,1-25-94,0 24-47,25-24 15,-1 50 1,1-25-1,-25-25 1,0 0 0,-1 25-1,26-25 17,-25 0 108,0 0-124,-1 24-16,26-24 31,0 50-31,-26-50 31,1 25-31,0-25 16,-50-25 171,-24 25-140,24 0-31,0 0-16,-49 0 31,24 0-15,25 0-1,-24 0 1,24 0 15,0 0 1,0 0 14,-24 0-14,24 0-17,0 0 32,0 0-31,0 25-1,0-25 1,1 25 93,24 24-77,24 1-17,1-25 1,0-1 0,0 26-1,0-25 1,24 0-1,-49 24 32,25-24-31,0-25 0,0 25 15,0-25 0,-1 0-15,26 0-1,-25 0 1,0 0 0,-1 0 15,26 0-16,-25 0 48,0-25 31,-50 0-79,0 25 17,0-25-32,-24 25 46,24-24-14,0 24 46,0 0 47,-24 0-94,24 0-15,0 24-1,0 26 1,0-25 0,1 0-16,-1 24 15,0-24-15,25 0 16,-25 0-1,0 49 1,25-49 0,0 0-1,-25 0 1,1-1 0,24 1 30,0 0-30,0 0 0,-25 0-16,25-1 125,25 1-125,-1-25 15,1 0 1,50 0 0,24 0-1,-25 0 1,-24 0-1,-25 0 1,0 0 31,-1 0-31,1-25 187,-74 25-188,24-24 17,0 24 93,0 0-63,0-25-46,1 25-16,-26-50 15,25 25 1,-24 25 15,24 0 0,50-24 63,-1 24-78,51-25-1,-50 25 1,-1 0-16,51 0 16,-26 0-1,1 0-15,0 0 16,-26 0 0,-48 0 171,-1 0-171,0 25-1,0-25-15,0 24 16,-24 26 0,49-25 15,-25 24-16,0 1 1,0-25 15,25 24-15,0-24 31,0 0-32,0 0 1,0 24 0,0-24-1,0 0 1,0 0 0,-24 0 140,-1-25-125,0 0-15,0 0-1,-49 0-15,49 0 32,-50 0-32,26 0 15,-1-25 1,25 25-16,50 0 156,25 0-140,-25 0-16,24 0 15,51 0 1,-26 0 0,-24 0 15,24 0-16,-24 0 1,-26 0 0,51 0-1,-50 0 1,-1 0 31,-48 0 140,-1 0-171,-25 0 0,-24 25-1,49 49 1,0 25-1,0 25 1,25-24 0,0-51-1,0 26 1,0-51 15,-24 1 94,-1-25-109,0-25-1,0 1-15,-24-1 32,24 0-17,0 25 1,0 0 0,-25 0-1,1-25 32,24 0-31,50 25 93,49 0-109,-24 0 16,0 0-16,24 0 15,-24 0 1,49 0 218,-74 0-218,-1 0-16,51 0 31,-50 0-15,-1 0-1,-48 0 110,-26 0-109,25-24 0,0-1-1,1 25-15,-26-25 16,-24 25 15,-75-99 63,124 99 172,0 0-204,50 0 47,25 0-93,-26 0 0,76 0-1,-76 0 1,26 0 0,-25 0 30,0 24 111,-25 1-142,0 0-15,0 25 16,0 49 0,24 25-1,1 0 1,-25-25-1,0 0 1,0-74 0,0 0-1,0 25 1,0-26 109,-25 1-47,1-50-62,-1 1-1,0-1 17,0 25-17,-49-25 1,24 25-1,-24-50 1,49 26 0,0 24-1,-25 0 1,26 0 0,-1-25-1,0 25 1,0-25 31,75 25 31,-25 0-47,24 0-31,26 0 16,24 0-1,-49 0 1,24 0 0,-49 0-1,0 0 48,-1-25-32,1 0 16,0 25 0,0 0 78,0 25-94,-25 0-15,0 0-1,-25 49 1,0 1-1,25-26 1,0 26 0,0-26-1,0-24 1,0 25 0,0-1-1,0-24 16,0 25-15,-25-26 250,-24-24-235,24-24-15,0-1-1,0 25 1,-24 0-1,-1-25 1,25 25 0,-49-25-1,49 0 1,0 25 0,-49 0-1,24 0 1,0 0-1,26-24-15,-1 24 47,50 0 141,-1 0-188,1 0 15,25 0-15,74 0 16,-25 49 15,-24-24-15,24 0 0,-74-25-1,-1 0 1,26 49-1,-25-49 1,24 25 0,1 0 15,-25 0-15,-25 0-1,0 0 16,0-1-15,0 1 15,-25 0 1,25 0-17,0 0 1,0-1 31,0 1-16,0 25 0,0-25 0,-25-1 16,-24-24 0,24 0-47,0 0 16,0 0-1,-24 0 1,24-24 0,0-1-1,0 0 1,-49 0 0,24-24-1,-24 24 1,49 0-1,0 25-15,0-25 16,0 25 0,1 0-16,-26-25 78,75 25 78,0 0-93,-1 0-48,1 25 1,25-25-1,0 0 1,49 25-16,-50 25 16,26-26-16,-50 1 0,49 0 15,0 49 1,-49-49 0,-25 25 46,0-25-31,0-1 16,0 1-31,25 50-1,0-51 1,-25 1 47,-25 0-17,0 0-14,0 0-17,1-25 32,-1-25-31,-25 0-1,1 25 17,-1 0-17,-24-25 17,49 25-17,-50-49-15,1 49 16,49-25 15,-25 25-31,1-25 16,24 25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BE87DD-C0A4-4C9C-80F7-8672C7422A10}"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28385F-8D62-453E-AF48-0848A605D8F7}" type="slidenum">
              <a:rPr lang="en-US" smtClean="0"/>
              <a:t>‹#›</a:t>
            </a:fld>
            <a:endParaRPr lang="en-US"/>
          </a:p>
        </p:txBody>
      </p:sp>
    </p:spTree>
    <p:extLst>
      <p:ext uri="{BB962C8B-B14F-4D97-AF65-F5344CB8AC3E}">
        <p14:creationId xmlns:p14="http://schemas.microsoft.com/office/powerpoint/2010/main" val="2046586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a:defRPr/>
            </a:pPr>
            <a:fld id="{9FA45A9E-7761-3846-9783-F10EE5B548CC}" type="slidenum">
              <a:rPr lang="en-AU" smtClean="0"/>
              <a:pPr>
                <a:defRPr/>
              </a:pPr>
              <a:t>44</a:t>
            </a:fld>
            <a:endParaRPr lang="en-AU" dirty="0"/>
          </a:p>
        </p:txBody>
      </p:sp>
    </p:spTree>
    <p:extLst>
      <p:ext uri="{BB962C8B-B14F-4D97-AF65-F5344CB8AC3E}">
        <p14:creationId xmlns:p14="http://schemas.microsoft.com/office/powerpoint/2010/main" val="1124295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1EDBC4D-E578-439E-AB12-1F656FCC4327}" type="slidenum">
              <a:rPr lang="en-AU" altLang="en-US" smtClean="0"/>
              <a:pPr>
                <a:spcBef>
                  <a:spcPct val="0"/>
                </a:spcBef>
              </a:pPr>
              <a:t>46</a:t>
            </a:fld>
            <a:endParaRPr lang="en-AU" alt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traditional approach to password guessing, or password cracking as it is called, is to develop a large dictionary of possible passwords and to try each of these against the password file. This means that each password must be hashed using each available salt value and then compared to stored hash values. If no match is found, then the cracking program tries variations on all the words in its dictionary of likely passwords. Such variations include backward spelling of words, additional numbers or special characters, or sequence of characters, An alternative is to trade off space for time by precomputing potential hash values. In this approach the attacker generates a large dictionary of possible passwords. For each password, the attacker generates the hash values associated with each possible salt value. The result is a mammoth table of hash values known as a rainbow table. For example, [OECH03] showed that using 1.4 GB of data, he could crack 99.9% of all alphanumeric Windows password hashes in 13.8 seconds. This approach can be countered by using a sufficiently large salt value and a sufficiently large hash length. Both the FreeBSD and OpenBSD approaches should be secure from this attack for the foreseeable future. </a:t>
            </a:r>
          </a:p>
        </p:txBody>
      </p:sp>
    </p:spTree>
    <p:extLst>
      <p:ext uri="{BB962C8B-B14F-4D97-AF65-F5344CB8AC3E}">
        <p14:creationId xmlns:p14="http://schemas.microsoft.com/office/powerpoint/2010/main" val="2630191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3A34A0B-B428-4336-84B8-694F3A58FCEE}" type="slidenum">
              <a:rPr lang="en-AU" altLang="en-US" smtClean="0"/>
              <a:pPr>
                <a:spcBef>
                  <a:spcPct val="0"/>
                </a:spcBef>
              </a:pPr>
              <a:t>47</a:t>
            </a:fld>
            <a:endParaRPr lang="en-AU" alt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lesson from the two experiments just described (Tables 3.1and 3.2) is that, when not constrained,many users choose a password that is too short or too easy to guess. At the other extreme,if users are assigned passwords consisting of eight randomly selected printable characters, password cracking is effectively impossible. But it would be almost as impossible for most users to remember their passwords. Fortunately, even if we limit the password universe to strings of characters that are reasonably memorable, the size of the universe is still too large to permit practical cracking. Our goal, then, is to eliminate guessable passwords while allowing the user to select a password that is memorable. Four basic techniques are in use: </a:t>
            </a:r>
          </a:p>
          <a:p>
            <a:pPr eaLnBrk="1" hangingPunct="1"/>
            <a:r>
              <a:rPr lang="en-US" altLang="en-US">
                <a:latin typeface="Times New Roman" panose="02020603050405020304" pitchFamily="18" charset="0"/>
              </a:rPr>
              <a:t>• User education - Users can be told the importance of using hard-to-guess passwords and can be provided with guidelines for selecting strong passwords. Can be problematic when have a large user population or a lot of turnover, and because many users will simply ignore the guidelines.</a:t>
            </a:r>
          </a:p>
          <a:p>
            <a:pPr eaLnBrk="1" hangingPunct="1"/>
            <a:r>
              <a:rPr lang="en-US" altLang="en-US">
                <a:latin typeface="Times New Roman" panose="02020603050405020304" pitchFamily="18" charset="0"/>
              </a:rPr>
              <a:t>• Computer-generated passwords - have a history of poor acceptance by users, if random in nature, users will not remember them, if pronounceable, the user may still  be tempted to write it down.</a:t>
            </a:r>
          </a:p>
          <a:p>
            <a:pPr eaLnBrk="1" hangingPunct="1"/>
            <a:r>
              <a:rPr lang="en-US" altLang="en-US">
                <a:latin typeface="Times New Roman" panose="02020603050405020304" pitchFamily="18" charset="0"/>
              </a:rPr>
              <a:t>• Reactive password checking - where the system periodically runs its own password cracker to find guessable passwords.The system cancels any passwords that are guessed and notifies the user. Can be costly in resources to implement.</a:t>
            </a:r>
          </a:p>
          <a:p>
            <a:pPr eaLnBrk="1" hangingPunct="1"/>
            <a:r>
              <a:rPr lang="en-US" altLang="en-US">
                <a:latin typeface="Times New Roman" panose="02020603050405020304" pitchFamily="18" charset="0"/>
              </a:rPr>
              <a:t>• Proactive password checking - where user selects own password which the system then checks to see if it is is allowable and, if not, rejects it. It must strike a balance between user acceptability and strength. Likely the best solution.</a:t>
            </a:r>
          </a:p>
        </p:txBody>
      </p:sp>
    </p:spTree>
    <p:extLst>
      <p:ext uri="{BB962C8B-B14F-4D97-AF65-F5344CB8AC3E}">
        <p14:creationId xmlns:p14="http://schemas.microsoft.com/office/powerpoint/2010/main" val="1270130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EDD4908-CC23-48C0-976B-10CC20990EB2}" type="datetime1">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895714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BFA864-45E6-4FF3-9F56-3B20DBBFC3C2}" type="datetime1">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26230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38996E-E0E0-40F4-841D-9F1A9F67B603}" type="datetime1">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651054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091E4FC-E453-477B-A66B-F03CC82B7056}" type="datetime1">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101782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B1B869-8361-44D0-BD83-AE35A5C3BED5}" type="datetime1">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591499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C0D8ED7-1120-47C5-9976-8F42E2F562CF}" type="datetime1">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907751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D831BB-02EA-4FD2-BB64-1808DDE74F74}" type="datetime1">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8267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872C61-A4AD-4435-B830-F4B215C43EE3}" type="datetime1">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361512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BC04A30-163A-4F79-B404-FE5245FD6953}" type="datetime1">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44597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448FC-326D-4210-9B7F-1F78F2B0ABAC}" type="datetime1">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520281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B785A1-B715-4328-ADC9-B20C16CF4F32}" type="datetime1">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1358240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4298C-E6C4-409D-9160-EEEEF8DB9D31}" type="datetime1">
              <a:rPr lang="en-US" smtClean="0"/>
              <a:t>9/15/2026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A50C4D-0BA1-4E54-8DFC-01810EC97B99}" type="slidenum">
              <a:rPr lang="en-US" smtClean="0"/>
              <a:t>‹#›</a:t>
            </a:fld>
            <a:endParaRPr lang="en-US"/>
          </a:p>
        </p:txBody>
      </p:sp>
    </p:spTree>
    <p:extLst>
      <p:ext uri="{BB962C8B-B14F-4D97-AF65-F5344CB8AC3E}">
        <p14:creationId xmlns:p14="http://schemas.microsoft.com/office/powerpoint/2010/main" val="4137917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52.png"/><Relationship Id="rId18" Type="http://schemas.openxmlformats.org/officeDocument/2006/relationships/customXml" Target="../ink/ink7.xml"/><Relationship Id="rId3" Type="http://schemas.openxmlformats.org/officeDocument/2006/relationships/image" Target="../media/image11.png"/><Relationship Id="rId21" Type="http://schemas.openxmlformats.org/officeDocument/2006/relationships/image" Target="../media/image56.png"/><Relationship Id="rId7" Type="http://schemas.openxmlformats.org/officeDocument/2006/relationships/image" Target="../media/image49.png"/><Relationship Id="rId12" Type="http://schemas.openxmlformats.org/officeDocument/2006/relationships/customXml" Target="../ink/ink4.xml"/><Relationship Id="rId17" Type="http://schemas.openxmlformats.org/officeDocument/2006/relationships/image" Target="../media/image54.png"/><Relationship Id="rId25" Type="http://schemas.openxmlformats.org/officeDocument/2006/relationships/image" Target="../media/image58.png"/><Relationship Id="rId2" Type="http://schemas.openxmlformats.org/officeDocument/2006/relationships/image" Target="../media/image10.png"/><Relationship Id="rId16" Type="http://schemas.openxmlformats.org/officeDocument/2006/relationships/customXml" Target="../ink/ink6.xml"/><Relationship Id="rId20" Type="http://schemas.openxmlformats.org/officeDocument/2006/relationships/customXml" Target="../ink/ink8.xml"/><Relationship Id="rId1" Type="http://schemas.openxmlformats.org/officeDocument/2006/relationships/slideLayout" Target="../slideLayouts/slideLayout7.xml"/><Relationship Id="rId6" Type="http://schemas.openxmlformats.org/officeDocument/2006/relationships/customXml" Target="../ink/ink1.xml"/><Relationship Id="rId11" Type="http://schemas.openxmlformats.org/officeDocument/2006/relationships/image" Target="../media/image51.png"/><Relationship Id="rId24" Type="http://schemas.openxmlformats.org/officeDocument/2006/relationships/customXml" Target="../ink/ink10.xml"/><Relationship Id="rId5" Type="http://schemas.openxmlformats.org/officeDocument/2006/relationships/image" Target="../media/image13.png"/><Relationship Id="rId15" Type="http://schemas.openxmlformats.org/officeDocument/2006/relationships/image" Target="../media/image53.png"/><Relationship Id="rId23" Type="http://schemas.openxmlformats.org/officeDocument/2006/relationships/image" Target="../media/image57.png"/><Relationship Id="rId10" Type="http://schemas.openxmlformats.org/officeDocument/2006/relationships/customXml" Target="../ink/ink3.xml"/><Relationship Id="rId19" Type="http://schemas.openxmlformats.org/officeDocument/2006/relationships/image" Target="../media/image55.png"/><Relationship Id="rId4" Type="http://schemas.openxmlformats.org/officeDocument/2006/relationships/image" Target="../media/image12.png"/><Relationship Id="rId9" Type="http://schemas.openxmlformats.org/officeDocument/2006/relationships/image" Target="../media/image50.png"/><Relationship Id="rId14" Type="http://schemas.openxmlformats.org/officeDocument/2006/relationships/customXml" Target="../ink/ink5.xml"/><Relationship Id="rId22" Type="http://schemas.openxmlformats.org/officeDocument/2006/relationships/customXml" Target="../ink/ink9.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microsoft.com/office/2007/relationships/hdphoto" Target="../media/hdphoto3.wdp"/></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3" Type="http://schemas.openxmlformats.org/officeDocument/2006/relationships/image" Target="../media/image31.emf"/><Relationship Id="rId18" Type="http://schemas.openxmlformats.org/officeDocument/2006/relationships/customXml" Target="../ink/ink16.xml"/><Relationship Id="rId26" Type="http://schemas.openxmlformats.org/officeDocument/2006/relationships/customXml" Target="../ink/ink20.xml"/><Relationship Id="rId21" Type="http://schemas.openxmlformats.org/officeDocument/2006/relationships/image" Target="../media/image35.emf"/><Relationship Id="rId34" Type="http://schemas.openxmlformats.org/officeDocument/2006/relationships/customXml" Target="../ink/ink24.xml"/><Relationship Id="rId7" Type="http://schemas.openxmlformats.org/officeDocument/2006/relationships/image" Target="../media/image46.png"/><Relationship Id="rId12" Type="http://schemas.openxmlformats.org/officeDocument/2006/relationships/customXml" Target="../ink/ink13.xml"/><Relationship Id="rId17" Type="http://schemas.openxmlformats.org/officeDocument/2006/relationships/image" Target="../media/image33.emf"/><Relationship Id="rId25" Type="http://schemas.openxmlformats.org/officeDocument/2006/relationships/image" Target="../media/image37.emf"/><Relationship Id="rId33" Type="http://schemas.openxmlformats.org/officeDocument/2006/relationships/image" Target="../media/image41.emf"/><Relationship Id="rId2" Type="http://schemas.openxmlformats.org/officeDocument/2006/relationships/image" Target="../media/image41.png"/><Relationship Id="rId16" Type="http://schemas.openxmlformats.org/officeDocument/2006/relationships/customXml" Target="../ink/ink15.xml"/><Relationship Id="rId20" Type="http://schemas.openxmlformats.org/officeDocument/2006/relationships/customXml" Target="../ink/ink17.xml"/><Relationship Id="rId29" Type="http://schemas.openxmlformats.org/officeDocument/2006/relationships/image" Target="../media/image39.emf"/><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30.emf"/><Relationship Id="rId24" Type="http://schemas.openxmlformats.org/officeDocument/2006/relationships/customXml" Target="../ink/ink19.xml"/><Relationship Id="rId32" Type="http://schemas.openxmlformats.org/officeDocument/2006/relationships/customXml" Target="../ink/ink23.xml"/><Relationship Id="rId37" Type="http://schemas.openxmlformats.org/officeDocument/2006/relationships/image" Target="../media/image43.emf"/><Relationship Id="rId5" Type="http://schemas.openxmlformats.org/officeDocument/2006/relationships/image" Target="../media/image44.png"/><Relationship Id="rId15" Type="http://schemas.openxmlformats.org/officeDocument/2006/relationships/image" Target="../media/image32.emf"/><Relationship Id="rId23" Type="http://schemas.openxmlformats.org/officeDocument/2006/relationships/image" Target="../media/image36.emf"/><Relationship Id="rId28" Type="http://schemas.openxmlformats.org/officeDocument/2006/relationships/customXml" Target="../ink/ink21.xml"/><Relationship Id="rId36" Type="http://schemas.openxmlformats.org/officeDocument/2006/relationships/customXml" Target="../ink/ink25.xml"/><Relationship Id="rId10" Type="http://schemas.openxmlformats.org/officeDocument/2006/relationships/customXml" Target="../ink/ink12.xml"/><Relationship Id="rId19" Type="http://schemas.openxmlformats.org/officeDocument/2006/relationships/image" Target="../media/image34.emf"/><Relationship Id="rId31" Type="http://schemas.openxmlformats.org/officeDocument/2006/relationships/image" Target="../media/image40.emf"/><Relationship Id="rId4" Type="http://schemas.openxmlformats.org/officeDocument/2006/relationships/image" Target="../media/image43.png"/><Relationship Id="rId9" Type="http://schemas.openxmlformats.org/officeDocument/2006/relationships/image" Target="../media/image29.emf"/><Relationship Id="rId14" Type="http://schemas.openxmlformats.org/officeDocument/2006/relationships/customXml" Target="../ink/ink14.xml"/><Relationship Id="rId22" Type="http://schemas.openxmlformats.org/officeDocument/2006/relationships/customXml" Target="../ink/ink18.xml"/><Relationship Id="rId27" Type="http://schemas.openxmlformats.org/officeDocument/2006/relationships/image" Target="../media/image38.emf"/><Relationship Id="rId30" Type="http://schemas.openxmlformats.org/officeDocument/2006/relationships/customXml" Target="../ink/ink22.xml"/><Relationship Id="rId35" Type="http://schemas.openxmlformats.org/officeDocument/2006/relationships/image" Target="../media/image42.emf"/><Relationship Id="rId8" Type="http://schemas.openxmlformats.org/officeDocument/2006/relationships/customXml" Target="../ink/ink11.xml"/><Relationship Id="rId3" Type="http://schemas.openxmlformats.org/officeDocument/2006/relationships/image" Target="../media/image42.png"/></Relationships>
</file>

<file path=ppt/slides/_rels/slide2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2.png"/><Relationship Id="rId1" Type="http://schemas.openxmlformats.org/officeDocument/2006/relationships/slideLayout" Target="../slideLayouts/slideLayout7.xml"/><Relationship Id="rId5" Type="http://schemas.microsoft.com/office/2007/relationships/hdphoto" Target="../media/hdphoto5.wdp"/><Relationship Id="rId4" Type="http://schemas.openxmlformats.org/officeDocument/2006/relationships/image" Target="../media/image63.png"/></Relationships>
</file>

<file path=ppt/slides/_rels/slide2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76.png"/><Relationship Id="rId1" Type="http://schemas.openxmlformats.org/officeDocument/2006/relationships/slideLayout" Target="../slideLayouts/slideLayout7.xml"/><Relationship Id="rId5" Type="http://schemas.openxmlformats.org/officeDocument/2006/relationships/image" Target="../media/image78.png"/><Relationship Id="rId4" Type="http://schemas.openxmlformats.org/officeDocument/2006/relationships/image" Target="../media/image77.png"/></Relationships>
</file>

<file path=ppt/slides/_rels/slide3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4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 Id="rId5" Type="http://schemas.openxmlformats.org/officeDocument/2006/relationships/image" Target="../media/image86.png"/><Relationship Id="rId4" Type="http://schemas.openxmlformats.org/officeDocument/2006/relationships/image" Target="../media/image85.png"/></Relationships>
</file>

<file path=ppt/slides/_rels/slide4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endParaRPr lang="en-US" dirty="0"/>
          </a:p>
        </p:txBody>
      </p:sp>
      <p:sp>
        <p:nvSpPr>
          <p:cNvPr id="4" name="Title 1"/>
          <p:cNvSpPr txBox="1">
            <a:spLocks/>
          </p:cNvSpPr>
          <p:nvPr/>
        </p:nvSpPr>
        <p:spPr>
          <a:xfrm>
            <a:off x="613956" y="702949"/>
            <a:ext cx="10946674" cy="1496554"/>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pPr algn="ctr"/>
            <a:r>
              <a:rPr lang="en-US" sz="7700" dirty="0"/>
              <a:t>CS 3002 Information Security</a:t>
            </a:r>
            <a:endParaRPr lang="en-US" sz="5400" dirty="0"/>
          </a:p>
          <a:p>
            <a:pPr algn="ctr"/>
            <a:r>
              <a:rPr lang="en-US" sz="4600" dirty="0">
                <a:solidFill>
                  <a:srgbClr val="FF0000"/>
                </a:solidFill>
              </a:rPr>
              <a:t>                                                                   Fall 2026</a:t>
            </a:r>
          </a:p>
        </p:txBody>
      </p:sp>
      <p:sp>
        <p:nvSpPr>
          <p:cNvPr id="5" name="Subtitle 2"/>
          <p:cNvSpPr txBox="1">
            <a:spLocks/>
          </p:cNvSpPr>
          <p:nvPr/>
        </p:nvSpPr>
        <p:spPr>
          <a:xfrm>
            <a:off x="6295708" y="3525988"/>
            <a:ext cx="5264922" cy="2652390"/>
          </a:xfrm>
          <a:prstGeom prst="rect">
            <a:avLst/>
          </a:prstGeom>
          <a:solidFill>
            <a:schemeClr val="accent1">
              <a:lumMod val="40000"/>
              <a:lumOff val="60000"/>
            </a:schemeClr>
          </a:solidFill>
        </p:spPr>
        <p:txBody>
          <a:bodyPr>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lgn="ctr">
              <a:buNone/>
            </a:pPr>
            <a:r>
              <a:rPr lang="en-US" sz="3200" dirty="0"/>
              <a:t>Week # 5 </a:t>
            </a:r>
            <a:endParaRPr lang="en-US" sz="2000" dirty="0"/>
          </a:p>
        </p:txBody>
      </p:sp>
      <p:pic>
        <p:nvPicPr>
          <p:cNvPr id="2" name="Picture 1"/>
          <p:cNvPicPr>
            <a:picLocks noChangeAspect="1"/>
          </p:cNvPicPr>
          <p:nvPr/>
        </p:nvPicPr>
        <p:blipFill>
          <a:blip r:embed="rId2"/>
          <a:stretch>
            <a:fillRect/>
          </a:stretch>
        </p:blipFill>
        <p:spPr>
          <a:xfrm>
            <a:off x="712809" y="1771385"/>
            <a:ext cx="5286336" cy="1501485"/>
          </a:xfrm>
          <a:prstGeom prst="rect">
            <a:avLst/>
          </a:prstGeom>
        </p:spPr>
      </p:pic>
      <p:grpSp>
        <p:nvGrpSpPr>
          <p:cNvPr id="8" name="Group 7"/>
          <p:cNvGrpSpPr/>
          <p:nvPr/>
        </p:nvGrpSpPr>
        <p:grpSpPr>
          <a:xfrm>
            <a:off x="1502463" y="3418245"/>
            <a:ext cx="2953265" cy="3120667"/>
            <a:chOff x="8830020" y="2751654"/>
            <a:chExt cx="2953265" cy="3120667"/>
          </a:xfrm>
        </p:grpSpPr>
        <p:pic>
          <p:nvPicPr>
            <p:cNvPr id="6" name="Picture 5"/>
            <p:cNvPicPr>
              <a:picLocks noChangeAspect="1"/>
            </p:cNvPicPr>
            <p:nvPr/>
          </p:nvPicPr>
          <p:blipFill>
            <a:blip r:embed="rId3"/>
            <a:stretch>
              <a:fillRect/>
            </a:stretch>
          </p:blipFill>
          <p:spPr>
            <a:xfrm>
              <a:off x="8830020" y="2751654"/>
              <a:ext cx="2953265" cy="2872982"/>
            </a:xfrm>
            <a:prstGeom prst="rect">
              <a:avLst/>
            </a:prstGeom>
          </p:spPr>
        </p:pic>
        <p:pic>
          <p:nvPicPr>
            <p:cNvPr id="7" name="Picture 6"/>
            <p:cNvPicPr>
              <a:picLocks noChangeAspect="1"/>
            </p:cNvPicPr>
            <p:nvPr/>
          </p:nvPicPr>
          <p:blipFill>
            <a:blip r:embed="rId4"/>
            <a:stretch>
              <a:fillRect/>
            </a:stretch>
          </p:blipFill>
          <p:spPr>
            <a:xfrm>
              <a:off x="9487387" y="5624636"/>
              <a:ext cx="1638529" cy="247685"/>
            </a:xfrm>
            <a:prstGeom prst="rect">
              <a:avLst/>
            </a:prstGeom>
          </p:spPr>
        </p:pic>
      </p:grpSp>
    </p:spTree>
    <p:extLst>
      <p:ext uri="{BB962C8B-B14F-4D97-AF65-F5344CB8AC3E}">
        <p14:creationId xmlns:p14="http://schemas.microsoft.com/office/powerpoint/2010/main" val="2945991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a:t>
            </a:fld>
            <a:endParaRPr lang="en-US"/>
          </a:p>
        </p:txBody>
      </p:sp>
      <p:grpSp>
        <p:nvGrpSpPr>
          <p:cNvPr id="6" name="Group 5"/>
          <p:cNvGrpSpPr/>
          <p:nvPr/>
        </p:nvGrpSpPr>
        <p:grpSpPr>
          <a:xfrm>
            <a:off x="605012" y="852617"/>
            <a:ext cx="10920882" cy="4312508"/>
            <a:chOff x="605012" y="852617"/>
            <a:chExt cx="10920882" cy="4312508"/>
          </a:xfrm>
        </p:grpSpPr>
        <p:pic>
          <p:nvPicPr>
            <p:cNvPr id="4" name="Picture 3"/>
            <p:cNvPicPr>
              <a:picLocks noChangeAspect="1"/>
            </p:cNvPicPr>
            <p:nvPr/>
          </p:nvPicPr>
          <p:blipFill>
            <a:blip r:embed="rId2"/>
            <a:stretch>
              <a:fillRect/>
            </a:stretch>
          </p:blipFill>
          <p:spPr>
            <a:xfrm>
              <a:off x="605012" y="852617"/>
              <a:ext cx="10920882" cy="4312508"/>
            </a:xfrm>
            <a:prstGeom prst="rect">
              <a:avLst/>
            </a:prstGeom>
          </p:spPr>
        </p:pic>
        <p:sp>
          <p:nvSpPr>
            <p:cNvPr id="5" name="Rectangle 4"/>
            <p:cNvSpPr/>
            <p:nvPr/>
          </p:nvSpPr>
          <p:spPr>
            <a:xfrm>
              <a:off x="9428205" y="4782065"/>
              <a:ext cx="2097689" cy="3830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p:cNvPicPr>
            <a:picLocks noChangeAspect="1"/>
          </p:cNvPicPr>
          <p:nvPr/>
        </p:nvPicPr>
        <p:blipFill>
          <a:blip r:embed="rId3"/>
          <a:stretch>
            <a:fillRect/>
          </a:stretch>
        </p:blipFill>
        <p:spPr>
          <a:xfrm>
            <a:off x="386954" y="5472272"/>
            <a:ext cx="11250152" cy="650836"/>
          </a:xfrm>
          <a:prstGeom prst="rect">
            <a:avLst/>
          </a:prstGeom>
        </p:spPr>
      </p:pic>
    </p:spTree>
    <p:extLst>
      <p:ext uri="{BB962C8B-B14F-4D97-AF65-F5344CB8AC3E}">
        <p14:creationId xmlns:p14="http://schemas.microsoft.com/office/powerpoint/2010/main" val="755629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a:t>
            </a:fld>
            <a:endParaRPr lang="en-US"/>
          </a:p>
        </p:txBody>
      </p:sp>
      <p:pic>
        <p:nvPicPr>
          <p:cNvPr id="3" name="Picture 2"/>
          <p:cNvPicPr>
            <a:picLocks noChangeAspect="1"/>
          </p:cNvPicPr>
          <p:nvPr/>
        </p:nvPicPr>
        <p:blipFill>
          <a:blip r:embed="rId2"/>
          <a:stretch>
            <a:fillRect/>
          </a:stretch>
        </p:blipFill>
        <p:spPr>
          <a:xfrm>
            <a:off x="518626" y="869779"/>
            <a:ext cx="10949474" cy="3789626"/>
          </a:xfrm>
          <a:prstGeom prst="rect">
            <a:avLst/>
          </a:prstGeom>
        </p:spPr>
      </p:pic>
    </p:spTree>
    <p:extLst>
      <p:ext uri="{BB962C8B-B14F-4D97-AF65-F5344CB8AC3E}">
        <p14:creationId xmlns:p14="http://schemas.microsoft.com/office/powerpoint/2010/main" val="3922160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a:t>
            </a:fld>
            <a:endParaRPr lang="en-US"/>
          </a:p>
        </p:txBody>
      </p:sp>
      <p:grpSp>
        <p:nvGrpSpPr>
          <p:cNvPr id="5" name="Group 4"/>
          <p:cNvGrpSpPr/>
          <p:nvPr/>
        </p:nvGrpSpPr>
        <p:grpSpPr>
          <a:xfrm>
            <a:off x="533400" y="1424802"/>
            <a:ext cx="10934701" cy="2168100"/>
            <a:chOff x="533400" y="1968500"/>
            <a:chExt cx="10934701" cy="2168100"/>
          </a:xfrm>
        </p:grpSpPr>
        <p:pic>
          <p:nvPicPr>
            <p:cNvPr id="3" name="Picture 2"/>
            <p:cNvPicPr>
              <a:picLocks noChangeAspect="1"/>
            </p:cNvPicPr>
            <p:nvPr/>
          </p:nvPicPr>
          <p:blipFill>
            <a:blip r:embed="rId2"/>
            <a:stretch>
              <a:fillRect/>
            </a:stretch>
          </p:blipFill>
          <p:spPr>
            <a:xfrm>
              <a:off x="642453" y="1968500"/>
              <a:ext cx="10825648" cy="2168100"/>
            </a:xfrm>
            <a:prstGeom prst="rect">
              <a:avLst/>
            </a:prstGeom>
          </p:spPr>
        </p:pic>
        <p:sp>
          <p:nvSpPr>
            <p:cNvPr id="4" name="Rectangle 3"/>
            <p:cNvSpPr/>
            <p:nvPr/>
          </p:nvSpPr>
          <p:spPr>
            <a:xfrm>
              <a:off x="533400" y="1968500"/>
              <a:ext cx="7975600" cy="40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5"/>
          <p:cNvSpPr/>
          <p:nvPr/>
        </p:nvSpPr>
        <p:spPr>
          <a:xfrm>
            <a:off x="642453" y="681335"/>
            <a:ext cx="10825648" cy="461665"/>
          </a:xfrm>
          <a:prstGeom prst="rect">
            <a:avLst/>
          </a:prstGeom>
        </p:spPr>
        <p:txBody>
          <a:bodyPr wrap="square">
            <a:spAutoFit/>
          </a:bodyPr>
          <a:lstStyle/>
          <a:p>
            <a:r>
              <a:rPr lang="en-US" sz="2400" dirty="0">
                <a:solidFill>
                  <a:srgbClr val="FF0000"/>
                </a:solidFill>
                <a:latin typeface="TimesTenLTStd-Roman"/>
              </a:rPr>
              <a:t>Message encryption by itself does not provide a secure form of authentication. </a:t>
            </a:r>
            <a:endParaRPr lang="en-US" sz="2400" dirty="0">
              <a:solidFill>
                <a:srgbClr val="FF0000"/>
              </a:solidFill>
            </a:endParaRPr>
          </a:p>
        </p:txBody>
      </p:sp>
      <p:sp>
        <p:nvSpPr>
          <p:cNvPr id="7" name="Rectangle 6"/>
          <p:cNvSpPr/>
          <p:nvPr/>
        </p:nvSpPr>
        <p:spPr>
          <a:xfrm>
            <a:off x="642453" y="4130928"/>
            <a:ext cx="10825648" cy="1200329"/>
          </a:xfrm>
          <a:prstGeom prst="rect">
            <a:avLst/>
          </a:prstGeom>
        </p:spPr>
        <p:txBody>
          <a:bodyPr wrap="square">
            <a:spAutoFit/>
          </a:bodyPr>
          <a:lstStyle/>
          <a:p>
            <a:r>
              <a:rPr lang="en-US" dirty="0">
                <a:solidFill>
                  <a:srgbClr val="FF0000"/>
                </a:solidFill>
                <a:latin typeface="TimesTenLTStd-Roman"/>
              </a:rPr>
              <a:t>It is possible to combine authentication and confidentiality in a single algorithm by encrypting a message plus its authentication tag. </a:t>
            </a:r>
          </a:p>
          <a:p>
            <a:endParaRPr lang="en-US" dirty="0">
              <a:solidFill>
                <a:srgbClr val="FF0000"/>
              </a:solidFill>
              <a:latin typeface="TimesTenLTStd-Roman"/>
            </a:endParaRPr>
          </a:p>
          <a:p>
            <a:r>
              <a:rPr lang="en-US" dirty="0">
                <a:solidFill>
                  <a:srgbClr val="FF0000"/>
                </a:solidFill>
                <a:latin typeface="TimesTenLTStd-Roman"/>
              </a:rPr>
              <a:t>Message authentication is provided as a separate function from message encryption. </a:t>
            </a:r>
            <a:endParaRPr lang="en-US" dirty="0">
              <a:solidFill>
                <a:srgbClr val="FF0000"/>
              </a:solidFill>
            </a:endParaRPr>
          </a:p>
        </p:txBody>
      </p:sp>
    </p:spTree>
    <p:extLst>
      <p:ext uri="{BB962C8B-B14F-4D97-AF65-F5344CB8AC3E}">
        <p14:creationId xmlns:p14="http://schemas.microsoft.com/office/powerpoint/2010/main" val="4061860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5</a:t>
            </a:fld>
            <a:endParaRPr lang="en-US"/>
          </a:p>
        </p:txBody>
      </p:sp>
      <p:pic>
        <p:nvPicPr>
          <p:cNvPr id="3" name="Picture 2"/>
          <p:cNvPicPr>
            <a:picLocks noChangeAspect="1"/>
          </p:cNvPicPr>
          <p:nvPr/>
        </p:nvPicPr>
        <p:blipFill>
          <a:blip r:embed="rId2"/>
          <a:stretch>
            <a:fillRect/>
          </a:stretch>
        </p:blipFill>
        <p:spPr>
          <a:xfrm>
            <a:off x="364525" y="542833"/>
            <a:ext cx="10989275" cy="568411"/>
          </a:xfrm>
          <a:prstGeom prst="rect">
            <a:avLst/>
          </a:prstGeom>
        </p:spPr>
      </p:pic>
      <p:sp>
        <p:nvSpPr>
          <p:cNvPr id="4" name="Rectangle 3"/>
          <p:cNvSpPr/>
          <p:nvPr/>
        </p:nvSpPr>
        <p:spPr>
          <a:xfrm>
            <a:off x="565451" y="1111244"/>
            <a:ext cx="9851295" cy="400110"/>
          </a:xfrm>
          <a:prstGeom prst="rect">
            <a:avLst/>
          </a:prstGeom>
        </p:spPr>
        <p:txBody>
          <a:bodyPr wrap="square">
            <a:spAutoFit/>
          </a:bodyPr>
          <a:lstStyle/>
          <a:p>
            <a:r>
              <a:rPr lang="en-US" sz="2000" dirty="0">
                <a:solidFill>
                  <a:srgbClr val="FF0000"/>
                </a:solidFill>
                <a:latin typeface="TimesTenLTStd-Roman"/>
              </a:rPr>
              <a:t>Three situations in which message authentication without confidentiality is preferable:</a:t>
            </a:r>
            <a:r>
              <a:rPr lang="en-US" sz="2000" dirty="0">
                <a:solidFill>
                  <a:srgbClr val="FF0000"/>
                </a:solidFill>
              </a:rPr>
              <a:t> </a:t>
            </a:r>
          </a:p>
        </p:txBody>
      </p:sp>
      <p:pic>
        <p:nvPicPr>
          <p:cNvPr id="6" name="Picture 5"/>
          <p:cNvPicPr>
            <a:picLocks noChangeAspect="1"/>
          </p:cNvPicPr>
          <p:nvPr/>
        </p:nvPicPr>
        <p:blipFill>
          <a:blip r:embed="rId3"/>
          <a:stretch>
            <a:fillRect/>
          </a:stretch>
        </p:blipFill>
        <p:spPr>
          <a:xfrm>
            <a:off x="1296990" y="1511354"/>
            <a:ext cx="8892969" cy="5027559"/>
          </a:xfrm>
          <a:prstGeom prst="rect">
            <a:avLst/>
          </a:prstGeom>
        </p:spPr>
      </p:pic>
    </p:spTree>
    <p:extLst>
      <p:ext uri="{BB962C8B-B14F-4D97-AF65-F5344CB8AC3E}">
        <p14:creationId xmlns:p14="http://schemas.microsoft.com/office/powerpoint/2010/main" val="4191222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6</a:t>
            </a:fld>
            <a:endParaRPr lang="en-US"/>
          </a:p>
        </p:txBody>
      </p:sp>
      <p:pic>
        <p:nvPicPr>
          <p:cNvPr id="8" name="Picture 7"/>
          <p:cNvPicPr>
            <a:picLocks noChangeAspect="1"/>
          </p:cNvPicPr>
          <p:nvPr/>
        </p:nvPicPr>
        <p:blipFill>
          <a:blip r:embed="rId2"/>
          <a:stretch>
            <a:fillRect/>
          </a:stretch>
        </p:blipFill>
        <p:spPr>
          <a:xfrm>
            <a:off x="567172" y="597087"/>
            <a:ext cx="7374622" cy="523642"/>
          </a:xfrm>
          <a:prstGeom prst="rect">
            <a:avLst/>
          </a:prstGeom>
        </p:spPr>
      </p:pic>
      <p:grpSp>
        <p:nvGrpSpPr>
          <p:cNvPr id="10" name="Group 9"/>
          <p:cNvGrpSpPr/>
          <p:nvPr/>
        </p:nvGrpSpPr>
        <p:grpSpPr>
          <a:xfrm>
            <a:off x="567172" y="1643449"/>
            <a:ext cx="10927879" cy="3286895"/>
            <a:chOff x="567172" y="1643449"/>
            <a:chExt cx="10927879" cy="3286895"/>
          </a:xfrm>
        </p:grpSpPr>
        <p:grpSp>
          <p:nvGrpSpPr>
            <p:cNvPr id="7" name="Group 6"/>
            <p:cNvGrpSpPr/>
            <p:nvPr/>
          </p:nvGrpSpPr>
          <p:grpSpPr>
            <a:xfrm>
              <a:off x="567172" y="1643449"/>
              <a:ext cx="10927879" cy="3286895"/>
              <a:chOff x="634213" y="766120"/>
              <a:chExt cx="10927879" cy="3286895"/>
            </a:xfrm>
            <a:solidFill>
              <a:schemeClr val="bg1"/>
            </a:solidFill>
          </p:grpSpPr>
          <p:grpSp>
            <p:nvGrpSpPr>
              <p:cNvPr id="5" name="Group 4"/>
              <p:cNvGrpSpPr/>
              <p:nvPr/>
            </p:nvGrpSpPr>
            <p:grpSpPr>
              <a:xfrm>
                <a:off x="634213" y="766120"/>
                <a:ext cx="10927879" cy="3286895"/>
                <a:chOff x="634213" y="766120"/>
                <a:chExt cx="10927879" cy="3286895"/>
              </a:xfrm>
              <a:grpFill/>
            </p:grpSpPr>
            <p:pic>
              <p:nvPicPr>
                <p:cNvPr id="3" name="Picture 2"/>
                <p:cNvPicPr>
                  <a:picLocks noChangeAspect="1"/>
                </p:cNvPicPr>
                <p:nvPr/>
              </p:nvPicPr>
              <p:blipFill>
                <a:blip r:embed="rId3"/>
                <a:stretch>
                  <a:fillRect/>
                </a:stretch>
              </p:blipFill>
              <p:spPr>
                <a:xfrm>
                  <a:off x="634214" y="766120"/>
                  <a:ext cx="10888993" cy="2240533"/>
                </a:xfrm>
                <a:prstGeom prst="rect">
                  <a:avLst/>
                </a:prstGeom>
                <a:grpFill/>
                <a:ln>
                  <a:noFill/>
                </a:ln>
              </p:spPr>
            </p:pic>
            <p:pic>
              <p:nvPicPr>
                <p:cNvPr id="4" name="Picture 3"/>
                <p:cNvPicPr>
                  <a:picLocks noChangeAspect="1"/>
                </p:cNvPicPr>
                <p:nvPr/>
              </p:nvPicPr>
              <p:blipFill>
                <a:blip r:embed="rId4"/>
                <a:stretch>
                  <a:fillRect/>
                </a:stretch>
              </p:blipFill>
              <p:spPr>
                <a:xfrm>
                  <a:off x="634213" y="2957225"/>
                  <a:ext cx="10927879" cy="1095790"/>
                </a:xfrm>
                <a:prstGeom prst="rect">
                  <a:avLst/>
                </a:prstGeom>
                <a:grpFill/>
                <a:ln>
                  <a:noFill/>
                </a:ln>
              </p:spPr>
            </p:pic>
          </p:grpSp>
          <p:sp>
            <p:nvSpPr>
              <p:cNvPr id="6" name="Rectangle 5"/>
              <p:cNvSpPr/>
              <p:nvPr/>
            </p:nvSpPr>
            <p:spPr>
              <a:xfrm>
                <a:off x="9823621" y="3682314"/>
                <a:ext cx="1674872" cy="37070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p:cNvSpPr/>
            <p:nvPr/>
          </p:nvSpPr>
          <p:spPr>
            <a:xfrm>
              <a:off x="567172" y="1643449"/>
              <a:ext cx="4783304" cy="3583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Picture 11">
            <a:extLst>
              <a:ext uri="{FF2B5EF4-FFF2-40B4-BE49-F238E27FC236}">
                <a16:creationId xmlns:a16="http://schemas.microsoft.com/office/drawing/2014/main" id="{3B794403-F3FA-F96F-2790-856F08DEDF7B}"/>
              </a:ext>
            </a:extLst>
          </p:cNvPr>
          <p:cNvPicPr>
            <a:picLocks noChangeAspect="1"/>
          </p:cNvPicPr>
          <p:nvPr/>
        </p:nvPicPr>
        <p:blipFill>
          <a:blip r:embed="rId5"/>
          <a:stretch>
            <a:fillRect/>
          </a:stretch>
        </p:blipFill>
        <p:spPr>
          <a:xfrm>
            <a:off x="710607" y="5716741"/>
            <a:ext cx="10927880" cy="990714"/>
          </a:xfrm>
          <a:prstGeom prst="rect">
            <a:avLst/>
          </a:prstGeom>
        </p:spPr>
      </p:pic>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C8CFBCB6-1B99-9A8B-B450-07B1C1DDFC76}"/>
                  </a:ext>
                </a:extLst>
              </p14:cNvPr>
              <p14:cNvContentPartPr/>
              <p14:nvPr/>
            </p14:nvContentPartPr>
            <p14:xfrm>
              <a:off x="7876595" y="6530505"/>
              <a:ext cx="1973880" cy="9360"/>
            </p14:xfrm>
          </p:contentPart>
        </mc:Choice>
        <mc:Fallback xmlns="">
          <p:pic>
            <p:nvPicPr>
              <p:cNvPr id="13" name="Ink 12">
                <a:extLst>
                  <a:ext uri="{FF2B5EF4-FFF2-40B4-BE49-F238E27FC236}">
                    <a16:creationId xmlns:a16="http://schemas.microsoft.com/office/drawing/2014/main" id="{C8CFBCB6-1B99-9A8B-B450-07B1C1DDFC76}"/>
                  </a:ext>
                </a:extLst>
              </p:cNvPr>
              <p:cNvPicPr/>
              <p:nvPr/>
            </p:nvPicPr>
            <p:blipFill>
              <a:blip r:embed="rId7"/>
              <a:stretch>
                <a:fillRect/>
              </a:stretch>
            </p:blipFill>
            <p:spPr>
              <a:xfrm>
                <a:off x="7860755" y="6467145"/>
                <a:ext cx="20052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3CF2F8AA-D2F0-1D3F-46FD-A97F74A5D5F9}"/>
                  </a:ext>
                </a:extLst>
              </p14:cNvPr>
              <p14:cNvContentPartPr/>
              <p14:nvPr/>
            </p14:nvContentPartPr>
            <p14:xfrm>
              <a:off x="1777475" y="5923185"/>
              <a:ext cx="2688120" cy="116640"/>
            </p14:xfrm>
          </p:contentPart>
        </mc:Choice>
        <mc:Fallback xmlns="">
          <p:pic>
            <p:nvPicPr>
              <p:cNvPr id="14" name="Ink 13">
                <a:extLst>
                  <a:ext uri="{FF2B5EF4-FFF2-40B4-BE49-F238E27FC236}">
                    <a16:creationId xmlns:a16="http://schemas.microsoft.com/office/drawing/2014/main" id="{3CF2F8AA-D2F0-1D3F-46FD-A97F74A5D5F9}"/>
                  </a:ext>
                </a:extLst>
              </p:cNvPr>
              <p:cNvPicPr/>
              <p:nvPr/>
            </p:nvPicPr>
            <p:blipFill>
              <a:blip r:embed="rId9"/>
              <a:stretch>
                <a:fillRect/>
              </a:stretch>
            </p:blipFill>
            <p:spPr>
              <a:xfrm>
                <a:off x="1761635" y="5859825"/>
                <a:ext cx="271944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F5A890C0-1D5D-0D2E-4F2D-FE99F397C404}"/>
                  </a:ext>
                </a:extLst>
              </p14:cNvPr>
              <p14:cNvContentPartPr/>
              <p14:nvPr/>
            </p14:nvContentPartPr>
            <p14:xfrm>
              <a:off x="5376395" y="5950185"/>
              <a:ext cx="2937960" cy="71640"/>
            </p14:xfrm>
          </p:contentPart>
        </mc:Choice>
        <mc:Fallback xmlns="">
          <p:pic>
            <p:nvPicPr>
              <p:cNvPr id="15" name="Ink 14">
                <a:extLst>
                  <a:ext uri="{FF2B5EF4-FFF2-40B4-BE49-F238E27FC236}">
                    <a16:creationId xmlns:a16="http://schemas.microsoft.com/office/drawing/2014/main" id="{F5A890C0-1D5D-0D2E-4F2D-FE99F397C404}"/>
                  </a:ext>
                </a:extLst>
              </p:cNvPr>
              <p:cNvPicPr/>
              <p:nvPr/>
            </p:nvPicPr>
            <p:blipFill>
              <a:blip r:embed="rId11"/>
              <a:stretch>
                <a:fillRect/>
              </a:stretch>
            </p:blipFill>
            <p:spPr>
              <a:xfrm>
                <a:off x="5360555" y="5886825"/>
                <a:ext cx="296928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18B8356C-6573-A5A7-3F07-B2C1C84E767A}"/>
                  </a:ext>
                </a:extLst>
              </p14:cNvPr>
              <p14:cNvContentPartPr/>
              <p14:nvPr/>
            </p14:nvContentPartPr>
            <p14:xfrm>
              <a:off x="8198075" y="5967825"/>
              <a:ext cx="2152440" cy="9360"/>
            </p14:xfrm>
          </p:contentPart>
        </mc:Choice>
        <mc:Fallback xmlns="">
          <p:pic>
            <p:nvPicPr>
              <p:cNvPr id="16" name="Ink 15">
                <a:extLst>
                  <a:ext uri="{FF2B5EF4-FFF2-40B4-BE49-F238E27FC236}">
                    <a16:creationId xmlns:a16="http://schemas.microsoft.com/office/drawing/2014/main" id="{18B8356C-6573-A5A7-3F07-B2C1C84E767A}"/>
                  </a:ext>
                </a:extLst>
              </p:cNvPr>
              <p:cNvPicPr/>
              <p:nvPr/>
            </p:nvPicPr>
            <p:blipFill>
              <a:blip r:embed="rId13"/>
              <a:stretch>
                <a:fillRect/>
              </a:stretch>
            </p:blipFill>
            <p:spPr>
              <a:xfrm>
                <a:off x="8182235" y="5904465"/>
                <a:ext cx="218376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91FB89FB-DC35-537B-00D7-2AEA0DCEDD73}"/>
                  </a:ext>
                </a:extLst>
              </p14:cNvPr>
              <p14:cNvContentPartPr/>
              <p14:nvPr/>
            </p14:nvContentPartPr>
            <p14:xfrm>
              <a:off x="10484075" y="5985825"/>
              <a:ext cx="1071720" cy="45000"/>
            </p14:xfrm>
          </p:contentPart>
        </mc:Choice>
        <mc:Fallback xmlns="">
          <p:pic>
            <p:nvPicPr>
              <p:cNvPr id="17" name="Ink 16">
                <a:extLst>
                  <a:ext uri="{FF2B5EF4-FFF2-40B4-BE49-F238E27FC236}">
                    <a16:creationId xmlns:a16="http://schemas.microsoft.com/office/drawing/2014/main" id="{91FB89FB-DC35-537B-00D7-2AEA0DCEDD73}"/>
                  </a:ext>
                </a:extLst>
              </p:cNvPr>
              <p:cNvPicPr/>
              <p:nvPr/>
            </p:nvPicPr>
            <p:blipFill>
              <a:blip r:embed="rId15"/>
              <a:stretch>
                <a:fillRect/>
              </a:stretch>
            </p:blipFill>
            <p:spPr>
              <a:xfrm>
                <a:off x="10468235" y="5922465"/>
                <a:ext cx="110304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C847010A-D460-C224-B54E-C82F16A3AF75}"/>
                  </a:ext>
                </a:extLst>
              </p14:cNvPr>
              <p14:cNvContentPartPr/>
              <p14:nvPr/>
            </p14:nvContentPartPr>
            <p14:xfrm>
              <a:off x="822035" y="6218025"/>
              <a:ext cx="6367320" cy="80640"/>
            </p14:xfrm>
          </p:contentPart>
        </mc:Choice>
        <mc:Fallback xmlns="">
          <p:pic>
            <p:nvPicPr>
              <p:cNvPr id="18" name="Ink 17">
                <a:extLst>
                  <a:ext uri="{FF2B5EF4-FFF2-40B4-BE49-F238E27FC236}">
                    <a16:creationId xmlns:a16="http://schemas.microsoft.com/office/drawing/2014/main" id="{C847010A-D460-C224-B54E-C82F16A3AF75}"/>
                  </a:ext>
                </a:extLst>
              </p:cNvPr>
              <p:cNvPicPr/>
              <p:nvPr/>
            </p:nvPicPr>
            <p:blipFill>
              <a:blip r:embed="rId17"/>
              <a:stretch>
                <a:fillRect/>
              </a:stretch>
            </p:blipFill>
            <p:spPr>
              <a:xfrm>
                <a:off x="806195" y="6154665"/>
                <a:ext cx="639864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64FC7AD5-F0EA-C3D9-CE90-A5EB4C48A429}"/>
                  </a:ext>
                </a:extLst>
              </p14:cNvPr>
              <p14:cNvContentPartPr/>
              <p14:nvPr/>
            </p14:nvContentPartPr>
            <p14:xfrm>
              <a:off x="822035" y="6209025"/>
              <a:ext cx="4206240" cy="116280"/>
            </p14:xfrm>
          </p:contentPart>
        </mc:Choice>
        <mc:Fallback xmlns="">
          <p:pic>
            <p:nvPicPr>
              <p:cNvPr id="19" name="Ink 18">
                <a:extLst>
                  <a:ext uri="{FF2B5EF4-FFF2-40B4-BE49-F238E27FC236}">
                    <a16:creationId xmlns:a16="http://schemas.microsoft.com/office/drawing/2014/main" id="{64FC7AD5-F0EA-C3D9-CE90-A5EB4C48A429}"/>
                  </a:ext>
                </a:extLst>
              </p:cNvPr>
              <p:cNvPicPr/>
              <p:nvPr/>
            </p:nvPicPr>
            <p:blipFill>
              <a:blip r:embed="rId19"/>
              <a:stretch>
                <a:fillRect/>
              </a:stretch>
            </p:blipFill>
            <p:spPr>
              <a:xfrm>
                <a:off x="806195" y="6145665"/>
                <a:ext cx="423756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7EA9DD11-3A5B-E1F8-0554-241A3A8ACEA5}"/>
                  </a:ext>
                </a:extLst>
              </p14:cNvPr>
              <p14:cNvContentPartPr/>
              <p14:nvPr/>
            </p14:nvContentPartPr>
            <p14:xfrm>
              <a:off x="10993115" y="5950185"/>
              <a:ext cx="589680" cy="18000"/>
            </p14:xfrm>
          </p:contentPart>
        </mc:Choice>
        <mc:Fallback xmlns="">
          <p:pic>
            <p:nvPicPr>
              <p:cNvPr id="20" name="Ink 19">
                <a:extLst>
                  <a:ext uri="{FF2B5EF4-FFF2-40B4-BE49-F238E27FC236}">
                    <a16:creationId xmlns:a16="http://schemas.microsoft.com/office/drawing/2014/main" id="{7EA9DD11-3A5B-E1F8-0554-241A3A8ACEA5}"/>
                  </a:ext>
                </a:extLst>
              </p:cNvPr>
              <p:cNvPicPr/>
              <p:nvPr/>
            </p:nvPicPr>
            <p:blipFill>
              <a:blip r:embed="rId21"/>
              <a:stretch>
                <a:fillRect/>
              </a:stretch>
            </p:blipFill>
            <p:spPr>
              <a:xfrm>
                <a:off x="10977275" y="5886825"/>
                <a:ext cx="62100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C42E086F-09BC-A3D3-7705-0FBB552DAF7C}"/>
                  </a:ext>
                </a:extLst>
              </p14:cNvPr>
              <p14:cNvContentPartPr/>
              <p14:nvPr/>
            </p14:nvContentPartPr>
            <p14:xfrm>
              <a:off x="8180075" y="6218025"/>
              <a:ext cx="3384720" cy="54000"/>
            </p14:xfrm>
          </p:contentPart>
        </mc:Choice>
        <mc:Fallback xmlns="">
          <p:pic>
            <p:nvPicPr>
              <p:cNvPr id="21" name="Ink 20">
                <a:extLst>
                  <a:ext uri="{FF2B5EF4-FFF2-40B4-BE49-F238E27FC236}">
                    <a16:creationId xmlns:a16="http://schemas.microsoft.com/office/drawing/2014/main" id="{C42E086F-09BC-A3D3-7705-0FBB552DAF7C}"/>
                  </a:ext>
                </a:extLst>
              </p:cNvPr>
              <p:cNvPicPr/>
              <p:nvPr/>
            </p:nvPicPr>
            <p:blipFill>
              <a:blip r:embed="rId23"/>
              <a:stretch>
                <a:fillRect/>
              </a:stretch>
            </p:blipFill>
            <p:spPr>
              <a:xfrm>
                <a:off x="8164235" y="6154665"/>
                <a:ext cx="34160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4D4C1E1D-C30F-2596-D0B7-E848414C396A}"/>
                  </a:ext>
                </a:extLst>
              </p14:cNvPr>
              <p14:cNvContentPartPr/>
              <p14:nvPr/>
            </p14:nvContentPartPr>
            <p14:xfrm>
              <a:off x="822035" y="6494865"/>
              <a:ext cx="5152680" cy="27000"/>
            </p14:xfrm>
          </p:contentPart>
        </mc:Choice>
        <mc:Fallback xmlns="">
          <p:pic>
            <p:nvPicPr>
              <p:cNvPr id="22" name="Ink 21">
                <a:extLst>
                  <a:ext uri="{FF2B5EF4-FFF2-40B4-BE49-F238E27FC236}">
                    <a16:creationId xmlns:a16="http://schemas.microsoft.com/office/drawing/2014/main" id="{4D4C1E1D-C30F-2596-D0B7-E848414C396A}"/>
                  </a:ext>
                </a:extLst>
              </p:cNvPr>
              <p:cNvPicPr/>
              <p:nvPr/>
            </p:nvPicPr>
            <p:blipFill>
              <a:blip r:embed="rId25"/>
              <a:stretch>
                <a:fillRect/>
              </a:stretch>
            </p:blipFill>
            <p:spPr>
              <a:xfrm>
                <a:off x="806195" y="6431505"/>
                <a:ext cx="5184000" cy="153720"/>
              </a:xfrm>
              <a:prstGeom prst="rect">
                <a:avLst/>
              </a:prstGeom>
            </p:spPr>
          </p:pic>
        </mc:Fallback>
      </mc:AlternateContent>
    </p:spTree>
    <p:extLst>
      <p:ext uri="{BB962C8B-B14F-4D97-AF65-F5344CB8AC3E}">
        <p14:creationId xmlns:p14="http://schemas.microsoft.com/office/powerpoint/2010/main" val="237383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7</a:t>
            </a:fld>
            <a:endParaRPr lang="en-US"/>
          </a:p>
        </p:txBody>
      </p:sp>
      <p:pic>
        <p:nvPicPr>
          <p:cNvPr id="3" name="Picture 2"/>
          <p:cNvPicPr>
            <a:picLocks noChangeAspect="1"/>
          </p:cNvPicPr>
          <p:nvPr/>
        </p:nvPicPr>
        <p:blipFill>
          <a:blip r:embed="rId2"/>
          <a:stretch>
            <a:fillRect/>
          </a:stretch>
        </p:blipFill>
        <p:spPr>
          <a:xfrm>
            <a:off x="598739" y="402939"/>
            <a:ext cx="7888293" cy="6052121"/>
          </a:xfrm>
          <a:prstGeom prst="rect">
            <a:avLst/>
          </a:prstGeom>
        </p:spPr>
      </p:pic>
      <p:sp>
        <p:nvSpPr>
          <p:cNvPr id="4" name="Rectangle 3"/>
          <p:cNvSpPr/>
          <p:nvPr/>
        </p:nvSpPr>
        <p:spPr>
          <a:xfrm>
            <a:off x="3727620" y="4707941"/>
            <a:ext cx="8196649" cy="1200329"/>
          </a:xfrm>
          <a:prstGeom prst="rect">
            <a:avLst/>
          </a:prstGeom>
          <a:solidFill>
            <a:schemeClr val="accent2">
              <a:lumMod val="40000"/>
              <a:lumOff val="60000"/>
            </a:schemeClr>
          </a:solidFill>
        </p:spPr>
        <p:txBody>
          <a:bodyPr wrap="square">
            <a:spAutoFit/>
          </a:bodyPr>
          <a:lstStyle/>
          <a:p>
            <a:r>
              <a:rPr lang="en-US" dirty="0">
                <a:solidFill>
                  <a:srgbClr val="242021"/>
                </a:solidFill>
              </a:rPr>
              <a:t>DES or AES is used to generate an encrypted version of the message, and some of</a:t>
            </a:r>
            <a:r>
              <a:rPr lang="en-US" dirty="0"/>
              <a:t> the bits of </a:t>
            </a:r>
            <a:r>
              <a:rPr lang="en-US" dirty="0" err="1"/>
              <a:t>ciphertext</a:t>
            </a:r>
            <a:r>
              <a:rPr lang="en-US" dirty="0"/>
              <a:t> are used as the code. Longer codes are used to provide sufficient collision resistance. One difference is that the authentication algorithm need not be reversible, as it must for decryption.</a:t>
            </a:r>
          </a:p>
        </p:txBody>
      </p:sp>
    </p:spTree>
    <p:extLst>
      <p:ext uri="{BB962C8B-B14F-4D97-AF65-F5344CB8AC3E}">
        <p14:creationId xmlns:p14="http://schemas.microsoft.com/office/powerpoint/2010/main" val="1197077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8</a:t>
            </a:fld>
            <a:endParaRPr lang="en-US"/>
          </a:p>
        </p:txBody>
      </p:sp>
      <p:pic>
        <p:nvPicPr>
          <p:cNvPr id="5" name="Picture 4"/>
          <p:cNvPicPr>
            <a:picLocks noChangeAspect="1"/>
          </p:cNvPicPr>
          <p:nvPr/>
        </p:nvPicPr>
        <p:blipFill>
          <a:blip r:embed="rId2"/>
          <a:stretch>
            <a:fillRect/>
          </a:stretch>
        </p:blipFill>
        <p:spPr>
          <a:xfrm>
            <a:off x="537613" y="1246627"/>
            <a:ext cx="11181056" cy="2979384"/>
          </a:xfrm>
          <a:prstGeom prst="rect">
            <a:avLst/>
          </a:prstGeom>
        </p:spPr>
      </p:pic>
      <p:pic>
        <p:nvPicPr>
          <p:cNvPr id="6" name="Picture 5"/>
          <p:cNvPicPr>
            <a:picLocks noChangeAspect="1"/>
          </p:cNvPicPr>
          <p:nvPr/>
        </p:nvPicPr>
        <p:blipFill>
          <a:blip r:embed="rId3"/>
          <a:stretch>
            <a:fillRect/>
          </a:stretch>
        </p:blipFill>
        <p:spPr>
          <a:xfrm>
            <a:off x="636469" y="4269466"/>
            <a:ext cx="11082200" cy="1168304"/>
          </a:xfrm>
          <a:prstGeom prst="rect">
            <a:avLst/>
          </a:prstGeom>
        </p:spPr>
      </p:pic>
      <p:cxnSp>
        <p:nvCxnSpPr>
          <p:cNvPr id="3" name="Straight Connector 2"/>
          <p:cNvCxnSpPr/>
          <p:nvPr/>
        </p:nvCxnSpPr>
        <p:spPr>
          <a:xfrm>
            <a:off x="1408670" y="4658497"/>
            <a:ext cx="873622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537613" y="4658497"/>
            <a:ext cx="11040668" cy="779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285915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9</a:t>
            </a:fld>
            <a:endParaRPr lang="en-US"/>
          </a:p>
        </p:txBody>
      </p:sp>
      <p:pic>
        <p:nvPicPr>
          <p:cNvPr id="3" name="Picture 4"/>
          <p:cNvPicPr>
            <a:picLocks noChangeAspect="1" noChangeArrowheads="1"/>
          </p:cNvPicPr>
          <p:nvPr/>
        </p:nvPicPr>
        <p:blipFill>
          <a:blip r:embed="rId2">
            <a:extLst>
              <a:ext uri="{28A0092B-C50C-407E-A947-70E740481C1C}">
                <a14:useLocalDpi xmlns:a14="http://schemas.microsoft.com/office/drawing/2010/main" val="0"/>
              </a:ext>
            </a:extLst>
          </a:blip>
          <a:srcRect l="23161" t="17897" r="18529" b="28636"/>
          <a:stretch>
            <a:fillRect/>
          </a:stretch>
        </p:blipFill>
        <p:spPr bwMode="auto">
          <a:xfrm>
            <a:off x="3336325" y="210817"/>
            <a:ext cx="5486400" cy="6510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5438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2481427" y="265083"/>
            <a:ext cx="7129848" cy="6456392"/>
            <a:chOff x="2471352" y="265084"/>
            <a:chExt cx="7129848" cy="6456392"/>
          </a:xfrm>
        </p:grpSpPr>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471352" y="265084"/>
              <a:ext cx="7129848" cy="6456392"/>
            </a:xfrm>
            <a:prstGeom prst="rect">
              <a:avLst/>
            </a:prstGeom>
          </p:spPr>
        </p:pic>
        <p:sp>
          <p:nvSpPr>
            <p:cNvPr id="11" name="Rectangle 10"/>
            <p:cNvSpPr/>
            <p:nvPr/>
          </p:nvSpPr>
          <p:spPr>
            <a:xfrm>
              <a:off x="3348681" y="5832389"/>
              <a:ext cx="3150973" cy="5239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Slide Number Placeholder 3"/>
          <p:cNvSpPr>
            <a:spLocks noGrp="1"/>
          </p:cNvSpPr>
          <p:nvPr>
            <p:ph type="sldNum" sz="quarter" idx="12"/>
          </p:nvPr>
        </p:nvSpPr>
        <p:spPr/>
        <p:txBody>
          <a:bodyPr/>
          <a:lstStyle/>
          <a:p>
            <a:fld id="{A2A50C4D-0BA1-4E54-8DFC-01810EC97B99}" type="slidenum">
              <a:rPr lang="en-US" smtClean="0"/>
              <a:t>10</a:t>
            </a:fld>
            <a:endParaRPr lang="en-US"/>
          </a:p>
        </p:txBody>
      </p:sp>
      <p:sp>
        <p:nvSpPr>
          <p:cNvPr id="6" name="Oval 5"/>
          <p:cNvSpPr/>
          <p:nvPr/>
        </p:nvSpPr>
        <p:spPr>
          <a:xfrm>
            <a:off x="8610600" y="432486"/>
            <a:ext cx="1200665" cy="1099752"/>
          </a:xfrm>
          <a:prstGeom prst="ellipse">
            <a:avLst/>
          </a:prstGeom>
          <a:solidFill>
            <a:srgbClr val="FF0000">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8568397" y="2924145"/>
            <a:ext cx="2827606" cy="646331"/>
          </a:xfrm>
          <a:prstGeom prst="rect">
            <a:avLst/>
          </a:prstGeom>
          <a:solidFill>
            <a:schemeClr val="accent2">
              <a:lumMod val="40000"/>
              <a:lumOff val="60000"/>
            </a:schemeClr>
          </a:solidFill>
          <a:ln>
            <a:solidFill>
              <a:srgbClr val="FF0000"/>
            </a:solidFill>
          </a:ln>
        </p:spPr>
        <p:txBody>
          <a:bodyPr wrap="square" rtlCol="0">
            <a:spAutoFit/>
          </a:bodyPr>
          <a:lstStyle/>
          <a:p>
            <a:r>
              <a:rPr lang="en-US" dirty="0"/>
              <a:t>To accommodate variable size messages or data blocks</a:t>
            </a:r>
          </a:p>
        </p:txBody>
      </p:sp>
      <p:cxnSp>
        <p:nvCxnSpPr>
          <p:cNvPr id="9" name="Straight Arrow Connector 8"/>
          <p:cNvCxnSpPr/>
          <p:nvPr/>
        </p:nvCxnSpPr>
        <p:spPr>
          <a:xfrm>
            <a:off x="9411286" y="1532238"/>
            <a:ext cx="399979" cy="91554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4"/>
          <a:stretch>
            <a:fillRect/>
          </a:stretch>
        </p:blipFill>
        <p:spPr>
          <a:xfrm>
            <a:off x="8438269" y="2431937"/>
            <a:ext cx="3172268" cy="400106"/>
          </a:xfrm>
          <a:prstGeom prst="rect">
            <a:avLst/>
          </a:prstGeom>
        </p:spPr>
      </p:pic>
    </p:spTree>
    <p:extLst>
      <p:ext uri="{BB962C8B-B14F-4D97-AF65-F5344CB8AC3E}">
        <p14:creationId xmlns:p14="http://schemas.microsoft.com/office/powerpoint/2010/main" val="615170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11</a:t>
            </a:fld>
            <a:endParaRPr lang="en-US"/>
          </a:p>
        </p:txBody>
      </p:sp>
      <p:grpSp>
        <p:nvGrpSpPr>
          <p:cNvPr id="7" name="Group 6"/>
          <p:cNvGrpSpPr/>
          <p:nvPr/>
        </p:nvGrpSpPr>
        <p:grpSpPr>
          <a:xfrm>
            <a:off x="585474" y="891807"/>
            <a:ext cx="11074599" cy="4903512"/>
            <a:chOff x="585474" y="891807"/>
            <a:chExt cx="11074599" cy="4903512"/>
          </a:xfrm>
        </p:grpSpPr>
        <p:pic>
          <p:nvPicPr>
            <p:cNvPr id="5" name="Picture 4"/>
            <p:cNvPicPr>
              <a:picLocks noChangeAspect="1"/>
            </p:cNvPicPr>
            <p:nvPr/>
          </p:nvPicPr>
          <p:blipFill>
            <a:blip r:embed="rId2"/>
            <a:stretch>
              <a:fillRect/>
            </a:stretch>
          </p:blipFill>
          <p:spPr>
            <a:xfrm>
              <a:off x="585474" y="891807"/>
              <a:ext cx="11074599" cy="4903512"/>
            </a:xfrm>
            <a:prstGeom prst="rect">
              <a:avLst/>
            </a:prstGeom>
          </p:spPr>
        </p:pic>
        <p:sp>
          <p:nvSpPr>
            <p:cNvPr id="6" name="Rectangle 5"/>
            <p:cNvSpPr/>
            <p:nvPr/>
          </p:nvSpPr>
          <p:spPr>
            <a:xfrm>
              <a:off x="585474" y="891807"/>
              <a:ext cx="8966299" cy="4056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 name="Straight Connector 7"/>
          <p:cNvCxnSpPr/>
          <p:nvPr/>
        </p:nvCxnSpPr>
        <p:spPr>
          <a:xfrm>
            <a:off x="3571103" y="1618735"/>
            <a:ext cx="598067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4427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2113983" y="578722"/>
            <a:ext cx="8041339" cy="3366141"/>
          </a:xfrm>
          <a:prstGeom prst="rect">
            <a:avLst/>
          </a:prstGeom>
        </p:spPr>
      </p:pic>
      <p:sp>
        <p:nvSpPr>
          <p:cNvPr id="2" name="Slide Number Placeholder 1"/>
          <p:cNvSpPr>
            <a:spLocks noGrp="1"/>
          </p:cNvSpPr>
          <p:nvPr>
            <p:ph type="sldNum" sz="quarter" idx="12"/>
          </p:nvPr>
        </p:nvSpPr>
        <p:spPr/>
        <p:txBody>
          <a:bodyPr/>
          <a:lstStyle/>
          <a:p>
            <a:fld id="{A2A50C4D-0BA1-4E54-8DFC-01810EC97B99}" type="slidenum">
              <a:rPr lang="en-US" smtClean="0"/>
              <a:t>12</a:t>
            </a:fld>
            <a:endParaRPr lang="en-US"/>
          </a:p>
        </p:txBody>
      </p:sp>
      <p:grpSp>
        <p:nvGrpSpPr>
          <p:cNvPr id="5" name="Group 4"/>
          <p:cNvGrpSpPr/>
          <p:nvPr/>
        </p:nvGrpSpPr>
        <p:grpSpPr>
          <a:xfrm>
            <a:off x="1531284" y="3944863"/>
            <a:ext cx="9206738" cy="2615771"/>
            <a:chOff x="555100" y="1270166"/>
            <a:chExt cx="10991786" cy="3314191"/>
          </a:xfrm>
        </p:grpSpPr>
        <p:pic>
          <p:nvPicPr>
            <p:cNvPr id="3" name="Picture 2"/>
            <p:cNvPicPr>
              <a:picLocks noChangeAspect="1"/>
            </p:cNvPicPr>
            <p:nvPr/>
          </p:nvPicPr>
          <p:blipFill>
            <a:blip r:embed="rId3"/>
            <a:stretch>
              <a:fillRect/>
            </a:stretch>
          </p:blipFill>
          <p:spPr>
            <a:xfrm>
              <a:off x="555100" y="1270166"/>
              <a:ext cx="10991786" cy="3314191"/>
            </a:xfrm>
            <a:prstGeom prst="rect">
              <a:avLst/>
            </a:prstGeom>
          </p:spPr>
        </p:pic>
        <p:sp>
          <p:nvSpPr>
            <p:cNvPr id="4" name="Rectangle 3"/>
            <p:cNvSpPr/>
            <p:nvPr/>
          </p:nvSpPr>
          <p:spPr>
            <a:xfrm>
              <a:off x="555100" y="1270166"/>
              <a:ext cx="3238424" cy="3362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p:cNvPicPr>
            <a:picLocks noChangeAspect="1"/>
          </p:cNvPicPr>
          <p:nvPr/>
        </p:nvPicPr>
        <p:blipFill>
          <a:blip r:embed="rId4"/>
          <a:stretch>
            <a:fillRect/>
          </a:stretch>
        </p:blipFill>
        <p:spPr>
          <a:xfrm>
            <a:off x="7071597" y="3656048"/>
            <a:ext cx="4649635" cy="246157"/>
          </a:xfrm>
          <a:prstGeom prst="rect">
            <a:avLst/>
          </a:prstGeom>
        </p:spPr>
      </p:pic>
      <p:cxnSp>
        <p:nvCxnSpPr>
          <p:cNvPr id="9" name="Straight Connector 8"/>
          <p:cNvCxnSpPr/>
          <p:nvPr/>
        </p:nvCxnSpPr>
        <p:spPr>
          <a:xfrm>
            <a:off x="7216346" y="4210223"/>
            <a:ext cx="2113005"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9860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13</a:t>
            </a:fld>
            <a:endParaRPr lang="en-US"/>
          </a:p>
        </p:txBody>
      </p:sp>
      <p:grpSp>
        <p:nvGrpSpPr>
          <p:cNvPr id="8" name="Group 7"/>
          <p:cNvGrpSpPr/>
          <p:nvPr/>
        </p:nvGrpSpPr>
        <p:grpSpPr>
          <a:xfrm>
            <a:off x="835135" y="1655802"/>
            <a:ext cx="8676157" cy="4658497"/>
            <a:chOff x="3038048" y="2928867"/>
            <a:chExt cx="6115904" cy="2941840"/>
          </a:xfrm>
        </p:grpSpPr>
        <p:pic>
          <p:nvPicPr>
            <p:cNvPr id="6" name="Picture 5"/>
            <p:cNvPicPr>
              <a:picLocks noChangeAspect="1"/>
            </p:cNvPicPr>
            <p:nvPr/>
          </p:nvPicPr>
          <p:blipFill>
            <a:blip r:embed="rId2"/>
            <a:stretch>
              <a:fillRect/>
            </a:stretch>
          </p:blipFill>
          <p:spPr>
            <a:xfrm>
              <a:off x="3038048" y="2928867"/>
              <a:ext cx="6115904" cy="1000265"/>
            </a:xfrm>
            <a:prstGeom prst="rect">
              <a:avLst/>
            </a:prstGeom>
          </p:spPr>
        </p:pic>
        <p:pic>
          <p:nvPicPr>
            <p:cNvPr id="7" name="Picture 6"/>
            <p:cNvPicPr>
              <a:picLocks noChangeAspect="1"/>
            </p:cNvPicPr>
            <p:nvPr/>
          </p:nvPicPr>
          <p:blipFill>
            <a:blip r:embed="rId3"/>
            <a:stretch>
              <a:fillRect/>
            </a:stretch>
          </p:blipFill>
          <p:spPr>
            <a:xfrm>
              <a:off x="3038048" y="3879704"/>
              <a:ext cx="6106377" cy="1991003"/>
            </a:xfrm>
            <a:prstGeom prst="rect">
              <a:avLst/>
            </a:prstGeom>
          </p:spPr>
        </p:pic>
      </p:grpSp>
      <p:pic>
        <p:nvPicPr>
          <p:cNvPr id="9" name="Picture 8"/>
          <p:cNvPicPr>
            <a:picLocks noChangeAspect="1"/>
          </p:cNvPicPr>
          <p:nvPr/>
        </p:nvPicPr>
        <p:blipFill>
          <a:blip r:embed="rId4"/>
          <a:stretch>
            <a:fillRect/>
          </a:stretch>
        </p:blipFill>
        <p:spPr>
          <a:xfrm>
            <a:off x="602595" y="463752"/>
            <a:ext cx="11131402" cy="1192050"/>
          </a:xfrm>
          <a:prstGeom prst="rect">
            <a:avLst/>
          </a:prstGeom>
        </p:spPr>
      </p:pic>
      <p:sp>
        <p:nvSpPr>
          <p:cNvPr id="3" name="Rectangle 2"/>
          <p:cNvSpPr/>
          <p:nvPr/>
        </p:nvSpPr>
        <p:spPr>
          <a:xfrm>
            <a:off x="649404" y="4163138"/>
            <a:ext cx="9047617" cy="2078119"/>
          </a:xfrm>
          <a:prstGeom prst="rect">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772F473-42D2-C018-2C5B-5DFA37CE8679}"/>
              </a:ext>
            </a:extLst>
          </p:cNvPr>
          <p:cNvSpPr txBox="1"/>
          <p:nvPr/>
        </p:nvSpPr>
        <p:spPr>
          <a:xfrm>
            <a:off x="9683508" y="3136095"/>
            <a:ext cx="2329198" cy="646331"/>
          </a:xfrm>
          <a:prstGeom prst="rect">
            <a:avLst/>
          </a:prstGeom>
          <a:noFill/>
        </p:spPr>
        <p:txBody>
          <a:bodyPr wrap="square">
            <a:spAutoFit/>
          </a:bodyPr>
          <a:lstStyle/>
          <a:p>
            <a:pPr algn="just"/>
            <a:r>
              <a:rPr lang="en-US" sz="1200" b="0" i="0" dirty="0">
                <a:solidFill>
                  <a:srgbClr val="000000"/>
                </a:solidFill>
                <a:effectLst/>
                <a:latin typeface="Times New Roman" panose="02020603050405020304" pitchFamily="18" charset="0"/>
                <a:cs typeface="Times New Roman" panose="02020603050405020304" pitchFamily="18" charset="0"/>
              </a:rPr>
              <a:t>This property protects against an attacker who only has a hash value and is trying to find the input.</a:t>
            </a:r>
          </a:p>
        </p:txBody>
      </p:sp>
      <p:sp>
        <p:nvSpPr>
          <p:cNvPr id="19" name="TextBox 18">
            <a:extLst>
              <a:ext uri="{FF2B5EF4-FFF2-40B4-BE49-F238E27FC236}">
                <a16:creationId xmlns:a16="http://schemas.microsoft.com/office/drawing/2014/main" id="{6454D835-0D4B-1B7C-E566-2F8B9F71A7FC}"/>
              </a:ext>
            </a:extLst>
          </p:cNvPr>
          <p:cNvSpPr txBox="1"/>
          <p:nvPr/>
        </p:nvSpPr>
        <p:spPr>
          <a:xfrm>
            <a:off x="9697021" y="4105646"/>
            <a:ext cx="2563103" cy="1015663"/>
          </a:xfrm>
          <a:prstGeom prst="rect">
            <a:avLst/>
          </a:prstGeom>
          <a:noFill/>
        </p:spPr>
        <p:txBody>
          <a:bodyPr wrap="square">
            <a:spAutoFit/>
          </a:bodyPr>
          <a:lstStyle/>
          <a:p>
            <a:pPr algn="just"/>
            <a:r>
              <a:rPr lang="en-US" sz="1200" b="0" i="0" dirty="0">
                <a:solidFill>
                  <a:srgbClr val="000000"/>
                </a:solidFill>
                <a:effectLst/>
                <a:latin typeface="Times New Roman" panose="02020603050405020304" pitchFamily="18" charset="0"/>
                <a:cs typeface="Times New Roman" panose="02020603050405020304" pitchFamily="18" charset="0"/>
              </a:rPr>
              <a:t>This property of hash function protects against an attacker who has an input value and its hash, and wants to substitute different value as legitimate value in place of original input value.</a:t>
            </a:r>
          </a:p>
        </p:txBody>
      </p:sp>
      <p:sp>
        <p:nvSpPr>
          <p:cNvPr id="21" name="TextBox 20">
            <a:extLst>
              <a:ext uri="{FF2B5EF4-FFF2-40B4-BE49-F238E27FC236}">
                <a16:creationId xmlns:a16="http://schemas.microsoft.com/office/drawing/2014/main" id="{A08F954B-1A6F-01E9-757E-A1A45B21551F}"/>
              </a:ext>
            </a:extLst>
          </p:cNvPr>
          <p:cNvSpPr txBox="1"/>
          <p:nvPr/>
        </p:nvSpPr>
        <p:spPr>
          <a:xfrm>
            <a:off x="9683508" y="5323331"/>
            <a:ext cx="2093797" cy="830997"/>
          </a:xfrm>
          <a:prstGeom prst="rect">
            <a:avLst/>
          </a:prstGeom>
          <a:noFill/>
        </p:spPr>
        <p:txBody>
          <a:bodyPr wrap="square">
            <a:spAutoFit/>
          </a:bodyPr>
          <a:lstStyle/>
          <a:p>
            <a:pPr algn="just"/>
            <a:r>
              <a:rPr lang="en-US" sz="1200" b="0" i="0" dirty="0">
                <a:solidFill>
                  <a:srgbClr val="000000"/>
                </a:solidFill>
                <a:effectLst/>
                <a:latin typeface="Times New Roman" panose="02020603050405020304" pitchFamily="18" charset="0"/>
                <a:cs typeface="Times New Roman" panose="02020603050405020304" pitchFamily="18" charset="0"/>
              </a:rPr>
              <a:t>This property makes it very difficult for an attacker to find two input values with the same hash.</a:t>
            </a:r>
          </a:p>
        </p:txBody>
      </p:sp>
    </p:spTree>
    <p:extLst>
      <p:ext uri="{BB962C8B-B14F-4D97-AF65-F5344CB8AC3E}">
        <p14:creationId xmlns:p14="http://schemas.microsoft.com/office/powerpoint/2010/main" val="474006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14</a:t>
            </a:fld>
            <a:endParaRPr lang="en-US"/>
          </a:p>
        </p:txBody>
      </p:sp>
      <p:pic>
        <p:nvPicPr>
          <p:cNvPr id="3" name="Picture 2"/>
          <p:cNvPicPr>
            <a:picLocks noChangeAspect="1"/>
          </p:cNvPicPr>
          <p:nvPr/>
        </p:nvPicPr>
        <p:blipFill>
          <a:blip r:embed="rId2"/>
          <a:stretch>
            <a:fillRect/>
          </a:stretch>
        </p:blipFill>
        <p:spPr>
          <a:xfrm>
            <a:off x="865066" y="964906"/>
            <a:ext cx="10649372" cy="4984812"/>
          </a:xfrm>
          <a:prstGeom prst="rect">
            <a:avLst/>
          </a:prstGeom>
        </p:spPr>
      </p:pic>
      <p:pic>
        <p:nvPicPr>
          <p:cNvPr id="4" name="Picture 3"/>
          <p:cNvPicPr>
            <a:picLocks noChangeAspect="1"/>
          </p:cNvPicPr>
          <p:nvPr/>
        </p:nvPicPr>
        <p:blipFill>
          <a:blip r:embed="rId3"/>
          <a:stretch>
            <a:fillRect/>
          </a:stretch>
        </p:blipFill>
        <p:spPr>
          <a:xfrm>
            <a:off x="2188702" y="5949718"/>
            <a:ext cx="7680824" cy="406632"/>
          </a:xfrm>
          <a:prstGeom prst="rect">
            <a:avLst/>
          </a:prstGeom>
        </p:spPr>
      </p:pic>
      <p:sp>
        <p:nvSpPr>
          <p:cNvPr id="5" name="Rectangle 4"/>
          <p:cNvSpPr/>
          <p:nvPr/>
        </p:nvSpPr>
        <p:spPr>
          <a:xfrm>
            <a:off x="735273" y="558274"/>
            <a:ext cx="10908957" cy="369332"/>
          </a:xfrm>
          <a:prstGeom prst="rect">
            <a:avLst/>
          </a:prstGeom>
        </p:spPr>
        <p:txBody>
          <a:bodyPr wrap="square">
            <a:spAutoFit/>
          </a:bodyPr>
          <a:lstStyle/>
          <a:p>
            <a:r>
              <a:rPr lang="en-US" dirty="0">
                <a:solidFill>
                  <a:srgbClr val="242021"/>
                </a:solidFill>
                <a:latin typeface="TimesTenLTStd-Roman"/>
              </a:rPr>
              <a:t>if it is assumed that only the sender and receiver share the encryption key, then authenticity is assured</a:t>
            </a:r>
            <a:r>
              <a:rPr lang="en-US" dirty="0"/>
              <a:t> </a:t>
            </a:r>
          </a:p>
        </p:txBody>
      </p:sp>
      <p:sp>
        <p:nvSpPr>
          <p:cNvPr id="6" name="TextBox 5"/>
          <p:cNvSpPr txBox="1"/>
          <p:nvPr/>
        </p:nvSpPr>
        <p:spPr>
          <a:xfrm>
            <a:off x="5301049" y="4769708"/>
            <a:ext cx="2314288" cy="461665"/>
          </a:xfrm>
          <a:prstGeom prst="rect">
            <a:avLst/>
          </a:prstGeom>
          <a:noFill/>
        </p:spPr>
        <p:txBody>
          <a:bodyPr wrap="none" rtlCol="0">
            <a:spAutoFit/>
          </a:bodyPr>
          <a:lstStyle/>
          <a:p>
            <a:r>
              <a:rPr lang="en-US" sz="2400" dirty="0">
                <a:solidFill>
                  <a:srgbClr val="FF0000"/>
                </a:solidFill>
              </a:rPr>
              <a:t>Why Encryption?</a:t>
            </a:r>
          </a:p>
        </p:txBody>
      </p:sp>
      <p:sp>
        <p:nvSpPr>
          <p:cNvPr id="7" name="Oval 6"/>
          <p:cNvSpPr/>
          <p:nvPr/>
        </p:nvSpPr>
        <p:spPr>
          <a:xfrm>
            <a:off x="2205013" y="4040659"/>
            <a:ext cx="803189" cy="1668163"/>
          </a:xfrm>
          <a:prstGeom prst="ellipse">
            <a:avLst/>
          </a:prstGeom>
          <a:solidFill>
            <a:srgbClr val="FF0000">
              <a:alpha val="2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9377398" y="4120292"/>
            <a:ext cx="803189" cy="1668163"/>
          </a:xfrm>
          <a:prstGeom prst="ellipse">
            <a:avLst/>
          </a:prstGeom>
          <a:solidFill>
            <a:srgbClr val="FF0000">
              <a:alpha val="2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a:off x="3008202" y="4628271"/>
            <a:ext cx="2393792" cy="32610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438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15</a:t>
            </a:fld>
            <a:endParaRPr lang="en-US"/>
          </a:p>
        </p:txBody>
      </p:sp>
      <p:pic>
        <p:nvPicPr>
          <p:cNvPr id="4" name="Picture 3"/>
          <p:cNvPicPr>
            <a:picLocks noChangeAspect="1"/>
          </p:cNvPicPr>
          <p:nvPr/>
        </p:nvPicPr>
        <p:blipFill>
          <a:blip r:embed="rId2"/>
          <a:stretch>
            <a:fillRect/>
          </a:stretch>
        </p:blipFill>
        <p:spPr>
          <a:xfrm>
            <a:off x="2188702" y="5949718"/>
            <a:ext cx="7680824" cy="406632"/>
          </a:xfrm>
          <a:prstGeom prst="rect">
            <a:avLst/>
          </a:prstGeom>
        </p:spPr>
      </p:pic>
      <p:pic>
        <p:nvPicPr>
          <p:cNvPr id="5" name="Picture 4"/>
          <p:cNvPicPr>
            <a:picLocks noChangeAspect="1"/>
          </p:cNvPicPr>
          <p:nvPr/>
        </p:nvPicPr>
        <p:blipFill>
          <a:blip r:embed="rId3"/>
          <a:stretch>
            <a:fillRect/>
          </a:stretch>
        </p:blipFill>
        <p:spPr>
          <a:xfrm>
            <a:off x="533136" y="1509618"/>
            <a:ext cx="10991956" cy="4440100"/>
          </a:xfrm>
          <a:prstGeom prst="rect">
            <a:avLst/>
          </a:prstGeom>
        </p:spPr>
      </p:pic>
      <p:sp>
        <p:nvSpPr>
          <p:cNvPr id="6" name="Rectangle 5"/>
          <p:cNvSpPr/>
          <p:nvPr/>
        </p:nvSpPr>
        <p:spPr>
          <a:xfrm>
            <a:off x="792628" y="502821"/>
            <a:ext cx="10991956" cy="646331"/>
          </a:xfrm>
          <a:prstGeom prst="rect">
            <a:avLst/>
          </a:prstGeom>
        </p:spPr>
        <p:txBody>
          <a:bodyPr wrap="square">
            <a:spAutoFit/>
          </a:bodyPr>
          <a:lstStyle/>
          <a:p>
            <a:r>
              <a:rPr lang="en-US" dirty="0">
                <a:solidFill>
                  <a:srgbClr val="242021"/>
                </a:solidFill>
                <a:latin typeface="TimesTenLTStd-Roman"/>
              </a:rPr>
              <a:t>The public key approach has two advantages: It provides a digital signature as well as message authentication, and it does not require the distribution of keys to communicating parties.</a:t>
            </a:r>
            <a:r>
              <a:rPr lang="en-US" dirty="0"/>
              <a:t> </a:t>
            </a:r>
          </a:p>
        </p:txBody>
      </p:sp>
    </p:spTree>
    <p:extLst>
      <p:ext uri="{BB962C8B-B14F-4D97-AF65-F5344CB8AC3E}">
        <p14:creationId xmlns:p14="http://schemas.microsoft.com/office/powerpoint/2010/main" val="3958730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16</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57087" y="476017"/>
            <a:ext cx="6132882" cy="465586"/>
          </a:xfrm>
          <a:prstGeom prst="rect">
            <a:avLst/>
          </a:prstGeom>
        </p:spPr>
      </p:pic>
      <p:pic>
        <p:nvPicPr>
          <p:cNvPr id="4" name="Picture 3"/>
          <p:cNvPicPr>
            <a:picLocks noChangeAspect="1"/>
          </p:cNvPicPr>
          <p:nvPr/>
        </p:nvPicPr>
        <p:blipFill>
          <a:blip r:embed="rId4"/>
          <a:stretch>
            <a:fillRect/>
          </a:stretch>
        </p:blipFill>
        <p:spPr>
          <a:xfrm>
            <a:off x="557087" y="4277550"/>
            <a:ext cx="10796713" cy="1946116"/>
          </a:xfrm>
          <a:prstGeom prst="rect">
            <a:avLst/>
          </a:prstGeom>
        </p:spPr>
      </p:pic>
      <p:pic>
        <p:nvPicPr>
          <p:cNvPr id="5" name="Picture 4"/>
          <p:cNvPicPr>
            <a:picLocks noChangeAspect="1"/>
          </p:cNvPicPr>
          <p:nvPr/>
        </p:nvPicPr>
        <p:blipFill>
          <a:blip r:embed="rId5"/>
          <a:stretch>
            <a:fillRect/>
          </a:stretch>
        </p:blipFill>
        <p:spPr>
          <a:xfrm>
            <a:off x="557087" y="1357352"/>
            <a:ext cx="10798846" cy="2271656"/>
          </a:xfrm>
          <a:prstGeom prst="rect">
            <a:avLst/>
          </a:prstGeom>
        </p:spPr>
      </p:pic>
    </p:spTree>
    <p:extLst>
      <p:ext uri="{BB962C8B-B14F-4D97-AF65-F5344CB8AC3E}">
        <p14:creationId xmlns:p14="http://schemas.microsoft.com/office/powerpoint/2010/main" val="3001976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17</a:t>
            </a:fld>
            <a:endParaRPr lang="en-US"/>
          </a:p>
        </p:txBody>
      </p:sp>
      <p:pic>
        <p:nvPicPr>
          <p:cNvPr id="3" name="Picture 2"/>
          <p:cNvPicPr>
            <a:picLocks noChangeAspect="1"/>
          </p:cNvPicPr>
          <p:nvPr/>
        </p:nvPicPr>
        <p:blipFill>
          <a:blip r:embed="rId2"/>
          <a:stretch>
            <a:fillRect/>
          </a:stretch>
        </p:blipFill>
        <p:spPr>
          <a:xfrm>
            <a:off x="585684" y="490721"/>
            <a:ext cx="11054373" cy="1671711"/>
          </a:xfrm>
          <a:prstGeom prst="rect">
            <a:avLst/>
          </a:prstGeom>
        </p:spPr>
      </p:pic>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585684" y="2572253"/>
            <a:ext cx="11153753" cy="3544341"/>
          </a:xfrm>
          <a:prstGeom prst="rect">
            <a:avLst/>
          </a:prstGeom>
        </p:spPr>
      </p:pic>
    </p:spTree>
    <p:extLst>
      <p:ext uri="{BB962C8B-B14F-4D97-AF65-F5344CB8AC3E}">
        <p14:creationId xmlns:p14="http://schemas.microsoft.com/office/powerpoint/2010/main" val="618382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18</a:t>
            </a:fld>
            <a:endParaRPr lang="en-US"/>
          </a:p>
        </p:txBody>
      </p:sp>
      <p:pic>
        <p:nvPicPr>
          <p:cNvPr id="3" name="Picture 2"/>
          <p:cNvPicPr>
            <a:picLocks noChangeAspect="1"/>
          </p:cNvPicPr>
          <p:nvPr/>
        </p:nvPicPr>
        <p:blipFill>
          <a:blip r:embed="rId2"/>
          <a:stretch>
            <a:fillRect/>
          </a:stretch>
        </p:blipFill>
        <p:spPr>
          <a:xfrm>
            <a:off x="526227" y="1162850"/>
            <a:ext cx="9841092" cy="5193500"/>
          </a:xfrm>
          <a:prstGeom prst="rect">
            <a:avLst/>
          </a:prstGeom>
        </p:spPr>
      </p:pic>
      <p:pic>
        <p:nvPicPr>
          <p:cNvPr id="4" name="Picture 3"/>
          <p:cNvPicPr>
            <a:picLocks noChangeAspect="1"/>
          </p:cNvPicPr>
          <p:nvPr/>
        </p:nvPicPr>
        <p:blipFill>
          <a:blip r:embed="rId3"/>
          <a:stretch>
            <a:fillRect/>
          </a:stretch>
        </p:blipFill>
        <p:spPr>
          <a:xfrm>
            <a:off x="526227" y="501650"/>
            <a:ext cx="5791768" cy="485537"/>
          </a:xfrm>
          <a:prstGeom prst="rect">
            <a:avLst/>
          </a:prstGeom>
        </p:spPr>
      </p:pic>
    </p:spTree>
    <p:extLst>
      <p:ext uri="{BB962C8B-B14F-4D97-AF65-F5344CB8AC3E}">
        <p14:creationId xmlns:p14="http://schemas.microsoft.com/office/powerpoint/2010/main" val="3189511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19</a:t>
            </a:fld>
            <a:endParaRPr lang="en-US"/>
          </a:p>
        </p:txBody>
      </p:sp>
      <p:pic>
        <p:nvPicPr>
          <p:cNvPr id="3" name="Picture 2"/>
          <p:cNvPicPr>
            <a:picLocks noChangeAspect="1"/>
          </p:cNvPicPr>
          <p:nvPr/>
        </p:nvPicPr>
        <p:blipFill>
          <a:blip r:embed="rId2"/>
          <a:stretch>
            <a:fillRect/>
          </a:stretch>
        </p:blipFill>
        <p:spPr>
          <a:xfrm>
            <a:off x="1025611" y="211846"/>
            <a:ext cx="9823621" cy="5939863"/>
          </a:xfrm>
          <a:prstGeom prst="rect">
            <a:avLst/>
          </a:prstGeom>
        </p:spPr>
      </p:pic>
      <p:pic>
        <p:nvPicPr>
          <p:cNvPr id="4" name="Picture 3"/>
          <p:cNvPicPr>
            <a:picLocks noChangeAspect="1"/>
          </p:cNvPicPr>
          <p:nvPr/>
        </p:nvPicPr>
        <p:blipFill>
          <a:blip r:embed="rId3"/>
          <a:stretch>
            <a:fillRect/>
          </a:stretch>
        </p:blipFill>
        <p:spPr>
          <a:xfrm>
            <a:off x="594358" y="6151709"/>
            <a:ext cx="3770163" cy="386683"/>
          </a:xfrm>
          <a:prstGeom prst="rect">
            <a:avLst/>
          </a:prstGeom>
        </p:spPr>
      </p:pic>
      <p:sp>
        <p:nvSpPr>
          <p:cNvPr id="5" name="TextBox 4">
            <a:extLst>
              <a:ext uri="{FF2B5EF4-FFF2-40B4-BE49-F238E27FC236}">
                <a16:creationId xmlns:a16="http://schemas.microsoft.com/office/drawing/2014/main" id="{2DE389D1-D666-875F-953A-551B1BFE4F9B}"/>
              </a:ext>
            </a:extLst>
          </p:cNvPr>
          <p:cNvSpPr txBox="1"/>
          <p:nvPr/>
        </p:nvSpPr>
        <p:spPr>
          <a:xfrm>
            <a:off x="7171766" y="521625"/>
            <a:ext cx="4108720" cy="369332"/>
          </a:xfrm>
          <a:prstGeom prst="rect">
            <a:avLst/>
          </a:prstGeom>
          <a:noFill/>
        </p:spPr>
        <p:txBody>
          <a:bodyPr wrap="square" rtlCol="0">
            <a:spAutoFit/>
          </a:bodyPr>
          <a:lstStyle/>
          <a:p>
            <a:r>
              <a:rPr lang="en-US" sz="1800" b="0" i="0" u="none" strike="noStrike" baseline="0" dirty="0">
                <a:latin typeface="TimesTenLTStd-Roman"/>
              </a:rPr>
              <a:t>directed toward providing </a:t>
            </a:r>
            <a:r>
              <a:rPr lang="en-US" sz="1800" b="1" i="0" u="none" strike="noStrike" baseline="0" dirty="0">
                <a:solidFill>
                  <a:srgbClr val="FF0000"/>
                </a:solidFill>
                <a:latin typeface="TimesTenLTStd-Bold"/>
              </a:rPr>
              <a:t>confidentiality</a:t>
            </a:r>
            <a:r>
              <a:rPr lang="en-US" dirty="0">
                <a:solidFill>
                  <a:srgbClr val="FF0000"/>
                </a:solidFill>
              </a:rPr>
              <a:t> </a:t>
            </a:r>
            <a:endParaRPr lang="en-PK" dirty="0">
              <a:solidFill>
                <a:srgbClr val="FF0000"/>
              </a:solidFill>
            </a:endParaRPr>
          </a:p>
        </p:txBody>
      </p:sp>
    </p:spTree>
    <p:extLst>
      <p:ext uri="{BB962C8B-B14F-4D97-AF65-F5344CB8AC3E}">
        <p14:creationId xmlns:p14="http://schemas.microsoft.com/office/powerpoint/2010/main" val="3626697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20</a:t>
            </a:fld>
            <a:endParaRPr lang="en-US"/>
          </a:p>
        </p:txBody>
      </p:sp>
      <p:pic>
        <p:nvPicPr>
          <p:cNvPr id="4" name="Picture 3"/>
          <p:cNvPicPr>
            <a:picLocks noChangeAspect="1"/>
          </p:cNvPicPr>
          <p:nvPr/>
        </p:nvPicPr>
        <p:blipFill>
          <a:blip r:embed="rId2"/>
          <a:stretch>
            <a:fillRect/>
          </a:stretch>
        </p:blipFill>
        <p:spPr>
          <a:xfrm>
            <a:off x="594358" y="6151709"/>
            <a:ext cx="3770163" cy="386683"/>
          </a:xfrm>
          <a:prstGeom prst="rect">
            <a:avLst/>
          </a:prstGeom>
        </p:spPr>
      </p:pic>
      <p:pic>
        <p:nvPicPr>
          <p:cNvPr id="5" name="Picture 4"/>
          <p:cNvPicPr>
            <a:picLocks noChangeAspect="1"/>
          </p:cNvPicPr>
          <p:nvPr/>
        </p:nvPicPr>
        <p:blipFill>
          <a:blip r:embed="rId3"/>
          <a:stretch>
            <a:fillRect/>
          </a:stretch>
        </p:blipFill>
        <p:spPr>
          <a:xfrm>
            <a:off x="1507525" y="251683"/>
            <a:ext cx="9082216" cy="5900026"/>
          </a:xfrm>
          <a:prstGeom prst="rect">
            <a:avLst/>
          </a:prstGeom>
        </p:spPr>
      </p:pic>
      <p:sp>
        <p:nvSpPr>
          <p:cNvPr id="6" name="TextBox 5">
            <a:extLst>
              <a:ext uri="{FF2B5EF4-FFF2-40B4-BE49-F238E27FC236}">
                <a16:creationId xmlns:a16="http://schemas.microsoft.com/office/drawing/2014/main" id="{B9596C68-75DB-BBBA-CBEA-9EC4F67EA57A}"/>
              </a:ext>
            </a:extLst>
          </p:cNvPr>
          <p:cNvSpPr txBox="1"/>
          <p:nvPr/>
        </p:nvSpPr>
        <p:spPr>
          <a:xfrm>
            <a:off x="170329" y="383125"/>
            <a:ext cx="6185647" cy="369332"/>
          </a:xfrm>
          <a:prstGeom prst="rect">
            <a:avLst/>
          </a:prstGeom>
          <a:noFill/>
        </p:spPr>
        <p:txBody>
          <a:bodyPr wrap="square">
            <a:spAutoFit/>
          </a:bodyPr>
          <a:lstStyle/>
          <a:p>
            <a:pPr algn="l"/>
            <a:r>
              <a:rPr lang="en-US" sz="1800" b="0" i="0" u="none" strike="noStrike" baseline="0" dirty="0">
                <a:latin typeface="TimesTenLTStd-Roman"/>
              </a:rPr>
              <a:t>directed toward providing </a:t>
            </a:r>
            <a:r>
              <a:rPr lang="en-US" sz="1800" b="1" i="0" u="none" strike="noStrike" baseline="0" dirty="0">
                <a:solidFill>
                  <a:srgbClr val="FF0000"/>
                </a:solidFill>
                <a:latin typeface="TimesTenLTStd-Bold"/>
              </a:rPr>
              <a:t>authentication </a:t>
            </a:r>
            <a:r>
              <a:rPr lang="en-US" sz="1800" b="0" i="0" u="none" strike="noStrike" baseline="0" dirty="0">
                <a:solidFill>
                  <a:srgbClr val="FF0000"/>
                </a:solidFill>
                <a:latin typeface="TimesTenLTStd-Roman"/>
              </a:rPr>
              <a:t>and/or </a:t>
            </a:r>
            <a:r>
              <a:rPr lang="en-US" sz="1800" b="1" i="0" u="none" strike="noStrike" baseline="0" dirty="0">
                <a:solidFill>
                  <a:srgbClr val="FF0000"/>
                </a:solidFill>
                <a:latin typeface="TimesTenLTStd-Bold"/>
              </a:rPr>
              <a:t>data integrity</a:t>
            </a:r>
            <a:r>
              <a:rPr lang="en-US" sz="1800" b="0" i="0" u="none" strike="noStrike" baseline="0" dirty="0">
                <a:solidFill>
                  <a:srgbClr val="FF0000"/>
                </a:solidFill>
                <a:latin typeface="TimesTenLTStd-Roman"/>
              </a:rPr>
              <a:t>.</a:t>
            </a:r>
            <a:endParaRPr lang="en-PK" dirty="0">
              <a:solidFill>
                <a:srgbClr val="FF0000"/>
              </a:solidFill>
            </a:endParaRPr>
          </a:p>
        </p:txBody>
      </p:sp>
    </p:spTree>
    <p:extLst>
      <p:ext uri="{BB962C8B-B14F-4D97-AF65-F5344CB8AC3E}">
        <p14:creationId xmlns:p14="http://schemas.microsoft.com/office/powerpoint/2010/main" val="27392168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21</a:t>
            </a:fld>
            <a:endParaRPr lang="en-US"/>
          </a:p>
        </p:txBody>
      </p:sp>
      <p:pic>
        <p:nvPicPr>
          <p:cNvPr id="3" name="Picture 2"/>
          <p:cNvPicPr>
            <a:picLocks noChangeAspect="1"/>
          </p:cNvPicPr>
          <p:nvPr/>
        </p:nvPicPr>
        <p:blipFill>
          <a:blip r:embed="rId2"/>
          <a:stretch>
            <a:fillRect/>
          </a:stretch>
        </p:blipFill>
        <p:spPr>
          <a:xfrm>
            <a:off x="648885" y="1811209"/>
            <a:ext cx="10803002" cy="3446248"/>
          </a:xfrm>
          <a:prstGeom prst="rect">
            <a:avLst/>
          </a:prstGeom>
        </p:spPr>
      </p:pic>
    </p:spTree>
    <p:extLst>
      <p:ext uri="{BB962C8B-B14F-4D97-AF65-F5344CB8AC3E}">
        <p14:creationId xmlns:p14="http://schemas.microsoft.com/office/powerpoint/2010/main" val="27528344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22</a:t>
            </a:fld>
            <a:endParaRPr lang="en-US"/>
          </a:p>
        </p:txBody>
      </p:sp>
      <p:pic>
        <p:nvPicPr>
          <p:cNvPr id="3" name="Picture 2"/>
          <p:cNvPicPr>
            <a:picLocks noChangeAspect="1"/>
          </p:cNvPicPr>
          <p:nvPr/>
        </p:nvPicPr>
        <p:blipFill>
          <a:blip r:embed="rId2"/>
          <a:stretch>
            <a:fillRect/>
          </a:stretch>
        </p:blipFill>
        <p:spPr>
          <a:xfrm>
            <a:off x="222420" y="595172"/>
            <a:ext cx="7438769" cy="5637105"/>
          </a:xfrm>
          <a:prstGeom prst="rect">
            <a:avLst/>
          </a:prstGeom>
        </p:spPr>
      </p:pic>
      <p:pic>
        <p:nvPicPr>
          <p:cNvPr id="5" name="Picture 4"/>
          <p:cNvPicPr>
            <a:picLocks noChangeAspect="1"/>
          </p:cNvPicPr>
          <p:nvPr/>
        </p:nvPicPr>
        <p:blipFill>
          <a:blip r:embed="rId3"/>
          <a:stretch>
            <a:fillRect/>
          </a:stretch>
        </p:blipFill>
        <p:spPr>
          <a:xfrm>
            <a:off x="7661189" y="2065360"/>
            <a:ext cx="4411362" cy="2667335"/>
          </a:xfrm>
          <a:prstGeom prst="rect">
            <a:avLst/>
          </a:prstGeom>
        </p:spPr>
      </p:pic>
    </p:spTree>
    <p:extLst>
      <p:ext uri="{BB962C8B-B14F-4D97-AF65-F5344CB8AC3E}">
        <p14:creationId xmlns:p14="http://schemas.microsoft.com/office/powerpoint/2010/main" val="1128753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23</a:t>
            </a:fld>
            <a:endParaRPr lang="en-US" dirty="0"/>
          </a:p>
        </p:txBody>
      </p:sp>
      <p:pic>
        <p:nvPicPr>
          <p:cNvPr id="3" name="Picture 2"/>
          <p:cNvPicPr>
            <a:picLocks noChangeAspect="1"/>
          </p:cNvPicPr>
          <p:nvPr/>
        </p:nvPicPr>
        <p:blipFill>
          <a:blip r:embed="rId2"/>
          <a:stretch>
            <a:fillRect/>
          </a:stretch>
        </p:blipFill>
        <p:spPr>
          <a:xfrm>
            <a:off x="682362" y="1346798"/>
            <a:ext cx="10686892" cy="1797195"/>
          </a:xfrm>
          <a:prstGeom prst="rect">
            <a:avLst/>
          </a:prstGeom>
        </p:spPr>
      </p:pic>
      <p:grpSp>
        <p:nvGrpSpPr>
          <p:cNvPr id="6" name="Group 5"/>
          <p:cNvGrpSpPr/>
          <p:nvPr/>
        </p:nvGrpSpPr>
        <p:grpSpPr>
          <a:xfrm>
            <a:off x="682362" y="3143993"/>
            <a:ext cx="10655984" cy="1572720"/>
            <a:chOff x="666908" y="3617118"/>
            <a:chExt cx="10655984" cy="1572720"/>
          </a:xfrm>
        </p:grpSpPr>
        <p:pic>
          <p:nvPicPr>
            <p:cNvPr id="4" name="Picture 3"/>
            <p:cNvPicPr>
              <a:picLocks noChangeAspect="1"/>
            </p:cNvPicPr>
            <p:nvPr/>
          </p:nvPicPr>
          <p:blipFill>
            <a:blip r:embed="rId3"/>
            <a:stretch>
              <a:fillRect/>
            </a:stretch>
          </p:blipFill>
          <p:spPr>
            <a:xfrm>
              <a:off x="666908" y="3617118"/>
              <a:ext cx="10655984" cy="1572720"/>
            </a:xfrm>
            <a:prstGeom prst="rect">
              <a:avLst/>
            </a:prstGeom>
          </p:spPr>
        </p:pic>
        <p:sp>
          <p:nvSpPr>
            <p:cNvPr id="5" name="Rectangle 4"/>
            <p:cNvSpPr/>
            <p:nvPr/>
          </p:nvSpPr>
          <p:spPr>
            <a:xfrm>
              <a:off x="666908" y="3617118"/>
              <a:ext cx="4362292" cy="4358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p:cNvPicPr>
            <a:picLocks noChangeAspect="1"/>
          </p:cNvPicPr>
          <p:nvPr/>
        </p:nvPicPr>
        <p:blipFill>
          <a:blip r:embed="rId4"/>
          <a:stretch>
            <a:fillRect/>
          </a:stretch>
        </p:blipFill>
        <p:spPr>
          <a:xfrm>
            <a:off x="666908" y="448200"/>
            <a:ext cx="8208222" cy="700977"/>
          </a:xfrm>
          <a:prstGeom prst="rect">
            <a:avLst/>
          </a:prstGeom>
        </p:spPr>
      </p:pic>
      <p:pic>
        <p:nvPicPr>
          <p:cNvPr id="8" name="Picture 7"/>
          <p:cNvPicPr>
            <a:picLocks noChangeAspect="1"/>
          </p:cNvPicPr>
          <p:nvPr/>
        </p:nvPicPr>
        <p:blipFill>
          <a:blip r:embed="rId5"/>
          <a:stretch>
            <a:fillRect/>
          </a:stretch>
        </p:blipFill>
        <p:spPr>
          <a:xfrm>
            <a:off x="736759" y="4676745"/>
            <a:ext cx="9829884" cy="772582"/>
          </a:xfrm>
          <a:prstGeom prst="rect">
            <a:avLst/>
          </a:prstGeom>
        </p:spPr>
      </p:pic>
      <p:pic>
        <p:nvPicPr>
          <p:cNvPr id="9" name="Picture 8"/>
          <p:cNvPicPr>
            <a:picLocks noChangeAspect="1"/>
          </p:cNvPicPr>
          <p:nvPr/>
        </p:nvPicPr>
        <p:blipFill>
          <a:blip r:embed="rId6"/>
          <a:stretch>
            <a:fillRect/>
          </a:stretch>
        </p:blipFill>
        <p:spPr>
          <a:xfrm>
            <a:off x="736759" y="5465080"/>
            <a:ext cx="10483176" cy="560973"/>
          </a:xfrm>
          <a:prstGeom prst="rect">
            <a:avLst/>
          </a:prstGeom>
        </p:spPr>
      </p:pic>
      <p:pic>
        <p:nvPicPr>
          <p:cNvPr id="10" name="Picture 9"/>
          <p:cNvPicPr>
            <a:picLocks noChangeAspect="1"/>
          </p:cNvPicPr>
          <p:nvPr/>
        </p:nvPicPr>
        <p:blipFill>
          <a:blip r:embed="rId7"/>
          <a:stretch>
            <a:fillRect/>
          </a:stretch>
        </p:blipFill>
        <p:spPr>
          <a:xfrm>
            <a:off x="724402" y="5980877"/>
            <a:ext cx="8404193" cy="701518"/>
          </a:xfrm>
          <a:prstGeom prst="rect">
            <a:avLst/>
          </a:prstGeom>
        </p:spPr>
      </p:pic>
      <mc:AlternateContent xmlns:mc="http://schemas.openxmlformats.org/markup-compatibility/2006" xmlns:p14="http://schemas.microsoft.com/office/powerpoint/2010/main">
        <mc:Choice Requires="p14">
          <p:contentPart p14:bwMode="auto" r:id="rId8">
            <p14:nvContentPartPr>
              <p14:cNvPr id="11" name="Ink 10"/>
              <p14:cNvContentPartPr/>
              <p14:nvPr/>
            </p14:nvContentPartPr>
            <p14:xfrm>
              <a:off x="5250600" y="2536200"/>
              <a:ext cx="6027840" cy="71640"/>
            </p14:xfrm>
          </p:contentPart>
        </mc:Choice>
        <mc:Fallback xmlns="">
          <p:pic>
            <p:nvPicPr>
              <p:cNvPr id="11" name="Ink 10"/>
              <p:cNvPicPr/>
              <p:nvPr/>
            </p:nvPicPr>
            <p:blipFill>
              <a:blip r:embed="rId9"/>
              <a:stretch>
                <a:fillRect/>
              </a:stretch>
            </p:blipFill>
            <p:spPr>
              <a:xfrm>
                <a:off x="5234760" y="2472480"/>
                <a:ext cx="605952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p14:cNvContentPartPr/>
              <p14:nvPr/>
            </p14:nvContentPartPr>
            <p14:xfrm>
              <a:off x="5277600" y="2616480"/>
              <a:ext cx="3679200" cy="360"/>
            </p14:xfrm>
          </p:contentPart>
        </mc:Choice>
        <mc:Fallback xmlns="">
          <p:pic>
            <p:nvPicPr>
              <p:cNvPr id="12" name="Ink 11"/>
              <p:cNvPicPr/>
              <p:nvPr/>
            </p:nvPicPr>
            <p:blipFill>
              <a:blip r:embed="rId11"/>
              <a:stretch>
                <a:fillRect/>
              </a:stretch>
            </p:blipFill>
            <p:spPr>
              <a:xfrm>
                <a:off x="5261400" y="2552760"/>
                <a:ext cx="37112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p14:cNvContentPartPr/>
              <p14:nvPr/>
            </p14:nvContentPartPr>
            <p14:xfrm>
              <a:off x="8010000" y="2518200"/>
              <a:ext cx="3232800" cy="360"/>
            </p14:xfrm>
          </p:contentPart>
        </mc:Choice>
        <mc:Fallback xmlns="">
          <p:pic>
            <p:nvPicPr>
              <p:cNvPr id="13" name="Ink 12"/>
              <p:cNvPicPr/>
              <p:nvPr/>
            </p:nvPicPr>
            <p:blipFill>
              <a:blip r:embed="rId13"/>
              <a:stretch>
                <a:fillRect/>
              </a:stretch>
            </p:blipFill>
            <p:spPr>
              <a:xfrm>
                <a:off x="7994160" y="2454840"/>
                <a:ext cx="32644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p14:cNvContentPartPr/>
              <p14:nvPr/>
            </p14:nvContentPartPr>
            <p14:xfrm>
              <a:off x="785880" y="2839680"/>
              <a:ext cx="6965280" cy="9360"/>
            </p14:xfrm>
          </p:contentPart>
        </mc:Choice>
        <mc:Fallback xmlns="">
          <p:pic>
            <p:nvPicPr>
              <p:cNvPr id="14" name="Ink 13"/>
              <p:cNvPicPr/>
              <p:nvPr/>
            </p:nvPicPr>
            <p:blipFill>
              <a:blip r:embed="rId15"/>
              <a:stretch>
                <a:fillRect/>
              </a:stretch>
            </p:blipFill>
            <p:spPr>
              <a:xfrm>
                <a:off x="770040" y="2776320"/>
                <a:ext cx="699732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p14:cNvContentPartPr/>
              <p14:nvPr/>
            </p14:nvContentPartPr>
            <p14:xfrm>
              <a:off x="821520" y="2893320"/>
              <a:ext cx="6947640" cy="62640"/>
            </p14:xfrm>
          </p:contentPart>
        </mc:Choice>
        <mc:Fallback xmlns="">
          <p:pic>
            <p:nvPicPr>
              <p:cNvPr id="15" name="Ink 14"/>
              <p:cNvPicPr/>
              <p:nvPr/>
            </p:nvPicPr>
            <p:blipFill>
              <a:blip r:embed="rId17"/>
              <a:stretch>
                <a:fillRect/>
              </a:stretch>
            </p:blipFill>
            <p:spPr>
              <a:xfrm>
                <a:off x="805680" y="2829600"/>
                <a:ext cx="69793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p14:cNvContentPartPr/>
              <p14:nvPr/>
            </p14:nvContentPartPr>
            <p14:xfrm>
              <a:off x="812520" y="2973600"/>
              <a:ext cx="6992280" cy="36000"/>
            </p14:xfrm>
          </p:contentPart>
        </mc:Choice>
        <mc:Fallback xmlns="">
          <p:pic>
            <p:nvPicPr>
              <p:cNvPr id="16" name="Ink 15"/>
              <p:cNvPicPr/>
              <p:nvPr/>
            </p:nvPicPr>
            <p:blipFill>
              <a:blip r:embed="rId19"/>
              <a:stretch>
                <a:fillRect/>
              </a:stretch>
            </p:blipFill>
            <p:spPr>
              <a:xfrm>
                <a:off x="796680" y="2910240"/>
                <a:ext cx="70239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p14:cNvContentPartPr/>
              <p14:nvPr/>
            </p14:nvContentPartPr>
            <p14:xfrm>
              <a:off x="5965200" y="3321720"/>
              <a:ext cx="5277600" cy="360"/>
            </p14:xfrm>
          </p:contentPart>
        </mc:Choice>
        <mc:Fallback xmlns="">
          <p:pic>
            <p:nvPicPr>
              <p:cNvPr id="17" name="Ink 16"/>
              <p:cNvPicPr/>
              <p:nvPr/>
            </p:nvPicPr>
            <p:blipFill>
              <a:blip r:embed="rId21"/>
              <a:stretch>
                <a:fillRect/>
              </a:stretch>
            </p:blipFill>
            <p:spPr>
              <a:xfrm>
                <a:off x="5949000" y="3258360"/>
                <a:ext cx="53096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Ink 17"/>
              <p14:cNvContentPartPr/>
              <p14:nvPr/>
            </p14:nvContentPartPr>
            <p14:xfrm>
              <a:off x="6000840" y="3402360"/>
              <a:ext cx="5277600" cy="9000"/>
            </p14:xfrm>
          </p:contentPart>
        </mc:Choice>
        <mc:Fallback xmlns="">
          <p:pic>
            <p:nvPicPr>
              <p:cNvPr id="18" name="Ink 17"/>
              <p:cNvPicPr/>
              <p:nvPr/>
            </p:nvPicPr>
            <p:blipFill>
              <a:blip r:embed="rId23"/>
              <a:stretch>
                <a:fillRect/>
              </a:stretch>
            </p:blipFill>
            <p:spPr>
              <a:xfrm>
                <a:off x="5985000" y="3338640"/>
                <a:ext cx="53092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Ink 18"/>
              <p14:cNvContentPartPr/>
              <p14:nvPr/>
            </p14:nvContentPartPr>
            <p14:xfrm>
              <a:off x="776880" y="3786120"/>
              <a:ext cx="3241800" cy="360"/>
            </p14:xfrm>
          </p:contentPart>
        </mc:Choice>
        <mc:Fallback xmlns="">
          <p:pic>
            <p:nvPicPr>
              <p:cNvPr id="19" name="Ink 18"/>
              <p:cNvPicPr/>
              <p:nvPr/>
            </p:nvPicPr>
            <p:blipFill>
              <a:blip r:embed="rId25"/>
              <a:stretch>
                <a:fillRect/>
              </a:stretch>
            </p:blipFill>
            <p:spPr>
              <a:xfrm>
                <a:off x="761040" y="3722760"/>
                <a:ext cx="327348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 name="Ink 19"/>
              <p14:cNvContentPartPr/>
              <p14:nvPr/>
            </p14:nvContentPartPr>
            <p14:xfrm>
              <a:off x="767880" y="3696840"/>
              <a:ext cx="3250800" cy="18360"/>
            </p14:xfrm>
          </p:contentPart>
        </mc:Choice>
        <mc:Fallback xmlns="">
          <p:pic>
            <p:nvPicPr>
              <p:cNvPr id="20" name="Ink 19"/>
              <p:cNvPicPr/>
              <p:nvPr/>
            </p:nvPicPr>
            <p:blipFill>
              <a:blip r:embed="rId27"/>
              <a:stretch>
                <a:fillRect/>
              </a:stretch>
            </p:blipFill>
            <p:spPr>
              <a:xfrm>
                <a:off x="752040" y="3633480"/>
                <a:ext cx="328248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Ink 20"/>
              <p14:cNvContentPartPr/>
              <p14:nvPr/>
            </p14:nvContentPartPr>
            <p14:xfrm>
              <a:off x="6188400" y="3991680"/>
              <a:ext cx="5090040" cy="18000"/>
            </p14:xfrm>
          </p:contentPart>
        </mc:Choice>
        <mc:Fallback xmlns="">
          <p:pic>
            <p:nvPicPr>
              <p:cNvPr id="21" name="Ink 20"/>
              <p:cNvPicPr/>
              <p:nvPr/>
            </p:nvPicPr>
            <p:blipFill>
              <a:blip r:embed="rId29"/>
              <a:stretch>
                <a:fillRect/>
              </a:stretch>
            </p:blipFill>
            <p:spPr>
              <a:xfrm>
                <a:off x="6172560" y="3927960"/>
                <a:ext cx="512172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p14:cNvContentPartPr/>
              <p14:nvPr/>
            </p14:nvContentPartPr>
            <p14:xfrm>
              <a:off x="6125760" y="4089960"/>
              <a:ext cx="5144040" cy="27000"/>
            </p14:xfrm>
          </p:contentPart>
        </mc:Choice>
        <mc:Fallback xmlns="">
          <p:pic>
            <p:nvPicPr>
              <p:cNvPr id="22" name="Ink 21"/>
              <p:cNvPicPr/>
              <p:nvPr/>
            </p:nvPicPr>
            <p:blipFill>
              <a:blip r:embed="rId31"/>
              <a:stretch>
                <a:fillRect/>
              </a:stretch>
            </p:blipFill>
            <p:spPr>
              <a:xfrm>
                <a:off x="6109920" y="4026240"/>
                <a:ext cx="517572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Ink 22"/>
              <p14:cNvContentPartPr/>
              <p14:nvPr/>
            </p14:nvContentPartPr>
            <p14:xfrm>
              <a:off x="794880" y="4348800"/>
              <a:ext cx="1812960" cy="360"/>
            </p14:xfrm>
          </p:contentPart>
        </mc:Choice>
        <mc:Fallback xmlns="">
          <p:pic>
            <p:nvPicPr>
              <p:cNvPr id="23" name="Ink 22"/>
              <p:cNvPicPr/>
              <p:nvPr/>
            </p:nvPicPr>
            <p:blipFill>
              <a:blip r:embed="rId33"/>
              <a:stretch>
                <a:fillRect/>
              </a:stretch>
            </p:blipFill>
            <p:spPr>
              <a:xfrm>
                <a:off x="779040" y="4285080"/>
                <a:ext cx="18446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4" name="Ink 23"/>
              <p14:cNvContentPartPr/>
              <p14:nvPr/>
            </p14:nvContentPartPr>
            <p14:xfrm>
              <a:off x="794880" y="4447080"/>
              <a:ext cx="1821960" cy="27000"/>
            </p14:xfrm>
          </p:contentPart>
        </mc:Choice>
        <mc:Fallback xmlns="">
          <p:pic>
            <p:nvPicPr>
              <p:cNvPr id="24" name="Ink 23"/>
              <p:cNvPicPr/>
              <p:nvPr/>
            </p:nvPicPr>
            <p:blipFill>
              <a:blip r:embed="rId35"/>
              <a:stretch>
                <a:fillRect/>
              </a:stretch>
            </p:blipFill>
            <p:spPr>
              <a:xfrm>
                <a:off x="779040" y="4383360"/>
                <a:ext cx="185364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p14:cNvContentPartPr/>
              <p14:nvPr/>
            </p14:nvContentPartPr>
            <p14:xfrm>
              <a:off x="509040" y="4786200"/>
              <a:ext cx="294840" cy="1768680"/>
            </p14:xfrm>
          </p:contentPart>
        </mc:Choice>
        <mc:Fallback xmlns="">
          <p:pic>
            <p:nvPicPr>
              <p:cNvPr id="25" name="Ink 24"/>
              <p:cNvPicPr/>
              <p:nvPr/>
            </p:nvPicPr>
            <p:blipFill>
              <a:blip r:embed="rId37"/>
              <a:stretch>
                <a:fillRect/>
              </a:stretch>
            </p:blipFill>
            <p:spPr>
              <a:xfrm>
                <a:off x="493200" y="4722840"/>
                <a:ext cx="326880" cy="1895400"/>
              </a:xfrm>
              <a:prstGeom prst="rect">
                <a:avLst/>
              </a:prstGeom>
            </p:spPr>
          </p:pic>
        </mc:Fallback>
      </mc:AlternateContent>
      <p:cxnSp>
        <p:nvCxnSpPr>
          <p:cNvPr id="27" name="Straight Connector 26"/>
          <p:cNvCxnSpPr/>
          <p:nvPr/>
        </p:nvCxnSpPr>
        <p:spPr>
          <a:xfrm>
            <a:off x="296562" y="4639674"/>
            <a:ext cx="11368216"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5753177" y="5085003"/>
            <a:ext cx="5960486" cy="369332"/>
          </a:xfrm>
          <a:prstGeom prst="rect">
            <a:avLst/>
          </a:prstGeom>
          <a:solidFill>
            <a:schemeClr val="accent2">
              <a:lumMod val="60000"/>
              <a:lumOff val="40000"/>
            </a:schemeClr>
          </a:solidFill>
        </p:spPr>
        <p:txBody>
          <a:bodyPr wrap="square" rtlCol="0">
            <a:spAutoFit/>
          </a:bodyPr>
          <a:lstStyle/>
          <a:p>
            <a:r>
              <a:rPr lang="en-US" dirty="0"/>
              <a:t>FACT 1, FACT 2 and Conjecture # 3 are not part of syllabus</a:t>
            </a:r>
          </a:p>
        </p:txBody>
      </p:sp>
    </p:spTree>
    <p:extLst>
      <p:ext uri="{BB962C8B-B14F-4D97-AF65-F5344CB8AC3E}">
        <p14:creationId xmlns:p14="http://schemas.microsoft.com/office/powerpoint/2010/main" val="640799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24</a:t>
            </a:fld>
            <a:endParaRPr lang="en-US"/>
          </a:p>
        </p:txBody>
      </p:sp>
      <p:pic>
        <p:nvPicPr>
          <p:cNvPr id="3" name="Picture 2"/>
          <p:cNvPicPr>
            <a:picLocks noChangeAspect="1"/>
          </p:cNvPicPr>
          <p:nvPr/>
        </p:nvPicPr>
        <p:blipFill>
          <a:blip r:embed="rId2"/>
          <a:stretch>
            <a:fillRect/>
          </a:stretch>
        </p:blipFill>
        <p:spPr>
          <a:xfrm>
            <a:off x="652232" y="593124"/>
            <a:ext cx="11090781" cy="3994497"/>
          </a:xfrm>
          <a:prstGeom prst="rect">
            <a:avLst/>
          </a:prstGeom>
        </p:spPr>
      </p:pic>
    </p:spTree>
    <p:extLst>
      <p:ext uri="{BB962C8B-B14F-4D97-AF65-F5344CB8AC3E}">
        <p14:creationId xmlns:p14="http://schemas.microsoft.com/office/powerpoint/2010/main" val="2109870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25</a:t>
            </a:fld>
            <a:endParaRPr lang="en-US"/>
          </a:p>
        </p:txBody>
      </p:sp>
      <p:pic>
        <p:nvPicPr>
          <p:cNvPr id="3" name="Picture 2"/>
          <p:cNvPicPr>
            <a:picLocks noChangeAspect="1"/>
          </p:cNvPicPr>
          <p:nvPr/>
        </p:nvPicPr>
        <p:blipFill>
          <a:blip r:embed="rId2"/>
          <a:stretch>
            <a:fillRect/>
          </a:stretch>
        </p:blipFill>
        <p:spPr>
          <a:xfrm>
            <a:off x="615355" y="642552"/>
            <a:ext cx="10961033" cy="2397210"/>
          </a:xfrm>
          <a:prstGeom prst="rect">
            <a:avLst/>
          </a:prstGeom>
        </p:spPr>
      </p:pic>
      <p:pic>
        <p:nvPicPr>
          <p:cNvPr id="4" name="Picture 3"/>
          <p:cNvPicPr>
            <a:picLocks noChangeAspect="1"/>
          </p:cNvPicPr>
          <p:nvPr/>
        </p:nvPicPr>
        <p:blipFill>
          <a:blip r:embed="rId3"/>
          <a:stretch>
            <a:fillRect/>
          </a:stretch>
        </p:blipFill>
        <p:spPr>
          <a:xfrm>
            <a:off x="615355" y="3126212"/>
            <a:ext cx="10923213" cy="1804134"/>
          </a:xfrm>
          <a:prstGeom prst="rect">
            <a:avLst/>
          </a:prstGeom>
        </p:spPr>
      </p:pic>
    </p:spTree>
    <p:extLst>
      <p:ext uri="{BB962C8B-B14F-4D97-AF65-F5344CB8AC3E}">
        <p14:creationId xmlns:p14="http://schemas.microsoft.com/office/powerpoint/2010/main" val="31197381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26</a:t>
            </a:fld>
            <a:endParaRPr lang="en-US"/>
          </a:p>
        </p:txBody>
      </p:sp>
      <p:pic>
        <p:nvPicPr>
          <p:cNvPr id="3" name="Picture 2"/>
          <p:cNvPicPr>
            <a:picLocks noChangeAspect="1"/>
          </p:cNvPicPr>
          <p:nvPr/>
        </p:nvPicPr>
        <p:blipFill>
          <a:blip r:embed="rId2"/>
          <a:stretch>
            <a:fillRect/>
          </a:stretch>
        </p:blipFill>
        <p:spPr>
          <a:xfrm>
            <a:off x="726653" y="1804883"/>
            <a:ext cx="11128475" cy="2755790"/>
          </a:xfrm>
          <a:prstGeom prst="rect">
            <a:avLst/>
          </a:prstGeom>
        </p:spPr>
      </p:pic>
      <p:pic>
        <p:nvPicPr>
          <p:cNvPr id="4" name="Picture 3"/>
          <p:cNvPicPr>
            <a:picLocks noChangeAspect="1"/>
          </p:cNvPicPr>
          <p:nvPr/>
        </p:nvPicPr>
        <p:blipFill>
          <a:blip r:embed="rId3"/>
          <a:stretch>
            <a:fillRect/>
          </a:stretch>
        </p:blipFill>
        <p:spPr>
          <a:xfrm>
            <a:off x="726653" y="496868"/>
            <a:ext cx="4772083" cy="773132"/>
          </a:xfrm>
          <a:prstGeom prst="rect">
            <a:avLst/>
          </a:prstGeom>
        </p:spPr>
      </p:pic>
    </p:spTree>
    <p:extLst>
      <p:ext uri="{BB962C8B-B14F-4D97-AF65-F5344CB8AC3E}">
        <p14:creationId xmlns:p14="http://schemas.microsoft.com/office/powerpoint/2010/main" val="1388426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27</a:t>
            </a:fld>
            <a:endParaRPr lang="en-US"/>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rot="16200000">
            <a:off x="-1999476" y="3079430"/>
            <a:ext cx="4772083" cy="773132"/>
          </a:xfrm>
          <a:prstGeom prst="rect">
            <a:avLst/>
          </a:prstGeom>
        </p:spPr>
      </p:pic>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2696052" y="-1"/>
            <a:ext cx="6114315" cy="6871719"/>
          </a:xfrm>
          <a:prstGeom prst="rect">
            <a:avLst/>
          </a:prstGeom>
        </p:spPr>
      </p:pic>
    </p:spTree>
    <p:extLst>
      <p:ext uri="{BB962C8B-B14F-4D97-AF65-F5344CB8AC3E}">
        <p14:creationId xmlns:p14="http://schemas.microsoft.com/office/powerpoint/2010/main" val="7691615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28</a:t>
            </a:fld>
            <a:endParaRPr lang="en-US"/>
          </a:p>
        </p:txBody>
      </p:sp>
      <p:pic>
        <p:nvPicPr>
          <p:cNvPr id="3" name="Picture 2"/>
          <p:cNvPicPr>
            <a:picLocks noChangeAspect="1"/>
          </p:cNvPicPr>
          <p:nvPr/>
        </p:nvPicPr>
        <p:blipFill>
          <a:blip r:embed="rId2"/>
          <a:stretch>
            <a:fillRect/>
          </a:stretch>
        </p:blipFill>
        <p:spPr>
          <a:xfrm>
            <a:off x="532712" y="382266"/>
            <a:ext cx="5789826" cy="668057"/>
          </a:xfrm>
          <a:prstGeom prst="rect">
            <a:avLst/>
          </a:prstGeom>
        </p:spPr>
      </p:pic>
      <p:grpSp>
        <p:nvGrpSpPr>
          <p:cNvPr id="12" name="Group 11"/>
          <p:cNvGrpSpPr/>
          <p:nvPr/>
        </p:nvGrpSpPr>
        <p:grpSpPr>
          <a:xfrm>
            <a:off x="668636" y="1514719"/>
            <a:ext cx="11012621" cy="2028502"/>
            <a:chOff x="532712" y="1218157"/>
            <a:chExt cx="11012621" cy="2028502"/>
          </a:xfrm>
        </p:grpSpPr>
        <p:grpSp>
          <p:nvGrpSpPr>
            <p:cNvPr id="6" name="Group 5"/>
            <p:cNvGrpSpPr/>
            <p:nvPr/>
          </p:nvGrpSpPr>
          <p:grpSpPr>
            <a:xfrm>
              <a:off x="532712" y="1448989"/>
              <a:ext cx="11012621" cy="1797670"/>
              <a:chOff x="553303" y="1441157"/>
              <a:chExt cx="11012621" cy="1797670"/>
            </a:xfrm>
          </p:grpSpPr>
          <p:pic>
            <p:nvPicPr>
              <p:cNvPr id="4" name="Picture 3"/>
              <p:cNvPicPr>
                <a:picLocks noChangeAspect="1"/>
              </p:cNvPicPr>
              <p:nvPr/>
            </p:nvPicPr>
            <p:blipFill>
              <a:blip r:embed="rId3"/>
              <a:stretch>
                <a:fillRect/>
              </a:stretch>
            </p:blipFill>
            <p:spPr>
              <a:xfrm>
                <a:off x="553303" y="1441157"/>
                <a:ext cx="11012621" cy="1797670"/>
              </a:xfrm>
              <a:prstGeom prst="rect">
                <a:avLst/>
              </a:prstGeom>
            </p:spPr>
          </p:pic>
          <p:sp>
            <p:nvSpPr>
              <p:cNvPr id="5" name="Rectangle 4"/>
              <p:cNvSpPr/>
              <p:nvPr/>
            </p:nvSpPr>
            <p:spPr>
              <a:xfrm>
                <a:off x="553303" y="1441157"/>
                <a:ext cx="9851086" cy="338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p:cNvSpPr txBox="1"/>
            <p:nvPr/>
          </p:nvSpPr>
          <p:spPr>
            <a:xfrm>
              <a:off x="5758250" y="1218157"/>
              <a:ext cx="2397210" cy="461665"/>
            </a:xfrm>
            <a:prstGeom prst="rect">
              <a:avLst/>
            </a:prstGeom>
            <a:noFill/>
          </p:spPr>
          <p:txBody>
            <a:bodyPr wrap="square" rtlCol="0">
              <a:spAutoFit/>
            </a:bodyPr>
            <a:lstStyle/>
            <a:p>
              <a:r>
                <a:rPr lang="en-US" sz="2400" dirty="0"/>
                <a:t>of the public key.</a:t>
              </a:r>
            </a:p>
          </p:txBody>
        </p:sp>
        <p:cxnSp>
          <p:nvCxnSpPr>
            <p:cNvPr id="9" name="Straight Arrow Connector 8"/>
            <p:cNvCxnSpPr/>
            <p:nvPr/>
          </p:nvCxnSpPr>
          <p:spPr>
            <a:xfrm flipV="1">
              <a:off x="5239263" y="1547845"/>
              <a:ext cx="568411" cy="33038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779373" y="1779373"/>
              <a:ext cx="877330" cy="2965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021911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29</a:t>
            </a:fld>
            <a:endParaRPr lang="en-US"/>
          </a:p>
        </p:txBody>
      </p:sp>
      <p:pic>
        <p:nvPicPr>
          <p:cNvPr id="3" name="Picture 2"/>
          <p:cNvPicPr>
            <a:picLocks noChangeAspect="1"/>
          </p:cNvPicPr>
          <p:nvPr/>
        </p:nvPicPr>
        <p:blipFill>
          <a:blip r:embed="rId2"/>
          <a:stretch>
            <a:fillRect/>
          </a:stretch>
        </p:blipFill>
        <p:spPr>
          <a:xfrm rot="16200000">
            <a:off x="-2560885" y="3094970"/>
            <a:ext cx="5789826" cy="668057"/>
          </a:xfrm>
          <a:prstGeom prst="rect">
            <a:avLst/>
          </a:prstGeom>
        </p:spPr>
      </p:pic>
      <p:sp>
        <p:nvSpPr>
          <p:cNvPr id="11" name="Rectangle 10"/>
          <p:cNvSpPr/>
          <p:nvPr/>
        </p:nvSpPr>
        <p:spPr>
          <a:xfrm>
            <a:off x="1779373" y="1779373"/>
            <a:ext cx="877330" cy="2965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3"/>
          <a:stretch>
            <a:fillRect/>
          </a:stretch>
        </p:blipFill>
        <p:spPr>
          <a:xfrm>
            <a:off x="1084793" y="151367"/>
            <a:ext cx="9869176" cy="6555262"/>
          </a:xfrm>
          <a:prstGeom prst="rect">
            <a:avLst/>
          </a:prstGeom>
        </p:spPr>
      </p:pic>
    </p:spTree>
    <p:extLst>
      <p:ext uri="{BB962C8B-B14F-4D97-AF65-F5344CB8AC3E}">
        <p14:creationId xmlns:p14="http://schemas.microsoft.com/office/powerpoint/2010/main" val="41042407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A5A7F-873C-F546-67F2-8D5F78A95248}"/>
              </a:ext>
            </a:extLst>
          </p:cNvPr>
          <p:cNvSpPr>
            <a:spLocks noGrp="1"/>
          </p:cNvSpPr>
          <p:nvPr>
            <p:ph type="title"/>
          </p:nvPr>
        </p:nvSpPr>
        <p:spPr>
          <a:xfrm>
            <a:off x="927473" y="203761"/>
            <a:ext cx="10515600" cy="567204"/>
          </a:xfrm>
        </p:spPr>
        <p:txBody>
          <a:bodyPr/>
          <a:lstStyle/>
          <a:p>
            <a:r>
              <a:rPr lang="en-US" sz="1800" b="1" i="0" u="none" strike="noStrike" baseline="0" dirty="0">
                <a:solidFill>
                  <a:srgbClr val="808080"/>
                </a:solidFill>
                <a:latin typeface="BemboMTPro-Bold"/>
              </a:rPr>
              <a:t>Public-Key Certificates</a:t>
            </a:r>
            <a:endParaRPr lang="en-PK" dirty="0"/>
          </a:p>
        </p:txBody>
      </p:sp>
      <p:pic>
        <p:nvPicPr>
          <p:cNvPr id="6" name="Content Placeholder 5">
            <a:extLst>
              <a:ext uri="{FF2B5EF4-FFF2-40B4-BE49-F238E27FC236}">
                <a16:creationId xmlns:a16="http://schemas.microsoft.com/office/drawing/2014/main" id="{EEACE8D4-BB91-F7A1-9A23-C529ADAA11B6}"/>
              </a:ext>
            </a:extLst>
          </p:cNvPr>
          <p:cNvPicPr>
            <a:picLocks noGrp="1" noChangeAspect="1"/>
          </p:cNvPicPr>
          <p:nvPr>
            <p:ph idx="1"/>
          </p:nvPr>
        </p:nvPicPr>
        <p:blipFill>
          <a:blip r:embed="rId2"/>
          <a:stretch>
            <a:fillRect/>
          </a:stretch>
        </p:blipFill>
        <p:spPr>
          <a:xfrm>
            <a:off x="748926" y="770965"/>
            <a:ext cx="6945693" cy="4031695"/>
          </a:xfrm>
        </p:spPr>
      </p:pic>
      <p:sp>
        <p:nvSpPr>
          <p:cNvPr id="4" name="Slide Number Placeholder 3">
            <a:extLst>
              <a:ext uri="{FF2B5EF4-FFF2-40B4-BE49-F238E27FC236}">
                <a16:creationId xmlns:a16="http://schemas.microsoft.com/office/drawing/2014/main" id="{80F571E7-E236-A773-FD28-4F01A8F9DA54}"/>
              </a:ext>
            </a:extLst>
          </p:cNvPr>
          <p:cNvSpPr>
            <a:spLocks noGrp="1"/>
          </p:cNvSpPr>
          <p:nvPr>
            <p:ph type="sldNum" sz="quarter" idx="12"/>
          </p:nvPr>
        </p:nvSpPr>
        <p:spPr/>
        <p:txBody>
          <a:bodyPr/>
          <a:lstStyle/>
          <a:p>
            <a:fld id="{A2A50C4D-0BA1-4E54-8DFC-01810EC97B99}" type="slidenum">
              <a:rPr lang="en-US" smtClean="0"/>
              <a:t>30</a:t>
            </a:fld>
            <a:endParaRPr lang="en-US"/>
          </a:p>
        </p:txBody>
      </p:sp>
      <p:pic>
        <p:nvPicPr>
          <p:cNvPr id="8" name="Picture 7">
            <a:extLst>
              <a:ext uri="{FF2B5EF4-FFF2-40B4-BE49-F238E27FC236}">
                <a16:creationId xmlns:a16="http://schemas.microsoft.com/office/drawing/2014/main" id="{D73D1F8C-2797-A421-3C96-696833853F91}"/>
              </a:ext>
            </a:extLst>
          </p:cNvPr>
          <p:cNvPicPr>
            <a:picLocks noChangeAspect="1"/>
          </p:cNvPicPr>
          <p:nvPr/>
        </p:nvPicPr>
        <p:blipFill>
          <a:blip r:embed="rId3"/>
          <a:stretch>
            <a:fillRect/>
          </a:stretch>
        </p:blipFill>
        <p:spPr>
          <a:xfrm>
            <a:off x="838199" y="4665247"/>
            <a:ext cx="6767146" cy="1988992"/>
          </a:xfrm>
          <a:prstGeom prst="rect">
            <a:avLst/>
          </a:prstGeom>
        </p:spPr>
      </p:pic>
    </p:spTree>
    <p:extLst>
      <p:ext uri="{BB962C8B-B14F-4D97-AF65-F5344CB8AC3E}">
        <p14:creationId xmlns:p14="http://schemas.microsoft.com/office/powerpoint/2010/main" val="1230151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31</a:t>
            </a:fld>
            <a:endParaRPr lang="en-US"/>
          </a:p>
        </p:txBody>
      </p:sp>
      <p:grpSp>
        <p:nvGrpSpPr>
          <p:cNvPr id="5" name="Group 4"/>
          <p:cNvGrpSpPr/>
          <p:nvPr/>
        </p:nvGrpSpPr>
        <p:grpSpPr>
          <a:xfrm>
            <a:off x="1331715" y="502463"/>
            <a:ext cx="9369236" cy="5972477"/>
            <a:chOff x="2159619" y="663102"/>
            <a:chExt cx="7106642" cy="4448796"/>
          </a:xfrm>
        </p:grpSpPr>
        <p:pic>
          <p:nvPicPr>
            <p:cNvPr id="3" name="Picture 2"/>
            <p:cNvPicPr>
              <a:picLocks noChangeAspect="1"/>
            </p:cNvPicPr>
            <p:nvPr/>
          </p:nvPicPr>
          <p:blipFill>
            <a:blip r:embed="rId2"/>
            <a:stretch>
              <a:fillRect/>
            </a:stretch>
          </p:blipFill>
          <p:spPr>
            <a:xfrm>
              <a:off x="2159619" y="663102"/>
              <a:ext cx="7106642" cy="2467319"/>
            </a:xfrm>
            <a:prstGeom prst="rect">
              <a:avLst/>
            </a:prstGeom>
          </p:spPr>
        </p:pic>
        <p:pic>
          <p:nvPicPr>
            <p:cNvPr id="4" name="Picture 3"/>
            <p:cNvPicPr>
              <a:picLocks noChangeAspect="1"/>
            </p:cNvPicPr>
            <p:nvPr/>
          </p:nvPicPr>
          <p:blipFill>
            <a:blip r:embed="rId3"/>
            <a:stretch>
              <a:fillRect/>
            </a:stretch>
          </p:blipFill>
          <p:spPr>
            <a:xfrm>
              <a:off x="2229134" y="3130421"/>
              <a:ext cx="6992326" cy="1981477"/>
            </a:xfrm>
            <a:prstGeom prst="rect">
              <a:avLst/>
            </a:prstGeom>
          </p:spPr>
        </p:pic>
      </p:grpSp>
    </p:spTree>
    <p:extLst>
      <p:ext uri="{BB962C8B-B14F-4D97-AF65-F5344CB8AC3E}">
        <p14:creationId xmlns:p14="http://schemas.microsoft.com/office/powerpoint/2010/main" val="3876736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32</a:t>
            </a:fld>
            <a:endParaRPr lang="en-US" dirty="0">
              <a:solidFill>
                <a:prstClr val="white">
                  <a:lumMod val="65000"/>
                  <a:lumOff val="35000"/>
                </a:prstClr>
              </a:solidFill>
            </a:endParaRPr>
          </a:p>
        </p:txBody>
      </p:sp>
      <p:pic>
        <p:nvPicPr>
          <p:cNvPr id="5" name="Picture 4"/>
          <p:cNvPicPr>
            <a:picLocks noChangeAspect="1"/>
          </p:cNvPicPr>
          <p:nvPr/>
        </p:nvPicPr>
        <p:blipFill rotWithShape="1">
          <a:blip r:embed="rId2"/>
          <a:srcRect l="8431" t="2737"/>
          <a:stretch/>
        </p:blipFill>
        <p:spPr>
          <a:xfrm>
            <a:off x="1544324" y="40774"/>
            <a:ext cx="5125500" cy="6817227"/>
          </a:xfrm>
          <a:prstGeom prst="rect">
            <a:avLst/>
          </a:prstGeom>
        </p:spPr>
      </p:pic>
      <p:pic>
        <p:nvPicPr>
          <p:cNvPr id="6" name="Picture 5"/>
          <p:cNvPicPr>
            <a:picLocks noChangeAspect="1"/>
          </p:cNvPicPr>
          <p:nvPr/>
        </p:nvPicPr>
        <p:blipFill rotWithShape="1">
          <a:blip r:embed="rId3"/>
          <a:srcRect l="4169" t="6631" r="15750" b="6742"/>
          <a:stretch/>
        </p:blipFill>
        <p:spPr>
          <a:xfrm>
            <a:off x="6669823" y="784665"/>
            <a:ext cx="5543469" cy="2568135"/>
          </a:xfrm>
          <a:prstGeom prst="rect">
            <a:avLst/>
          </a:prstGeom>
        </p:spPr>
      </p:pic>
    </p:spTree>
    <p:extLst>
      <p:ext uri="{BB962C8B-B14F-4D97-AF65-F5344CB8AC3E}">
        <p14:creationId xmlns:p14="http://schemas.microsoft.com/office/powerpoint/2010/main" val="10305299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9466" y="156243"/>
            <a:ext cx="7290054" cy="899568"/>
          </a:xfrm>
        </p:spPr>
        <p:txBody>
          <a:bodyPr/>
          <a:lstStyle/>
          <a:p>
            <a:r>
              <a:rPr kumimoji="1" lang="en-GB" altLang="en-US" b="1" dirty="0">
                <a:solidFill>
                  <a:schemeClr val="tx1"/>
                </a:solidFill>
              </a:rPr>
              <a:t>User Authentication</a:t>
            </a:r>
            <a:endParaRPr lang="en-US" b="1" dirty="0">
              <a:solidFill>
                <a:schemeClr val="tx1"/>
              </a:solidFill>
            </a:endParaRPr>
          </a:p>
        </p:txBody>
      </p:sp>
      <p:sp>
        <p:nvSpPr>
          <p:cNvPr id="3" name="Content Placeholder 2"/>
          <p:cNvSpPr>
            <a:spLocks noGrp="1"/>
          </p:cNvSpPr>
          <p:nvPr>
            <p:ph idx="1"/>
          </p:nvPr>
        </p:nvSpPr>
        <p:spPr>
          <a:xfrm>
            <a:off x="797859" y="1080651"/>
            <a:ext cx="9888902" cy="4836253"/>
          </a:xfrm>
        </p:spPr>
        <p:txBody>
          <a:bodyPr>
            <a:normAutofit/>
          </a:bodyPr>
          <a:lstStyle/>
          <a:p>
            <a:r>
              <a:rPr lang="en-US" sz="2200" dirty="0"/>
              <a:t> User authentication is a f</a:t>
            </a:r>
            <a:r>
              <a:rPr lang="en-US" altLang="en-US" sz="2200" dirty="0"/>
              <a:t>undamental security building block</a:t>
            </a:r>
          </a:p>
          <a:p>
            <a:r>
              <a:rPr lang="en-US" sz="2200" dirty="0"/>
              <a:t>User authentication is the basis for:</a:t>
            </a:r>
          </a:p>
          <a:p>
            <a:pPr lvl="1">
              <a:buFont typeface="Wingdings" panose="05000000000000000000" pitchFamily="2" charset="2"/>
              <a:buChar char="Ø"/>
            </a:pPr>
            <a:r>
              <a:rPr lang="en-US" sz="2200" dirty="0"/>
              <a:t> </a:t>
            </a:r>
            <a:r>
              <a:rPr lang="en-US" sz="2200" b="1" dirty="0"/>
              <a:t>Access control </a:t>
            </a:r>
            <a:r>
              <a:rPr lang="en-US" sz="2200" dirty="0"/>
              <a:t>and </a:t>
            </a:r>
            <a:r>
              <a:rPr lang="en-US" sz="2200" b="1" dirty="0"/>
              <a:t>User accountability</a:t>
            </a:r>
          </a:p>
          <a:p>
            <a:r>
              <a:rPr lang="en-US" sz="2200" dirty="0"/>
              <a:t>User authentication encompasses two functions</a:t>
            </a:r>
          </a:p>
          <a:p>
            <a:pPr lvl="1" indent="-457200">
              <a:buFont typeface="+mj-lt"/>
              <a:buAutoNum type="arabicPeriod"/>
            </a:pPr>
            <a:r>
              <a:rPr lang="en-US" sz="2200" b="1" dirty="0"/>
              <a:t>Identification:</a:t>
            </a:r>
          </a:p>
          <a:p>
            <a:pPr lvl="2"/>
            <a:r>
              <a:rPr lang="en-US" sz="2200" dirty="0"/>
              <a:t>The user identifies herself to the system by presenting a credential</a:t>
            </a:r>
          </a:p>
          <a:p>
            <a:pPr lvl="3"/>
            <a:r>
              <a:rPr lang="en-US" sz="2200" dirty="0"/>
              <a:t>such as user ID. </a:t>
            </a:r>
          </a:p>
          <a:p>
            <a:pPr lvl="1" indent="-457200">
              <a:buFont typeface="+mj-lt"/>
              <a:buAutoNum type="arabicPeriod"/>
            </a:pPr>
            <a:r>
              <a:rPr lang="en-US" sz="2200" b="1" dirty="0"/>
              <a:t>Verification:</a:t>
            </a:r>
          </a:p>
          <a:p>
            <a:pPr lvl="2"/>
            <a:r>
              <a:rPr lang="en-US" sz="2200" dirty="0"/>
              <a:t>The system verifies the user by the exchange of authentication information.</a:t>
            </a:r>
          </a:p>
          <a:p>
            <a:r>
              <a:rPr lang="en-US" altLang="en-US" sz="2200" dirty="0"/>
              <a:t>User Authentication is distinct from message authentication </a:t>
            </a:r>
          </a:p>
          <a:p>
            <a:pPr lvl="1"/>
            <a:r>
              <a:rPr lang="en-US" altLang="en-US" sz="2200" dirty="0"/>
              <a:t>(when communicating parties are concerned with the integrity of the exchanges messages)</a:t>
            </a:r>
          </a:p>
          <a:p>
            <a:endParaRPr lang="en-US" dirty="0"/>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33</a:t>
            </a:fld>
            <a:endParaRPr lang="en-US" dirty="0">
              <a:solidFill>
                <a:prstClr val="white">
                  <a:lumMod val="65000"/>
                  <a:lumOff val="35000"/>
                </a:prstClr>
              </a:solidFill>
            </a:endParaRPr>
          </a:p>
        </p:txBody>
      </p:sp>
      <p:sp>
        <p:nvSpPr>
          <p:cNvPr id="5" name="Rectangle 4"/>
          <p:cNvSpPr/>
          <p:nvPr/>
        </p:nvSpPr>
        <p:spPr>
          <a:xfrm>
            <a:off x="477340" y="5941744"/>
            <a:ext cx="8928992" cy="646331"/>
          </a:xfrm>
          <a:prstGeom prst="rect">
            <a:avLst/>
          </a:prstGeom>
        </p:spPr>
        <p:txBody>
          <a:bodyPr wrap="square">
            <a:spAutoFit/>
          </a:bodyPr>
          <a:lstStyle/>
          <a:p>
            <a:pPr marL="285750" indent="-285750">
              <a:buFont typeface="Arial" panose="020B0604020202020204" pitchFamily="34" charset="0"/>
              <a:buChar char="•"/>
            </a:pPr>
            <a:r>
              <a:rPr lang="en-US" b="1" i="1" dirty="0">
                <a:latin typeface="TimesTenLTStd-Roman"/>
              </a:rPr>
              <a:t>Identification</a:t>
            </a:r>
            <a:r>
              <a:rPr lang="en-US" i="1" dirty="0">
                <a:latin typeface="TimesTenLTStd-Roman"/>
              </a:rPr>
              <a:t> </a:t>
            </a:r>
            <a:r>
              <a:rPr lang="en-US" i="1" dirty="0">
                <a:latin typeface="TimesTenLTStd-Roman"/>
                <a:sym typeface="Wingdings" panose="05000000000000000000" pitchFamily="2" charset="2"/>
              </a:rPr>
              <a:t> </a:t>
            </a:r>
            <a:r>
              <a:rPr lang="en-US" i="1" dirty="0">
                <a:latin typeface="TimesTenLTStd-Roman"/>
              </a:rPr>
              <a:t>means by which a user provides a claimed identity to the system </a:t>
            </a:r>
          </a:p>
          <a:p>
            <a:pPr marL="285750" indent="-285750">
              <a:buFont typeface="Arial" panose="020B0604020202020204" pitchFamily="34" charset="0"/>
              <a:buChar char="•"/>
            </a:pPr>
            <a:r>
              <a:rPr lang="en-US" b="1" i="1" dirty="0">
                <a:latin typeface="TimesTenLTStd-Roman"/>
              </a:rPr>
              <a:t>User authentication </a:t>
            </a:r>
            <a:r>
              <a:rPr lang="en-US" i="1" dirty="0">
                <a:latin typeface="TimesTenLTStd-Roman"/>
                <a:sym typeface="Wingdings" panose="05000000000000000000" pitchFamily="2" charset="2"/>
              </a:rPr>
              <a:t> </a:t>
            </a:r>
            <a:r>
              <a:rPr lang="en-US" i="1" dirty="0">
                <a:latin typeface="TimesTenLTStd-Roman"/>
              </a:rPr>
              <a:t>means of establishing the validity of the claim</a:t>
            </a:r>
            <a:endParaRPr lang="en-US" i="1" dirty="0"/>
          </a:p>
        </p:txBody>
      </p:sp>
    </p:spTree>
    <p:extLst>
      <p:ext uri="{BB962C8B-B14F-4D97-AF65-F5344CB8AC3E}">
        <p14:creationId xmlns:p14="http://schemas.microsoft.com/office/powerpoint/2010/main" val="20610429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34</a:t>
            </a:fld>
            <a:endParaRPr lang="en-US"/>
          </a:p>
        </p:txBody>
      </p:sp>
      <p:pic>
        <p:nvPicPr>
          <p:cNvPr id="3" name="Picture 2"/>
          <p:cNvPicPr>
            <a:picLocks noChangeAspect="1"/>
          </p:cNvPicPr>
          <p:nvPr/>
        </p:nvPicPr>
        <p:blipFill>
          <a:blip r:embed="rId2"/>
          <a:stretch>
            <a:fillRect/>
          </a:stretch>
        </p:blipFill>
        <p:spPr>
          <a:xfrm>
            <a:off x="605481" y="456152"/>
            <a:ext cx="10560499" cy="5900197"/>
          </a:xfrm>
          <a:prstGeom prst="rect">
            <a:avLst/>
          </a:prstGeom>
        </p:spPr>
      </p:pic>
    </p:spTree>
    <p:extLst>
      <p:ext uri="{BB962C8B-B14F-4D97-AF65-F5344CB8AC3E}">
        <p14:creationId xmlns:p14="http://schemas.microsoft.com/office/powerpoint/2010/main" val="2891906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703294"/>
            <a:ext cx="9902507" cy="5404516"/>
          </a:xfrm>
        </p:spPr>
        <p:txBody>
          <a:bodyPr/>
          <a:lstStyle/>
          <a:p>
            <a:pPr algn="just"/>
            <a:r>
              <a:rPr lang="en-US" i="1" dirty="0"/>
              <a:t>NIST SP 800-63-3 (Digital Authentication Guideline, October 2016) </a:t>
            </a:r>
            <a:r>
              <a:rPr lang="en-US" b="1" i="1" dirty="0"/>
              <a:t>defines digital user authentication as the process of establishing confidence in user identities that are presented electronically to an information system. </a:t>
            </a:r>
          </a:p>
          <a:p>
            <a:pPr lvl="1" algn="just"/>
            <a:r>
              <a:rPr lang="en-US" dirty="0"/>
              <a:t>Systems can use the authenticated identity to determine if the authenticated individual is authorized to perform particular function such as database transactions or access to system resources. </a:t>
            </a:r>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35</a:t>
            </a:fld>
            <a:endParaRPr lang="en-US" dirty="0">
              <a:solidFill>
                <a:prstClr val="white">
                  <a:lumMod val="65000"/>
                  <a:lumOff val="35000"/>
                </a:prstClr>
              </a:solidFill>
            </a:endParaRPr>
          </a:p>
        </p:txBody>
      </p:sp>
      <p:pic>
        <p:nvPicPr>
          <p:cNvPr id="6" name="Picture 5">
            <a:extLst>
              <a:ext uri="{FF2B5EF4-FFF2-40B4-BE49-F238E27FC236}">
                <a16:creationId xmlns:a16="http://schemas.microsoft.com/office/drawing/2014/main" id="{2C6D8E5E-0531-1864-C749-7BA7F96AB0FF}"/>
              </a:ext>
            </a:extLst>
          </p:cNvPr>
          <p:cNvPicPr>
            <a:picLocks noChangeAspect="1"/>
          </p:cNvPicPr>
          <p:nvPr/>
        </p:nvPicPr>
        <p:blipFill rotWithShape="1">
          <a:blip r:embed="rId2"/>
          <a:srcRect b="63366"/>
          <a:stretch/>
        </p:blipFill>
        <p:spPr>
          <a:xfrm>
            <a:off x="807577" y="901933"/>
            <a:ext cx="9933130" cy="648072"/>
          </a:xfrm>
          <a:prstGeom prst="rect">
            <a:avLst/>
          </a:prstGeom>
        </p:spPr>
      </p:pic>
    </p:spTree>
    <p:extLst>
      <p:ext uri="{BB962C8B-B14F-4D97-AF65-F5344CB8AC3E}">
        <p14:creationId xmlns:p14="http://schemas.microsoft.com/office/powerpoint/2010/main" val="22206846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8164" y="290098"/>
            <a:ext cx="9375948" cy="648072"/>
          </a:xfrm>
        </p:spPr>
        <p:txBody>
          <a:bodyPr>
            <a:normAutofit fontScale="90000"/>
          </a:bodyPr>
          <a:lstStyle/>
          <a:p>
            <a:r>
              <a:rPr lang="en-US" b="1" dirty="0"/>
              <a:t>A Model for Digital User Authentication</a:t>
            </a:r>
            <a:endParaRPr lang="en-US" dirty="0"/>
          </a:p>
        </p:txBody>
      </p:sp>
      <p:sp>
        <p:nvSpPr>
          <p:cNvPr id="3" name="Content Placeholder 2"/>
          <p:cNvSpPr>
            <a:spLocks noGrp="1"/>
          </p:cNvSpPr>
          <p:nvPr>
            <p:ph idx="1"/>
          </p:nvPr>
        </p:nvSpPr>
        <p:spPr>
          <a:xfrm>
            <a:off x="439271" y="1246094"/>
            <a:ext cx="11295529" cy="5783305"/>
          </a:xfrm>
        </p:spPr>
        <p:txBody>
          <a:bodyPr>
            <a:normAutofit/>
          </a:bodyPr>
          <a:lstStyle/>
          <a:p>
            <a:pPr algn="just">
              <a:defRPr/>
            </a:pPr>
            <a:r>
              <a:rPr lang="en-US" altLang="en-US" sz="1600" dirty="0">
                <a:latin typeface="Times New Roman" panose="02020603050405020304" pitchFamily="18" charset="0"/>
                <a:cs typeface="Times New Roman" panose="02020603050405020304" pitchFamily="18" charset="0"/>
              </a:rPr>
              <a:t>The NIST SP 800-63-2 model</a:t>
            </a:r>
          </a:p>
          <a:p>
            <a:pPr lvl="1"/>
            <a:r>
              <a:rPr lang="en-US" sz="1600" dirty="0">
                <a:latin typeface="Times New Roman" panose="02020603050405020304" pitchFamily="18" charset="0"/>
                <a:cs typeface="Times New Roman" panose="02020603050405020304" pitchFamily="18" charset="0"/>
              </a:rPr>
              <a:t>The initial requirement for performing user authentication is that the user must be registered with the system.</a:t>
            </a:r>
          </a:p>
          <a:p>
            <a:pPr lvl="1"/>
            <a:r>
              <a:rPr lang="en-US" sz="1600" dirty="0">
                <a:latin typeface="Times New Roman" panose="02020603050405020304" pitchFamily="18" charset="0"/>
                <a:cs typeface="Times New Roman" panose="02020603050405020304" pitchFamily="18" charset="0"/>
              </a:rPr>
              <a:t>An applicant applies to a </a:t>
            </a:r>
            <a:r>
              <a:rPr lang="en-US" sz="1600" b="1" dirty="0">
                <a:latin typeface="Times New Roman" panose="02020603050405020304" pitchFamily="18" charset="0"/>
                <a:cs typeface="Times New Roman" panose="02020603050405020304" pitchFamily="18" charset="0"/>
              </a:rPr>
              <a:t>registration authority (RA) </a:t>
            </a:r>
            <a:r>
              <a:rPr lang="en-US" sz="1600" dirty="0">
                <a:latin typeface="Times New Roman" panose="02020603050405020304" pitchFamily="18" charset="0"/>
                <a:cs typeface="Times New Roman" panose="02020603050405020304" pitchFamily="18" charset="0"/>
              </a:rPr>
              <a:t>to become a </a:t>
            </a:r>
            <a:r>
              <a:rPr lang="en-US" sz="1600" b="1" dirty="0">
                <a:latin typeface="Times New Roman" panose="02020603050405020304" pitchFamily="18" charset="0"/>
                <a:cs typeface="Times New Roman" panose="02020603050405020304" pitchFamily="18" charset="0"/>
              </a:rPr>
              <a:t>subscriber </a:t>
            </a:r>
            <a:r>
              <a:rPr lang="en-US" sz="1600" dirty="0">
                <a:latin typeface="Times New Roman" panose="02020603050405020304" pitchFamily="18" charset="0"/>
                <a:cs typeface="Times New Roman" panose="02020603050405020304" pitchFamily="18" charset="0"/>
              </a:rPr>
              <a:t>of a </a:t>
            </a:r>
            <a:r>
              <a:rPr lang="en-US" sz="1600" b="1" dirty="0">
                <a:latin typeface="Times New Roman" panose="02020603050405020304" pitchFamily="18" charset="0"/>
                <a:cs typeface="Times New Roman" panose="02020603050405020304" pitchFamily="18" charset="0"/>
              </a:rPr>
              <a:t>credential service provider (CSP)</a:t>
            </a:r>
            <a:r>
              <a:rPr lang="en-US" sz="1600" dirty="0">
                <a:latin typeface="Times New Roman" panose="02020603050405020304" pitchFamily="18" charset="0"/>
                <a:cs typeface="Times New Roman" panose="02020603050405020304" pitchFamily="18" charset="0"/>
              </a:rPr>
              <a:t>.</a:t>
            </a:r>
          </a:p>
          <a:p>
            <a:pPr lvl="2"/>
            <a:r>
              <a:rPr lang="en-US" sz="1600" b="1" dirty="0">
                <a:latin typeface="Times New Roman" panose="02020603050405020304" pitchFamily="18" charset="0"/>
                <a:cs typeface="Times New Roman" panose="02020603050405020304" pitchFamily="18" charset="0"/>
              </a:rPr>
              <a:t>RA</a:t>
            </a:r>
            <a:r>
              <a:rPr lang="en-US" sz="1600" dirty="0">
                <a:latin typeface="Times New Roman" panose="02020603050405020304" pitchFamily="18" charset="0"/>
                <a:cs typeface="Times New Roman" panose="02020603050405020304" pitchFamily="18" charset="0"/>
              </a:rPr>
              <a:t> is a trusted entity that establishes and vouches for the identity of an applicant to a CSP. </a:t>
            </a:r>
          </a:p>
          <a:p>
            <a:pPr lvl="2"/>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CSP</a:t>
            </a:r>
            <a:r>
              <a:rPr lang="en-US" sz="1600" dirty="0">
                <a:latin typeface="Times New Roman" panose="02020603050405020304" pitchFamily="18" charset="0"/>
                <a:cs typeface="Times New Roman" panose="02020603050405020304" pitchFamily="18" charset="0"/>
              </a:rPr>
              <a:t> then engages in an exchange with the subscriber. The CSP issues some sort of electronic credential to the subscriber. </a:t>
            </a:r>
            <a:r>
              <a:rPr lang="en-US" altLang="en-US" sz="1600" dirty="0">
                <a:latin typeface="Times New Roman" panose="02020603050405020304" pitchFamily="18" charset="0"/>
                <a:cs typeface="Times New Roman" panose="02020603050405020304" pitchFamily="18" charset="0"/>
              </a:rPr>
              <a:t>The credential (a data structure) binds an identity to a token possessed by the subscriber</a:t>
            </a:r>
          </a:p>
          <a:p>
            <a:pPr lvl="3">
              <a:defRPr/>
            </a:pPr>
            <a:endParaRPr lang="en-US" altLang="en-US" sz="16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The party to be authenticated is called a </a:t>
            </a:r>
            <a:r>
              <a:rPr lang="en-US" sz="1600" b="1" dirty="0">
                <a:latin typeface="Times New Roman" panose="02020603050405020304" pitchFamily="18" charset="0"/>
                <a:cs typeface="Times New Roman" panose="02020603050405020304" pitchFamily="18" charset="0"/>
              </a:rPr>
              <a:t>claimant</a:t>
            </a:r>
          </a:p>
          <a:p>
            <a:pPr lvl="1"/>
            <a:r>
              <a:rPr lang="en-US" sz="1600" dirty="0">
                <a:latin typeface="Times New Roman" panose="02020603050405020304" pitchFamily="18" charset="0"/>
                <a:cs typeface="Times New Roman" panose="02020603050405020304" pitchFamily="18" charset="0"/>
              </a:rPr>
              <a:t>The party verifying that identity is called a </a:t>
            </a:r>
            <a:r>
              <a:rPr lang="en-US" sz="1600" b="1" dirty="0">
                <a:latin typeface="Times New Roman" panose="02020603050405020304" pitchFamily="18" charset="0"/>
                <a:cs typeface="Times New Roman" panose="02020603050405020304" pitchFamily="18" charset="0"/>
              </a:rPr>
              <a:t>verifier</a:t>
            </a:r>
            <a:endParaRPr lang="en-US" sz="16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The verifier passes on an assertion about the identity of the subscriber to the </a:t>
            </a:r>
            <a:r>
              <a:rPr lang="en-US" sz="1600" b="1" dirty="0">
                <a:latin typeface="Times New Roman" panose="02020603050405020304" pitchFamily="18" charset="0"/>
                <a:cs typeface="Times New Roman" panose="02020603050405020304" pitchFamily="18" charset="0"/>
              </a:rPr>
              <a:t>relying party (RP)</a:t>
            </a:r>
            <a:r>
              <a:rPr lang="en-US" sz="1600" dirty="0">
                <a:latin typeface="Times New Roman" panose="02020603050405020304" pitchFamily="18" charset="0"/>
                <a:cs typeface="Times New Roman" panose="02020603050405020304" pitchFamily="18" charset="0"/>
              </a:rPr>
              <a:t>. </a:t>
            </a:r>
          </a:p>
          <a:p>
            <a:pPr lvl="2"/>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RP </a:t>
            </a:r>
            <a:r>
              <a:rPr lang="en-US" sz="1600" dirty="0">
                <a:latin typeface="Times New Roman" panose="02020603050405020304" pitchFamily="18" charset="0"/>
                <a:cs typeface="Times New Roman" panose="02020603050405020304" pitchFamily="18" charset="0"/>
              </a:rPr>
              <a:t>can use the authenticated information provided by the verifier to  make access control or authorization decisions.</a:t>
            </a:r>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36</a:t>
            </a:fld>
            <a:endParaRPr lang="en-US" dirty="0">
              <a:solidFill>
                <a:prstClr val="white">
                  <a:lumMod val="65000"/>
                  <a:lumOff val="35000"/>
                </a:prstClr>
              </a:solidFill>
            </a:endParaRPr>
          </a:p>
        </p:txBody>
      </p:sp>
    </p:spTree>
    <p:extLst>
      <p:ext uri="{BB962C8B-B14F-4D97-AF65-F5344CB8AC3E}">
        <p14:creationId xmlns:p14="http://schemas.microsoft.com/office/powerpoint/2010/main" val="4246510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37</a:t>
            </a:fld>
            <a:endParaRPr lang="en-US"/>
          </a:p>
        </p:txBody>
      </p:sp>
      <p:pic>
        <p:nvPicPr>
          <p:cNvPr id="3" name="Picture 2"/>
          <p:cNvPicPr>
            <a:picLocks noChangeAspect="1"/>
          </p:cNvPicPr>
          <p:nvPr/>
        </p:nvPicPr>
        <p:blipFill>
          <a:blip r:embed="rId2"/>
          <a:stretch>
            <a:fillRect/>
          </a:stretch>
        </p:blipFill>
        <p:spPr>
          <a:xfrm>
            <a:off x="925814" y="617858"/>
            <a:ext cx="10294121" cy="5738492"/>
          </a:xfrm>
          <a:prstGeom prst="rect">
            <a:avLst/>
          </a:prstGeom>
        </p:spPr>
      </p:pic>
    </p:spTree>
    <p:extLst>
      <p:ext uri="{BB962C8B-B14F-4D97-AF65-F5344CB8AC3E}">
        <p14:creationId xmlns:p14="http://schemas.microsoft.com/office/powerpoint/2010/main" val="2237829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689852" y="3281228"/>
            <a:ext cx="5502148" cy="3546519"/>
          </a:xfrm>
          <a:prstGeom prst="rect">
            <a:avLst/>
          </a:prstGeom>
        </p:spPr>
      </p:pic>
      <p:sp>
        <p:nvSpPr>
          <p:cNvPr id="4" name="Slide Number Placeholder 3"/>
          <p:cNvSpPr>
            <a:spLocks noGrp="1"/>
          </p:cNvSpPr>
          <p:nvPr>
            <p:ph type="sldNum" sz="quarter" idx="12"/>
          </p:nvPr>
        </p:nvSpPr>
        <p:spPr/>
        <p:txBody>
          <a:bodyPr/>
          <a:lstStyle/>
          <a:p>
            <a:fld id="{A2A50C4D-0BA1-4E54-8DFC-01810EC97B99}" type="slidenum">
              <a:rPr lang="en-US" smtClean="0"/>
              <a:t>38</a:t>
            </a:fld>
            <a:endParaRPr lang="en-US"/>
          </a:p>
        </p:txBody>
      </p:sp>
      <p:grpSp>
        <p:nvGrpSpPr>
          <p:cNvPr id="7" name="Group 6"/>
          <p:cNvGrpSpPr/>
          <p:nvPr/>
        </p:nvGrpSpPr>
        <p:grpSpPr>
          <a:xfrm>
            <a:off x="383652" y="638789"/>
            <a:ext cx="7351677" cy="3142379"/>
            <a:chOff x="2860016" y="889939"/>
            <a:chExt cx="6373114" cy="2784323"/>
          </a:xfrm>
        </p:grpSpPr>
        <p:pic>
          <p:nvPicPr>
            <p:cNvPr id="6" name="Picture 5"/>
            <p:cNvPicPr>
              <a:picLocks noChangeAspect="1"/>
            </p:cNvPicPr>
            <p:nvPr/>
          </p:nvPicPr>
          <p:blipFill>
            <a:blip r:embed="rId4"/>
            <a:stretch>
              <a:fillRect/>
            </a:stretch>
          </p:blipFill>
          <p:spPr>
            <a:xfrm>
              <a:off x="3085680" y="2788313"/>
              <a:ext cx="6020640" cy="885949"/>
            </a:xfrm>
            <a:prstGeom prst="rect">
              <a:avLst/>
            </a:prstGeom>
          </p:spPr>
        </p:pic>
        <p:pic>
          <p:nvPicPr>
            <p:cNvPr id="5" name="Picture 4"/>
            <p:cNvPicPr>
              <a:picLocks noChangeAspect="1"/>
            </p:cNvPicPr>
            <p:nvPr/>
          </p:nvPicPr>
          <p:blipFill>
            <a:blip r:embed="rId5"/>
            <a:stretch>
              <a:fillRect/>
            </a:stretch>
          </p:blipFill>
          <p:spPr>
            <a:xfrm>
              <a:off x="2860016" y="889939"/>
              <a:ext cx="6373114" cy="1914792"/>
            </a:xfrm>
            <a:prstGeom prst="rect">
              <a:avLst/>
            </a:prstGeom>
          </p:spPr>
        </p:pic>
      </p:grpSp>
      <p:sp>
        <p:nvSpPr>
          <p:cNvPr id="8" name="Rectangle 7"/>
          <p:cNvSpPr/>
          <p:nvPr/>
        </p:nvSpPr>
        <p:spPr>
          <a:xfrm>
            <a:off x="383653" y="4169341"/>
            <a:ext cx="5683516" cy="1754326"/>
          </a:xfrm>
          <a:prstGeom prst="rect">
            <a:avLst/>
          </a:prstGeom>
        </p:spPr>
        <p:txBody>
          <a:bodyPr wrap="square">
            <a:spAutoFit/>
          </a:bodyPr>
          <a:lstStyle/>
          <a:p>
            <a:r>
              <a:rPr lang="en-US" b="1" dirty="0">
                <a:solidFill>
                  <a:srgbClr val="FF0000"/>
                </a:solidFill>
                <a:latin typeface="TimesTenLTStd-Bold"/>
              </a:rPr>
              <a:t>Multifactor authentication </a:t>
            </a:r>
            <a:r>
              <a:rPr lang="en-US" dirty="0">
                <a:solidFill>
                  <a:srgbClr val="FF0000"/>
                </a:solidFill>
                <a:latin typeface="TimesTenLTStd-Roman"/>
              </a:rPr>
              <a:t>refers to the use of more than one of the authentication means in the preceding list. </a:t>
            </a:r>
            <a:r>
              <a:rPr lang="en-US" dirty="0"/>
              <a:t>Implementations that use two factors are considered to be stronger than those that use only one factor; systems that incorporate three factors are stronger than systems that only incorporate two of the factors, and so on. </a:t>
            </a:r>
            <a:endParaRPr lang="en-US" dirty="0">
              <a:solidFill>
                <a:srgbClr val="FF0000"/>
              </a:solidFill>
            </a:endParaRPr>
          </a:p>
        </p:txBody>
      </p:sp>
    </p:spTree>
    <p:extLst>
      <p:ext uri="{BB962C8B-B14F-4D97-AF65-F5344CB8AC3E}">
        <p14:creationId xmlns:p14="http://schemas.microsoft.com/office/powerpoint/2010/main" val="31629113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39</a:t>
            </a:fld>
            <a:endParaRPr lang="en-US"/>
          </a:p>
        </p:txBody>
      </p:sp>
      <p:pic>
        <p:nvPicPr>
          <p:cNvPr id="3" name="Picture 2"/>
          <p:cNvPicPr>
            <a:picLocks noChangeAspect="1"/>
          </p:cNvPicPr>
          <p:nvPr/>
        </p:nvPicPr>
        <p:blipFill>
          <a:blip r:embed="rId2"/>
          <a:stretch>
            <a:fillRect/>
          </a:stretch>
        </p:blipFill>
        <p:spPr>
          <a:xfrm>
            <a:off x="532868" y="352712"/>
            <a:ext cx="8325767" cy="715603"/>
          </a:xfrm>
          <a:prstGeom prst="rect">
            <a:avLst/>
          </a:prstGeom>
        </p:spPr>
      </p:pic>
      <p:sp>
        <p:nvSpPr>
          <p:cNvPr id="4" name="TextBox 3"/>
          <p:cNvSpPr txBox="1"/>
          <p:nvPr/>
        </p:nvSpPr>
        <p:spPr>
          <a:xfrm>
            <a:off x="3454477" y="6171684"/>
            <a:ext cx="5449441" cy="369332"/>
          </a:xfrm>
          <a:prstGeom prst="rect">
            <a:avLst/>
          </a:prstGeom>
          <a:noFill/>
        </p:spPr>
        <p:txBody>
          <a:bodyPr wrap="none" rtlCol="0">
            <a:spAutoFit/>
          </a:bodyPr>
          <a:lstStyle/>
          <a:p>
            <a:r>
              <a:rPr lang="en-US" dirty="0">
                <a:solidFill>
                  <a:srgbClr val="FF0000"/>
                </a:solidFill>
              </a:rPr>
              <a:t>Read Assurance levels, Potential risk, Risk  from the book</a:t>
            </a:r>
          </a:p>
        </p:txBody>
      </p:sp>
      <p:pic>
        <p:nvPicPr>
          <p:cNvPr id="5" name="Picture 4"/>
          <p:cNvPicPr>
            <a:picLocks noChangeAspect="1"/>
          </p:cNvPicPr>
          <p:nvPr/>
        </p:nvPicPr>
        <p:blipFill>
          <a:blip r:embed="rId3">
            <a:duotone>
              <a:prstClr val="black"/>
              <a:schemeClr val="accent2">
                <a:tint val="45000"/>
                <a:satMod val="400000"/>
              </a:schemeClr>
            </a:duotone>
          </a:blip>
          <a:stretch>
            <a:fillRect/>
          </a:stretch>
        </p:blipFill>
        <p:spPr>
          <a:xfrm>
            <a:off x="889687" y="1068315"/>
            <a:ext cx="8536459" cy="443069"/>
          </a:xfrm>
          <a:prstGeom prst="rect">
            <a:avLst/>
          </a:prstGeom>
        </p:spPr>
      </p:pic>
      <p:pic>
        <p:nvPicPr>
          <p:cNvPr id="6" name="Picture 5"/>
          <p:cNvPicPr>
            <a:picLocks noChangeAspect="1"/>
          </p:cNvPicPr>
          <p:nvPr/>
        </p:nvPicPr>
        <p:blipFill>
          <a:blip r:embed="rId4"/>
          <a:stretch>
            <a:fillRect/>
          </a:stretch>
        </p:blipFill>
        <p:spPr>
          <a:xfrm>
            <a:off x="889687" y="1630052"/>
            <a:ext cx="10259857" cy="3772426"/>
          </a:xfrm>
          <a:prstGeom prst="rect">
            <a:avLst/>
          </a:prstGeom>
        </p:spPr>
      </p:pic>
      <p:sp>
        <p:nvSpPr>
          <p:cNvPr id="7" name="Rectangle 6"/>
          <p:cNvSpPr/>
          <p:nvPr/>
        </p:nvSpPr>
        <p:spPr>
          <a:xfrm>
            <a:off x="532868" y="5279250"/>
            <a:ext cx="11292660" cy="1200329"/>
          </a:xfrm>
          <a:prstGeom prst="rect">
            <a:avLst/>
          </a:prstGeom>
        </p:spPr>
        <p:txBody>
          <a:bodyPr wrap="square">
            <a:spAutoFit/>
          </a:bodyPr>
          <a:lstStyle/>
          <a:p>
            <a:r>
              <a:rPr lang="en-US" dirty="0">
                <a:solidFill>
                  <a:srgbClr val="242021"/>
                </a:solidFill>
                <a:latin typeface="TimesTenLTStd-Roman"/>
              </a:rPr>
              <a:t>This table suggests a technique for doing risk assessment. For a given information system or service asset of an organization, the organization needs to determine the level of impact if an authentication failure occurs, using the categories of impact, or risk areas, that are of concern.</a:t>
            </a:r>
            <a:r>
              <a:rPr lang="en-US" dirty="0"/>
              <a:t> </a:t>
            </a:r>
            <a:br>
              <a:rPr lang="en-US" dirty="0"/>
            </a:br>
            <a:endParaRPr lang="en-US" dirty="0"/>
          </a:p>
        </p:txBody>
      </p:sp>
    </p:spTree>
    <p:extLst>
      <p:ext uri="{BB962C8B-B14F-4D97-AF65-F5344CB8AC3E}">
        <p14:creationId xmlns:p14="http://schemas.microsoft.com/office/powerpoint/2010/main" val="28267163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40</a:t>
            </a:fld>
            <a:endParaRPr lang="en-US" dirty="0"/>
          </a:p>
        </p:txBody>
      </p:sp>
      <p:pic>
        <p:nvPicPr>
          <p:cNvPr id="3" name="Picture 2"/>
          <p:cNvPicPr>
            <a:picLocks noChangeAspect="1"/>
          </p:cNvPicPr>
          <p:nvPr/>
        </p:nvPicPr>
        <p:blipFill>
          <a:blip r:embed="rId2"/>
          <a:stretch>
            <a:fillRect/>
          </a:stretch>
        </p:blipFill>
        <p:spPr>
          <a:xfrm>
            <a:off x="1254883" y="489705"/>
            <a:ext cx="9137150" cy="5962271"/>
          </a:xfrm>
          <a:prstGeom prst="rect">
            <a:avLst/>
          </a:prstGeom>
        </p:spPr>
      </p:pic>
    </p:spTree>
    <p:extLst>
      <p:ext uri="{BB962C8B-B14F-4D97-AF65-F5344CB8AC3E}">
        <p14:creationId xmlns:p14="http://schemas.microsoft.com/office/powerpoint/2010/main" val="19680426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41</a:t>
            </a:fld>
            <a:endParaRPr lang="en-US" dirty="0"/>
          </a:p>
        </p:txBody>
      </p:sp>
      <p:grpSp>
        <p:nvGrpSpPr>
          <p:cNvPr id="7" name="Group 6"/>
          <p:cNvGrpSpPr/>
          <p:nvPr/>
        </p:nvGrpSpPr>
        <p:grpSpPr>
          <a:xfrm>
            <a:off x="394737" y="835891"/>
            <a:ext cx="5684787" cy="5631672"/>
            <a:chOff x="357667" y="546706"/>
            <a:chExt cx="6064407" cy="6053085"/>
          </a:xfrm>
        </p:grpSpPr>
        <p:pic>
          <p:nvPicPr>
            <p:cNvPr id="4" name="Picture 3"/>
            <p:cNvPicPr>
              <a:picLocks noChangeAspect="1"/>
            </p:cNvPicPr>
            <p:nvPr/>
          </p:nvPicPr>
          <p:blipFill>
            <a:blip r:embed="rId2"/>
            <a:stretch>
              <a:fillRect/>
            </a:stretch>
          </p:blipFill>
          <p:spPr>
            <a:xfrm>
              <a:off x="357667" y="546706"/>
              <a:ext cx="6039693" cy="1143160"/>
            </a:xfrm>
            <a:prstGeom prst="rect">
              <a:avLst/>
            </a:prstGeom>
          </p:spPr>
        </p:pic>
        <p:pic>
          <p:nvPicPr>
            <p:cNvPr id="5" name="Picture 4"/>
            <p:cNvPicPr>
              <a:picLocks noChangeAspect="1"/>
            </p:cNvPicPr>
            <p:nvPr/>
          </p:nvPicPr>
          <p:blipFill>
            <a:blip r:embed="rId3"/>
            <a:stretch>
              <a:fillRect/>
            </a:stretch>
          </p:blipFill>
          <p:spPr>
            <a:xfrm>
              <a:off x="401434" y="1665152"/>
              <a:ext cx="6020640" cy="4934639"/>
            </a:xfrm>
            <a:prstGeom prst="rect">
              <a:avLst/>
            </a:prstGeom>
          </p:spPr>
        </p:pic>
      </p:grpSp>
      <p:pic>
        <p:nvPicPr>
          <p:cNvPr id="6" name="Picture 5"/>
          <p:cNvPicPr>
            <a:picLocks noChangeAspect="1"/>
          </p:cNvPicPr>
          <p:nvPr/>
        </p:nvPicPr>
        <p:blipFill>
          <a:blip r:embed="rId4"/>
          <a:stretch>
            <a:fillRect/>
          </a:stretch>
        </p:blipFill>
        <p:spPr>
          <a:xfrm>
            <a:off x="6256604" y="1145176"/>
            <a:ext cx="5542924" cy="4378297"/>
          </a:xfrm>
          <a:prstGeom prst="rect">
            <a:avLst/>
          </a:prstGeom>
        </p:spPr>
      </p:pic>
      <p:pic>
        <p:nvPicPr>
          <p:cNvPr id="8" name="Picture 7"/>
          <p:cNvPicPr>
            <a:picLocks noChangeAspect="1"/>
          </p:cNvPicPr>
          <p:nvPr/>
        </p:nvPicPr>
        <p:blipFill>
          <a:blip r:embed="rId5"/>
          <a:stretch>
            <a:fillRect/>
          </a:stretch>
        </p:blipFill>
        <p:spPr>
          <a:xfrm>
            <a:off x="3286822" y="392635"/>
            <a:ext cx="5539070" cy="412294"/>
          </a:xfrm>
          <a:prstGeom prst="rect">
            <a:avLst/>
          </a:prstGeom>
        </p:spPr>
      </p:pic>
    </p:spTree>
    <p:extLst>
      <p:ext uri="{BB962C8B-B14F-4D97-AF65-F5344CB8AC3E}">
        <p14:creationId xmlns:p14="http://schemas.microsoft.com/office/powerpoint/2010/main" val="2074091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42</a:t>
            </a:fld>
            <a:endParaRPr lang="en-US" dirty="0"/>
          </a:p>
        </p:txBody>
      </p:sp>
      <p:pic>
        <p:nvPicPr>
          <p:cNvPr id="3" name="Picture 2"/>
          <p:cNvPicPr>
            <a:picLocks noChangeAspect="1"/>
          </p:cNvPicPr>
          <p:nvPr/>
        </p:nvPicPr>
        <p:blipFill>
          <a:blip r:embed="rId2"/>
          <a:stretch>
            <a:fillRect/>
          </a:stretch>
        </p:blipFill>
        <p:spPr>
          <a:xfrm>
            <a:off x="6943659" y="1430742"/>
            <a:ext cx="4939663" cy="3624558"/>
          </a:xfrm>
          <a:prstGeom prst="rect">
            <a:avLst/>
          </a:prstGeom>
        </p:spPr>
      </p:pic>
      <p:pic>
        <p:nvPicPr>
          <p:cNvPr id="5" name="Picture 4"/>
          <p:cNvPicPr>
            <a:picLocks noChangeAspect="1"/>
          </p:cNvPicPr>
          <p:nvPr/>
        </p:nvPicPr>
        <p:blipFill>
          <a:blip r:embed="rId3"/>
          <a:stretch>
            <a:fillRect/>
          </a:stretch>
        </p:blipFill>
        <p:spPr>
          <a:xfrm>
            <a:off x="6453618" y="561041"/>
            <a:ext cx="5556907" cy="572034"/>
          </a:xfrm>
          <a:prstGeom prst="rect">
            <a:avLst/>
          </a:prstGeom>
        </p:spPr>
      </p:pic>
      <p:sp>
        <p:nvSpPr>
          <p:cNvPr id="6" name="Content Placeholder 2">
            <a:extLst>
              <a:ext uri="{FF2B5EF4-FFF2-40B4-BE49-F238E27FC236}">
                <a16:creationId xmlns:a16="http://schemas.microsoft.com/office/drawing/2014/main" id="{02C2C136-3FAD-E9D1-F3EF-2436C4983F47}"/>
              </a:ext>
            </a:extLst>
          </p:cNvPr>
          <p:cNvSpPr txBox="1">
            <a:spLocks/>
          </p:cNvSpPr>
          <p:nvPr/>
        </p:nvSpPr>
        <p:spPr>
          <a:xfrm>
            <a:off x="82863" y="1349935"/>
            <a:ext cx="6634981" cy="60212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800" dirty="0">
                <a:latin typeface="Times New Roman" panose="02020603050405020304" pitchFamily="18" charset="0"/>
                <a:cs typeface="Times New Roman" panose="02020603050405020304" pitchFamily="18" charset="0"/>
              </a:rPr>
              <a:t>A widely used password security technique</a:t>
            </a:r>
          </a:p>
          <a:p>
            <a:pPr lvl="1"/>
            <a:r>
              <a:rPr lang="en-US" sz="1800" b="1" dirty="0">
                <a:solidFill>
                  <a:srgbClr val="C00000"/>
                </a:solidFill>
                <a:latin typeface="Times New Roman" panose="02020603050405020304" pitchFamily="18" charset="0"/>
                <a:cs typeface="Times New Roman" panose="02020603050405020304" pitchFamily="18" charset="0"/>
              </a:rPr>
              <a:t>use of hashed passwords and a salt value</a:t>
            </a:r>
          </a:p>
          <a:p>
            <a:pPr lvl="1"/>
            <a:r>
              <a:rPr lang="en-US" sz="1800" b="1" dirty="0">
                <a:latin typeface="Times New Roman" panose="02020603050405020304" pitchFamily="18" charset="0"/>
                <a:cs typeface="Times New Roman" panose="02020603050405020304" pitchFamily="18" charset="0"/>
              </a:rPr>
              <a:t>This scheme is found on virtually all UNIX operating system</a:t>
            </a:r>
          </a:p>
          <a:p>
            <a:pPr algn="just"/>
            <a:r>
              <a:rPr lang="en-US" sz="1800" dirty="0">
                <a:latin typeface="Times New Roman" panose="02020603050405020304" pitchFamily="18" charset="0"/>
                <a:cs typeface="Times New Roman" panose="02020603050405020304" pitchFamily="18" charset="0"/>
              </a:rPr>
              <a:t>To load a new password into the system, the user selects or is assigned a password. (see Figure 3.3a).</a:t>
            </a:r>
          </a:p>
          <a:p>
            <a:pPr lvl="1"/>
            <a:r>
              <a:rPr lang="en-US" sz="1800" dirty="0">
                <a:latin typeface="Times New Roman" panose="02020603050405020304" pitchFamily="18" charset="0"/>
                <a:cs typeface="Times New Roman" panose="02020603050405020304" pitchFamily="18" charset="0"/>
              </a:rPr>
              <a:t>This password is </a:t>
            </a:r>
            <a:r>
              <a:rPr lang="en-US" sz="1800" b="1" dirty="0">
                <a:solidFill>
                  <a:srgbClr val="C00000"/>
                </a:solidFill>
                <a:latin typeface="Times New Roman" panose="02020603050405020304" pitchFamily="18" charset="0"/>
                <a:cs typeface="Times New Roman" panose="02020603050405020304" pitchFamily="18" charset="0"/>
              </a:rPr>
              <a:t>combined with a fixed-length salt value</a:t>
            </a:r>
          </a:p>
          <a:p>
            <a:pPr lvl="2"/>
            <a:r>
              <a:rPr lang="en-US" sz="1800" dirty="0">
                <a:latin typeface="Times New Roman" panose="02020603050405020304" pitchFamily="18" charset="0"/>
                <a:cs typeface="Times New Roman" panose="02020603050405020304" pitchFamily="18" charset="0"/>
              </a:rPr>
              <a:t>use a pseudorandom or random number.</a:t>
            </a:r>
            <a:endParaRPr lang="en-US" sz="1800" b="1" dirty="0">
              <a:solidFill>
                <a:srgbClr val="C00000"/>
              </a:solidFill>
              <a:latin typeface="Times New Roman" panose="02020603050405020304" pitchFamily="18" charset="0"/>
              <a:cs typeface="Times New Roman" panose="02020603050405020304" pitchFamily="18" charset="0"/>
            </a:endParaRPr>
          </a:p>
          <a:p>
            <a:pPr lvl="3"/>
            <a:r>
              <a:rPr lang="en-US" dirty="0">
                <a:latin typeface="Times New Roman" panose="02020603050405020304" pitchFamily="18" charset="0"/>
                <a:cs typeface="Times New Roman" panose="02020603050405020304" pitchFamily="18" charset="0"/>
              </a:rPr>
              <a:t>can be anything </a:t>
            </a:r>
            <a:r>
              <a:rPr lang="en-US" b="1" dirty="0">
                <a:solidFill>
                  <a:srgbClr val="C00000"/>
                </a:solidFill>
                <a:latin typeface="Times New Roman" panose="02020603050405020304" pitchFamily="18" charset="0"/>
                <a:cs typeface="Times New Roman" panose="02020603050405020304" pitchFamily="18" charset="0"/>
              </a:rPr>
              <a:t>like time, date etc.</a:t>
            </a:r>
          </a:p>
          <a:p>
            <a:pPr algn="just"/>
            <a:r>
              <a:rPr lang="en-US" sz="1800" dirty="0">
                <a:solidFill>
                  <a:srgbClr val="242021"/>
                </a:solidFill>
                <a:latin typeface="TimesTenLTStd-Roman"/>
              </a:rPr>
              <a:t>The hash algorithm is designed to be slow to execute in order to thwart attacks</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The hashed password is then stored, together with a plaintext copy of the salt, in the password file for the corresponding user ID. </a:t>
            </a:r>
          </a:p>
          <a:p>
            <a:pPr lvl="1" algn="just"/>
            <a:r>
              <a:rPr lang="en-US" sz="1400" dirty="0">
                <a:solidFill>
                  <a:srgbClr val="242021"/>
                </a:solidFill>
                <a:latin typeface="TimesTenLTStd-Roman"/>
              </a:rPr>
              <a:t>The hashed password method has been shown to be secure against a variety of cryptanalytic attacks</a:t>
            </a:r>
            <a:endParaRPr lang="en-US" sz="1400" dirty="0"/>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54070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43</a:t>
            </a:fld>
            <a:endParaRPr lang="en-US" dirty="0"/>
          </a:p>
        </p:txBody>
      </p:sp>
      <p:pic>
        <p:nvPicPr>
          <p:cNvPr id="4" name="Picture 3"/>
          <p:cNvPicPr>
            <a:picLocks noChangeAspect="1"/>
          </p:cNvPicPr>
          <p:nvPr/>
        </p:nvPicPr>
        <p:blipFill>
          <a:blip r:embed="rId2"/>
          <a:stretch>
            <a:fillRect/>
          </a:stretch>
        </p:blipFill>
        <p:spPr>
          <a:xfrm>
            <a:off x="6777318" y="1843119"/>
            <a:ext cx="5306165" cy="3562847"/>
          </a:xfrm>
          <a:prstGeom prst="rect">
            <a:avLst/>
          </a:prstGeom>
        </p:spPr>
      </p:pic>
      <p:pic>
        <p:nvPicPr>
          <p:cNvPr id="5" name="Picture 4"/>
          <p:cNvPicPr>
            <a:picLocks noChangeAspect="1"/>
          </p:cNvPicPr>
          <p:nvPr/>
        </p:nvPicPr>
        <p:blipFill>
          <a:blip r:embed="rId3"/>
          <a:stretch>
            <a:fillRect/>
          </a:stretch>
        </p:blipFill>
        <p:spPr>
          <a:xfrm>
            <a:off x="6458468" y="665051"/>
            <a:ext cx="5556907" cy="572034"/>
          </a:xfrm>
          <a:prstGeom prst="rect">
            <a:avLst/>
          </a:prstGeom>
        </p:spPr>
      </p:pic>
      <p:sp>
        <p:nvSpPr>
          <p:cNvPr id="6" name="Content Placeholder 2">
            <a:extLst>
              <a:ext uri="{FF2B5EF4-FFF2-40B4-BE49-F238E27FC236}">
                <a16:creationId xmlns:a16="http://schemas.microsoft.com/office/drawing/2014/main" id="{1A6FB7C1-DBA1-3042-1BF5-7BE910A00335}"/>
              </a:ext>
            </a:extLst>
          </p:cNvPr>
          <p:cNvSpPr txBox="1">
            <a:spLocks/>
          </p:cNvSpPr>
          <p:nvPr/>
        </p:nvSpPr>
        <p:spPr>
          <a:xfrm>
            <a:off x="0" y="1487892"/>
            <a:ext cx="6777318" cy="363431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When a user attempts to log on to a UNIX system, the user provides:</a:t>
            </a:r>
          </a:p>
          <a:p>
            <a:pPr lvl="1"/>
            <a:r>
              <a:rPr lang="en-US" sz="1600" b="1" dirty="0"/>
              <a:t>an ID and a password </a:t>
            </a:r>
            <a:r>
              <a:rPr lang="en-US" sz="1600" dirty="0"/>
              <a:t>(see Figure 3.3b).</a:t>
            </a:r>
          </a:p>
          <a:p>
            <a:pPr lvl="1"/>
            <a:r>
              <a:rPr lang="en-US" sz="1600" dirty="0"/>
              <a:t>The operating system uses:</a:t>
            </a:r>
          </a:p>
          <a:p>
            <a:pPr lvl="2"/>
            <a:r>
              <a:rPr lang="en-US" sz="1600" dirty="0"/>
              <a:t> </a:t>
            </a:r>
            <a:r>
              <a:rPr lang="en-US" sz="1600" b="1" i="1" dirty="0">
                <a:solidFill>
                  <a:srgbClr val="C00000"/>
                </a:solidFill>
              </a:rPr>
              <a:t>the ID to index into the password file and retrieve the plaintext salt and the encrypted password. </a:t>
            </a:r>
          </a:p>
          <a:p>
            <a:pPr lvl="2"/>
            <a:r>
              <a:rPr lang="en-US" sz="1600" b="1" dirty="0">
                <a:solidFill>
                  <a:srgbClr val="C00000"/>
                </a:solidFill>
              </a:rPr>
              <a:t>The salt and user-supplied password are used as input to the encryption routine</a:t>
            </a:r>
            <a:r>
              <a:rPr lang="en-US" sz="1600" dirty="0"/>
              <a:t>.</a:t>
            </a:r>
          </a:p>
          <a:p>
            <a:pPr lvl="1"/>
            <a:r>
              <a:rPr lang="en-US" dirty="0"/>
              <a:t> </a:t>
            </a:r>
            <a:r>
              <a:rPr lang="en-US" sz="2000" dirty="0"/>
              <a:t>If the result matches the stored value, the password is accepted.</a:t>
            </a:r>
          </a:p>
        </p:txBody>
      </p:sp>
    </p:spTree>
    <p:extLst>
      <p:ext uri="{BB962C8B-B14F-4D97-AF65-F5344CB8AC3E}">
        <p14:creationId xmlns:p14="http://schemas.microsoft.com/office/powerpoint/2010/main" val="8705040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969857" y="314146"/>
            <a:ext cx="7200900" cy="967807"/>
          </a:xfrm>
        </p:spPr>
        <p:txBody>
          <a:bodyPr/>
          <a:lstStyle/>
          <a:p>
            <a:r>
              <a:rPr lang="en-US" altLang="en-US" b="1" dirty="0"/>
              <a:t>Why a salt value?</a:t>
            </a:r>
          </a:p>
        </p:txBody>
      </p:sp>
      <p:sp>
        <p:nvSpPr>
          <p:cNvPr id="26627" name="Content Placeholder 2"/>
          <p:cNvSpPr>
            <a:spLocks noGrp="1"/>
          </p:cNvSpPr>
          <p:nvPr>
            <p:ph idx="1"/>
          </p:nvPr>
        </p:nvSpPr>
        <p:spPr>
          <a:xfrm>
            <a:off x="969857" y="1581654"/>
            <a:ext cx="10675295" cy="4729499"/>
          </a:xfrm>
        </p:spPr>
        <p:txBody>
          <a:bodyPr>
            <a:normAutofit/>
          </a:bodyPr>
          <a:lstStyle/>
          <a:p>
            <a:pPr algn="just"/>
            <a:r>
              <a:rPr lang="en-US" dirty="0"/>
              <a:t>The </a:t>
            </a:r>
            <a:r>
              <a:rPr lang="en-US" b="1" dirty="0"/>
              <a:t>salt serves </a:t>
            </a:r>
            <a:r>
              <a:rPr lang="en-US" dirty="0"/>
              <a:t>three purposes:</a:t>
            </a:r>
          </a:p>
          <a:p>
            <a:pPr marL="987552" lvl="1" indent="-457200" algn="just">
              <a:buFont typeface="+mj-lt"/>
              <a:buAutoNum type="arabicPeriod"/>
            </a:pPr>
            <a:r>
              <a:rPr lang="en-US" dirty="0"/>
              <a:t>It prevents </a:t>
            </a:r>
            <a:r>
              <a:rPr lang="en-US" b="1" dirty="0">
                <a:solidFill>
                  <a:srgbClr val="C00000"/>
                </a:solidFill>
              </a:rPr>
              <a:t>duplicate passwords </a:t>
            </a:r>
            <a:r>
              <a:rPr lang="en-US" dirty="0"/>
              <a:t>from being visible in the password file.</a:t>
            </a:r>
          </a:p>
          <a:p>
            <a:pPr lvl="2" algn="just"/>
            <a:r>
              <a:rPr lang="en-US" dirty="0"/>
              <a:t>Even if two users choose the same password, those passwords will be assigned different salt values. </a:t>
            </a:r>
          </a:p>
          <a:p>
            <a:pPr lvl="3" algn="just"/>
            <a:r>
              <a:rPr lang="en-US" dirty="0"/>
              <a:t>Hence, the hashed passwords of the two users will differ.</a:t>
            </a:r>
            <a:endParaRPr lang="en-US" altLang="en-US" dirty="0"/>
          </a:p>
          <a:p>
            <a:pPr marL="987552" lvl="1" indent="-457200">
              <a:buFont typeface="+mj-lt"/>
              <a:buAutoNum type="arabicPeriod"/>
            </a:pPr>
            <a:r>
              <a:rPr lang="en-US" dirty="0"/>
              <a:t>It greatly increases the </a:t>
            </a:r>
            <a:r>
              <a:rPr lang="en-US" b="1" dirty="0">
                <a:solidFill>
                  <a:srgbClr val="C00000"/>
                </a:solidFill>
              </a:rPr>
              <a:t>difficulty of offline dictionary attacks. </a:t>
            </a:r>
          </a:p>
          <a:p>
            <a:pPr lvl="2"/>
            <a:r>
              <a:rPr lang="en-US" dirty="0"/>
              <a:t>For a </a:t>
            </a:r>
            <a:r>
              <a:rPr lang="en-US" b="1" dirty="0"/>
              <a:t>salt of length </a:t>
            </a:r>
            <a:r>
              <a:rPr lang="en-US" b="1" i="1" dirty="0"/>
              <a:t>b </a:t>
            </a:r>
            <a:r>
              <a:rPr lang="en-US" b="1" dirty="0"/>
              <a:t>bits</a:t>
            </a:r>
            <a:r>
              <a:rPr lang="en-US" dirty="0"/>
              <a:t>, the number of possible passwords is increased by a factor of 2</a:t>
            </a:r>
            <a:r>
              <a:rPr lang="en-US" i="1" dirty="0"/>
              <a:t>b</a:t>
            </a:r>
            <a:r>
              <a:rPr lang="en-US" dirty="0"/>
              <a:t>,</a:t>
            </a:r>
          </a:p>
          <a:p>
            <a:pPr lvl="3"/>
            <a:r>
              <a:rPr lang="en-US" dirty="0"/>
              <a:t> Increasing  the difficulty of guessing a password in a dictionary attack.</a:t>
            </a:r>
            <a:endParaRPr lang="en-US" altLang="en-US" dirty="0"/>
          </a:p>
          <a:p>
            <a:pPr marL="987552" lvl="1" indent="-457200">
              <a:buFont typeface="+mj-lt"/>
              <a:buAutoNum type="arabicPeriod"/>
            </a:pPr>
            <a:r>
              <a:rPr lang="en-US" altLang="en-US" dirty="0"/>
              <a:t>Nearly </a:t>
            </a:r>
            <a:r>
              <a:rPr lang="en-US" altLang="en-US" b="1" dirty="0">
                <a:solidFill>
                  <a:srgbClr val="C00000"/>
                </a:solidFill>
              </a:rPr>
              <a:t>impossible</a:t>
            </a:r>
            <a:r>
              <a:rPr lang="en-US" altLang="en-US" dirty="0"/>
              <a:t> to tell if a person </a:t>
            </a:r>
            <a:r>
              <a:rPr lang="en-US" altLang="en-US" b="1" dirty="0">
                <a:solidFill>
                  <a:srgbClr val="C00000"/>
                </a:solidFill>
              </a:rPr>
              <a:t>used the same password on multiple systems</a:t>
            </a:r>
          </a:p>
        </p:txBody>
      </p:sp>
    </p:spTree>
    <p:extLst>
      <p:ext uri="{BB962C8B-B14F-4D97-AF65-F5344CB8AC3E}">
        <p14:creationId xmlns:p14="http://schemas.microsoft.com/office/powerpoint/2010/main" val="348220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45</a:t>
            </a:fld>
            <a:endParaRPr lang="en-US" dirty="0"/>
          </a:p>
        </p:txBody>
      </p:sp>
      <p:pic>
        <p:nvPicPr>
          <p:cNvPr id="3" name="Picture 2"/>
          <p:cNvPicPr>
            <a:picLocks noChangeAspect="1"/>
          </p:cNvPicPr>
          <p:nvPr/>
        </p:nvPicPr>
        <p:blipFill>
          <a:blip r:embed="rId2"/>
          <a:stretch>
            <a:fillRect/>
          </a:stretch>
        </p:blipFill>
        <p:spPr>
          <a:xfrm>
            <a:off x="1633558" y="495629"/>
            <a:ext cx="7501370" cy="409463"/>
          </a:xfrm>
          <a:prstGeom prst="rect">
            <a:avLst/>
          </a:prstGeom>
        </p:spPr>
      </p:pic>
      <p:pic>
        <p:nvPicPr>
          <p:cNvPr id="4" name="Picture 3"/>
          <p:cNvPicPr>
            <a:picLocks noChangeAspect="1"/>
          </p:cNvPicPr>
          <p:nvPr/>
        </p:nvPicPr>
        <p:blipFill>
          <a:blip r:embed="rId3"/>
          <a:stretch>
            <a:fillRect/>
          </a:stretch>
        </p:blipFill>
        <p:spPr>
          <a:xfrm>
            <a:off x="1204200" y="1270111"/>
            <a:ext cx="9072746" cy="5104275"/>
          </a:xfrm>
          <a:prstGeom prst="rect">
            <a:avLst/>
          </a:prstGeom>
        </p:spPr>
      </p:pic>
    </p:spTree>
    <p:extLst>
      <p:ext uri="{BB962C8B-B14F-4D97-AF65-F5344CB8AC3E}">
        <p14:creationId xmlns:p14="http://schemas.microsoft.com/office/powerpoint/2010/main" val="36366689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279576" y="286916"/>
            <a:ext cx="7200900" cy="981844"/>
          </a:xfrm>
        </p:spPr>
        <p:txBody>
          <a:bodyPr/>
          <a:lstStyle/>
          <a:p>
            <a:pPr algn="ctr" eaLnBrk="1" hangingPunct="1"/>
            <a:r>
              <a:rPr lang="en-US" altLang="en-US" b="1" dirty="0"/>
              <a:t>Password Cracking</a:t>
            </a:r>
          </a:p>
        </p:txBody>
      </p:sp>
      <p:pic>
        <p:nvPicPr>
          <p:cNvPr id="4" name="Picture 3"/>
          <p:cNvPicPr>
            <a:picLocks noChangeAspect="1"/>
          </p:cNvPicPr>
          <p:nvPr/>
        </p:nvPicPr>
        <p:blipFill rotWithShape="1">
          <a:blip r:embed="rId3"/>
          <a:srcRect l="2757" t="3245" r="1633"/>
          <a:stretch/>
        </p:blipFill>
        <p:spPr>
          <a:xfrm>
            <a:off x="2142564" y="1069972"/>
            <a:ext cx="7913875" cy="5780076"/>
          </a:xfrm>
          <a:prstGeom prst="rect">
            <a:avLst/>
          </a:prstGeom>
        </p:spPr>
      </p:pic>
    </p:spTree>
    <p:extLst>
      <p:ext uri="{BB962C8B-B14F-4D97-AF65-F5344CB8AC3E}">
        <p14:creationId xmlns:p14="http://schemas.microsoft.com/office/powerpoint/2010/main" val="24860186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title"/>
          </p:nvPr>
        </p:nvSpPr>
        <p:spPr>
          <a:xfrm>
            <a:off x="3039034" y="385482"/>
            <a:ext cx="7628965" cy="433086"/>
          </a:xfrm>
        </p:spPr>
        <p:txBody>
          <a:bodyPr>
            <a:normAutofit fontScale="90000"/>
          </a:bodyPr>
          <a:lstStyle/>
          <a:p>
            <a:pPr algn="ctr" eaLnBrk="1" hangingPunct="1"/>
            <a:r>
              <a:rPr lang="en-US" altLang="en-US" b="1" dirty="0"/>
              <a:t>Password select strategies</a:t>
            </a:r>
          </a:p>
        </p:txBody>
      </p:sp>
      <p:sp>
        <p:nvSpPr>
          <p:cNvPr id="38915" name="Rectangle 1027"/>
          <p:cNvSpPr>
            <a:spLocks noGrp="1" noChangeArrowheads="1"/>
          </p:cNvSpPr>
          <p:nvPr>
            <p:ph type="body" idx="1"/>
          </p:nvPr>
        </p:nvSpPr>
        <p:spPr>
          <a:xfrm>
            <a:off x="692243" y="944289"/>
            <a:ext cx="8532439" cy="5184576"/>
          </a:xfrm>
        </p:spPr>
        <p:txBody>
          <a:bodyPr/>
          <a:lstStyle/>
          <a:p>
            <a:pPr eaLnBrk="1" hangingPunct="1"/>
            <a:r>
              <a:rPr lang="en-US" altLang="en-US" sz="2400" dirty="0"/>
              <a:t>Goal to eliminate guessable passwords</a:t>
            </a:r>
          </a:p>
          <a:p>
            <a:pPr lvl="1" eaLnBrk="1" hangingPunct="1"/>
            <a:r>
              <a:rPr lang="en-US" altLang="en-US" sz="2000" dirty="0"/>
              <a:t>Still easy for user to remember</a:t>
            </a:r>
          </a:p>
          <a:p>
            <a:pPr eaLnBrk="1" hangingPunct="1"/>
            <a:r>
              <a:rPr lang="en-US" altLang="en-US" sz="2400" b="1" dirty="0"/>
              <a:t>Techniques</a:t>
            </a:r>
          </a:p>
        </p:txBody>
      </p:sp>
      <p:pic>
        <p:nvPicPr>
          <p:cNvPr id="2" name="Picture 1"/>
          <p:cNvPicPr>
            <a:picLocks noChangeAspect="1"/>
          </p:cNvPicPr>
          <p:nvPr/>
        </p:nvPicPr>
        <p:blipFill>
          <a:blip r:embed="rId3"/>
          <a:stretch>
            <a:fillRect/>
          </a:stretch>
        </p:blipFill>
        <p:spPr>
          <a:xfrm>
            <a:off x="2590800" y="1988899"/>
            <a:ext cx="7230787" cy="4806347"/>
          </a:xfrm>
          <a:prstGeom prst="rect">
            <a:avLst/>
          </a:prstGeom>
        </p:spPr>
      </p:pic>
    </p:spTree>
    <p:extLst>
      <p:ext uri="{BB962C8B-B14F-4D97-AF65-F5344CB8AC3E}">
        <p14:creationId xmlns:p14="http://schemas.microsoft.com/office/powerpoint/2010/main" val="33877701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20712</TotalTime>
  <Words>1661</Words>
  <Application>Microsoft Office PowerPoint</Application>
  <PresentationFormat>Widescreen</PresentationFormat>
  <Paragraphs>133</Paragraphs>
  <Slides>47</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47</vt:i4>
      </vt:variant>
    </vt:vector>
  </HeadingPairs>
  <TitlesOfParts>
    <vt:vector size="56" baseType="lpstr">
      <vt:lpstr>Arial</vt:lpstr>
      <vt:lpstr>BemboMTPro-Bold</vt:lpstr>
      <vt:lpstr>Calibri</vt:lpstr>
      <vt:lpstr>Calibri Light</vt:lpstr>
      <vt:lpstr>Times New Roman</vt:lpstr>
      <vt:lpstr>TimesTenLTStd-Bold</vt:lpstr>
      <vt:lpstr>TimesTenLTStd-Roman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Public-Key Certificates</vt:lpstr>
      <vt:lpstr>PowerPoint Presentation</vt:lpstr>
      <vt:lpstr>PowerPoint Presentation</vt:lpstr>
      <vt:lpstr>User Authentication</vt:lpstr>
      <vt:lpstr>PowerPoint Presentation</vt:lpstr>
      <vt:lpstr>PowerPoint Presentation</vt:lpstr>
      <vt:lpstr>A Model for Digital User Authentication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a salt value?</vt:lpstr>
      <vt:lpstr>PowerPoint Presentation</vt:lpstr>
      <vt:lpstr>Password Cracking</vt:lpstr>
      <vt:lpstr>Password select strategies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InfoSec CLOs and Topic List</dc:title>
  <dc:creator>NU FAST</dc:creator>
  <cp:lastModifiedBy>Rabia Ahmed Ansari</cp:lastModifiedBy>
  <cp:revision>237</cp:revision>
  <cp:lastPrinted>2022-08-31T10:35:52Z</cp:lastPrinted>
  <dcterms:created xsi:type="dcterms:W3CDTF">2022-08-11T15:54:49Z</dcterms:created>
  <dcterms:modified xsi:type="dcterms:W3CDTF">2026-09-14T21:24:14Z</dcterms:modified>
</cp:coreProperties>
</file>