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7" r:id="rId1"/>
  </p:sldMasterIdLst>
  <p:notesMasterIdLst>
    <p:notesMasterId r:id="rId28"/>
  </p:notesMasterIdLst>
  <p:sldIdLst>
    <p:sldId id="256" r:id="rId2"/>
    <p:sldId id="257" r:id="rId3"/>
    <p:sldId id="281" r:id="rId4"/>
    <p:sldId id="258" r:id="rId5"/>
    <p:sldId id="259" r:id="rId6"/>
    <p:sldId id="276" r:id="rId7"/>
    <p:sldId id="277" r:id="rId8"/>
    <p:sldId id="260" r:id="rId9"/>
    <p:sldId id="282" r:id="rId10"/>
    <p:sldId id="278" r:id="rId11"/>
    <p:sldId id="262" r:id="rId12"/>
    <p:sldId id="263" r:id="rId13"/>
    <p:sldId id="264" r:id="rId14"/>
    <p:sldId id="279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83" r:id="rId24"/>
    <p:sldId id="274" r:id="rId25"/>
    <p:sldId id="280" r:id="rId26"/>
    <p:sldId id="27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E79ED-702F-4507-9B55-3CA9B774730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01524-D2F7-4080-B0F0-4BD98021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59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B8CB82-B46E-4C8F-8D4F-5E14416AEF2A}" type="slidenum">
              <a:rPr lang="en-CA" altLang="en-US" sz="1200" smtClean="0">
                <a:latin typeface="Tahoma" panose="020B0604030504040204" pitchFamily="34" charset="0"/>
              </a:rPr>
              <a:pPr/>
              <a:t>23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23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3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87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33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8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7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54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7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4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36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8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1082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83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5824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423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794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3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0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216" y="2684621"/>
            <a:ext cx="8573787" cy="1646302"/>
          </a:xfrm>
        </p:spPr>
        <p:txBody>
          <a:bodyPr/>
          <a:lstStyle/>
          <a:p>
            <a:r>
              <a:rPr lang="en-US" sz="6600" dirty="0" smtClean="0"/>
              <a:t>Chapter 1 – Databases and Databases Users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57275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161536"/>
            <a:ext cx="8534400" cy="4124410"/>
          </a:xfrm>
        </p:spPr>
        <p:txBody>
          <a:bodyPr>
            <a:normAutofit fontScale="90000"/>
          </a:bodyPr>
          <a:lstStyle/>
          <a:p>
            <a:r>
              <a:rPr lang="en-US" sz="3100" cap="none" dirty="0" smtClean="0">
                <a:solidFill>
                  <a:schemeClr val="tx1"/>
                </a:solidFill>
              </a:rPr>
              <a:t>- Introduction</a:t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cap="none" dirty="0" smtClean="0">
                <a:solidFill>
                  <a:schemeClr val="tx1"/>
                </a:solidFill>
              </a:rPr>
              <a:t/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cap="none" dirty="0" smtClean="0">
                <a:solidFill>
                  <a:schemeClr val="tx1"/>
                </a:solidFill>
              </a:rPr>
              <a:t>- Characteristics of Database Approach</a:t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cap="none" dirty="0" smtClean="0">
                <a:solidFill>
                  <a:schemeClr val="tx1"/>
                </a:solidFill>
              </a:rPr>
              <a:t/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cap="none" dirty="0" smtClean="0">
                <a:solidFill>
                  <a:schemeClr val="tx1"/>
                </a:solidFill>
              </a:rPr>
              <a:t>- Advantages Of Using DBMS </a:t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cap="none" dirty="0" smtClean="0">
                <a:solidFill>
                  <a:schemeClr val="tx1"/>
                </a:solidFill>
              </a:rPr>
              <a:t/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cap="none" dirty="0" smtClean="0">
                <a:solidFill>
                  <a:schemeClr val="tx1"/>
                </a:solidFill>
              </a:rPr>
              <a:t>- When Not To Use DBMS</a:t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cap="none" dirty="0" smtClean="0">
                <a:solidFill>
                  <a:schemeClr val="tx1"/>
                </a:solidFill>
              </a:rPr>
              <a:t/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dirty="0" smtClean="0">
                <a:solidFill>
                  <a:schemeClr val="tx1"/>
                </a:solidFill>
              </a:rPr>
              <a:t>- </a:t>
            </a:r>
            <a:r>
              <a:rPr lang="en-US" sz="3100" dirty="0">
                <a:solidFill>
                  <a:schemeClr val="tx1"/>
                </a:solidFill>
              </a:rPr>
              <a:t>Files vs. Databases</a:t>
            </a:r>
            <a:r>
              <a:rPr lang="en-US" sz="3100" cap="none" dirty="0" smtClean="0">
                <a:solidFill>
                  <a:schemeClr val="tx1"/>
                </a:solidFill>
              </a:rPr>
              <a:t/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sz="3100" dirty="0">
                <a:solidFill>
                  <a:schemeClr val="tx1"/>
                </a:solidFill>
              </a:rPr>
              <a:t/>
            </a:r>
            <a:br>
              <a:rPr lang="en-US" sz="3100" dirty="0">
                <a:solidFill>
                  <a:schemeClr val="tx1"/>
                </a:solidFill>
              </a:rPr>
            </a:br>
            <a:r>
              <a:rPr lang="en-US" sz="3100" cap="none" dirty="0" smtClean="0">
                <a:solidFill>
                  <a:schemeClr val="tx1"/>
                </a:solidFill>
              </a:rPr>
              <a:t/>
            </a:r>
            <a:br>
              <a:rPr lang="en-US" sz="3100" cap="none" dirty="0" smtClean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430427"/>
            <a:ext cx="8534400" cy="1175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Content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73669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Users Are Dependent on Databases</a:t>
            </a:r>
            <a:endParaRPr lang="en-IN" altLang="en-US" smtClean="0"/>
          </a:p>
        </p:txBody>
      </p:sp>
      <p:sp>
        <p:nvSpPr>
          <p:cNvPr id="10243" name="Text Placeholder 4"/>
          <p:cNvSpPr>
            <a:spLocks noGrp="1" noChangeArrowheads="1"/>
          </p:cNvSpPr>
          <p:nvPr>
            <p:ph idx="1"/>
          </p:nvPr>
        </p:nvSpPr>
        <p:spPr>
          <a:xfrm>
            <a:off x="1099410" y="1839098"/>
            <a:ext cx="8229600" cy="4984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The Internet and Mobile Device World</a:t>
            </a:r>
          </a:p>
        </p:txBody>
      </p:sp>
      <p:pic>
        <p:nvPicPr>
          <p:cNvPr id="10244" name="Picture 5" descr="Two chains show connections between users and databases using computers versus using mobile devices. The first chain, from left to right, reads: users, personal computer with web browser client, internet, web server, database. The bottom line, from left to right, reads: users, smartphone with app client, cell phone system data network, app data server, database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410" y="2442520"/>
            <a:ext cx="8589963" cy="35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276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49859"/>
            <a:ext cx="8919747" cy="4885038"/>
          </a:xfrm>
        </p:spPr>
        <p:txBody>
          <a:bodyPr>
            <a:normAutofit/>
          </a:bodyPr>
          <a:lstStyle/>
          <a:p>
            <a:r>
              <a:rPr lang="en-US" sz="2000" dirty="0"/>
              <a:t>Databases </a:t>
            </a:r>
            <a:r>
              <a:rPr lang="en-US" sz="2000" dirty="0" smtClean="0"/>
              <a:t>are </a:t>
            </a:r>
            <a:r>
              <a:rPr lang="en-US" sz="2000" dirty="0"/>
              <a:t>an </a:t>
            </a:r>
            <a:r>
              <a:rPr lang="en-US" sz="2000" dirty="0" smtClean="0"/>
              <a:t>essential component </a:t>
            </a:r>
            <a:r>
              <a:rPr lang="en-US" sz="2000" dirty="0"/>
              <a:t>of life in modern society. </a:t>
            </a:r>
            <a:endParaRPr lang="en-US" sz="2000" dirty="0" smtClean="0"/>
          </a:p>
          <a:p>
            <a:r>
              <a:rPr lang="en-US" sz="2000" b="1" dirty="0" smtClean="0">
                <a:solidFill>
                  <a:schemeClr val="accent5"/>
                </a:solidFill>
              </a:rPr>
              <a:t>Traditional </a:t>
            </a:r>
            <a:r>
              <a:rPr lang="en-US" sz="2000" b="1" dirty="0">
                <a:solidFill>
                  <a:schemeClr val="accent5"/>
                </a:solidFill>
              </a:rPr>
              <a:t>database </a:t>
            </a:r>
            <a:r>
              <a:rPr lang="en-US" sz="2000" b="1" dirty="0" smtClean="0">
                <a:solidFill>
                  <a:schemeClr val="accent5"/>
                </a:solidFill>
              </a:rPr>
              <a:t>applications:</a:t>
            </a:r>
            <a:r>
              <a:rPr lang="en-US" sz="2000" dirty="0"/>
              <a:t> </a:t>
            </a:r>
            <a:r>
              <a:rPr lang="en-US" sz="2000" dirty="0" smtClean="0"/>
              <a:t>Most </a:t>
            </a:r>
            <a:r>
              <a:rPr lang="en-US" sz="2000" dirty="0"/>
              <a:t>of the information that is stored and accessed is either </a:t>
            </a:r>
            <a:r>
              <a:rPr lang="en-US" sz="2000" b="1" dirty="0">
                <a:solidFill>
                  <a:schemeClr val="accent5"/>
                </a:solidFill>
              </a:rPr>
              <a:t>textual</a:t>
            </a:r>
            <a:r>
              <a:rPr lang="en-US" sz="2000" dirty="0"/>
              <a:t> or </a:t>
            </a:r>
            <a:r>
              <a:rPr lang="en-US" sz="2000" b="1" dirty="0">
                <a:solidFill>
                  <a:schemeClr val="accent5"/>
                </a:solidFill>
              </a:rPr>
              <a:t>numeric</a:t>
            </a:r>
            <a:r>
              <a:rPr lang="en-US" sz="2000" dirty="0" smtClean="0"/>
              <a:t>.</a:t>
            </a:r>
            <a:endParaRPr lang="en-US" sz="2000" b="1" dirty="0">
              <a:solidFill>
                <a:schemeClr val="accent5"/>
              </a:solidFill>
            </a:endParaRPr>
          </a:p>
          <a:p>
            <a:endParaRPr lang="en-US" sz="2000" b="1" dirty="0" smtClean="0">
              <a:solidFill>
                <a:schemeClr val="accent5"/>
              </a:solidFill>
            </a:endParaRPr>
          </a:p>
          <a:p>
            <a:endParaRPr lang="en-US" sz="2000" b="1" dirty="0">
              <a:solidFill>
                <a:schemeClr val="accent5"/>
              </a:solidFill>
            </a:endParaRPr>
          </a:p>
          <a:p>
            <a:endParaRPr lang="en-US" sz="2000" b="1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sz="2000" b="1" dirty="0" smtClean="0">
              <a:solidFill>
                <a:schemeClr val="accent5"/>
              </a:solidFill>
            </a:endParaRPr>
          </a:p>
          <a:p>
            <a:r>
              <a:rPr lang="en-US" sz="2000" dirty="0" smtClean="0"/>
              <a:t>Social </a:t>
            </a:r>
            <a:r>
              <a:rPr lang="en-US" sz="2000" dirty="0"/>
              <a:t>media </a:t>
            </a:r>
            <a:r>
              <a:rPr lang="en-US" sz="2000" dirty="0" smtClean="0"/>
              <a:t>websites, such </a:t>
            </a:r>
            <a:r>
              <a:rPr lang="en-US" sz="2000" dirty="0"/>
              <a:t>as Facebook, </a:t>
            </a:r>
            <a:r>
              <a:rPr lang="en-US" sz="2000" dirty="0" smtClean="0"/>
              <a:t>Twitter, among </a:t>
            </a:r>
            <a:r>
              <a:rPr lang="en-US" sz="2000" dirty="0"/>
              <a:t>many </a:t>
            </a:r>
            <a:r>
              <a:rPr lang="en-US" sz="2000" dirty="0" smtClean="0"/>
              <a:t>others</a:t>
            </a:r>
          </a:p>
          <a:p>
            <a:pPr lvl="1"/>
            <a:r>
              <a:rPr lang="en-US" sz="1800" dirty="0" smtClean="0"/>
              <a:t>has </a:t>
            </a:r>
            <a:r>
              <a:rPr lang="en-US" sz="1800" dirty="0"/>
              <a:t>required the </a:t>
            </a:r>
            <a:r>
              <a:rPr lang="en-US" sz="1800" dirty="0" smtClean="0"/>
              <a:t>creation of </a:t>
            </a:r>
            <a:r>
              <a:rPr lang="en-US" sz="1800" dirty="0"/>
              <a:t>huge databases that store nontraditional data, such as posts, </a:t>
            </a:r>
            <a:r>
              <a:rPr lang="en-US" sz="1800" dirty="0" smtClean="0"/>
              <a:t>tweets, images</a:t>
            </a:r>
            <a:r>
              <a:rPr lang="en-US" sz="1800" dirty="0"/>
              <a:t>, and video clips. </a:t>
            </a:r>
            <a:endParaRPr lang="en-US" sz="1800" dirty="0" smtClean="0"/>
          </a:p>
          <a:p>
            <a:pPr lvl="1"/>
            <a:r>
              <a:rPr lang="en-US" sz="1800" dirty="0" smtClean="0"/>
              <a:t>New </a:t>
            </a:r>
            <a:r>
              <a:rPr lang="en-US" sz="1800" dirty="0"/>
              <a:t>types of database systems, often referred to </a:t>
            </a:r>
            <a:r>
              <a:rPr lang="en-US" sz="1800" dirty="0" smtClean="0"/>
              <a:t>as </a:t>
            </a:r>
            <a:r>
              <a:rPr lang="en-US" sz="1800" b="1" dirty="0" smtClean="0">
                <a:solidFill>
                  <a:schemeClr val="accent5"/>
                </a:solidFill>
              </a:rPr>
              <a:t>NOSQL</a:t>
            </a:r>
            <a:r>
              <a:rPr lang="en-US" sz="1800" dirty="0" smtClean="0"/>
              <a:t> </a:t>
            </a:r>
            <a:r>
              <a:rPr lang="en-US" sz="1800" dirty="0"/>
              <a:t>systems, have been created to manage data for </a:t>
            </a:r>
            <a:r>
              <a:rPr lang="en-US" sz="1800" dirty="0" smtClean="0"/>
              <a:t>social media </a:t>
            </a:r>
            <a:r>
              <a:rPr lang="en-US" sz="1800" dirty="0"/>
              <a:t>applications</a:t>
            </a:r>
            <a:r>
              <a:rPr lang="en-US" sz="1800" dirty="0" smtClean="0"/>
              <a:t>.</a:t>
            </a:r>
          </a:p>
          <a:p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1387537" y="2583457"/>
            <a:ext cx="7886465" cy="1471227"/>
            <a:chOff x="783616" y="2143209"/>
            <a:chExt cx="7886465" cy="1471227"/>
          </a:xfrm>
        </p:grpSpPr>
        <p:grpSp>
          <p:nvGrpSpPr>
            <p:cNvPr id="6" name="Group 5"/>
            <p:cNvGrpSpPr/>
            <p:nvPr/>
          </p:nvGrpSpPr>
          <p:grpSpPr>
            <a:xfrm>
              <a:off x="1120690" y="2160915"/>
              <a:ext cx="889687" cy="905008"/>
              <a:chOff x="7372865" y="3007966"/>
              <a:chExt cx="889687" cy="905008"/>
            </a:xfrm>
          </p:grpSpPr>
          <p:pic>
            <p:nvPicPr>
              <p:cNvPr id="4" name="Picture 2" descr="Bank icon Royalty Free Vector Image - VectorStock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831"/>
              <a:stretch/>
            </p:blipFill>
            <p:spPr bwMode="auto">
              <a:xfrm>
                <a:off x="7488654" y="3071261"/>
                <a:ext cx="682820" cy="6743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Oval 4"/>
              <p:cNvSpPr/>
              <p:nvPr/>
            </p:nvSpPr>
            <p:spPr>
              <a:xfrm>
                <a:off x="7372865" y="3007966"/>
                <a:ext cx="889687" cy="90500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783616" y="3145694"/>
              <a:ext cx="1563833" cy="46166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lvl="1" algn="ctr"/>
              <a:r>
                <a:rPr lang="en-US" sz="1200" dirty="0" smtClean="0"/>
                <a:t>Deposit </a:t>
              </a:r>
              <a:r>
                <a:rPr lang="en-US" sz="1200" dirty="0"/>
                <a:t>or withdraw </a:t>
              </a:r>
              <a:endParaRPr lang="en-US" sz="1200" dirty="0" smtClean="0"/>
            </a:p>
            <a:p>
              <a:pPr marL="0" lvl="1" algn="ctr"/>
              <a:r>
                <a:rPr lang="en-US" sz="1200" dirty="0" smtClean="0"/>
                <a:t>funds </a:t>
              </a:r>
              <a:endParaRPr lang="en-US" sz="1200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113904" y="2143209"/>
              <a:ext cx="889687" cy="905008"/>
              <a:chOff x="3731739" y="2329757"/>
              <a:chExt cx="889687" cy="905008"/>
            </a:xfrm>
          </p:grpSpPr>
          <p:pic>
            <p:nvPicPr>
              <p:cNvPr id="8" name="Picture 4" descr="Reservation Icon, Transparent Reservation.PNG Images &amp;amp; Vector - FreeIcons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9998" y="2412313"/>
                <a:ext cx="720813" cy="720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Oval 12"/>
              <p:cNvSpPr/>
              <p:nvPr/>
            </p:nvSpPr>
            <p:spPr>
              <a:xfrm>
                <a:off x="3731739" y="2329757"/>
                <a:ext cx="889687" cy="90500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2617002" y="3152771"/>
              <a:ext cx="1821706" cy="46166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lvl="1" algn="ctr"/>
              <a:r>
                <a:rPr lang="en-US" sz="1200" dirty="0"/>
                <a:t>Making a hotel or airline reservation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255917" y="2160915"/>
              <a:ext cx="889687" cy="905008"/>
              <a:chOff x="5445385" y="2661977"/>
              <a:chExt cx="889687" cy="905008"/>
            </a:xfrm>
          </p:grpSpPr>
          <p:pic>
            <p:nvPicPr>
              <p:cNvPr id="1030" name="Picture 6" descr="Reference and Information Services | TSLAC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93192" y="2787134"/>
                <a:ext cx="598617" cy="5986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Oval 18"/>
              <p:cNvSpPr/>
              <p:nvPr/>
            </p:nvSpPr>
            <p:spPr>
              <a:xfrm>
                <a:off x="5445385" y="2661977"/>
                <a:ext cx="889687" cy="90500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4724737" y="3151768"/>
              <a:ext cx="1821706" cy="46166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lvl="1" algn="ctr"/>
              <a:r>
                <a:rPr lang="en-US" sz="1200" dirty="0"/>
                <a:t>Access a computerized library catalog 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7314385" y="2143614"/>
              <a:ext cx="889687" cy="905008"/>
              <a:chOff x="7731384" y="3045896"/>
              <a:chExt cx="889687" cy="905008"/>
            </a:xfrm>
          </p:grpSpPr>
          <p:pic>
            <p:nvPicPr>
              <p:cNvPr id="1032" name="Picture 8" descr="Free Online Shopping Line Icon - Available in SVG, PNG, EPS, AI &amp;amp; Icon fonts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51004" y="3196324"/>
                <a:ext cx="650446" cy="6504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Oval 24"/>
              <p:cNvSpPr/>
              <p:nvPr/>
            </p:nvSpPr>
            <p:spPr>
              <a:xfrm>
                <a:off x="7731384" y="3045896"/>
                <a:ext cx="889687" cy="90500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6848375" y="3144880"/>
              <a:ext cx="1821706" cy="46166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lvl="1" algn="ctr"/>
              <a:r>
                <a:rPr lang="en-US" sz="1200" dirty="0"/>
                <a:t>Purchase something online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288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864" y="346163"/>
            <a:ext cx="8596668" cy="1320800"/>
          </a:xfrm>
        </p:spPr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64" y="1157713"/>
            <a:ext cx="8845607" cy="4893276"/>
          </a:xfrm>
        </p:spPr>
        <p:txBody>
          <a:bodyPr>
            <a:noAutofit/>
          </a:bodyPr>
          <a:lstStyle/>
          <a:p>
            <a:r>
              <a:rPr lang="en-US" dirty="0" smtClean="0"/>
              <a:t>Database - </a:t>
            </a:r>
            <a:r>
              <a:rPr lang="en-US" b="1" dirty="0" smtClean="0">
                <a:solidFill>
                  <a:schemeClr val="accent5"/>
                </a:solidFill>
              </a:rPr>
              <a:t>collection </a:t>
            </a:r>
            <a:r>
              <a:rPr lang="en-US" b="1" dirty="0">
                <a:solidFill>
                  <a:schemeClr val="accent5"/>
                </a:solidFill>
              </a:rPr>
              <a:t>of related data</a:t>
            </a:r>
            <a:r>
              <a:rPr lang="en-US" dirty="0" smtClean="0"/>
              <a:t>. </a:t>
            </a:r>
          </a:p>
          <a:p>
            <a:r>
              <a:rPr lang="en-US" b="1" dirty="0" smtClean="0">
                <a:solidFill>
                  <a:schemeClr val="accent5"/>
                </a:solidFill>
              </a:rPr>
              <a:t>Data </a:t>
            </a:r>
            <a:r>
              <a:rPr lang="en-US" dirty="0" smtClean="0"/>
              <a:t>means </a:t>
            </a:r>
            <a:r>
              <a:rPr lang="en-US" dirty="0"/>
              <a:t>known </a:t>
            </a:r>
            <a:r>
              <a:rPr lang="en-US" b="1" dirty="0">
                <a:solidFill>
                  <a:schemeClr val="accent5"/>
                </a:solidFill>
              </a:rPr>
              <a:t>facts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that </a:t>
            </a:r>
            <a:r>
              <a:rPr lang="en-US" dirty="0" smtClean="0"/>
              <a:t>can be </a:t>
            </a:r>
            <a:r>
              <a:rPr lang="en-US" dirty="0"/>
              <a:t>recorded and that have </a:t>
            </a:r>
            <a:r>
              <a:rPr lang="en-US" dirty="0" smtClean="0"/>
              <a:t>some meaning.</a:t>
            </a:r>
          </a:p>
          <a:p>
            <a:r>
              <a:rPr lang="en-US" dirty="0"/>
              <a:t>For example, </a:t>
            </a:r>
            <a:r>
              <a:rPr lang="en-US" dirty="0" smtClean="0"/>
              <a:t>mobile phones have </a:t>
            </a:r>
            <a:r>
              <a:rPr lang="en-US" dirty="0"/>
              <a:t>their own simple database </a:t>
            </a:r>
            <a:r>
              <a:rPr lang="en-US" dirty="0" smtClean="0"/>
              <a:t>software and </a:t>
            </a:r>
            <a:r>
              <a:rPr lang="en-US" dirty="0"/>
              <a:t>typically </a:t>
            </a:r>
            <a:r>
              <a:rPr lang="en-US" dirty="0" smtClean="0"/>
              <a:t>store the following data: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lang="en-US" dirty="0" smtClean="0"/>
              <a:t>ames, Telephone numbers and Addresses </a:t>
            </a:r>
            <a:r>
              <a:rPr lang="en-US" dirty="0"/>
              <a:t>of the </a:t>
            </a:r>
            <a:r>
              <a:rPr lang="en-US" dirty="0" smtClean="0"/>
              <a:t>people </a:t>
            </a:r>
          </a:p>
          <a:p>
            <a:r>
              <a:rPr lang="en-US" dirty="0" smtClean="0"/>
              <a:t>A database has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database can be of any </a:t>
            </a:r>
            <a:r>
              <a:rPr lang="en-US" b="1" dirty="0">
                <a:solidFill>
                  <a:schemeClr val="accent5"/>
                </a:solidFill>
              </a:rPr>
              <a:t>size and complexity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the list of names </a:t>
            </a:r>
            <a:r>
              <a:rPr lang="en-US" dirty="0" smtClean="0"/>
              <a:t>and addresses may </a:t>
            </a:r>
            <a:r>
              <a:rPr lang="en-US" dirty="0"/>
              <a:t>consist of only a few hundred records. 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database of even greater size and complexity would be </a:t>
            </a:r>
            <a:r>
              <a:rPr lang="en-US" dirty="0" smtClean="0"/>
              <a:t>maintained by </a:t>
            </a:r>
            <a:r>
              <a:rPr lang="en-US" dirty="0"/>
              <a:t>a social media company such as Facebook, which has more than a billion users.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018495" y="3485335"/>
            <a:ext cx="6746566" cy="1316596"/>
            <a:chOff x="1746646" y="3165136"/>
            <a:chExt cx="6746566" cy="1316596"/>
          </a:xfrm>
        </p:grpSpPr>
        <p:pic>
          <p:nvPicPr>
            <p:cNvPr id="2050" name="Picture 2" descr="Data Source Icon Png Clipart , Png Download - Data Source Icon Png,  Transparent Png , Transparent Png Image - PNGite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2701" y="3281407"/>
              <a:ext cx="735502" cy="664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746646" y="3976132"/>
              <a:ext cx="1787611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</a:t>
              </a:r>
              <a:r>
                <a:rPr lang="en-US" sz="1200" dirty="0" smtClean="0"/>
                <a:t>ome </a:t>
              </a:r>
              <a:r>
                <a:rPr lang="en-US" sz="1200" dirty="0"/>
                <a:t>source from which data is derived</a:t>
              </a:r>
            </a:p>
          </p:txBody>
        </p:sp>
        <p:pic>
          <p:nvPicPr>
            <p:cNvPr id="2052" name="Picture 4" descr="Life Events Icons Images, Stock Photos &amp;amp; Vectors | Shutter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738"/>
            <a:stretch/>
          </p:blipFill>
          <p:spPr bwMode="auto">
            <a:xfrm>
              <a:off x="4526172" y="3281407"/>
              <a:ext cx="750107" cy="664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Arrow Connector 5"/>
            <p:cNvCxnSpPr/>
            <p:nvPr/>
          </p:nvCxnSpPr>
          <p:spPr>
            <a:xfrm>
              <a:off x="3682538" y="3556001"/>
              <a:ext cx="658802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081862" y="4009084"/>
              <a:ext cx="2014138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r>
                <a:rPr lang="en-US" sz="1200" dirty="0" smtClean="0"/>
                <a:t>egree </a:t>
              </a:r>
              <a:r>
                <a:rPr lang="en-US" sz="1200" dirty="0"/>
                <a:t>of interaction with events in the real world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6248624" y="3556001"/>
              <a:ext cx="658802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4" name="Picture 6" descr="Free Audience Glyph Icon - Available in SVG, PNG, EPS, AI &amp;amp; Icon font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7442" y="3165136"/>
              <a:ext cx="810996" cy="810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6643605" y="4020067"/>
              <a:ext cx="1849607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An audience interested </a:t>
              </a:r>
              <a:r>
                <a:rPr lang="en-US" sz="1200" dirty="0"/>
                <a:t>in its contents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528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305650"/>
            <a:ext cx="4710212" cy="1991279"/>
          </a:xfrm>
        </p:spPr>
        <p:txBody>
          <a:bodyPr>
            <a:normAutofit/>
          </a:bodyPr>
          <a:lstStyle/>
          <a:p>
            <a:r>
              <a:rPr lang="en-US" sz="2400" dirty="0"/>
              <a:t>A database management system (DBMS) is a computerized system that </a:t>
            </a:r>
            <a:r>
              <a:rPr lang="en-US" sz="2400" dirty="0" smtClean="0"/>
              <a:t>enables users </a:t>
            </a:r>
            <a:r>
              <a:rPr lang="en-US" sz="2400" dirty="0"/>
              <a:t>to create and maintain a database</a:t>
            </a:r>
            <a:r>
              <a:rPr lang="en-US" sz="2400" dirty="0" smtClean="0"/>
              <a:t>.</a:t>
            </a:r>
          </a:p>
          <a:p>
            <a:endParaRPr lang="en-US" dirty="0" smtClean="0"/>
          </a:p>
        </p:txBody>
      </p:sp>
      <p:pic>
        <p:nvPicPr>
          <p:cNvPr id="2050" name="Picture 2" descr="Differentiate Database system and DBMS. | by Shehan PW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551" y="2688254"/>
            <a:ext cx="5003114" cy="382147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A graphic illustrates the components of a database system. It has four parts, running from left to right with arrowed lines linking each part. On the far left is a picture of humans sitting at computers, labeled users. An arrowed line connects this to a box in the center left, labeled Database application. An arrowed line connects this box to a second box in the center right, labeled Database management system left parenthesis D B M S right parenthesis. Finally, an arrowed line connects this box to a cylinder on the right, labeled Databas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571" y="329527"/>
            <a:ext cx="6627295" cy="197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304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192" y="1359243"/>
            <a:ext cx="9348115" cy="5280454"/>
          </a:xfrm>
        </p:spPr>
        <p:txBody>
          <a:bodyPr>
            <a:normAutofit/>
          </a:bodyPr>
          <a:lstStyle/>
          <a:p>
            <a:r>
              <a:rPr lang="en-US" dirty="0" smtClean="0"/>
              <a:t>DBMS - General-purpose software system </a:t>
            </a:r>
            <a:r>
              <a:rPr lang="en-US" dirty="0"/>
              <a:t>that facilitates the processes </a:t>
            </a:r>
            <a:r>
              <a:rPr lang="en-US" dirty="0" smtClean="0"/>
              <a:t>of: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011935" y="1721923"/>
            <a:ext cx="3227846" cy="227754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</a:t>
            </a:r>
          </a:p>
          <a:p>
            <a:pPr algn="ctr"/>
            <a:r>
              <a:rPr lang="en-US" sz="1600" b="1" u="sng" dirty="0" smtClean="0">
                <a:solidFill>
                  <a:srgbClr val="C00000"/>
                </a:solidFill>
              </a:rPr>
              <a:t>Defining</a:t>
            </a:r>
          </a:p>
          <a:p>
            <a:r>
              <a:rPr lang="en-US" sz="1400" dirty="0"/>
              <a:t>Defining a database involves </a:t>
            </a:r>
            <a:r>
              <a:rPr lang="en-US" sz="1400" dirty="0" smtClean="0"/>
              <a:t>specifying:</a:t>
            </a:r>
            <a:endParaRPr lang="en-US" sz="1400" dirty="0"/>
          </a:p>
          <a:p>
            <a:r>
              <a:rPr lang="en-US" sz="1400" dirty="0"/>
              <a:t>D</a:t>
            </a:r>
            <a:r>
              <a:rPr lang="en-US" sz="1400" dirty="0" smtClean="0"/>
              <a:t>ata </a:t>
            </a:r>
            <a:r>
              <a:rPr lang="en-US" sz="1400" dirty="0"/>
              <a:t>types, </a:t>
            </a:r>
            <a:r>
              <a:rPr lang="en-US" sz="1400" dirty="0" smtClean="0"/>
              <a:t> Structures</a:t>
            </a:r>
            <a:r>
              <a:rPr lang="en-US" sz="1400" dirty="0"/>
              <a:t> </a:t>
            </a:r>
            <a:r>
              <a:rPr lang="en-US" sz="1400" dirty="0" smtClean="0"/>
              <a:t>and Constraints </a:t>
            </a:r>
            <a:r>
              <a:rPr lang="en-US" sz="1400" dirty="0"/>
              <a:t>of the </a:t>
            </a:r>
            <a:r>
              <a:rPr lang="en-US" sz="1400" dirty="0" smtClean="0"/>
              <a:t>data. </a:t>
            </a:r>
          </a:p>
          <a:p>
            <a:endParaRPr lang="en-US" sz="1400" dirty="0"/>
          </a:p>
          <a:p>
            <a:r>
              <a:rPr lang="en-US" sz="1400" b="1" i="1" u="sng" dirty="0"/>
              <a:t>Meta-data</a:t>
            </a:r>
            <a:r>
              <a:rPr lang="en-US" sz="1400" dirty="0"/>
              <a:t> - The database definition stored by the DBMS in the form of a database catalog or dictionary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5100773" y="1721923"/>
            <a:ext cx="3227846" cy="218521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  <a:endParaRPr lang="en-US" sz="1400" dirty="0" smtClean="0"/>
          </a:p>
          <a:p>
            <a:pPr algn="ctr"/>
            <a:r>
              <a:rPr lang="en-US" sz="1600" b="1" u="sng" dirty="0" smtClean="0">
                <a:solidFill>
                  <a:srgbClr val="C00000"/>
                </a:solidFill>
              </a:rPr>
              <a:t>Constructing</a:t>
            </a:r>
          </a:p>
          <a:p>
            <a:pPr algn="ctr"/>
            <a:endParaRPr lang="en-US" sz="1600" b="1" u="sng" dirty="0">
              <a:solidFill>
                <a:srgbClr val="C00000"/>
              </a:solidFill>
            </a:endParaRPr>
          </a:p>
          <a:p>
            <a:r>
              <a:rPr lang="en-US" sz="1400" dirty="0" smtClean="0"/>
              <a:t>Process </a:t>
            </a:r>
            <a:r>
              <a:rPr lang="en-US" sz="1400" dirty="0"/>
              <a:t>of storing the data on some storage medium that is controlled by the </a:t>
            </a:r>
            <a:r>
              <a:rPr lang="en-US" sz="1400" dirty="0" smtClean="0"/>
              <a:t>DBMS.</a:t>
            </a:r>
          </a:p>
          <a:p>
            <a:endParaRPr lang="en-US" sz="1200" dirty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1011935" y="4254514"/>
            <a:ext cx="3227846" cy="224676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endParaRPr lang="en-US" sz="1400" dirty="0" smtClean="0"/>
          </a:p>
          <a:p>
            <a:pPr algn="ctr"/>
            <a:r>
              <a:rPr lang="en-US" sz="1600" b="1" u="sng" dirty="0" smtClean="0">
                <a:solidFill>
                  <a:srgbClr val="C00000"/>
                </a:solidFill>
              </a:rPr>
              <a:t>Manipulating</a:t>
            </a:r>
          </a:p>
          <a:p>
            <a:pPr algn="ctr"/>
            <a:endParaRPr lang="en-US" b="1" u="sng" dirty="0">
              <a:solidFill>
                <a:srgbClr val="C00000"/>
              </a:solidFill>
            </a:endParaRPr>
          </a:p>
          <a:p>
            <a:r>
              <a:rPr lang="en-US" sz="1400" dirty="0" smtClean="0"/>
              <a:t>Includes </a:t>
            </a:r>
            <a:r>
              <a:rPr lang="en-US" sz="1400" dirty="0"/>
              <a:t>functions such as querying the database to retrieve specific data, updating the database and generating reports</a:t>
            </a:r>
            <a:r>
              <a:rPr lang="en-US" sz="1400" dirty="0" smtClean="0"/>
              <a:t>.</a:t>
            </a:r>
          </a:p>
          <a:p>
            <a:endParaRPr lang="en-US" sz="1200" dirty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5100773" y="4269817"/>
            <a:ext cx="3227846" cy="203132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4</a:t>
            </a:r>
          </a:p>
          <a:p>
            <a:pPr algn="ctr"/>
            <a:r>
              <a:rPr lang="en-US" sz="1600" b="1" u="sng" dirty="0" smtClean="0">
                <a:solidFill>
                  <a:srgbClr val="C00000"/>
                </a:solidFill>
              </a:rPr>
              <a:t>Sharing</a:t>
            </a:r>
            <a:endParaRPr lang="en-US" sz="1600" b="1" u="sng" dirty="0">
              <a:solidFill>
                <a:srgbClr val="C00000"/>
              </a:solidFill>
            </a:endParaRPr>
          </a:p>
          <a:p>
            <a:r>
              <a:rPr lang="en-US" sz="1400" dirty="0" smtClean="0"/>
              <a:t>Allows </a:t>
            </a:r>
            <a:r>
              <a:rPr lang="en-US" sz="1400" dirty="0"/>
              <a:t>multiple users and programs to access the database </a:t>
            </a:r>
            <a:r>
              <a:rPr lang="en-US" sz="1400" dirty="0" smtClean="0"/>
              <a:t>simultaneously.</a:t>
            </a:r>
          </a:p>
          <a:p>
            <a:endParaRPr lang="en-US" sz="1400" dirty="0" smtClean="0"/>
          </a:p>
          <a:p>
            <a:r>
              <a:rPr lang="en-US" sz="1400" dirty="0"/>
              <a:t>An application program accesses the database by sending queries or requests for data to the DBMS. </a:t>
            </a:r>
            <a:endParaRPr lang="en-US" sz="1400" dirty="0" smtClean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80006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631" y="1577546"/>
            <a:ext cx="5023250" cy="4518454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smtClean="0"/>
              <a:t>Other </a:t>
            </a:r>
            <a:r>
              <a:rPr lang="en-US" sz="2000" dirty="0"/>
              <a:t>important functions provided by the DBMS include </a:t>
            </a:r>
            <a:r>
              <a:rPr lang="en-US" sz="2000" b="1" dirty="0">
                <a:solidFill>
                  <a:schemeClr val="accent5"/>
                </a:solidFill>
              </a:rPr>
              <a:t>protecting</a:t>
            </a:r>
            <a:r>
              <a:rPr lang="en-US" sz="2000" dirty="0"/>
              <a:t> the </a:t>
            </a:r>
            <a:r>
              <a:rPr lang="en-US" sz="2000" dirty="0" smtClean="0"/>
              <a:t>database and </a:t>
            </a:r>
            <a:r>
              <a:rPr lang="en-US" sz="2000" b="1" dirty="0">
                <a:solidFill>
                  <a:schemeClr val="accent5"/>
                </a:solidFill>
              </a:rPr>
              <a:t>maintaining</a:t>
            </a:r>
            <a:r>
              <a:rPr lang="en-US" sz="2000" dirty="0"/>
              <a:t> it over a long period of time. </a:t>
            </a:r>
            <a:endParaRPr lang="en-US" sz="2000" dirty="0" smtClean="0"/>
          </a:p>
          <a:p>
            <a:pPr lvl="1"/>
            <a:r>
              <a:rPr lang="en-US" sz="1800" dirty="0" smtClean="0"/>
              <a:t>Protection - system protection against software </a:t>
            </a:r>
            <a:r>
              <a:rPr lang="en-US" sz="1800" dirty="0"/>
              <a:t>malfunction (or crashes) and security </a:t>
            </a:r>
            <a:r>
              <a:rPr lang="en-US" sz="1800" dirty="0" smtClean="0"/>
              <a:t>protection against </a:t>
            </a:r>
            <a:r>
              <a:rPr lang="en-US" sz="1800" dirty="0"/>
              <a:t>unauthorized or malicious </a:t>
            </a:r>
            <a:r>
              <a:rPr lang="en-US" sz="1800" dirty="0" smtClean="0"/>
              <a:t>access. (</a:t>
            </a:r>
            <a:r>
              <a:rPr lang="en-US" sz="1800" dirty="0"/>
              <a:t>ACID Durability, RBAC (Role-Based Access Control</a:t>
            </a:r>
            <a:r>
              <a:rPr lang="en-US" sz="1800" dirty="0" smtClean="0"/>
              <a:t>)</a:t>
            </a:r>
            <a:endParaRPr lang="en-US" sz="1800" dirty="0" smtClean="0"/>
          </a:p>
          <a:p>
            <a:pPr lvl="1"/>
            <a:r>
              <a:rPr lang="en-US" sz="1800" dirty="0" smtClean="0"/>
              <a:t>Maintenance - A </a:t>
            </a:r>
            <a:r>
              <a:rPr lang="en-US" sz="1800" dirty="0"/>
              <a:t>typical large database may have a </a:t>
            </a:r>
            <a:r>
              <a:rPr lang="en-US" sz="1800" dirty="0" smtClean="0"/>
              <a:t>life cycle </a:t>
            </a:r>
            <a:r>
              <a:rPr lang="en-US" sz="1800" dirty="0"/>
              <a:t>of many years, so the DBMS must be able to maintain the database system </a:t>
            </a:r>
            <a:r>
              <a:rPr lang="en-US" sz="1800" dirty="0" smtClean="0"/>
              <a:t>by allowing </a:t>
            </a:r>
            <a:r>
              <a:rPr lang="en-US" sz="1800" dirty="0"/>
              <a:t>the system to evolve as requirements change over time</a:t>
            </a:r>
            <a:r>
              <a:rPr lang="en-US" sz="1800" dirty="0" smtClean="0"/>
              <a:t>. (</a:t>
            </a:r>
            <a:r>
              <a:rPr lang="en-US" sz="1800" dirty="0"/>
              <a:t>Logical </a:t>
            </a:r>
            <a:r>
              <a:rPr lang="en-US" sz="1800" dirty="0" smtClean="0"/>
              <a:t>and Physical Data Independence)</a:t>
            </a:r>
            <a:endParaRPr lang="en-US" sz="1800" dirty="0" smtClean="0"/>
          </a:p>
        </p:txBody>
      </p:sp>
      <p:pic>
        <p:nvPicPr>
          <p:cNvPr id="10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725" y="1025611"/>
            <a:ext cx="6333831" cy="4732638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068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Functions of a D</a:t>
            </a:r>
            <a:r>
              <a:rPr lang="en-US" altLang="en-US" sz="100"/>
              <a:t> </a:t>
            </a:r>
            <a:r>
              <a:rPr lang="en-US" altLang="en-US" smtClean="0"/>
              <a:t>B</a:t>
            </a:r>
            <a:r>
              <a:rPr lang="en-US" altLang="en-US" sz="100"/>
              <a:t> </a:t>
            </a:r>
            <a:r>
              <a:rPr lang="en-US" altLang="en-US" smtClean="0"/>
              <a:t>M</a:t>
            </a:r>
            <a:r>
              <a:rPr lang="en-US" altLang="en-US" sz="100"/>
              <a:t> </a:t>
            </a:r>
            <a:r>
              <a:rPr lang="en-US" altLang="en-US" smtClean="0"/>
              <a:t>S</a:t>
            </a:r>
            <a:endParaRPr lang="en-IN" altLang="en-US" smtClean="0"/>
          </a:p>
        </p:txBody>
      </p:sp>
      <p:sp>
        <p:nvSpPr>
          <p:cNvPr id="27651" name="Text Placeholder 2"/>
          <p:cNvSpPr>
            <a:spLocks noGrp="1" noChangeArrowheads="1"/>
          </p:cNvSpPr>
          <p:nvPr>
            <p:ph idx="1"/>
          </p:nvPr>
        </p:nvSpPr>
        <p:spPr>
          <a:xfrm>
            <a:off x="934994" y="1451920"/>
            <a:ext cx="8229600" cy="475297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IN" altLang="en-US" sz="2000" dirty="0"/>
              <a:t>Create database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Create tables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Create supporting structures (e.g., indexes)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Read database data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Modify (insert, update, or delete) database data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Maintain database structures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Enforce rules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Control concurrency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Provide security</a:t>
            </a:r>
          </a:p>
          <a:p>
            <a:pPr>
              <a:spcBef>
                <a:spcPts val="1200"/>
              </a:spcBef>
            </a:pPr>
            <a:r>
              <a:rPr lang="en-IN" altLang="en-US" sz="2000" dirty="0"/>
              <a:t>Perform backup and recovery</a:t>
            </a:r>
          </a:p>
        </p:txBody>
      </p:sp>
    </p:spTree>
    <p:extLst>
      <p:ext uri="{BB962C8B-B14F-4D97-AF65-F5344CB8AC3E}">
        <p14:creationId xmlns:p14="http://schemas.microsoft.com/office/powerpoint/2010/main" val="1103222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33385"/>
            <a:ext cx="8596668" cy="4607978"/>
          </a:xfrm>
        </p:spPr>
        <p:txBody>
          <a:bodyPr>
            <a:noAutofit/>
          </a:bodyPr>
          <a:lstStyle/>
          <a:p>
            <a:r>
              <a:rPr lang="en-US" sz="2000" dirty="0"/>
              <a:t>T</a:t>
            </a:r>
            <a:r>
              <a:rPr lang="en-US" sz="2000" dirty="0" smtClean="0"/>
              <a:t>raditional </a:t>
            </a:r>
            <a:r>
              <a:rPr lang="en-US" sz="2000" dirty="0"/>
              <a:t>file </a:t>
            </a:r>
            <a:r>
              <a:rPr lang="en-US" sz="2000" dirty="0" smtClean="0"/>
              <a:t>processing -  </a:t>
            </a:r>
            <a:r>
              <a:rPr lang="en-US" sz="2000" dirty="0"/>
              <a:t>each user defines and implements the files needed for </a:t>
            </a:r>
            <a:r>
              <a:rPr lang="en-US" sz="2000" dirty="0" smtClean="0"/>
              <a:t>a specific </a:t>
            </a:r>
            <a:r>
              <a:rPr lang="en-US" sz="2000" dirty="0"/>
              <a:t>software application as part of programming the application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Both users are interested in data about students but each user maintains separate files.</a:t>
            </a:r>
          </a:p>
          <a:p>
            <a:r>
              <a:rPr lang="en-US" sz="2000" dirty="0" smtClean="0"/>
              <a:t>This </a:t>
            </a:r>
            <a:r>
              <a:rPr lang="en-US" sz="2000" b="1" dirty="0">
                <a:solidFill>
                  <a:srgbClr val="FF0000"/>
                </a:solidFill>
              </a:rPr>
              <a:t>redundancy</a:t>
            </a:r>
            <a:r>
              <a:rPr lang="en-US" sz="2000" dirty="0"/>
              <a:t> in defining and storing data results in wasted storage </a:t>
            </a:r>
            <a:r>
              <a:rPr lang="en-US" sz="2000" dirty="0" smtClean="0"/>
              <a:t>space.</a:t>
            </a:r>
          </a:p>
        </p:txBody>
      </p:sp>
      <p:pic>
        <p:nvPicPr>
          <p:cNvPr id="3074" name="Picture 2" descr="App, interface, man, person, user icon - Download on Iconfin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701" y="2472864"/>
            <a:ext cx="886938" cy="88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85786" y="3381799"/>
            <a:ext cx="2866768" cy="104644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smtClean="0">
                <a:solidFill>
                  <a:srgbClr val="FF0000"/>
                </a:solidFill>
              </a:rPr>
              <a:t>USER 1</a:t>
            </a:r>
          </a:p>
          <a:p>
            <a:pPr algn="ctr"/>
            <a:r>
              <a:rPr lang="en-US" sz="1600" b="1" u="sng" dirty="0" smtClean="0"/>
              <a:t>Grade </a:t>
            </a:r>
            <a:r>
              <a:rPr lang="en-US" sz="1600" b="1" u="sng" dirty="0"/>
              <a:t>reporting </a:t>
            </a:r>
            <a:r>
              <a:rPr lang="en-US" sz="1600" b="1" u="sng" dirty="0" smtClean="0"/>
              <a:t>office</a:t>
            </a:r>
          </a:p>
          <a:p>
            <a:pPr algn="ctr"/>
            <a:r>
              <a:rPr lang="en-US" sz="1600" dirty="0" smtClean="0"/>
              <a:t>Keep </a:t>
            </a:r>
            <a:r>
              <a:rPr lang="en-US" sz="1600" dirty="0"/>
              <a:t>files on students and their grades</a:t>
            </a:r>
          </a:p>
        </p:txBody>
      </p:sp>
      <p:pic>
        <p:nvPicPr>
          <p:cNvPr id="6" name="Picture 2" descr="App, interface, man, person, user icon - Download on Iconfin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978" y="2449648"/>
            <a:ext cx="886938" cy="88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161006" y="3359803"/>
            <a:ext cx="2994453" cy="104644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smtClean="0">
                <a:solidFill>
                  <a:srgbClr val="FF0000"/>
                </a:solidFill>
              </a:rPr>
              <a:t>USER 2</a:t>
            </a:r>
          </a:p>
          <a:p>
            <a:pPr algn="ctr"/>
            <a:r>
              <a:rPr lang="en-US" sz="1600" b="1" u="sng" dirty="0" smtClean="0"/>
              <a:t>Accounting office</a:t>
            </a:r>
          </a:p>
          <a:p>
            <a:pPr algn="ctr"/>
            <a:r>
              <a:rPr lang="en-US" sz="1600" dirty="0" smtClean="0"/>
              <a:t>Keep </a:t>
            </a:r>
            <a:r>
              <a:rPr lang="en-US" sz="1600" dirty="0"/>
              <a:t>track of students’ fees and their payments</a:t>
            </a:r>
          </a:p>
        </p:txBody>
      </p:sp>
    </p:spTree>
    <p:extLst>
      <p:ext uri="{BB962C8B-B14F-4D97-AF65-F5344CB8AC3E}">
        <p14:creationId xmlns:p14="http://schemas.microsoft.com/office/powerpoint/2010/main" val="358103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33384"/>
            <a:ext cx="8596668" cy="476146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the database approach, a single repository maintains data that is defined </a:t>
            </a:r>
            <a:r>
              <a:rPr lang="en-US" sz="2400" dirty="0" smtClean="0"/>
              <a:t>once and </a:t>
            </a:r>
            <a:r>
              <a:rPr lang="en-US" sz="2400" dirty="0"/>
              <a:t>then accessed by various users repeatedly through queries, transactions, </a:t>
            </a:r>
            <a:r>
              <a:rPr lang="en-US" sz="2400" dirty="0" smtClean="0"/>
              <a:t>and application </a:t>
            </a:r>
            <a:r>
              <a:rPr lang="en-US" sz="2400" dirty="0"/>
              <a:t>programs.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main characteristics of the database approach versus </a:t>
            </a:r>
            <a:r>
              <a:rPr lang="en-US" sz="2400" dirty="0" smtClean="0"/>
              <a:t>the file-processing </a:t>
            </a:r>
            <a:r>
              <a:rPr lang="en-US" sz="2400" dirty="0"/>
              <a:t>approach are the following: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000" b="1" u="sng" dirty="0" smtClean="0"/>
              <a:t>Self-describing </a:t>
            </a:r>
            <a:r>
              <a:rPr lang="en-US" sz="2000" b="1" u="sng" dirty="0"/>
              <a:t>nature of a database system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000" b="1" u="sng" dirty="0" smtClean="0"/>
              <a:t>Insulation </a:t>
            </a:r>
            <a:r>
              <a:rPr lang="en-US" sz="2000" b="1" u="sng" dirty="0"/>
              <a:t>between programs and data, and data abstraction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000" b="1" u="sng" dirty="0" smtClean="0"/>
              <a:t>Support </a:t>
            </a:r>
            <a:r>
              <a:rPr lang="en-US" sz="2000" b="1" u="sng" dirty="0"/>
              <a:t>of multiple views of the data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000" b="1" u="sng" dirty="0" smtClean="0"/>
              <a:t>Sharing </a:t>
            </a:r>
            <a:r>
              <a:rPr lang="en-US" sz="2000" b="1" u="sng" dirty="0"/>
              <a:t>of data and multiuser transaction processing</a:t>
            </a:r>
          </a:p>
        </p:txBody>
      </p:sp>
    </p:spTree>
    <p:extLst>
      <p:ext uri="{BB962C8B-B14F-4D97-AF65-F5344CB8AC3E}">
        <p14:creationId xmlns:p14="http://schemas.microsoft.com/office/powerpoint/2010/main" val="184860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07" y="1375720"/>
            <a:ext cx="6020028" cy="5115695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Self-Describing Nature of a Database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System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 database system contains </a:t>
            </a:r>
            <a:r>
              <a:rPr lang="en-US" dirty="0">
                <a:solidFill>
                  <a:schemeClr val="tx1"/>
                </a:solidFill>
              </a:rPr>
              <a:t>not only the database itself but also a </a:t>
            </a:r>
            <a:r>
              <a:rPr lang="en-US" b="1" dirty="0">
                <a:solidFill>
                  <a:schemeClr val="accent5"/>
                </a:solidFill>
              </a:rPr>
              <a:t>complete </a:t>
            </a:r>
            <a:r>
              <a:rPr lang="en-US" b="1" dirty="0" smtClean="0">
                <a:solidFill>
                  <a:schemeClr val="accent5"/>
                </a:solidFill>
              </a:rPr>
              <a:t>definition of the </a:t>
            </a:r>
            <a:r>
              <a:rPr lang="en-US" b="1" dirty="0">
                <a:solidFill>
                  <a:schemeClr val="accent5"/>
                </a:solidFill>
              </a:rPr>
              <a:t>database structure and constraints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</a:t>
            </a:r>
            <a:r>
              <a:rPr lang="en-US" dirty="0" smtClean="0">
                <a:solidFill>
                  <a:schemeClr val="tx1"/>
                </a:solidFill>
              </a:rPr>
              <a:t>efinition </a:t>
            </a:r>
            <a:r>
              <a:rPr lang="en-US" dirty="0">
                <a:solidFill>
                  <a:schemeClr val="tx1"/>
                </a:solidFill>
              </a:rPr>
              <a:t>stored in the DBMS </a:t>
            </a:r>
            <a:r>
              <a:rPr lang="en-US" dirty="0" smtClean="0">
                <a:solidFill>
                  <a:schemeClr val="tx1"/>
                </a:solidFill>
              </a:rPr>
              <a:t>catalog contains </a:t>
            </a:r>
            <a:r>
              <a:rPr lang="en-US" dirty="0">
                <a:solidFill>
                  <a:schemeClr val="tx1"/>
                </a:solidFill>
              </a:rPr>
              <a:t>information such </a:t>
            </a:r>
            <a:r>
              <a:rPr lang="en-US" dirty="0" smtClean="0">
                <a:solidFill>
                  <a:schemeClr val="tx1"/>
                </a:solidFill>
              </a:rPr>
              <a:t>as: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the structure </a:t>
            </a:r>
            <a:r>
              <a:rPr lang="en-US" dirty="0">
                <a:solidFill>
                  <a:schemeClr val="tx1"/>
                </a:solidFill>
              </a:rPr>
              <a:t>of each file,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type and </a:t>
            </a:r>
            <a:r>
              <a:rPr lang="en-US" dirty="0" smtClean="0">
                <a:solidFill>
                  <a:schemeClr val="tx1"/>
                </a:solidFill>
              </a:rPr>
              <a:t>storage format </a:t>
            </a:r>
            <a:r>
              <a:rPr lang="en-US" dirty="0">
                <a:solidFill>
                  <a:schemeClr val="tx1"/>
                </a:solidFill>
              </a:rPr>
              <a:t>of each data item,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and various </a:t>
            </a:r>
            <a:r>
              <a:rPr lang="en-US" dirty="0">
                <a:solidFill>
                  <a:schemeClr val="tx1"/>
                </a:solidFill>
              </a:rPr>
              <a:t>constraints on the </a:t>
            </a:r>
            <a:r>
              <a:rPr lang="en-US" dirty="0" smtClean="0">
                <a:solidFill>
                  <a:schemeClr val="tx1"/>
                </a:solidFill>
              </a:rPr>
              <a:t>data.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information stored in the catalog is called </a:t>
            </a:r>
            <a:r>
              <a:rPr lang="en-US" b="1" dirty="0" smtClean="0">
                <a:solidFill>
                  <a:schemeClr val="accent5"/>
                </a:solidFill>
              </a:rPr>
              <a:t>meta-data.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Whenever a request </a:t>
            </a:r>
            <a:r>
              <a:rPr lang="en-US" dirty="0">
                <a:solidFill>
                  <a:schemeClr val="tx1"/>
                </a:solidFill>
              </a:rPr>
              <a:t>is made to access, say, the Name of a STUDENT record,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DBMS </a:t>
            </a:r>
            <a:r>
              <a:rPr lang="en-US" dirty="0" smtClean="0">
                <a:solidFill>
                  <a:schemeClr val="tx1"/>
                </a:solidFill>
              </a:rPr>
              <a:t>software refers </a:t>
            </a:r>
            <a:r>
              <a:rPr lang="en-US" dirty="0">
                <a:solidFill>
                  <a:schemeClr val="tx1"/>
                </a:solidFill>
              </a:rPr>
              <a:t>to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catalog to determine the structure of the STUDENT </a:t>
            </a:r>
            <a:r>
              <a:rPr lang="en-US" dirty="0" smtClean="0">
                <a:solidFill>
                  <a:schemeClr val="tx1"/>
                </a:solidFill>
              </a:rPr>
              <a:t>file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and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smtClean="0">
                <a:solidFill>
                  <a:schemeClr val="tx1"/>
                </a:solidFill>
              </a:rPr>
              <a:t>position and </a:t>
            </a:r>
            <a:r>
              <a:rPr lang="en-US" dirty="0">
                <a:solidFill>
                  <a:schemeClr val="tx1"/>
                </a:solidFill>
              </a:rPr>
              <a:t>size of the Name data item within a STUDENT record.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25" y="1560700"/>
            <a:ext cx="5237353" cy="4312878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7680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781" y="1186251"/>
            <a:ext cx="9710579" cy="412715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Insulation between programs and data, and data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abstraction</a:t>
            </a:r>
          </a:p>
          <a:p>
            <a:r>
              <a:rPr lang="en-US" b="1" u="sng" dirty="0">
                <a:solidFill>
                  <a:schemeClr val="tx1"/>
                </a:solidFill>
              </a:rPr>
              <a:t>Data abstraction </a:t>
            </a:r>
            <a:r>
              <a:rPr lang="en-US" dirty="0">
                <a:solidFill>
                  <a:schemeClr val="tx1"/>
                </a:solidFill>
              </a:rPr>
              <a:t>- The characteristic that allows program-data independence.</a:t>
            </a:r>
          </a:p>
          <a:p>
            <a:r>
              <a:rPr lang="en-US" dirty="0">
                <a:solidFill>
                  <a:schemeClr val="tx1"/>
                </a:solidFill>
              </a:rPr>
              <a:t>A DBMS provides users with a conceptual representation of data that does not include many of the details of how the data is stored or how the operations are implemented. </a:t>
            </a:r>
          </a:p>
          <a:p>
            <a:r>
              <a:rPr lang="en-US" b="1" dirty="0">
                <a:solidFill>
                  <a:schemeClr val="accent5"/>
                </a:solidFill>
              </a:rPr>
              <a:t>Data model - </a:t>
            </a:r>
            <a:r>
              <a:rPr lang="en-US" dirty="0">
                <a:solidFill>
                  <a:schemeClr val="tx1"/>
                </a:solidFill>
              </a:rPr>
              <a:t>a type of data abstraction that is used to provide this conceptual representation and hides storage and implementation details.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16820"/>
              </p:ext>
            </p:extLst>
          </p:nvPr>
        </p:nvGraphicFramePr>
        <p:xfrm>
          <a:off x="866805" y="3405199"/>
          <a:ext cx="8998466" cy="3152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9233"/>
                <a:gridCol w="4499233"/>
              </a:tblGrid>
              <a:tr h="490628">
                <a:tc>
                  <a:txBody>
                    <a:bodyPr/>
                    <a:lstStyle/>
                    <a:p>
                      <a:r>
                        <a:rPr lang="en-US" dirty="0" smtClean="0"/>
                        <a:t>Traditional File Processing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DBMS</a:t>
                      </a:r>
                      <a:endParaRPr lang="en-US" dirty="0"/>
                    </a:p>
                  </a:txBody>
                  <a:tcPr/>
                </a:tc>
              </a:tr>
              <a:tr h="26614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smtClean="0"/>
                        <a:t>The structure of data files is embedded in the application programs, so any changes to the structure of a file may require changing all programs that access that file.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DBMS access programs do not require such changes in most cases. The structure of data files is stored in the DBMS catalog separately from the access programs known as </a:t>
                      </a:r>
                      <a:r>
                        <a:rPr lang="en-US" b="1" dirty="0" smtClean="0">
                          <a:solidFill>
                            <a:schemeClr val="accent5"/>
                          </a:solidFill>
                        </a:rPr>
                        <a:t>program-data independence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684" y="1383959"/>
            <a:ext cx="9386100" cy="412715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Insulation between programs and data, and data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abstraction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For </a:t>
            </a:r>
            <a:r>
              <a:rPr lang="en-US" sz="2000" dirty="0">
                <a:solidFill>
                  <a:schemeClr val="tx1"/>
                </a:solidFill>
              </a:rPr>
              <a:t>example, a file access program may be written in such a way that it can </a:t>
            </a:r>
            <a:r>
              <a:rPr lang="en-US" sz="2000" dirty="0" smtClean="0">
                <a:solidFill>
                  <a:schemeClr val="tx1"/>
                </a:solidFill>
              </a:rPr>
              <a:t>access only </a:t>
            </a:r>
            <a:r>
              <a:rPr lang="en-US" sz="2000" dirty="0">
                <a:solidFill>
                  <a:schemeClr val="tx1"/>
                </a:solidFill>
              </a:rPr>
              <a:t>STUDENT records of the structure </a:t>
            </a:r>
            <a:r>
              <a:rPr lang="en-US" sz="2000" dirty="0" smtClean="0">
                <a:solidFill>
                  <a:schemeClr val="tx1"/>
                </a:solidFill>
              </a:rPr>
              <a:t>shown.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If </a:t>
            </a:r>
            <a:r>
              <a:rPr lang="en-US" sz="2000" dirty="0">
                <a:solidFill>
                  <a:schemeClr val="tx1"/>
                </a:solidFill>
              </a:rPr>
              <a:t>we want to </a:t>
            </a:r>
            <a:r>
              <a:rPr lang="en-US" sz="2000" dirty="0" smtClean="0">
                <a:solidFill>
                  <a:schemeClr val="tx1"/>
                </a:solidFill>
              </a:rPr>
              <a:t>add another </a:t>
            </a:r>
            <a:r>
              <a:rPr lang="en-US" sz="2000" dirty="0">
                <a:solidFill>
                  <a:schemeClr val="tx1"/>
                </a:solidFill>
              </a:rPr>
              <a:t>piece of data to each STUDENT record, say the </a:t>
            </a:r>
            <a:r>
              <a:rPr lang="en-US" sz="2000" dirty="0" err="1">
                <a:solidFill>
                  <a:schemeClr val="tx1"/>
                </a:solidFill>
              </a:rPr>
              <a:t>Birth_date</a:t>
            </a:r>
            <a:r>
              <a:rPr lang="en-US" sz="2000" dirty="0">
                <a:solidFill>
                  <a:schemeClr val="tx1"/>
                </a:solidFill>
              </a:rPr>
              <a:t>, such a </a:t>
            </a:r>
            <a:r>
              <a:rPr lang="en-US" sz="2000" dirty="0" smtClean="0">
                <a:solidFill>
                  <a:schemeClr val="tx1"/>
                </a:solidFill>
              </a:rPr>
              <a:t>program will </a:t>
            </a:r>
            <a:r>
              <a:rPr lang="en-US" sz="2000" dirty="0">
                <a:solidFill>
                  <a:schemeClr val="tx1"/>
                </a:solidFill>
              </a:rPr>
              <a:t>no longer work and must be changed. 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I</a:t>
            </a:r>
            <a:r>
              <a:rPr lang="en-US" sz="2000" dirty="0" smtClean="0">
                <a:solidFill>
                  <a:schemeClr val="tx1"/>
                </a:solidFill>
              </a:rPr>
              <a:t>n </a:t>
            </a:r>
            <a:r>
              <a:rPr lang="en-US" sz="2000" dirty="0">
                <a:solidFill>
                  <a:schemeClr val="tx1"/>
                </a:solidFill>
              </a:rPr>
              <a:t>a DBMS environment, </a:t>
            </a:r>
            <a:r>
              <a:rPr lang="en-US" sz="2000" dirty="0" smtClean="0">
                <a:solidFill>
                  <a:schemeClr val="tx1"/>
                </a:solidFill>
              </a:rPr>
              <a:t>we only </a:t>
            </a:r>
            <a:r>
              <a:rPr lang="en-US" sz="2000" dirty="0">
                <a:solidFill>
                  <a:schemeClr val="tx1"/>
                </a:solidFill>
              </a:rPr>
              <a:t>need to change the description of STUDENT records in the catalog </a:t>
            </a:r>
            <a:r>
              <a:rPr lang="en-US" sz="2000" dirty="0" smtClean="0">
                <a:solidFill>
                  <a:schemeClr val="tx1"/>
                </a:solidFill>
              </a:rPr>
              <a:t>to show the </a:t>
            </a:r>
            <a:r>
              <a:rPr lang="en-US" sz="2000" dirty="0">
                <a:solidFill>
                  <a:schemeClr val="tx1"/>
                </a:solidFill>
              </a:rPr>
              <a:t>new data item </a:t>
            </a:r>
            <a:r>
              <a:rPr lang="en-US" sz="2000" dirty="0" err="1">
                <a:solidFill>
                  <a:schemeClr val="tx1"/>
                </a:solidFill>
              </a:rPr>
              <a:t>Birth_date</a:t>
            </a:r>
            <a:r>
              <a:rPr lang="en-US" sz="2000" dirty="0">
                <a:solidFill>
                  <a:schemeClr val="tx1"/>
                </a:solidFill>
              </a:rPr>
              <a:t>; no programs are changed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26" y="4423718"/>
            <a:ext cx="10838938" cy="214183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96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728" y="1493013"/>
            <a:ext cx="6143597" cy="4607978"/>
          </a:xfrm>
        </p:spPr>
        <p:txBody>
          <a:bodyPr>
            <a:normAutofit lnSpcReduction="10000"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Support of Multiple Views of the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  <a:p>
            <a:r>
              <a:rPr lang="en-US" b="1" dirty="0" smtClean="0">
                <a:solidFill>
                  <a:schemeClr val="accent5"/>
                </a:solidFill>
              </a:rPr>
              <a:t>View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- a </a:t>
            </a:r>
            <a:r>
              <a:rPr lang="en-US" dirty="0">
                <a:solidFill>
                  <a:schemeClr val="tx1"/>
                </a:solidFill>
              </a:rPr>
              <a:t>subset of the database or it </a:t>
            </a:r>
            <a:r>
              <a:rPr lang="en-US" dirty="0" smtClean="0">
                <a:solidFill>
                  <a:schemeClr val="tx1"/>
                </a:solidFill>
              </a:rPr>
              <a:t>may contain </a:t>
            </a:r>
            <a:r>
              <a:rPr lang="en-US" dirty="0">
                <a:solidFill>
                  <a:schemeClr val="tx1"/>
                </a:solidFill>
              </a:rPr>
              <a:t>virtual data that is derived from the database files but is not explicitly </a:t>
            </a:r>
            <a:r>
              <a:rPr lang="en-US" dirty="0" smtClean="0">
                <a:solidFill>
                  <a:schemeClr val="tx1"/>
                </a:solidFill>
              </a:rPr>
              <a:t>stored.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chemeClr val="tx1"/>
                </a:solidFill>
              </a:rPr>
              <a:t>multiuser DBMS whose users have a variety of distinct applications </a:t>
            </a:r>
            <a:r>
              <a:rPr lang="en-US" dirty="0" smtClean="0">
                <a:solidFill>
                  <a:schemeClr val="tx1"/>
                </a:solidFill>
              </a:rPr>
              <a:t>must provide </a:t>
            </a:r>
            <a:r>
              <a:rPr lang="en-US" dirty="0">
                <a:solidFill>
                  <a:schemeClr val="tx1"/>
                </a:solidFill>
              </a:rPr>
              <a:t>facilities for defining multiple views.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For example: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</a:t>
            </a:r>
            <a:r>
              <a:rPr lang="en-US" dirty="0" smtClean="0">
                <a:solidFill>
                  <a:schemeClr val="tx1"/>
                </a:solidFill>
              </a:rPr>
              <a:t>ne </a:t>
            </a:r>
            <a:r>
              <a:rPr lang="en-US" dirty="0">
                <a:solidFill>
                  <a:schemeClr val="tx1"/>
                </a:solidFill>
              </a:rPr>
              <a:t>user of the </a:t>
            </a:r>
            <a:r>
              <a:rPr lang="en-US" dirty="0" smtClean="0">
                <a:solidFill>
                  <a:schemeClr val="tx1"/>
                </a:solidFill>
              </a:rPr>
              <a:t>database may </a:t>
            </a:r>
            <a:r>
              <a:rPr lang="en-US" dirty="0">
                <a:solidFill>
                  <a:schemeClr val="tx1"/>
                </a:solidFill>
              </a:rPr>
              <a:t>be interested only in accessing and printing the transcript of </a:t>
            </a:r>
            <a:r>
              <a:rPr lang="en-US" dirty="0" smtClean="0">
                <a:solidFill>
                  <a:schemeClr val="tx1"/>
                </a:solidFill>
              </a:rPr>
              <a:t>each student</a:t>
            </a:r>
            <a:r>
              <a:rPr lang="en-US" dirty="0">
                <a:solidFill>
                  <a:schemeClr val="tx1"/>
                </a:solidFill>
              </a:rPr>
              <a:t>; the view for this user is shown in Figure 1.5(a).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chemeClr val="tx1"/>
                </a:solidFill>
              </a:rPr>
              <a:t>second user, who is </a:t>
            </a:r>
            <a:r>
              <a:rPr lang="en-US" dirty="0" smtClean="0">
                <a:solidFill>
                  <a:schemeClr val="tx1"/>
                </a:solidFill>
              </a:rPr>
              <a:t>interested only </a:t>
            </a:r>
            <a:r>
              <a:rPr lang="en-US" dirty="0">
                <a:solidFill>
                  <a:schemeClr val="tx1"/>
                </a:solidFill>
              </a:rPr>
              <a:t>in checking that students have taken all the prerequisites of each </a:t>
            </a:r>
            <a:r>
              <a:rPr lang="en-US" dirty="0" smtClean="0">
                <a:solidFill>
                  <a:schemeClr val="tx1"/>
                </a:solidFill>
              </a:rPr>
              <a:t>course for </a:t>
            </a:r>
            <a:r>
              <a:rPr lang="en-US" dirty="0">
                <a:solidFill>
                  <a:schemeClr val="tx1"/>
                </a:solidFill>
              </a:rPr>
              <a:t>which the student registers, may require the view shown in Figure </a:t>
            </a:r>
            <a:r>
              <a:rPr lang="en-US" dirty="0" smtClean="0">
                <a:solidFill>
                  <a:schemeClr val="tx1"/>
                </a:solidFill>
              </a:rPr>
              <a:t>1.5(b).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703" y="1695816"/>
            <a:ext cx="5434786" cy="39677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262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Database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06" y="1375721"/>
            <a:ext cx="9941240" cy="4607978"/>
          </a:xfrm>
        </p:spPr>
        <p:txBody>
          <a:bodyPr>
            <a:normAutofit lnSpcReduction="10000"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Sharing of Data and Multiuser Transaction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Processing</a:t>
            </a:r>
          </a:p>
          <a:p>
            <a:r>
              <a:rPr lang="en-US" dirty="0">
                <a:solidFill>
                  <a:schemeClr val="tx1"/>
                </a:solidFill>
              </a:rPr>
              <a:t>A multiuser </a:t>
            </a:r>
            <a:r>
              <a:rPr lang="en-US" dirty="0" smtClean="0">
                <a:solidFill>
                  <a:schemeClr val="tx1"/>
                </a:solidFill>
              </a:rPr>
              <a:t>DBMS, </a:t>
            </a:r>
            <a:r>
              <a:rPr lang="en-US" dirty="0">
                <a:solidFill>
                  <a:schemeClr val="tx1"/>
                </a:solidFill>
              </a:rPr>
              <a:t>must allow multiple users to access </a:t>
            </a:r>
            <a:r>
              <a:rPr lang="en-US" dirty="0" smtClean="0">
                <a:solidFill>
                  <a:schemeClr val="tx1"/>
                </a:solidFill>
              </a:rPr>
              <a:t>the database </a:t>
            </a:r>
            <a:r>
              <a:rPr lang="en-US" dirty="0">
                <a:solidFill>
                  <a:schemeClr val="tx1"/>
                </a:solidFill>
              </a:rPr>
              <a:t>at the same time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The DBMS must include </a:t>
            </a:r>
            <a:r>
              <a:rPr lang="en-US" b="1" dirty="0" smtClean="0">
                <a:solidFill>
                  <a:srgbClr val="C00000"/>
                </a:solidFill>
              </a:rPr>
              <a:t>concurrency control </a:t>
            </a:r>
            <a:r>
              <a:rPr lang="en-US" b="1" dirty="0">
                <a:solidFill>
                  <a:srgbClr val="C00000"/>
                </a:solidFill>
              </a:rPr>
              <a:t>software </a:t>
            </a:r>
            <a:r>
              <a:rPr lang="en-US" dirty="0">
                <a:solidFill>
                  <a:schemeClr val="tx1"/>
                </a:solidFill>
              </a:rPr>
              <a:t>to ensure that several users trying to update the same data do so in a controlled manner so that the result of the updates is correct.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For example, when </a:t>
            </a:r>
            <a:r>
              <a:rPr lang="en-US" dirty="0">
                <a:solidFill>
                  <a:schemeClr val="tx1"/>
                </a:solidFill>
              </a:rPr>
              <a:t>several reservation agents try to assign a seat on an airline flight, </a:t>
            </a:r>
            <a:r>
              <a:rPr lang="en-US" dirty="0" smtClean="0">
                <a:solidFill>
                  <a:schemeClr val="tx1"/>
                </a:solidFill>
              </a:rPr>
              <a:t>the DBMS </a:t>
            </a:r>
            <a:r>
              <a:rPr lang="en-US" dirty="0">
                <a:solidFill>
                  <a:schemeClr val="tx1"/>
                </a:solidFill>
              </a:rPr>
              <a:t>should ensure that each seat can be accessed by only one agent at a time </a:t>
            </a:r>
            <a:r>
              <a:rPr lang="en-US" dirty="0" smtClean="0">
                <a:solidFill>
                  <a:schemeClr val="tx1"/>
                </a:solidFill>
              </a:rPr>
              <a:t>for assignment </a:t>
            </a:r>
            <a:r>
              <a:rPr lang="en-US" dirty="0">
                <a:solidFill>
                  <a:schemeClr val="tx1"/>
                </a:solidFill>
              </a:rPr>
              <a:t>to a passenger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u="sng" dirty="0" smtClean="0">
                <a:solidFill>
                  <a:schemeClr val="tx1"/>
                </a:solidFill>
              </a:rPr>
              <a:t>Transaction</a:t>
            </a:r>
            <a:r>
              <a:rPr lang="en-US" dirty="0" smtClean="0">
                <a:solidFill>
                  <a:schemeClr val="tx1"/>
                </a:solidFill>
              </a:rPr>
              <a:t> - An </a:t>
            </a:r>
            <a:r>
              <a:rPr lang="en-US" dirty="0">
                <a:solidFill>
                  <a:schemeClr val="tx1"/>
                </a:solidFill>
              </a:rPr>
              <a:t>executing program or process that includes one or more </a:t>
            </a:r>
            <a:r>
              <a:rPr lang="en-US" dirty="0" smtClean="0">
                <a:solidFill>
                  <a:schemeClr val="tx1"/>
                </a:solidFill>
              </a:rPr>
              <a:t>database accesses</a:t>
            </a:r>
            <a:r>
              <a:rPr lang="en-US" dirty="0">
                <a:solidFill>
                  <a:schemeClr val="tx1"/>
                </a:solidFill>
              </a:rPr>
              <a:t>, such as reading or updating of database records.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DBMS must enforce </a:t>
            </a:r>
            <a:r>
              <a:rPr lang="en-US" dirty="0" smtClean="0">
                <a:solidFill>
                  <a:schemeClr val="tx1"/>
                </a:solidFill>
              </a:rPr>
              <a:t>several transaction </a:t>
            </a:r>
            <a:r>
              <a:rPr lang="en-US" dirty="0">
                <a:solidFill>
                  <a:schemeClr val="tx1"/>
                </a:solidFill>
              </a:rPr>
              <a:t>properties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accent5"/>
                </a:solidFill>
              </a:rPr>
              <a:t>Isolation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- ensures </a:t>
            </a:r>
            <a:r>
              <a:rPr lang="en-US" dirty="0">
                <a:solidFill>
                  <a:schemeClr val="tx1"/>
                </a:solidFill>
              </a:rPr>
              <a:t>that each </a:t>
            </a:r>
            <a:r>
              <a:rPr lang="en-US" dirty="0" smtClean="0">
                <a:solidFill>
                  <a:schemeClr val="tx1"/>
                </a:solidFill>
              </a:rPr>
              <a:t>transaction appears </a:t>
            </a:r>
            <a:r>
              <a:rPr lang="en-US" dirty="0">
                <a:solidFill>
                  <a:schemeClr val="tx1"/>
                </a:solidFill>
              </a:rPr>
              <a:t>to execute in isolation from other transactions, even though hundreds </a:t>
            </a:r>
            <a:r>
              <a:rPr lang="en-US" dirty="0" smtClean="0">
                <a:solidFill>
                  <a:schemeClr val="tx1"/>
                </a:solidFill>
              </a:rPr>
              <a:t>of transactions </a:t>
            </a:r>
            <a:r>
              <a:rPr lang="en-US" dirty="0">
                <a:solidFill>
                  <a:schemeClr val="tx1"/>
                </a:solidFill>
              </a:rPr>
              <a:t>may be executing </a:t>
            </a:r>
            <a:r>
              <a:rPr lang="en-US" dirty="0" smtClean="0">
                <a:solidFill>
                  <a:schemeClr val="tx1"/>
                </a:solidFill>
              </a:rPr>
              <a:t>at the same time.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accent5"/>
                </a:solidFill>
              </a:rPr>
              <a:t>A</a:t>
            </a:r>
            <a:r>
              <a:rPr lang="en-US" b="1" dirty="0" smtClean="0">
                <a:solidFill>
                  <a:schemeClr val="accent5"/>
                </a:solidFill>
              </a:rPr>
              <a:t>tomicity</a:t>
            </a:r>
            <a:r>
              <a:rPr lang="en-US" dirty="0" smtClean="0">
                <a:solidFill>
                  <a:schemeClr val="tx1"/>
                </a:solidFill>
              </a:rPr>
              <a:t> - ensures that either </a:t>
            </a:r>
            <a:r>
              <a:rPr lang="en-US" dirty="0">
                <a:solidFill>
                  <a:schemeClr val="tx1"/>
                </a:solidFill>
              </a:rPr>
              <a:t>all the database operations in a transaction are executed or none are.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70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DBMS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576" y="1400433"/>
            <a:ext cx="9381067" cy="513217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Controlling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Redundancy</a:t>
            </a:r>
          </a:p>
          <a:p>
            <a:r>
              <a:rPr lang="en-US" dirty="0">
                <a:solidFill>
                  <a:schemeClr val="tx1"/>
                </a:solidFill>
              </a:rPr>
              <a:t>In traditional software development </a:t>
            </a:r>
            <a:r>
              <a:rPr lang="en-US" dirty="0" smtClean="0">
                <a:solidFill>
                  <a:schemeClr val="tx1"/>
                </a:solidFill>
              </a:rPr>
              <a:t>using </a:t>
            </a:r>
            <a:r>
              <a:rPr lang="en-US" dirty="0">
                <a:solidFill>
                  <a:schemeClr val="tx1"/>
                </a:solidFill>
              </a:rPr>
              <a:t>file processing, every user </a:t>
            </a:r>
            <a:r>
              <a:rPr lang="en-US" dirty="0" smtClean="0">
                <a:solidFill>
                  <a:schemeClr val="tx1"/>
                </a:solidFill>
              </a:rPr>
              <a:t>group maintains </a:t>
            </a:r>
            <a:r>
              <a:rPr lang="en-US" dirty="0">
                <a:solidFill>
                  <a:schemeClr val="tx1"/>
                </a:solidFill>
              </a:rPr>
              <a:t>its own files for handling its data-processing applications.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</a:t>
            </a:r>
            <a:r>
              <a:rPr lang="en-US" b="1" dirty="0">
                <a:solidFill>
                  <a:srgbClr val="C00000"/>
                </a:solidFill>
              </a:rPr>
              <a:t>redundancy</a:t>
            </a:r>
            <a:r>
              <a:rPr lang="en-US" dirty="0">
                <a:solidFill>
                  <a:schemeClr val="tx1"/>
                </a:solidFill>
              </a:rPr>
              <a:t> in storing the same data multiple times leads to several problems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1. Need to perform a single logical update such as entering data on a new student multiple times, once for each file where student data is recorded. This leads to </a:t>
            </a:r>
            <a:r>
              <a:rPr lang="en-US" sz="1800" b="1" dirty="0">
                <a:solidFill>
                  <a:srgbClr val="C00000"/>
                </a:solidFill>
              </a:rPr>
              <a:t>duplication of effort</a:t>
            </a:r>
            <a:r>
              <a:rPr lang="en-US" sz="1800" dirty="0"/>
              <a:t>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2. </a:t>
            </a:r>
            <a:r>
              <a:rPr lang="en-US" sz="1800" b="1" dirty="0">
                <a:solidFill>
                  <a:srgbClr val="C00000"/>
                </a:solidFill>
              </a:rPr>
              <a:t>Storage space is wasted </a:t>
            </a:r>
            <a:r>
              <a:rPr lang="en-US" sz="1800" dirty="0"/>
              <a:t>when the same data is stored repeatedly</a:t>
            </a:r>
            <a:r>
              <a:rPr lang="en-US" sz="1800" dirty="0" smtClean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/>
              <a:t>3. Files that represent the </a:t>
            </a:r>
            <a:r>
              <a:rPr lang="en-US" sz="1800" b="1" dirty="0">
                <a:solidFill>
                  <a:srgbClr val="C00000"/>
                </a:solidFill>
              </a:rPr>
              <a:t>same data may become inconsistent</a:t>
            </a:r>
            <a:r>
              <a:rPr lang="en-US" sz="1800" dirty="0"/>
              <a:t>. This may happen because an update is applied to some of the files but not to others. </a:t>
            </a:r>
            <a:r>
              <a:rPr lang="en-US" sz="1800" dirty="0" smtClean="0"/>
              <a:t>Even </a:t>
            </a:r>
            <a:r>
              <a:rPr lang="en-US" sz="1800" dirty="0"/>
              <a:t>if an update—such as adding a new student—is applied to all the appropriate files, the data concerning the student may still be inconsistent because the updates are applied independently by each user group. </a:t>
            </a:r>
          </a:p>
          <a:p>
            <a:pPr marL="857250" lvl="2" indent="0">
              <a:buNone/>
            </a:pPr>
            <a:r>
              <a:rPr lang="en-US" sz="1400" dirty="0" smtClean="0"/>
              <a:t>For </a:t>
            </a:r>
            <a:r>
              <a:rPr lang="en-US" sz="1400" dirty="0"/>
              <a:t>example, one user group may enter a student’s birth date erroneously as ‘JAN-19-1988’, whereas the other user groups may enter the correct value of ‘JAN-29-1988’.</a:t>
            </a:r>
          </a:p>
          <a:p>
            <a:endParaRPr lang="en-US" sz="2000" dirty="0"/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23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DBMS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06" y="1491051"/>
            <a:ext cx="9735294" cy="4607978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Restricting Unauthorized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Access</a:t>
            </a:r>
          </a:p>
          <a:p>
            <a:r>
              <a:rPr lang="en-US" dirty="0">
                <a:solidFill>
                  <a:schemeClr val="tx1"/>
                </a:solidFill>
              </a:rPr>
              <a:t>When multiple users share a large database, </a:t>
            </a:r>
            <a:r>
              <a:rPr lang="en-US" dirty="0" smtClean="0">
                <a:solidFill>
                  <a:schemeClr val="tx1"/>
                </a:solidFill>
              </a:rPr>
              <a:t>most </a:t>
            </a:r>
            <a:r>
              <a:rPr lang="en-US" dirty="0">
                <a:solidFill>
                  <a:schemeClr val="tx1"/>
                </a:solidFill>
              </a:rPr>
              <a:t>users will not </a:t>
            </a:r>
            <a:r>
              <a:rPr lang="en-US" dirty="0" smtClean="0">
                <a:solidFill>
                  <a:schemeClr val="tx1"/>
                </a:solidFill>
              </a:rPr>
              <a:t>be authorized </a:t>
            </a:r>
            <a:r>
              <a:rPr lang="en-US" dirty="0">
                <a:solidFill>
                  <a:schemeClr val="tx1"/>
                </a:solidFill>
              </a:rPr>
              <a:t>to access all information in the database.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For </a:t>
            </a:r>
            <a:r>
              <a:rPr lang="en-US" dirty="0">
                <a:solidFill>
                  <a:schemeClr val="tx1"/>
                </a:solidFill>
              </a:rPr>
              <a:t>example, financial </a:t>
            </a:r>
            <a:r>
              <a:rPr lang="en-US" dirty="0" smtClean="0">
                <a:solidFill>
                  <a:schemeClr val="tx1"/>
                </a:solidFill>
              </a:rPr>
              <a:t>data such </a:t>
            </a:r>
            <a:r>
              <a:rPr lang="en-US" dirty="0">
                <a:solidFill>
                  <a:schemeClr val="tx1"/>
                </a:solidFill>
              </a:rPr>
              <a:t>as salaries and bonuses is often considered confidential, and only </a:t>
            </a:r>
            <a:r>
              <a:rPr lang="en-US" dirty="0" smtClean="0">
                <a:solidFill>
                  <a:schemeClr val="tx1"/>
                </a:solidFill>
              </a:rPr>
              <a:t>authorized persons </a:t>
            </a:r>
            <a:r>
              <a:rPr lang="en-US" dirty="0">
                <a:solidFill>
                  <a:schemeClr val="tx1"/>
                </a:solidFill>
              </a:rPr>
              <a:t>are allowed to access such data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A DBMS </a:t>
            </a:r>
            <a:r>
              <a:rPr lang="en-US" dirty="0" smtClean="0">
                <a:solidFill>
                  <a:schemeClr val="tx1"/>
                </a:solidFill>
              </a:rPr>
              <a:t>should provide </a:t>
            </a: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accent5"/>
                </a:solidFill>
              </a:rPr>
              <a:t>security and authorization subsystem</a:t>
            </a:r>
            <a:r>
              <a:rPr lang="en-US" dirty="0">
                <a:solidFill>
                  <a:schemeClr val="tx1"/>
                </a:solidFill>
              </a:rPr>
              <a:t>, which the DBA uses to </a:t>
            </a:r>
            <a:r>
              <a:rPr lang="en-US" dirty="0" smtClean="0">
                <a:solidFill>
                  <a:schemeClr val="tx1"/>
                </a:solidFill>
              </a:rPr>
              <a:t>create accounts </a:t>
            </a:r>
            <a:r>
              <a:rPr lang="en-US" dirty="0">
                <a:solidFill>
                  <a:schemeClr val="tx1"/>
                </a:solidFill>
              </a:rPr>
              <a:t>and to specify account restrictions.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For </a:t>
            </a:r>
            <a:r>
              <a:rPr lang="en-US" dirty="0">
                <a:solidFill>
                  <a:schemeClr val="tx1"/>
                </a:solidFill>
              </a:rPr>
              <a:t>example, only the DBA’s staff may be allowed to use </a:t>
            </a:r>
            <a:r>
              <a:rPr lang="en-US" dirty="0" smtClean="0">
                <a:solidFill>
                  <a:schemeClr val="tx1"/>
                </a:solidFill>
              </a:rPr>
              <a:t>certain privileged </a:t>
            </a:r>
            <a:r>
              <a:rPr lang="en-US" dirty="0">
                <a:solidFill>
                  <a:schemeClr val="tx1"/>
                </a:solidFill>
              </a:rPr>
              <a:t>software, such as the software for creating new accounts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460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DBMS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06" y="1270000"/>
            <a:ext cx="9751770" cy="4607978"/>
          </a:xfrm>
        </p:spPr>
        <p:txBody>
          <a:bodyPr>
            <a:noAutofit/>
          </a:bodyPr>
          <a:lstStyle/>
          <a:p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Providing Storage Structures and </a:t>
            </a:r>
            <a:r>
              <a:rPr lang="en-US" sz="2000" b="1" u="sng" dirty="0" smtClean="0">
                <a:solidFill>
                  <a:schemeClr val="accent2">
                    <a:lumMod val="75000"/>
                  </a:schemeClr>
                </a:solidFill>
              </a:rPr>
              <a:t>Search Techniques 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for Efficient Query </a:t>
            </a:r>
            <a:r>
              <a:rPr lang="en-US" sz="2000" b="1" u="sng" dirty="0" smtClean="0">
                <a:solidFill>
                  <a:schemeClr val="accent2">
                    <a:lumMod val="75000"/>
                  </a:schemeClr>
                </a:solidFill>
              </a:rPr>
              <a:t>Processing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T</a:t>
            </a:r>
            <a:r>
              <a:rPr lang="en-US" sz="2000" dirty="0" smtClean="0">
                <a:solidFill>
                  <a:schemeClr val="tx1"/>
                </a:solidFill>
              </a:rPr>
              <a:t>he </a:t>
            </a:r>
            <a:r>
              <a:rPr lang="en-US" sz="2000" dirty="0">
                <a:solidFill>
                  <a:schemeClr val="tx1"/>
                </a:solidFill>
              </a:rPr>
              <a:t>DBMS must </a:t>
            </a:r>
            <a:r>
              <a:rPr lang="en-US" sz="2000" dirty="0" smtClean="0">
                <a:solidFill>
                  <a:schemeClr val="tx1"/>
                </a:solidFill>
              </a:rPr>
              <a:t>provide specialized </a:t>
            </a:r>
            <a:r>
              <a:rPr lang="en-US" sz="2000" dirty="0">
                <a:solidFill>
                  <a:schemeClr val="tx1"/>
                </a:solidFill>
              </a:rPr>
              <a:t>data structures and search techniques to speed up disk search for </a:t>
            </a:r>
            <a:r>
              <a:rPr lang="en-US" sz="2000" dirty="0" smtClean="0">
                <a:solidFill>
                  <a:schemeClr val="tx1"/>
                </a:solidFill>
              </a:rPr>
              <a:t>the desired </a:t>
            </a:r>
            <a:r>
              <a:rPr lang="en-US" sz="2000" dirty="0">
                <a:solidFill>
                  <a:schemeClr val="tx1"/>
                </a:solidFill>
              </a:rPr>
              <a:t>records. 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I</a:t>
            </a:r>
            <a:r>
              <a:rPr lang="en-US" sz="2000" dirty="0" smtClean="0">
                <a:solidFill>
                  <a:schemeClr val="tx1"/>
                </a:solidFill>
              </a:rPr>
              <a:t>ndexes </a:t>
            </a:r>
            <a:r>
              <a:rPr lang="en-US" sz="2000" dirty="0">
                <a:solidFill>
                  <a:schemeClr val="tx1"/>
                </a:solidFill>
              </a:rPr>
              <a:t>are often used for this </a:t>
            </a:r>
            <a:r>
              <a:rPr lang="en-US" sz="2000" dirty="0" smtClean="0">
                <a:solidFill>
                  <a:schemeClr val="tx1"/>
                </a:solidFill>
              </a:rPr>
              <a:t>purpose. </a:t>
            </a:r>
          </a:p>
          <a:p>
            <a:pPr lvl="1"/>
            <a:r>
              <a:rPr lang="en-US" sz="1800" dirty="0" smtClean="0">
                <a:solidFill>
                  <a:schemeClr val="tx1"/>
                </a:solidFill>
              </a:rPr>
              <a:t>Indexes </a:t>
            </a:r>
            <a:r>
              <a:rPr lang="en-US" sz="1800" dirty="0">
                <a:solidFill>
                  <a:schemeClr val="tx1"/>
                </a:solidFill>
              </a:rPr>
              <a:t>are typically based on tree data structures or hash data structures that </a:t>
            </a:r>
            <a:r>
              <a:rPr lang="en-US" sz="1800" dirty="0" smtClean="0">
                <a:solidFill>
                  <a:schemeClr val="tx1"/>
                </a:solidFill>
              </a:rPr>
              <a:t>are suitably </a:t>
            </a:r>
            <a:r>
              <a:rPr lang="en-US" sz="1800" dirty="0">
                <a:solidFill>
                  <a:schemeClr val="tx1"/>
                </a:solidFill>
              </a:rPr>
              <a:t>modified for disk search.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The </a:t>
            </a:r>
            <a:r>
              <a:rPr lang="en-US" sz="2000" b="1" dirty="0">
                <a:solidFill>
                  <a:srgbClr val="C00000"/>
                </a:solidFill>
              </a:rPr>
              <a:t>query processing and optimization module</a:t>
            </a:r>
            <a:r>
              <a:rPr lang="en-US" sz="2000" dirty="0">
                <a:solidFill>
                  <a:schemeClr val="tx1"/>
                </a:solidFill>
              </a:rPr>
              <a:t> of the DBMS is responsible </a:t>
            </a:r>
            <a:r>
              <a:rPr lang="en-US" sz="2000" dirty="0" smtClean="0">
                <a:solidFill>
                  <a:schemeClr val="tx1"/>
                </a:solidFill>
              </a:rPr>
              <a:t>for choosing </a:t>
            </a:r>
            <a:r>
              <a:rPr lang="en-US" sz="2000" dirty="0">
                <a:solidFill>
                  <a:schemeClr val="tx1"/>
                </a:solidFill>
              </a:rPr>
              <a:t>an efficient query execution plan for each query based on the </a:t>
            </a:r>
            <a:r>
              <a:rPr lang="en-US" sz="2000" dirty="0" smtClean="0">
                <a:solidFill>
                  <a:schemeClr val="tx1"/>
                </a:solidFill>
              </a:rPr>
              <a:t>existing storage </a:t>
            </a:r>
            <a:r>
              <a:rPr lang="en-US" sz="2000" dirty="0">
                <a:solidFill>
                  <a:schemeClr val="tx1"/>
                </a:solidFill>
              </a:rPr>
              <a:t>structures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Providing Backup and </a:t>
            </a:r>
            <a:r>
              <a:rPr lang="en-US" sz="2000" b="1" u="sng" dirty="0" smtClean="0">
                <a:solidFill>
                  <a:schemeClr val="accent2">
                    <a:lumMod val="75000"/>
                  </a:schemeClr>
                </a:solidFill>
              </a:rPr>
              <a:t>Recovery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b="1" dirty="0">
                <a:solidFill>
                  <a:schemeClr val="accent5"/>
                </a:solidFill>
              </a:rPr>
              <a:t>backup and recovery subsystem </a:t>
            </a:r>
            <a:r>
              <a:rPr lang="en-US" sz="2000" dirty="0">
                <a:solidFill>
                  <a:schemeClr val="tx1"/>
                </a:solidFill>
              </a:rPr>
              <a:t>of the DBMS is responsible for recovery. </a:t>
            </a:r>
            <a:endParaRPr lang="en-US" sz="2000" dirty="0" smtClean="0">
              <a:solidFill>
                <a:schemeClr val="tx1"/>
              </a:solidFill>
            </a:endParaRPr>
          </a:p>
          <a:p>
            <a:pPr lvl="1"/>
            <a:r>
              <a:rPr lang="en-US" sz="1800" dirty="0" smtClean="0">
                <a:solidFill>
                  <a:schemeClr val="tx1"/>
                </a:solidFill>
              </a:rPr>
              <a:t>For example</a:t>
            </a:r>
            <a:r>
              <a:rPr lang="en-US" sz="1800" dirty="0">
                <a:solidFill>
                  <a:schemeClr val="tx1"/>
                </a:solidFill>
              </a:rPr>
              <a:t>, if the computer system fails in the middle of a complex update </a:t>
            </a:r>
            <a:r>
              <a:rPr lang="en-US" sz="1800" dirty="0" smtClean="0">
                <a:solidFill>
                  <a:schemeClr val="tx1"/>
                </a:solidFill>
              </a:rPr>
              <a:t>transaction, the </a:t>
            </a:r>
            <a:r>
              <a:rPr lang="en-US" sz="1800" dirty="0">
                <a:solidFill>
                  <a:schemeClr val="tx1"/>
                </a:solidFill>
              </a:rPr>
              <a:t>recovery subsystem is responsible for making sure that the database </a:t>
            </a:r>
            <a:r>
              <a:rPr lang="en-US" sz="1800" dirty="0" smtClean="0">
                <a:solidFill>
                  <a:schemeClr val="tx1"/>
                </a:solidFill>
              </a:rPr>
              <a:t>is restored </a:t>
            </a:r>
            <a:r>
              <a:rPr lang="en-US" sz="1800" dirty="0">
                <a:solidFill>
                  <a:schemeClr val="tx1"/>
                </a:solidFill>
              </a:rPr>
              <a:t>to the state it was in before the transaction started executing.</a:t>
            </a:r>
          </a:p>
        </p:txBody>
      </p:sp>
    </p:spTree>
    <p:extLst>
      <p:ext uri="{BB962C8B-B14F-4D97-AF65-F5344CB8AC3E}">
        <p14:creationId xmlns:p14="http://schemas.microsoft.com/office/powerpoint/2010/main" val="289721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DBMS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06" y="1375721"/>
            <a:ext cx="9941240" cy="4607978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Providing Multiple User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Interfaces</a:t>
            </a:r>
          </a:p>
          <a:p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dirty="0" smtClean="0">
                <a:solidFill>
                  <a:schemeClr val="tx1"/>
                </a:solidFill>
              </a:rPr>
              <a:t>any </a:t>
            </a:r>
            <a:r>
              <a:rPr lang="en-US" dirty="0">
                <a:solidFill>
                  <a:schemeClr val="tx1"/>
                </a:solidFill>
              </a:rPr>
              <a:t>types of users with </a:t>
            </a:r>
            <a:r>
              <a:rPr lang="en-US" dirty="0" smtClean="0">
                <a:solidFill>
                  <a:schemeClr val="tx1"/>
                </a:solidFill>
              </a:rPr>
              <a:t>different </a:t>
            </a:r>
            <a:r>
              <a:rPr lang="en-US" dirty="0">
                <a:solidFill>
                  <a:schemeClr val="tx1"/>
                </a:solidFill>
              </a:rPr>
              <a:t>levels of technical knowledge use a </a:t>
            </a:r>
            <a:r>
              <a:rPr lang="en-US" dirty="0" smtClean="0">
                <a:solidFill>
                  <a:schemeClr val="tx1"/>
                </a:solidFill>
              </a:rPr>
              <a:t>database, so a </a:t>
            </a:r>
            <a:r>
              <a:rPr lang="en-US" dirty="0">
                <a:solidFill>
                  <a:schemeClr val="tx1"/>
                </a:solidFill>
              </a:rPr>
              <a:t>DBMS should provide a variety of user </a:t>
            </a:r>
            <a:r>
              <a:rPr lang="en-US" dirty="0" smtClean="0">
                <a:solidFill>
                  <a:schemeClr val="tx1"/>
                </a:solidFill>
              </a:rPr>
              <a:t>interfaces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that include: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apps for mobile </a:t>
            </a:r>
            <a:r>
              <a:rPr lang="en-US" dirty="0">
                <a:solidFill>
                  <a:schemeClr val="tx1"/>
                </a:solidFill>
              </a:rPr>
              <a:t>users,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query </a:t>
            </a:r>
            <a:r>
              <a:rPr lang="en-US" dirty="0">
                <a:solidFill>
                  <a:schemeClr val="tx1"/>
                </a:solidFill>
              </a:rPr>
              <a:t>languages for casual users,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programming </a:t>
            </a:r>
            <a:r>
              <a:rPr lang="en-US" dirty="0">
                <a:solidFill>
                  <a:schemeClr val="tx1"/>
                </a:solidFill>
              </a:rPr>
              <a:t>language </a:t>
            </a:r>
            <a:r>
              <a:rPr lang="en-US" dirty="0" smtClean="0">
                <a:solidFill>
                  <a:schemeClr val="tx1"/>
                </a:solidFill>
              </a:rPr>
              <a:t>interfaces for </a:t>
            </a:r>
            <a:r>
              <a:rPr lang="en-US" dirty="0">
                <a:solidFill>
                  <a:schemeClr val="tx1"/>
                </a:solidFill>
              </a:rPr>
              <a:t>application programmers,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forms and </a:t>
            </a:r>
            <a:r>
              <a:rPr lang="en-US" dirty="0">
                <a:solidFill>
                  <a:schemeClr val="tx1"/>
                </a:solidFill>
              </a:rPr>
              <a:t>menu-driven interfaces </a:t>
            </a:r>
            <a:r>
              <a:rPr lang="en-US" dirty="0" smtClean="0">
                <a:solidFill>
                  <a:schemeClr val="tx1"/>
                </a:solidFill>
              </a:rPr>
              <a:t>for </a:t>
            </a:r>
            <a:r>
              <a:rPr lang="en-US" dirty="0">
                <a:solidFill>
                  <a:schemeClr val="tx1"/>
                </a:solidFill>
              </a:rPr>
              <a:t>standalone users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Representing Complex Relationships among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chemeClr val="tx1"/>
                </a:solidFill>
              </a:rPr>
              <a:t>database may include </a:t>
            </a:r>
            <a:r>
              <a:rPr lang="en-US" dirty="0" smtClean="0">
                <a:solidFill>
                  <a:schemeClr val="tx1"/>
                </a:solidFill>
              </a:rPr>
              <a:t>many </a:t>
            </a:r>
            <a:r>
              <a:rPr lang="en-US" dirty="0">
                <a:solidFill>
                  <a:schemeClr val="tx1"/>
                </a:solidFill>
              </a:rPr>
              <a:t>varieties of data that are interrelated in </a:t>
            </a:r>
            <a:r>
              <a:rPr lang="en-US" dirty="0" smtClean="0">
                <a:solidFill>
                  <a:schemeClr val="tx1"/>
                </a:solidFill>
              </a:rPr>
              <a:t>many ways.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record for ‘Brown’ in </a:t>
            </a:r>
            <a:r>
              <a:rPr lang="en-US" dirty="0" smtClean="0">
                <a:solidFill>
                  <a:schemeClr val="tx1"/>
                </a:solidFill>
              </a:rPr>
              <a:t>the STUDENT </a:t>
            </a:r>
            <a:r>
              <a:rPr lang="en-US" dirty="0">
                <a:solidFill>
                  <a:schemeClr val="tx1"/>
                </a:solidFill>
              </a:rPr>
              <a:t>file is related to four records in the GRADE_REPORT file. 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65" y="5393952"/>
            <a:ext cx="3400425" cy="1085850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037" y="5123935"/>
            <a:ext cx="3064462" cy="16258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7" name="Straight Arrow Connector 6"/>
          <p:cNvCxnSpPr/>
          <p:nvPr/>
        </p:nvCxnSpPr>
        <p:spPr>
          <a:xfrm>
            <a:off x="4926242" y="5936877"/>
            <a:ext cx="395402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79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DBMS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06" y="1375721"/>
            <a:ext cx="7684072" cy="4607978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Enforcing Integrity </a:t>
            </a:r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</a:rPr>
              <a:t>Constraints</a:t>
            </a:r>
          </a:p>
          <a:p>
            <a:r>
              <a:rPr lang="en-US" dirty="0">
                <a:solidFill>
                  <a:schemeClr val="tx1"/>
                </a:solidFill>
              </a:rPr>
              <a:t>Most database applications have </a:t>
            </a:r>
            <a:r>
              <a:rPr lang="en-US" dirty="0" smtClean="0">
                <a:solidFill>
                  <a:schemeClr val="tx1"/>
                </a:solidFill>
              </a:rPr>
              <a:t>integrity </a:t>
            </a:r>
            <a:r>
              <a:rPr lang="en-US" dirty="0">
                <a:solidFill>
                  <a:schemeClr val="tx1"/>
                </a:solidFill>
              </a:rPr>
              <a:t>constraints that must </a:t>
            </a:r>
            <a:r>
              <a:rPr lang="en-US" dirty="0" smtClean="0">
                <a:solidFill>
                  <a:schemeClr val="tx1"/>
                </a:solidFill>
              </a:rPr>
              <a:t>hold.</a:t>
            </a:r>
          </a:p>
          <a:p>
            <a:r>
              <a:rPr lang="en-US" dirty="0">
                <a:solidFill>
                  <a:schemeClr val="tx1"/>
                </a:solidFill>
              </a:rPr>
              <a:t>The simplest type of integrity constraint involves specifying a </a:t>
            </a:r>
            <a:r>
              <a:rPr lang="en-US" b="1" dirty="0" smtClean="0">
                <a:solidFill>
                  <a:schemeClr val="accent5"/>
                </a:solidFill>
              </a:rPr>
              <a:t>data type </a:t>
            </a:r>
            <a:r>
              <a:rPr lang="en-US" b="1" dirty="0">
                <a:solidFill>
                  <a:schemeClr val="accent5"/>
                </a:solidFill>
              </a:rPr>
              <a:t>for each data item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For example, we </a:t>
            </a:r>
            <a:r>
              <a:rPr lang="en-US" dirty="0">
                <a:solidFill>
                  <a:schemeClr val="tx1"/>
                </a:solidFill>
              </a:rPr>
              <a:t>specified that the value </a:t>
            </a:r>
            <a:r>
              <a:rPr lang="en-US" dirty="0" smtClean="0">
                <a:solidFill>
                  <a:schemeClr val="tx1"/>
                </a:solidFill>
              </a:rPr>
              <a:t>of the </a:t>
            </a:r>
            <a:r>
              <a:rPr lang="en-US" dirty="0">
                <a:solidFill>
                  <a:schemeClr val="tx1"/>
                </a:solidFill>
              </a:rPr>
              <a:t>Class data item within each STUDENT record must be a one-digit integer </a:t>
            </a:r>
            <a:r>
              <a:rPr lang="en-US" dirty="0" smtClean="0">
                <a:solidFill>
                  <a:schemeClr val="tx1"/>
                </a:solidFill>
              </a:rPr>
              <a:t>and that </a:t>
            </a:r>
            <a:r>
              <a:rPr lang="en-US" dirty="0">
                <a:solidFill>
                  <a:schemeClr val="tx1"/>
                </a:solidFill>
              </a:rPr>
              <a:t>the value of Name must be a string of no more than 30 alphabetic </a:t>
            </a:r>
            <a:r>
              <a:rPr lang="en-US" dirty="0" smtClean="0">
                <a:solidFill>
                  <a:schemeClr val="tx1"/>
                </a:solidFill>
              </a:rPr>
              <a:t>characters. </a:t>
            </a:r>
          </a:p>
          <a:p>
            <a:r>
              <a:rPr lang="en-US" dirty="0">
                <a:solidFill>
                  <a:schemeClr val="tx1"/>
                </a:solidFill>
              </a:rPr>
              <a:t>A more complex type of constraint </a:t>
            </a:r>
            <a:r>
              <a:rPr lang="en-US" dirty="0" smtClean="0">
                <a:solidFill>
                  <a:schemeClr val="tx1"/>
                </a:solidFill>
              </a:rPr>
              <a:t>that involves </a:t>
            </a:r>
            <a:r>
              <a:rPr lang="en-US" dirty="0">
                <a:solidFill>
                  <a:schemeClr val="tx1"/>
                </a:solidFill>
              </a:rPr>
              <a:t>specifying that a record in one file must be related </a:t>
            </a:r>
            <a:r>
              <a:rPr lang="en-US" dirty="0" smtClean="0">
                <a:solidFill>
                  <a:schemeClr val="tx1"/>
                </a:solidFill>
              </a:rPr>
              <a:t>to records </a:t>
            </a:r>
            <a:r>
              <a:rPr lang="en-US" dirty="0">
                <a:solidFill>
                  <a:schemeClr val="tx1"/>
                </a:solidFill>
              </a:rPr>
              <a:t>in other </a:t>
            </a:r>
            <a:r>
              <a:rPr lang="en-US" dirty="0" smtClean="0">
                <a:solidFill>
                  <a:schemeClr val="tx1"/>
                </a:solidFill>
              </a:rPr>
              <a:t>files known </a:t>
            </a:r>
            <a:r>
              <a:rPr lang="en-US" dirty="0">
                <a:solidFill>
                  <a:schemeClr val="tx1"/>
                </a:solidFill>
              </a:rPr>
              <a:t>as </a:t>
            </a:r>
            <a:r>
              <a:rPr lang="en-US" b="1" dirty="0">
                <a:solidFill>
                  <a:schemeClr val="accent5"/>
                </a:solidFill>
              </a:rPr>
              <a:t>a referential integrity constraint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For </a:t>
            </a:r>
            <a:r>
              <a:rPr lang="en-US" dirty="0">
                <a:solidFill>
                  <a:schemeClr val="tx1"/>
                </a:solidFill>
              </a:rPr>
              <a:t>example, in Figure 1.2, we can specify that </a:t>
            </a:r>
            <a:r>
              <a:rPr lang="en-US" b="1" dirty="0">
                <a:solidFill>
                  <a:schemeClr val="accent5"/>
                </a:solidFill>
              </a:rPr>
              <a:t>every </a:t>
            </a:r>
            <a:r>
              <a:rPr lang="en-US" b="1" dirty="0" smtClean="0">
                <a:solidFill>
                  <a:schemeClr val="accent5"/>
                </a:solidFill>
              </a:rPr>
              <a:t>section record </a:t>
            </a:r>
            <a:r>
              <a:rPr lang="en-US" b="1" dirty="0">
                <a:solidFill>
                  <a:schemeClr val="accent5"/>
                </a:solidFill>
              </a:rPr>
              <a:t>must be related to a course record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Another </a:t>
            </a:r>
            <a:r>
              <a:rPr lang="en-US" dirty="0">
                <a:solidFill>
                  <a:schemeClr val="tx1"/>
                </a:solidFill>
              </a:rPr>
              <a:t>type of constraint specifies uniqueness on data item </a:t>
            </a:r>
            <a:r>
              <a:rPr lang="en-US" dirty="0" smtClean="0">
                <a:solidFill>
                  <a:schemeClr val="tx1"/>
                </a:solidFill>
              </a:rPr>
              <a:t>values, such </a:t>
            </a:r>
            <a:r>
              <a:rPr lang="en-US" dirty="0">
                <a:solidFill>
                  <a:schemeClr val="tx1"/>
                </a:solidFill>
              </a:rPr>
              <a:t>as every course record must have a unique value for </a:t>
            </a:r>
            <a:r>
              <a:rPr lang="en-US" dirty="0" err="1">
                <a:solidFill>
                  <a:schemeClr val="tx1"/>
                </a:solidFill>
              </a:rPr>
              <a:t>Course_number</a:t>
            </a:r>
            <a:r>
              <a:rPr lang="en-US" dirty="0">
                <a:solidFill>
                  <a:schemeClr val="tx1"/>
                </a:solidFill>
              </a:rPr>
              <a:t>. This </a:t>
            </a:r>
            <a:r>
              <a:rPr lang="en-US" dirty="0" smtClean="0">
                <a:solidFill>
                  <a:schemeClr val="tx1"/>
                </a:solidFill>
              </a:rPr>
              <a:t>is known </a:t>
            </a:r>
            <a:r>
              <a:rPr lang="en-US" dirty="0">
                <a:solidFill>
                  <a:schemeClr val="tx1"/>
                </a:solidFill>
              </a:rPr>
              <a:t>as a </a:t>
            </a:r>
            <a:r>
              <a:rPr lang="en-US" b="1" dirty="0">
                <a:solidFill>
                  <a:schemeClr val="accent5"/>
                </a:solidFill>
              </a:rPr>
              <a:t>key or uniqueness constraint.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245" y="2012734"/>
            <a:ext cx="3883755" cy="2882025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64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DBMS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06" y="1375721"/>
            <a:ext cx="9331640" cy="4607978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Permitting </a:t>
            </a:r>
            <a:r>
              <a:rPr lang="en-US" sz="2800" b="1" u="sng" dirty="0" err="1">
                <a:solidFill>
                  <a:schemeClr val="accent2">
                    <a:lumMod val="75000"/>
                  </a:schemeClr>
                </a:solidFill>
              </a:rPr>
              <a:t>Inferencing</a:t>
            </a:r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 and </a:t>
            </a:r>
            <a:r>
              <a:rPr lang="en-US" sz="2800" b="1" u="sng" dirty="0" smtClean="0">
                <a:solidFill>
                  <a:schemeClr val="accent2">
                    <a:lumMod val="75000"/>
                  </a:schemeClr>
                </a:solidFill>
              </a:rPr>
              <a:t>Actions Using </a:t>
            </a:r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Rules and </a:t>
            </a:r>
            <a:r>
              <a:rPr lang="en-US" sz="2800" b="1" u="sng" dirty="0" smtClean="0">
                <a:solidFill>
                  <a:schemeClr val="accent2">
                    <a:lumMod val="75000"/>
                  </a:schemeClr>
                </a:solidFill>
              </a:rPr>
              <a:t>Triggers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A </a:t>
            </a:r>
            <a:r>
              <a:rPr lang="en-US" sz="2400" b="1" dirty="0">
                <a:solidFill>
                  <a:schemeClr val="accent5"/>
                </a:solidFill>
              </a:rPr>
              <a:t>trigger</a:t>
            </a:r>
            <a:r>
              <a:rPr lang="en-US" sz="2400" dirty="0">
                <a:solidFill>
                  <a:schemeClr val="tx1"/>
                </a:solidFill>
              </a:rPr>
              <a:t> is a form of a </a:t>
            </a:r>
            <a:r>
              <a:rPr lang="en-US" sz="2400" dirty="0" smtClean="0">
                <a:solidFill>
                  <a:schemeClr val="tx1"/>
                </a:solidFill>
              </a:rPr>
              <a:t>rule activated </a:t>
            </a:r>
            <a:r>
              <a:rPr lang="en-US" sz="2400" dirty="0">
                <a:solidFill>
                  <a:schemeClr val="tx1"/>
                </a:solidFill>
              </a:rPr>
              <a:t>by updates to the table, which results in performing some additional </a:t>
            </a:r>
            <a:r>
              <a:rPr lang="en-US" sz="2400" dirty="0" smtClean="0">
                <a:solidFill>
                  <a:schemeClr val="tx1"/>
                </a:solidFill>
              </a:rPr>
              <a:t>operations to </a:t>
            </a:r>
            <a:r>
              <a:rPr lang="en-US" sz="2400" dirty="0">
                <a:solidFill>
                  <a:schemeClr val="tx1"/>
                </a:solidFill>
              </a:rPr>
              <a:t>some other tables, sending messages, and so on</a:t>
            </a:r>
            <a:r>
              <a:rPr lang="en-US" sz="2400" dirty="0" smtClean="0">
                <a:solidFill>
                  <a:schemeClr val="tx1"/>
                </a:solidFill>
              </a:rPr>
              <a:t>. Used with INSERT, UPDATE AND DELETE.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More </a:t>
            </a:r>
            <a:r>
              <a:rPr lang="en-US" sz="2400" dirty="0">
                <a:solidFill>
                  <a:schemeClr val="tx1"/>
                </a:solidFill>
              </a:rPr>
              <a:t>involved </a:t>
            </a:r>
            <a:r>
              <a:rPr lang="en-US" sz="2400" dirty="0" smtClean="0">
                <a:solidFill>
                  <a:schemeClr val="tx1"/>
                </a:solidFill>
              </a:rPr>
              <a:t>procedures to </a:t>
            </a:r>
            <a:r>
              <a:rPr lang="en-US" sz="2400" dirty="0">
                <a:solidFill>
                  <a:schemeClr val="tx1"/>
                </a:solidFill>
              </a:rPr>
              <a:t>enforce rules are popularly called </a:t>
            </a:r>
            <a:r>
              <a:rPr lang="en-US" sz="2400" b="1" dirty="0">
                <a:solidFill>
                  <a:schemeClr val="accent5"/>
                </a:solidFill>
              </a:rPr>
              <a:t>stored </a:t>
            </a:r>
            <a:r>
              <a:rPr lang="en-US" sz="2400" b="1" dirty="0" smtClean="0">
                <a:solidFill>
                  <a:schemeClr val="accent5"/>
                </a:solidFill>
              </a:rPr>
              <a:t>procedures</a:t>
            </a:r>
            <a:r>
              <a:rPr lang="en-US" sz="2400" dirty="0">
                <a:solidFill>
                  <a:schemeClr val="tx1"/>
                </a:solidFill>
              </a:rPr>
              <a:t>,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they become a part </a:t>
            </a:r>
            <a:r>
              <a:rPr lang="en-US" sz="2400" dirty="0" smtClean="0">
                <a:solidFill>
                  <a:schemeClr val="tx1"/>
                </a:solidFill>
              </a:rPr>
              <a:t>of the </a:t>
            </a:r>
            <a:r>
              <a:rPr lang="en-US" sz="2400" dirty="0">
                <a:solidFill>
                  <a:schemeClr val="tx1"/>
                </a:solidFill>
              </a:rPr>
              <a:t>overall database definition and are </a:t>
            </a:r>
            <a:r>
              <a:rPr lang="en-US" sz="2400" dirty="0" smtClean="0">
                <a:solidFill>
                  <a:schemeClr val="tx1"/>
                </a:solidFill>
              </a:rPr>
              <a:t>invoked when </a:t>
            </a:r>
            <a:r>
              <a:rPr lang="en-US" sz="2400" dirty="0">
                <a:solidFill>
                  <a:schemeClr val="tx1"/>
                </a:solidFill>
              </a:rPr>
              <a:t>certain </a:t>
            </a:r>
            <a:r>
              <a:rPr lang="en-US" sz="2400" dirty="0" smtClean="0">
                <a:solidFill>
                  <a:schemeClr val="tx1"/>
                </a:solidFill>
              </a:rPr>
              <a:t>conditions are met.</a:t>
            </a:r>
            <a:br>
              <a:rPr lang="en-US" sz="2400" dirty="0" smtClean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01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Additional Implications of Using the Database Approach</a:t>
            </a:r>
          </a:p>
        </p:txBody>
      </p:sp>
      <p:sp>
        <p:nvSpPr>
          <p:cNvPr id="6451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 smtClean="0"/>
              <a:t>Potential for enforcing standards:</a:t>
            </a:r>
          </a:p>
          <a:p>
            <a:pPr lvl="1" eaLnBrk="1" hangingPunct="1"/>
            <a:r>
              <a:rPr lang="en-US" altLang="en-US" sz="2000" dirty="0" smtClean="0"/>
              <a:t>This is very crucial for the success of database applications in large organizations. </a:t>
            </a:r>
            <a:r>
              <a:rPr lang="en-US" altLang="en-US" sz="2000" b="1" dirty="0" smtClean="0"/>
              <a:t>Standards</a:t>
            </a:r>
            <a:r>
              <a:rPr lang="en-US" altLang="en-US" sz="2000" dirty="0" smtClean="0"/>
              <a:t> refer to data item names, display formats, screens, report structures, meta-data (description of data), Web page layouts, etc.</a:t>
            </a:r>
          </a:p>
          <a:p>
            <a:r>
              <a:rPr lang="en-US" altLang="en-US" sz="2400" dirty="0"/>
              <a:t>Flexibility to change data structures:</a:t>
            </a:r>
          </a:p>
          <a:p>
            <a:pPr lvl="1"/>
            <a:r>
              <a:rPr lang="en-US" altLang="en-US" sz="2000" dirty="0"/>
              <a:t>Database structure may evolve as new requirements are defined. </a:t>
            </a:r>
          </a:p>
          <a:p>
            <a:r>
              <a:rPr lang="en-US" altLang="en-US" sz="2400" dirty="0"/>
              <a:t>Availability of current information:</a:t>
            </a:r>
          </a:p>
          <a:p>
            <a:pPr lvl="1"/>
            <a:r>
              <a:rPr lang="en-US" altLang="en-US" sz="2000" dirty="0"/>
              <a:t>Extremely important for on-line transaction systems such as shopping, airline, hotel, car reservations.</a:t>
            </a:r>
          </a:p>
          <a:p>
            <a:pPr lvl="1"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5366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to Use a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606" y="1416909"/>
            <a:ext cx="9555892" cy="482737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There are </a:t>
            </a:r>
            <a:r>
              <a:rPr lang="en-US" dirty="0">
                <a:solidFill>
                  <a:schemeClr val="tx1"/>
                </a:solidFill>
              </a:rPr>
              <a:t>a few situations in which </a:t>
            </a:r>
            <a:r>
              <a:rPr lang="en-US" dirty="0" smtClean="0">
                <a:solidFill>
                  <a:schemeClr val="tx1"/>
                </a:solidFill>
              </a:rPr>
              <a:t>a DBMS </a:t>
            </a:r>
            <a:r>
              <a:rPr lang="en-US" dirty="0">
                <a:solidFill>
                  <a:schemeClr val="tx1"/>
                </a:solidFill>
              </a:rPr>
              <a:t>may involve unnecessary overhead costs that would not be incurred </a:t>
            </a:r>
            <a:r>
              <a:rPr lang="en-US" dirty="0" smtClean="0">
                <a:solidFill>
                  <a:schemeClr val="tx1"/>
                </a:solidFill>
              </a:rPr>
              <a:t>in traditional </a:t>
            </a:r>
            <a:r>
              <a:rPr lang="en-US" dirty="0">
                <a:solidFill>
                  <a:schemeClr val="tx1"/>
                </a:solidFill>
              </a:rPr>
              <a:t>file processing.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High </a:t>
            </a:r>
            <a:r>
              <a:rPr lang="en-US" dirty="0">
                <a:solidFill>
                  <a:schemeClr val="tx1"/>
                </a:solidFill>
              </a:rPr>
              <a:t>initial investment in hardware, software, and training - This is because, for DBMS, it is mandatory to have a high-speed processor and also a large memory size.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requirement of this large amount of space and a high-speed processor needs expensive hardware and expensive software too. Educated staff (database administrator, application programmers, data entry operations) who maintains the database management system </a:t>
            </a:r>
            <a:r>
              <a:rPr lang="en-US" dirty="0" smtClean="0">
                <a:solidFill>
                  <a:schemeClr val="tx1"/>
                </a:solidFill>
              </a:rPr>
              <a:t>are required.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generality that a DBMS provides for defining and processing </a:t>
            </a:r>
            <a:r>
              <a:rPr lang="en-US" dirty="0" smtClean="0">
                <a:solidFill>
                  <a:schemeClr val="tx1"/>
                </a:solidFill>
              </a:rPr>
              <a:t>data.</a:t>
            </a:r>
            <a:endParaRPr lang="en-US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Overhead </a:t>
            </a:r>
            <a:r>
              <a:rPr lang="en-US" dirty="0">
                <a:solidFill>
                  <a:schemeClr val="tx1"/>
                </a:solidFill>
              </a:rPr>
              <a:t>for providing security, concurrency control, recovery, and </a:t>
            </a:r>
            <a:r>
              <a:rPr lang="en-US" dirty="0" smtClean="0">
                <a:solidFill>
                  <a:schemeClr val="tx1"/>
                </a:solidFill>
              </a:rPr>
              <a:t>integrity functions.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More </a:t>
            </a:r>
            <a:r>
              <a:rPr lang="en-US" dirty="0">
                <a:solidFill>
                  <a:schemeClr val="tx1"/>
                </a:solidFill>
              </a:rPr>
              <a:t>desirable to develop customized database </a:t>
            </a:r>
            <a:r>
              <a:rPr lang="en-US" dirty="0" smtClean="0">
                <a:solidFill>
                  <a:schemeClr val="tx1"/>
                </a:solidFill>
              </a:rPr>
              <a:t>applications under </a:t>
            </a:r>
            <a:r>
              <a:rPr lang="en-US" dirty="0">
                <a:solidFill>
                  <a:schemeClr val="tx1"/>
                </a:solidFill>
              </a:rPr>
              <a:t>the following circumstances: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Simple</a:t>
            </a:r>
            <a:r>
              <a:rPr lang="en-US" dirty="0">
                <a:solidFill>
                  <a:schemeClr val="tx1"/>
                </a:solidFill>
              </a:rPr>
              <a:t>, well-defined database applications that are not expected to </a:t>
            </a:r>
            <a:r>
              <a:rPr lang="en-US" dirty="0" smtClean="0">
                <a:solidFill>
                  <a:schemeClr val="tx1"/>
                </a:solidFill>
              </a:rPr>
              <a:t>change at </a:t>
            </a:r>
            <a:r>
              <a:rPr lang="en-US" dirty="0">
                <a:solidFill>
                  <a:schemeClr val="tx1"/>
                </a:solidFill>
              </a:rPr>
              <a:t>all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Stringent</a:t>
            </a:r>
            <a:r>
              <a:rPr lang="en-US" dirty="0">
                <a:solidFill>
                  <a:schemeClr val="tx1"/>
                </a:solidFill>
              </a:rPr>
              <a:t>, real-time requirements for some application programs that </a:t>
            </a:r>
            <a:r>
              <a:rPr lang="en-US" dirty="0" smtClean="0">
                <a:solidFill>
                  <a:schemeClr val="tx1"/>
                </a:solidFill>
              </a:rPr>
              <a:t>may not </a:t>
            </a:r>
            <a:r>
              <a:rPr lang="en-US" dirty="0">
                <a:solidFill>
                  <a:schemeClr val="tx1"/>
                </a:solidFill>
              </a:rPr>
              <a:t>be met because of DBMS overhead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Embedded </a:t>
            </a:r>
            <a:r>
              <a:rPr lang="en-US" dirty="0">
                <a:solidFill>
                  <a:schemeClr val="tx1"/>
                </a:solidFill>
              </a:rPr>
              <a:t>systems with limited storage capacity, where a </a:t>
            </a:r>
            <a:r>
              <a:rPr lang="en-US" dirty="0" smtClean="0">
                <a:solidFill>
                  <a:schemeClr val="tx1"/>
                </a:solidFill>
              </a:rPr>
              <a:t>general-purpose DBMS </a:t>
            </a:r>
            <a:r>
              <a:rPr lang="en-US" dirty="0">
                <a:solidFill>
                  <a:schemeClr val="tx1"/>
                </a:solidFill>
              </a:rPr>
              <a:t>would not fit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No </a:t>
            </a:r>
            <a:r>
              <a:rPr lang="en-US" dirty="0">
                <a:solidFill>
                  <a:schemeClr val="tx1"/>
                </a:solidFill>
              </a:rPr>
              <a:t>multiple-user access to </a:t>
            </a:r>
            <a:r>
              <a:rPr lang="en-US" dirty="0" smtClean="0">
                <a:solidFill>
                  <a:schemeClr val="tx1"/>
                </a:solidFill>
              </a:rPr>
              <a:t>data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13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Not to Use a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06" y="1375720"/>
            <a:ext cx="9331640" cy="4827371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Certain </a:t>
            </a:r>
            <a:r>
              <a:rPr lang="en-US" sz="2000" dirty="0">
                <a:solidFill>
                  <a:schemeClr val="tx1"/>
                </a:solidFill>
              </a:rPr>
              <a:t>industries and applications have elected not to use </a:t>
            </a:r>
            <a:r>
              <a:rPr lang="en-US" sz="2000" dirty="0" smtClean="0">
                <a:solidFill>
                  <a:schemeClr val="tx1"/>
                </a:solidFill>
              </a:rPr>
              <a:t>general-purpose DBMSs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  <a:endParaRPr lang="en-US" sz="2000" dirty="0" smtClean="0">
              <a:solidFill>
                <a:schemeClr val="tx1"/>
              </a:solidFill>
            </a:endParaRPr>
          </a:p>
          <a:p>
            <a:pPr lvl="1"/>
            <a:r>
              <a:rPr lang="en-US" sz="1800" dirty="0" smtClean="0">
                <a:solidFill>
                  <a:schemeClr val="tx1"/>
                </a:solidFill>
              </a:rPr>
              <a:t>For </a:t>
            </a:r>
            <a:r>
              <a:rPr lang="en-US" sz="1800" dirty="0">
                <a:solidFill>
                  <a:schemeClr val="tx1"/>
                </a:solidFill>
              </a:rPr>
              <a:t>example, many computer-aided design (CAD) tools used by </a:t>
            </a:r>
            <a:r>
              <a:rPr lang="en-US" sz="1800" dirty="0" smtClean="0">
                <a:solidFill>
                  <a:schemeClr val="tx1"/>
                </a:solidFill>
              </a:rPr>
              <a:t>mechanical and </a:t>
            </a:r>
            <a:r>
              <a:rPr lang="en-US" sz="1800" dirty="0">
                <a:solidFill>
                  <a:schemeClr val="tx1"/>
                </a:solidFill>
              </a:rPr>
              <a:t>civil engineers have proprietary file and data management software </a:t>
            </a:r>
            <a:r>
              <a:rPr lang="en-US" sz="1800" dirty="0" smtClean="0">
                <a:solidFill>
                  <a:schemeClr val="tx1"/>
                </a:solidFill>
              </a:rPr>
              <a:t>that is </a:t>
            </a:r>
            <a:r>
              <a:rPr lang="en-US" sz="1800" dirty="0">
                <a:solidFill>
                  <a:schemeClr val="tx1"/>
                </a:solidFill>
              </a:rPr>
              <a:t>geared for the internal manipulations of drawings and 3D objects. </a:t>
            </a:r>
            <a:endParaRPr lang="en-US" sz="18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GIS implementations often </a:t>
            </a:r>
            <a:r>
              <a:rPr lang="en-US" sz="2000" dirty="0">
                <a:solidFill>
                  <a:schemeClr val="tx1"/>
                </a:solidFill>
              </a:rPr>
              <a:t>implement their own data organization schemes for </a:t>
            </a:r>
            <a:r>
              <a:rPr lang="en-US" sz="2000" dirty="0" smtClean="0">
                <a:solidFill>
                  <a:schemeClr val="tx1"/>
                </a:solidFill>
              </a:rPr>
              <a:t>efficiently implementing </a:t>
            </a:r>
            <a:r>
              <a:rPr lang="en-US" sz="2000" dirty="0">
                <a:solidFill>
                  <a:schemeClr val="tx1"/>
                </a:solidFill>
              </a:rPr>
              <a:t>functions related to processing maps, physical contours, </a:t>
            </a:r>
            <a:r>
              <a:rPr lang="en-US" sz="2000" dirty="0" smtClean="0">
                <a:solidFill>
                  <a:schemeClr val="tx1"/>
                </a:solidFill>
              </a:rPr>
              <a:t>lines, polygons</a:t>
            </a:r>
            <a:r>
              <a:rPr lang="en-US" sz="2000" dirty="0">
                <a:solidFill>
                  <a:schemeClr val="tx1"/>
                </a:solidFill>
              </a:rPr>
              <a:t>, and so on.</a:t>
            </a:r>
          </a:p>
        </p:txBody>
      </p:sp>
    </p:spTree>
    <p:extLst>
      <p:ext uri="{BB962C8B-B14F-4D97-AF65-F5344CB8AC3E}">
        <p14:creationId xmlns:p14="http://schemas.microsoft.com/office/powerpoint/2010/main" val="51521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vs. Databases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154" y="1501561"/>
            <a:ext cx="7430057" cy="479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1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1233</TotalTime>
  <Words>2532</Words>
  <Application>Microsoft Office PowerPoint</Application>
  <PresentationFormat>Widescreen</PresentationFormat>
  <Paragraphs>214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MS PGothic</vt:lpstr>
      <vt:lpstr>Arial</vt:lpstr>
      <vt:lpstr>Calibri</vt:lpstr>
      <vt:lpstr>Tahoma</vt:lpstr>
      <vt:lpstr>Trebuchet MS</vt:lpstr>
      <vt:lpstr>Wingdings 3</vt:lpstr>
      <vt:lpstr>Facet</vt:lpstr>
      <vt:lpstr>Chapter 1 – Databases and Databases Users</vt:lpstr>
      <vt:lpstr>- Introduction  - Characteristics of Database Approach  - Advantages Of Using DBMS   - When Not To Use DBMS  - Files vs. Databases       </vt:lpstr>
      <vt:lpstr>Users Are Dependent on Databases</vt:lpstr>
      <vt:lpstr>Introduction</vt:lpstr>
      <vt:lpstr>Introduction </vt:lpstr>
      <vt:lpstr>Introduction </vt:lpstr>
      <vt:lpstr>Introduction </vt:lpstr>
      <vt:lpstr>Introduction </vt:lpstr>
      <vt:lpstr>Functions of a D B M S</vt:lpstr>
      <vt:lpstr>Characteristics of Database Approach</vt:lpstr>
      <vt:lpstr>Characteristics of Database Approach</vt:lpstr>
      <vt:lpstr>Characteristics of Database Approach</vt:lpstr>
      <vt:lpstr>Characteristics of Database Approach</vt:lpstr>
      <vt:lpstr>Characteristics of Database Approach</vt:lpstr>
      <vt:lpstr>Characteristics of Database Approach</vt:lpstr>
      <vt:lpstr>Characteristics of Database Approach</vt:lpstr>
      <vt:lpstr>Advantages Of Using DBMS </vt:lpstr>
      <vt:lpstr>Advantages Of Using DBMS </vt:lpstr>
      <vt:lpstr>Advantages Of Using DBMS </vt:lpstr>
      <vt:lpstr>Advantages Of Using DBMS </vt:lpstr>
      <vt:lpstr>Advantages Of Using DBMS </vt:lpstr>
      <vt:lpstr>Advantages Of Using DBMS </vt:lpstr>
      <vt:lpstr>Additional Implications of Using the Database Approach</vt:lpstr>
      <vt:lpstr>When Not to Use a DBMS</vt:lpstr>
      <vt:lpstr>When Not to Use a DBMS</vt:lpstr>
      <vt:lpstr>Files vs. Databases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1 - databases</dc:title>
  <dc:creator>lab4</dc:creator>
  <cp:lastModifiedBy>Ms. Abeer Gauher</cp:lastModifiedBy>
  <cp:revision>197</cp:revision>
  <dcterms:created xsi:type="dcterms:W3CDTF">2021-08-16T04:03:32Z</dcterms:created>
  <dcterms:modified xsi:type="dcterms:W3CDTF">2026-08-12T05:41:13Z</dcterms:modified>
</cp:coreProperties>
</file>